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6"/>
  </p:notesMasterIdLst>
  <p:sldIdLst>
    <p:sldId id="261" r:id="rId2"/>
    <p:sldId id="262" r:id="rId3"/>
    <p:sldId id="263" r:id="rId4"/>
    <p:sldId id="264" r:id="rId5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138"/>
    <p:restoredTop sz="91373"/>
  </p:normalViewPr>
  <p:slideViewPr>
    <p:cSldViewPr snapToGrid="0" snapToObjects="1">
      <p:cViewPr varScale="1">
        <p:scale>
          <a:sx n="83" d="100"/>
          <a:sy n="83" d="100"/>
        </p:scale>
        <p:origin x="240" y="20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notesMaster" Target="notesMasters/notesMaster1.xml"/><Relationship Id="rId5" Type="http://schemas.openxmlformats.org/officeDocument/2006/relationships/slide" Target="slides/slide4.xml"/><Relationship Id="rId10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theme" Target="theme/theme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D2843BDE-B8C0-934E-9704-CBA3B88C1FB8}" type="datetimeFigureOut">
              <a:rPr lang="en-US" smtClean="0"/>
              <a:t>5/25/24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A8B91EE-EA77-074C-ABDE-BAE6359B4E9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39519606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A8B91EE-EA77-074C-ABDE-BAE6359B4E98}" type="slidenum">
              <a:rPr lang="en-US" smtClean="0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5338234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A8B91EE-EA77-074C-ABDE-BAE6359B4E98}" type="slidenum">
              <a:rPr lang="en-US" smtClean="0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11397096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DCE2001-545C-99D0-05A3-34EAAB5CA04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1499392E-8F18-4AD6-D26D-2EAA93E4080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0B572907-66C1-84CC-5E24-AFA53AA9427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F5FB7D5-126E-2993-4CA4-5B643C76FA09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A8B91EE-EA77-074C-ABDE-BAE6359B4E98}" type="slidenum">
              <a:rPr lang="en-US" smtClean="0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75948219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71A7E78-4330-193B-B423-8314C67628D5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D1080FDA-9F58-7E15-C3A0-BCA67A1B659A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2FD1846-5607-2F80-FE77-B45D1134D8B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F491023-0B0A-7041-9F06-D25A50EF063B}" type="datetimeFigureOut">
              <a:t>5/25/24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859EC29-87F8-BE2D-794A-6DA472257BE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1340454-B433-410E-0FF8-FC3528287FB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43E528E-3295-EB44-B5E3-209426A0E5EC}" type="slidenum"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050899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036760B-86A2-A753-7B95-0F58C129DDB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426CB2F-877F-D8BF-FD37-54A9FCD98EF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17B5966-DCE9-9278-FC75-7505EFC8263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F491023-0B0A-7041-9F06-D25A50EF063B}" type="datetimeFigureOut">
              <a:t>5/25/24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78C6C7F-3558-A2B7-B9CB-C865542E091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A53B692-9BC3-C542-CF13-B75CF4818CD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43E528E-3295-EB44-B5E3-209426A0E5EC}" type="slidenum"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47929573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70201A7-590C-E867-7D0C-AE29A5E7C7F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C89C844-B762-199D-E840-4432CFA9EC8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F8F83D9-6582-F301-0C23-DFC25549446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F491023-0B0A-7041-9F06-D25A50EF063B}" type="datetimeFigureOut">
              <a:t>5/25/24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552132C-12F6-FB49-15E9-71DC67F2F80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8D5F5A6-E475-572D-EB19-BDCB29C26D4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43E528E-3295-EB44-B5E3-209426A0E5EC}" type="slidenum"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5894180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367E54A-D232-E13B-03B8-197985E469B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A95FE80-6415-A129-A133-13F4E696310C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1EF34163-2BC5-67B8-C044-B2B91150F7D7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03E24A9F-6EBE-F2FD-B790-457A880F4FE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F491023-0B0A-7041-9F06-D25A50EF063B}" type="datetimeFigureOut">
              <a:t>5/25/24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33165A11-D3B2-DAF0-6C96-3A013B4B66A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1148667-6987-698C-D3F8-33E4C2F455D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43E528E-3295-EB44-B5E3-209426A0E5EC}" type="slidenum"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46234784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A89EB9B-3B5A-BAA4-1104-35CFEE511D5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2A6AF77-D30B-078E-7377-864E2004178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3DD3BB66-8448-BDCE-8885-0DCCD1D2FD07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60C4BBBE-287A-8A3C-D9AC-73777D133F75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C2EC8599-617C-397F-DC3D-826467ADF3E2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DBF5D750-7437-B1AA-EDBA-8CE16147AE9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F491023-0B0A-7041-9F06-D25A50EF063B}" type="datetimeFigureOut">
              <a:t>5/25/24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F61E2CB5-60FB-BFE3-7C57-6D71206F092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2C2E5366-9BBC-DD63-6667-F2ABAD0CF72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43E528E-3295-EB44-B5E3-209426A0E5EC}" type="slidenum"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6610317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94502E0-2360-8A3B-C660-0EEE2283AC6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0A761752-B6B9-B0D3-79D0-BA63B329CC7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F491023-0B0A-7041-9F06-D25A50EF063B}" type="datetimeFigureOut">
              <a:t>5/25/24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E549FDB9-28AA-E5EE-0E6F-1C870983436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3D1A72C3-CCD3-E994-0553-1649E7C05A9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43E528E-3295-EB44-B5E3-209426A0E5EC}" type="slidenum"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0430617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0727FBEF-93F3-4398-ABDE-E19A2BE6EE2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F491023-0B0A-7041-9F06-D25A50EF063B}" type="datetimeFigureOut">
              <a:t>5/25/24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4224BDFD-B5CF-6FE3-E5D7-46013C29E0B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5995C03-7815-0295-8D6D-6E94DCC40D7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43E528E-3295-EB44-B5E3-209426A0E5EC}" type="slidenum"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0652974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460438-A2C9-EC42-359F-79480BBFBC1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5BAC04E-128D-0581-C7DA-E12F971BB43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A257F62C-C89B-1A1C-EE71-DFB3CCC880F8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13E8FE63-1511-35E5-E243-54A541D5317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F491023-0B0A-7041-9F06-D25A50EF063B}" type="datetimeFigureOut">
              <a:t>5/25/24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E388C57B-944F-63EC-027D-0775FFD3177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950B95C2-F629-DCC1-1A34-EFD210A359E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43E528E-3295-EB44-B5E3-209426A0E5EC}" type="slidenum"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0618757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411C171-16B5-30EF-DF6B-EA8297BFE42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00EC62FB-CB34-C301-34F2-0BC3B063A2A1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D714D87E-859D-4374-028E-34A7E0967C1C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ACA0E7CC-E810-603C-A310-365D6E2E762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F491023-0B0A-7041-9F06-D25A50EF063B}" type="datetimeFigureOut">
              <a:t>5/25/24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14811FA3-03C6-243F-1B00-D8C263B8A5F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7D7B7296-43FF-9B1B-273A-D8A59A1AF52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43E528E-3295-EB44-B5E3-209426A0E5EC}" type="slidenum"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06987823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25B347D-D077-DA5B-BCBF-255D910F836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3DD969ED-67C2-311E-252D-6A110850A06C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AD0FBA1-3C89-EC11-74D4-20B92AAFDA0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F491023-0B0A-7041-9F06-D25A50EF063B}" type="datetimeFigureOut">
              <a:t>5/25/24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CA7745B-5BAE-F9D3-47E4-0138D1CEA5B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F730326-C5CD-0886-9BE9-A7F7DB749C9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43E528E-3295-EB44-B5E3-209426A0E5EC}" type="slidenum"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74503081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B5D2BAD8-9CAB-A380-AAC3-A59F3A325604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C7D29A6E-D831-F47F-A2AE-F6E1AFD2D00B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77F4713-8CBC-B5EB-3BDB-7F46E4C81A2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F491023-0B0A-7041-9F06-D25A50EF063B}" type="datetimeFigureOut">
              <a:t>5/25/24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AB814CE-5D3F-6AF3-1B95-C1BCD7CEF63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F44F38C-1773-F5A8-9806-A23E993F747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43E528E-3295-EB44-B5E3-209426A0E5EC}" type="slidenum"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5729992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22D680EF-BCA9-239E-5CBB-C870C41B48A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700FCFB0-9A1E-EE20-9776-1EF4CAC7D5F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81C2FEA-8E7F-70CC-474B-CC138894A0A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F491023-0B0A-7041-9F06-D25A50EF063B}" type="datetimeFigureOut">
              <a:t>5/25/24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7568BAB-55F6-6894-580A-32AFD5780B16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78BF367-BF67-C7BE-7EC4-9DB85C434EC4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43E528E-3295-EB44-B5E3-209426A0E5EC}" type="slidenum"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6056099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5.png"/></Relationships>
</file>

<file path=ppt/slides/_rels/slide3.xml.rels><?xml version="1.0" encoding="UTF-8" standalone="yes"?>
<Relationships xmlns="http://schemas.openxmlformats.org/package/2006/relationships"><Relationship Id="rId8" Type="http://schemas.openxmlformats.org/officeDocument/2006/relationships/hyperlink" Target="https://www.youtube.com/watch?v=sBZzJ-IhidI" TargetMode="External"/><Relationship Id="rId13" Type="http://schemas.openxmlformats.org/officeDocument/2006/relationships/image" Target="../media/image10.png"/><Relationship Id="rId3" Type="http://schemas.openxmlformats.org/officeDocument/2006/relationships/hyperlink" Target="https://www.andersenwindows.com/" TargetMode="External"/><Relationship Id="rId7" Type="http://schemas.openxmlformats.org/officeDocument/2006/relationships/hyperlink" Target="https://www.youtube.com/watch?v=3jjh4aQmQ3Q" TargetMode="External"/><Relationship Id="rId12" Type="http://schemas.openxmlformats.org/officeDocument/2006/relationships/image" Target="../media/image9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7.xml"/><Relationship Id="rId6" Type="http://schemas.openxmlformats.org/officeDocument/2006/relationships/hyperlink" Target="https://parts.andersenwindows.com/detail_2579045__d_fwh_hng.html" TargetMode="External"/><Relationship Id="rId11" Type="http://schemas.openxmlformats.org/officeDocument/2006/relationships/image" Target="../media/image8.png"/><Relationship Id="rId5" Type="http://schemas.openxmlformats.org/officeDocument/2006/relationships/hyperlink" Target="https://parts.andersenwindows.com/items_d_fwh_hng.html" TargetMode="External"/><Relationship Id="rId10" Type="http://schemas.openxmlformats.org/officeDocument/2006/relationships/image" Target="../media/image7.jpeg"/><Relationship Id="rId4" Type="http://schemas.openxmlformats.org/officeDocument/2006/relationships/hyperlink" Target="https://www.parts.andersenwindows.com/" TargetMode="External"/><Relationship Id="rId9" Type="http://schemas.openxmlformats.org/officeDocument/2006/relationships/image" Target="../media/image6.jpeg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E0163547-3461-AE07-C75E-7594C61EA810}"/>
              </a:ext>
            </a:extLst>
          </p:cNvPr>
          <p:cNvSpPr txBox="1"/>
          <p:nvPr/>
        </p:nvSpPr>
        <p:spPr>
          <a:xfrm>
            <a:off x="0" y="9719"/>
            <a:ext cx="3570514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b="1" i="0" dirty="0">
                <a:solidFill>
                  <a:srgbClr val="0F1111"/>
                </a:solidFill>
                <a:effectLst/>
              </a:rPr>
              <a:t>Corner Cabinet Hinges</a:t>
            </a:r>
            <a:endParaRPr lang="en-US" sz="2800" b="1" dirty="0">
              <a:solidFill>
                <a:srgbClr val="00B0F0"/>
              </a:solidFill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1FEEE014-D245-45FF-8457-AA1EEFF9D2D0}"/>
              </a:ext>
            </a:extLst>
          </p:cNvPr>
          <p:cNvSpPr txBox="1"/>
          <p:nvPr/>
        </p:nvSpPr>
        <p:spPr>
          <a:xfrm>
            <a:off x="-16467" y="2602202"/>
            <a:ext cx="2752902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000" dirty="0"/>
              <a:t>https://</a:t>
            </a:r>
            <a:r>
              <a:rPr lang="en-US" sz="1000" dirty="0" err="1"/>
              <a:t>www.cabinetparts.com</a:t>
            </a:r>
            <a:r>
              <a:rPr lang="en-US" sz="1000" dirty="0"/>
              <a:t>/p/grass-hinges-european-cabinet-hinges-GHA90700-p23470</a:t>
            </a:r>
          </a:p>
        </p:txBody>
      </p:sp>
      <p:pic>
        <p:nvPicPr>
          <p:cNvPr id="27" name="Picture 26">
            <a:extLst>
              <a:ext uri="{FF2B5EF4-FFF2-40B4-BE49-F238E27FC236}">
                <a16:creationId xmlns:a16="http://schemas.microsoft.com/office/drawing/2014/main" id="{6F2716AE-EB73-07B2-DB84-1F779CBE3B98}"/>
              </a:ext>
            </a:extLst>
          </p:cNvPr>
          <p:cNvPicPr>
            <a:picLocks noChangeAspect="1"/>
          </p:cNvPicPr>
          <p:nvPr/>
        </p:nvPicPr>
        <p:blipFill>
          <a:blip r:embed="rId3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216331" y="601187"/>
            <a:ext cx="2325483" cy="2041071"/>
          </a:xfrm>
          <a:prstGeom prst="rect">
            <a:avLst/>
          </a:prstGeom>
        </p:spPr>
      </p:pic>
      <p:sp>
        <p:nvSpPr>
          <p:cNvPr id="28" name="TextBox 27">
            <a:extLst>
              <a:ext uri="{FF2B5EF4-FFF2-40B4-BE49-F238E27FC236}">
                <a16:creationId xmlns:a16="http://schemas.microsoft.com/office/drawing/2014/main" id="{9F272B78-8344-E27A-4CCD-84AAF4EABC6E}"/>
              </a:ext>
            </a:extLst>
          </p:cNvPr>
          <p:cNvSpPr txBox="1"/>
          <p:nvPr/>
        </p:nvSpPr>
        <p:spPr>
          <a:xfrm>
            <a:off x="1" y="5257777"/>
            <a:ext cx="2541814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000" dirty="0"/>
              <a:t>https://</a:t>
            </a:r>
            <a:r>
              <a:rPr lang="en-US" sz="1000" dirty="0" err="1"/>
              <a:t>modernhardware.com</a:t>
            </a:r>
            <a:r>
              <a:rPr lang="en-US" sz="1000" dirty="0"/>
              <a:t>/product/pie-cut-corner-hinge/</a:t>
            </a:r>
          </a:p>
        </p:txBody>
      </p:sp>
      <p:pic>
        <p:nvPicPr>
          <p:cNvPr id="29" name="Picture 28">
            <a:extLst>
              <a:ext uri="{FF2B5EF4-FFF2-40B4-BE49-F238E27FC236}">
                <a16:creationId xmlns:a16="http://schemas.microsoft.com/office/drawing/2014/main" id="{AC7CF661-FECB-0A15-2FF3-6347904B0B58}"/>
              </a:ext>
            </a:extLst>
          </p:cNvPr>
          <p:cNvPicPr>
            <a:picLocks noChangeAspect="1"/>
          </p:cNvPicPr>
          <p:nvPr/>
        </p:nvPicPr>
        <p:blipFill>
          <a:blip r:embed="rId4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244236" y="3024675"/>
            <a:ext cx="2492199" cy="2210739"/>
          </a:xfrm>
          <a:prstGeom prst="rect">
            <a:avLst/>
          </a:prstGeom>
        </p:spPr>
      </p:pic>
      <p:sp>
        <p:nvSpPr>
          <p:cNvPr id="30" name="TextBox 29">
            <a:extLst>
              <a:ext uri="{FF2B5EF4-FFF2-40B4-BE49-F238E27FC236}">
                <a16:creationId xmlns:a16="http://schemas.microsoft.com/office/drawing/2014/main" id="{3A9010A3-E8EC-D86A-094C-346D07EF8F0D}"/>
              </a:ext>
            </a:extLst>
          </p:cNvPr>
          <p:cNvSpPr txBox="1"/>
          <p:nvPr/>
        </p:nvSpPr>
        <p:spPr>
          <a:xfrm>
            <a:off x="6466115" y="4796112"/>
            <a:ext cx="3091543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000" dirty="0"/>
              <a:t>https://</a:t>
            </a:r>
            <a:r>
              <a:rPr lang="en-US" sz="1000" dirty="0" err="1"/>
              <a:t>www.amazon.com</a:t>
            </a:r>
            <a:r>
              <a:rPr lang="en-US" sz="1000" dirty="0"/>
              <a:t>/Pie-Cut-Corner-Hinge-Dimensional/</a:t>
            </a:r>
            <a:r>
              <a:rPr lang="en-US" sz="1000" dirty="0" err="1"/>
              <a:t>dp</a:t>
            </a:r>
            <a:r>
              <a:rPr lang="en-US" sz="1000" dirty="0"/>
              <a:t>/B0106BZI86</a:t>
            </a:r>
          </a:p>
        </p:txBody>
      </p:sp>
      <p:pic>
        <p:nvPicPr>
          <p:cNvPr id="31" name="Picture 30">
            <a:extLst>
              <a:ext uri="{FF2B5EF4-FFF2-40B4-BE49-F238E27FC236}">
                <a16:creationId xmlns:a16="http://schemas.microsoft.com/office/drawing/2014/main" id="{015CF353-1264-5F18-37F0-D87C64B3057A}"/>
              </a:ext>
            </a:extLst>
          </p:cNvPr>
          <p:cNvPicPr>
            <a:picLocks noChangeAspect="1"/>
          </p:cNvPicPr>
          <p:nvPr/>
        </p:nvPicPr>
        <p:blipFill>
          <a:blip r:embed="rId5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5060950" y="532939"/>
            <a:ext cx="6184900" cy="40894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58619068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E0163547-3461-AE07-C75E-7594C61EA810}"/>
              </a:ext>
            </a:extLst>
          </p:cNvPr>
          <p:cNvSpPr txBox="1"/>
          <p:nvPr/>
        </p:nvSpPr>
        <p:spPr>
          <a:xfrm>
            <a:off x="-1" y="9719"/>
            <a:ext cx="4823209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b="1" i="0" dirty="0">
                <a:solidFill>
                  <a:srgbClr val="0F1111"/>
                </a:solidFill>
                <a:effectLst/>
              </a:rPr>
              <a:t>Handed #65 </a:t>
            </a:r>
            <a:r>
              <a:rPr lang="en-US" sz="2800" b="1" i="0" dirty="0" err="1">
                <a:solidFill>
                  <a:srgbClr val="0F1111"/>
                </a:solidFill>
                <a:effectLst/>
              </a:rPr>
              <a:t>Youngdale</a:t>
            </a:r>
            <a:r>
              <a:rPr lang="en-US" sz="2800" b="1" i="0" dirty="0">
                <a:solidFill>
                  <a:srgbClr val="0F1111"/>
                </a:solidFill>
                <a:effectLst/>
              </a:rPr>
              <a:t> Hinge</a:t>
            </a:r>
            <a:endParaRPr lang="en-US" sz="2800" b="1" dirty="0">
              <a:solidFill>
                <a:srgbClr val="00B0F0"/>
              </a:solidFill>
            </a:endParaRP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21E85696-1268-A8A5-5A8D-1642D5CAAC5D}"/>
              </a:ext>
            </a:extLst>
          </p:cNvPr>
          <p:cNvPicPr>
            <a:picLocks noChangeAspect="1"/>
          </p:cNvPicPr>
          <p:nvPr/>
        </p:nvPicPr>
        <p:blipFill>
          <a:blip r:embed="rId3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2934538" y="1011116"/>
            <a:ext cx="3429000" cy="3429000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47F189C4-4B20-7927-962C-8FB813802C87}"/>
              </a:ext>
            </a:extLst>
          </p:cNvPr>
          <p:cNvPicPr>
            <a:picLocks noChangeAspect="1"/>
          </p:cNvPicPr>
          <p:nvPr/>
        </p:nvPicPr>
        <p:blipFill>
          <a:blip r:embed="rId4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6976908" y="1011115"/>
            <a:ext cx="2664527" cy="342900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10357124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C4BCE40-FAC2-06AC-AEEE-247099B3D34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C22ECB98-03EC-DBE0-F1B4-50DE841F02D6}"/>
              </a:ext>
            </a:extLst>
          </p:cNvPr>
          <p:cNvSpPr/>
          <p:nvPr/>
        </p:nvSpPr>
        <p:spPr>
          <a:xfrm>
            <a:off x="3448527" y="4657133"/>
            <a:ext cx="2796139" cy="1548474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50F4EAFB-0C3B-FE5C-A059-BF43CDE1F9EF}"/>
              </a:ext>
            </a:extLst>
          </p:cNvPr>
          <p:cNvSpPr txBox="1"/>
          <p:nvPr/>
        </p:nvSpPr>
        <p:spPr>
          <a:xfrm>
            <a:off x="-1" y="9719"/>
            <a:ext cx="7660641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l"/>
            <a:r>
              <a:rPr lang="en-US" sz="2000" b="1" i="0" dirty="0" err="1">
                <a:solidFill>
                  <a:srgbClr val="0F0F0F"/>
                </a:solidFill>
                <a:effectLst/>
                <a:latin typeface="Roboto" panose="02000000000000000000" pitchFamily="2" charset="0"/>
              </a:rPr>
              <a:t>Frenchwood</a:t>
            </a:r>
            <a:r>
              <a:rPr lang="en-US" sz="2000" b="1" i="0" dirty="0">
                <a:solidFill>
                  <a:srgbClr val="0F0F0F"/>
                </a:solidFill>
                <a:effectLst/>
                <a:latin typeface="Roboto" panose="02000000000000000000" pitchFamily="2" charset="0"/>
              </a:rPr>
              <a:t> Inswing Patio Door (Pre-2005) | Andersen Windows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D22540F8-2C96-97E9-50FA-280F0B083D20}"/>
              </a:ext>
            </a:extLst>
          </p:cNvPr>
          <p:cNvSpPr txBox="1"/>
          <p:nvPr/>
        </p:nvSpPr>
        <p:spPr>
          <a:xfrm>
            <a:off x="57749" y="486507"/>
            <a:ext cx="4331772" cy="3354765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  <a:ln>
            <a:solidFill>
              <a:srgbClr val="FF0000"/>
            </a:solidFill>
          </a:ln>
        </p:spPr>
        <p:txBody>
          <a:bodyPr wrap="square" rtlCol="0">
            <a:spAutoFit/>
          </a:bodyPr>
          <a:lstStyle/>
          <a:p>
            <a:r>
              <a:rPr lang="en-US" sz="1400" i="0" dirty="0">
                <a:solidFill>
                  <a:srgbClr val="0F0F0F"/>
                </a:solidFill>
                <a:effectLst/>
                <a:latin typeface="Calibri" panose="020F0502020204030204" pitchFamily="34" charset="0"/>
                <a:cs typeface="Calibri" panose="020F0502020204030204" pitchFamily="34" charset="0"/>
              </a:rPr>
              <a:t>Andersen Windows &amp; Doors - </a:t>
            </a:r>
            <a:r>
              <a:rPr lang="en-US" sz="1000" dirty="0">
                <a:solidFill>
                  <a:srgbClr val="0F0F0F"/>
                </a:solidFill>
                <a:latin typeface="Calibri" panose="020F0502020204030204" pitchFamily="34" charset="0"/>
                <a:cs typeface="Calibri" panose="020F0502020204030204" pitchFamily="34" charset="0"/>
                <a:hlinkClick r:id="rId3"/>
              </a:rPr>
              <a:t>https://www.andersenwindows.com</a:t>
            </a:r>
            <a:endParaRPr lang="en-US" sz="1000" dirty="0">
              <a:solidFill>
                <a:srgbClr val="0F0F0F"/>
              </a:solidFill>
              <a:latin typeface="Calibri" panose="020F0502020204030204" pitchFamily="34" charset="0"/>
              <a:cs typeface="Calibri" panose="020F0502020204030204" pitchFamily="34" charset="0"/>
            </a:endParaRPr>
          </a:p>
          <a:p>
            <a:r>
              <a:rPr lang="en-US" sz="1400" dirty="0" err="1">
                <a:solidFill>
                  <a:srgbClr val="0F0F0F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tel</a:t>
            </a:r>
            <a:r>
              <a:rPr lang="en-US" sz="1400" dirty="0">
                <a:solidFill>
                  <a:srgbClr val="0F0F0F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: 800-426-4261</a:t>
            </a:r>
          </a:p>
          <a:p>
            <a:r>
              <a:rPr lang="en-US" sz="1400" dirty="0">
                <a:solidFill>
                  <a:srgbClr val="0F0F0F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Parts - </a:t>
            </a:r>
            <a:r>
              <a:rPr lang="en-US" sz="1000" dirty="0">
                <a:solidFill>
                  <a:srgbClr val="0F0F0F"/>
                </a:solidFill>
                <a:latin typeface="Calibri" panose="020F0502020204030204" pitchFamily="34" charset="0"/>
                <a:cs typeface="Calibri" panose="020F0502020204030204" pitchFamily="34" charset="0"/>
                <a:hlinkClick r:id="rId4"/>
              </a:rPr>
              <a:t>https://www.parts.andersenwindows.com</a:t>
            </a:r>
            <a:endParaRPr lang="en-US" sz="1000" dirty="0">
              <a:solidFill>
                <a:srgbClr val="0F0F0F"/>
              </a:solidFill>
              <a:latin typeface="Calibri" panose="020F0502020204030204" pitchFamily="34" charset="0"/>
              <a:cs typeface="Calibri" panose="020F0502020204030204" pitchFamily="34" charset="0"/>
            </a:endParaRPr>
          </a:p>
          <a:p>
            <a:r>
              <a:rPr lang="en-US" sz="1400" dirty="0" err="1">
                <a:solidFill>
                  <a:srgbClr val="0F0F0F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tel</a:t>
            </a:r>
            <a:r>
              <a:rPr lang="en-US" sz="1400" dirty="0">
                <a:solidFill>
                  <a:srgbClr val="0F0F0F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: 888-888-7020</a:t>
            </a:r>
          </a:p>
          <a:p>
            <a:endParaRPr lang="en-US" sz="1400" dirty="0">
              <a:solidFill>
                <a:srgbClr val="0F0F0F"/>
              </a:solidFill>
              <a:latin typeface="Calibri" panose="020F0502020204030204" pitchFamily="34" charset="0"/>
              <a:cs typeface="Calibri" panose="020F0502020204030204" pitchFamily="34" charset="0"/>
            </a:endParaRPr>
          </a:p>
          <a:p>
            <a:r>
              <a:rPr lang="en-US" sz="1400" dirty="0">
                <a:solidFill>
                  <a:srgbClr val="0F0F0F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Andersen Hinges - </a:t>
            </a:r>
            <a:r>
              <a:rPr lang="en-US" sz="1000" dirty="0">
                <a:solidFill>
                  <a:srgbClr val="0F0F0F"/>
                </a:solidFill>
                <a:latin typeface="Calibri" panose="020F0502020204030204" pitchFamily="34" charset="0"/>
                <a:cs typeface="Calibri" panose="020F0502020204030204" pitchFamily="34" charset="0"/>
                <a:hlinkClick r:id="rId5"/>
              </a:rPr>
              <a:t>https://parts.andersenwindows.com/items_d_fwh_hng.html</a:t>
            </a:r>
            <a:endParaRPr lang="en-US" sz="1000" dirty="0">
              <a:solidFill>
                <a:srgbClr val="0F0F0F"/>
              </a:solidFill>
              <a:latin typeface="Calibri" panose="020F0502020204030204" pitchFamily="34" charset="0"/>
              <a:cs typeface="Calibri" panose="020F0502020204030204" pitchFamily="34" charset="0"/>
            </a:endParaRPr>
          </a:p>
          <a:p>
            <a:endParaRPr lang="en-US" sz="1400" dirty="0">
              <a:solidFill>
                <a:srgbClr val="0F0F0F"/>
              </a:solidFill>
              <a:latin typeface="Calibri" panose="020F0502020204030204" pitchFamily="34" charset="0"/>
              <a:cs typeface="Calibri" panose="020F0502020204030204" pitchFamily="34" charset="0"/>
            </a:endParaRPr>
          </a:p>
          <a:p>
            <a:r>
              <a:rPr lang="en-US" sz="1400" i="0" dirty="0">
                <a:solidFill>
                  <a:srgbClr val="0F0F0F"/>
                </a:solidFill>
                <a:effectLst/>
                <a:latin typeface="Calibri" panose="020F0502020204030204" pitchFamily="34" charset="0"/>
                <a:cs typeface="Calibri" panose="020F0502020204030204" pitchFamily="34" charset="0"/>
              </a:rPr>
              <a:t>need 5/32" hex wrench (=3.97mm)</a:t>
            </a:r>
          </a:p>
          <a:p>
            <a:r>
              <a:rPr lang="en-US" sz="1000" i="0" dirty="0">
                <a:solidFill>
                  <a:srgbClr val="0F0F0F"/>
                </a:solidFill>
                <a:effectLst/>
                <a:latin typeface="Calibri" panose="020F0502020204030204" pitchFamily="34" charset="0"/>
                <a:cs typeface="Calibri" panose="020F0502020204030204" pitchFamily="34" charset="0"/>
                <a:hlinkClick r:id="rId6"/>
              </a:rPr>
              <a:t>https://</a:t>
            </a:r>
            <a:r>
              <a:rPr lang="en-US" sz="1000" i="0" dirty="0" err="1">
                <a:solidFill>
                  <a:srgbClr val="0F0F0F"/>
                </a:solidFill>
                <a:effectLst/>
                <a:latin typeface="Calibri" panose="020F0502020204030204" pitchFamily="34" charset="0"/>
                <a:cs typeface="Calibri" panose="020F0502020204030204" pitchFamily="34" charset="0"/>
                <a:hlinkClick r:id="rId6"/>
              </a:rPr>
              <a:t>parts.andersenwindows.com</a:t>
            </a:r>
            <a:r>
              <a:rPr lang="en-US" sz="1000" i="0" dirty="0">
                <a:solidFill>
                  <a:srgbClr val="0F0F0F"/>
                </a:solidFill>
                <a:effectLst/>
                <a:latin typeface="Calibri" panose="020F0502020204030204" pitchFamily="34" charset="0"/>
                <a:cs typeface="Calibri" panose="020F0502020204030204" pitchFamily="34" charset="0"/>
                <a:hlinkClick r:id="rId6"/>
              </a:rPr>
              <a:t>/detail_2579045__d_fwh_hng.html</a:t>
            </a:r>
            <a:r>
              <a:rPr lang="en-US" sz="1400" dirty="0">
                <a:solidFill>
                  <a:srgbClr val="0F0F0F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 </a:t>
            </a:r>
            <a:endParaRPr lang="en-US" sz="1400" i="0" dirty="0">
              <a:solidFill>
                <a:srgbClr val="0F0F0F"/>
              </a:solidFill>
              <a:effectLst/>
              <a:latin typeface="Calibri" panose="020F0502020204030204" pitchFamily="34" charset="0"/>
              <a:cs typeface="Calibri" panose="020F0502020204030204" pitchFamily="34" charset="0"/>
            </a:endParaRPr>
          </a:p>
          <a:p>
            <a:endParaRPr lang="en-US" sz="1400" dirty="0">
              <a:solidFill>
                <a:srgbClr val="0F0F0F"/>
              </a:solidFill>
              <a:latin typeface="Calibri" panose="020F0502020204030204" pitchFamily="34" charset="0"/>
              <a:cs typeface="Calibri" panose="020F0502020204030204" pitchFamily="34" charset="0"/>
            </a:endParaRPr>
          </a:p>
          <a:p>
            <a:r>
              <a:rPr lang="en-US" sz="1400" i="0" dirty="0">
                <a:solidFill>
                  <a:srgbClr val="0F0F0F"/>
                </a:solidFill>
                <a:effectLst/>
                <a:latin typeface="Calibri" panose="020F0502020204030204" pitchFamily="34" charset="0"/>
                <a:cs typeface="Calibri" panose="020F0502020204030204" pitchFamily="34" charset="0"/>
              </a:rPr>
              <a:t>Adjusting A </a:t>
            </a:r>
            <a:r>
              <a:rPr lang="en-US" sz="1400" i="0" dirty="0" err="1">
                <a:solidFill>
                  <a:srgbClr val="0F0F0F"/>
                </a:solidFill>
                <a:effectLst/>
                <a:latin typeface="Calibri" panose="020F0502020204030204" pitchFamily="34" charset="0"/>
                <a:cs typeface="Calibri" panose="020F0502020204030204" pitchFamily="34" charset="0"/>
              </a:rPr>
              <a:t>Frenchwood</a:t>
            </a:r>
            <a:r>
              <a:rPr lang="en-US" sz="1400" i="0" dirty="0">
                <a:solidFill>
                  <a:srgbClr val="0F0F0F"/>
                </a:solidFill>
                <a:effectLst/>
                <a:latin typeface="Calibri" panose="020F0502020204030204" pitchFamily="34" charset="0"/>
                <a:cs typeface="Calibri" panose="020F0502020204030204" pitchFamily="34" charset="0"/>
              </a:rPr>
              <a:t> Inswing Patio Door (Pre-2005)</a:t>
            </a:r>
          </a:p>
          <a:p>
            <a:r>
              <a:rPr lang="en-US" sz="1000" i="0" dirty="0">
                <a:solidFill>
                  <a:srgbClr val="0F0F0F"/>
                </a:solidFill>
                <a:effectLst/>
                <a:latin typeface="Calibri" panose="020F0502020204030204" pitchFamily="34" charset="0"/>
                <a:cs typeface="Calibri" panose="020F0502020204030204" pitchFamily="34" charset="0"/>
                <a:hlinkClick r:id="rId7"/>
              </a:rPr>
              <a:t>https://</a:t>
            </a:r>
            <a:r>
              <a:rPr lang="en-US" sz="1000" i="0" dirty="0" err="1">
                <a:solidFill>
                  <a:srgbClr val="0F0F0F"/>
                </a:solidFill>
                <a:effectLst/>
                <a:latin typeface="Calibri" panose="020F0502020204030204" pitchFamily="34" charset="0"/>
                <a:cs typeface="Calibri" panose="020F0502020204030204" pitchFamily="34" charset="0"/>
                <a:hlinkClick r:id="rId7"/>
              </a:rPr>
              <a:t>www.youtube.com</a:t>
            </a:r>
            <a:r>
              <a:rPr lang="en-US" sz="1000" i="0" dirty="0">
                <a:solidFill>
                  <a:srgbClr val="0F0F0F"/>
                </a:solidFill>
                <a:effectLst/>
                <a:latin typeface="Calibri" panose="020F0502020204030204" pitchFamily="34" charset="0"/>
                <a:cs typeface="Calibri" panose="020F0502020204030204" pitchFamily="34" charset="0"/>
                <a:hlinkClick r:id="rId7"/>
              </a:rPr>
              <a:t>/</a:t>
            </a:r>
            <a:r>
              <a:rPr lang="en-US" sz="1000" i="0" dirty="0" err="1">
                <a:solidFill>
                  <a:srgbClr val="0F0F0F"/>
                </a:solidFill>
                <a:effectLst/>
                <a:latin typeface="Calibri" panose="020F0502020204030204" pitchFamily="34" charset="0"/>
                <a:cs typeface="Calibri" panose="020F0502020204030204" pitchFamily="34" charset="0"/>
                <a:hlinkClick r:id="rId7"/>
              </a:rPr>
              <a:t>watch?v</a:t>
            </a:r>
            <a:r>
              <a:rPr lang="en-US" sz="1000" i="0" dirty="0">
                <a:solidFill>
                  <a:srgbClr val="0F0F0F"/>
                </a:solidFill>
                <a:effectLst/>
                <a:latin typeface="Calibri" panose="020F0502020204030204" pitchFamily="34" charset="0"/>
                <a:cs typeface="Calibri" panose="020F0502020204030204" pitchFamily="34" charset="0"/>
                <a:hlinkClick r:id="rId7"/>
              </a:rPr>
              <a:t>=3jjh4aQmQ3Q</a:t>
            </a:r>
            <a:endParaRPr lang="en-US" sz="1000" i="0" dirty="0">
              <a:solidFill>
                <a:srgbClr val="0F0F0F"/>
              </a:solidFill>
              <a:effectLst/>
              <a:latin typeface="Calibri" panose="020F0502020204030204" pitchFamily="34" charset="0"/>
              <a:cs typeface="Calibri" panose="020F0502020204030204" pitchFamily="34" charset="0"/>
            </a:endParaRPr>
          </a:p>
          <a:p>
            <a:endParaRPr lang="en-US" sz="1400" i="0" dirty="0">
              <a:solidFill>
                <a:srgbClr val="0F0F0F"/>
              </a:solidFill>
              <a:effectLst/>
              <a:latin typeface="Calibri" panose="020F0502020204030204" pitchFamily="34" charset="0"/>
              <a:cs typeface="Calibri" panose="020F0502020204030204" pitchFamily="34" charset="0"/>
            </a:endParaRPr>
          </a:p>
          <a:p>
            <a:r>
              <a:rPr lang="en-US" sz="1400" i="0" dirty="0">
                <a:solidFill>
                  <a:srgbClr val="0F0F0F"/>
                </a:solidFill>
                <a:effectLst/>
                <a:latin typeface="Calibri" panose="020F0502020204030204" pitchFamily="34" charset="0"/>
                <a:cs typeface="Calibri" panose="020F0502020204030204" pitchFamily="34" charset="0"/>
              </a:rPr>
              <a:t>Adjusting an Anderson Door that Rubs</a:t>
            </a:r>
          </a:p>
          <a:p>
            <a:r>
              <a:rPr lang="en-US" sz="1000" i="0" dirty="0">
                <a:solidFill>
                  <a:srgbClr val="0F0F0F"/>
                </a:solidFill>
                <a:effectLst/>
                <a:latin typeface="Calibri" panose="020F0502020204030204" pitchFamily="34" charset="0"/>
                <a:cs typeface="Calibri" panose="020F0502020204030204" pitchFamily="34" charset="0"/>
                <a:hlinkClick r:id="rId8"/>
              </a:rPr>
              <a:t>https://www.youtube.com/watch?v=sBZzJ-IhidI</a:t>
            </a:r>
            <a:endParaRPr lang="en-US" sz="1000" dirty="0">
              <a:solidFill>
                <a:srgbClr val="0F0F0F"/>
              </a:solidFill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pic>
        <p:nvPicPr>
          <p:cNvPr id="1026" name="Picture 2" descr="Adjusting A Frenchwood Inswing Patio Door (Pre-2005) | Andersen Windows -  YouTube">
            <a:extLst>
              <a:ext uri="{FF2B5EF4-FFF2-40B4-BE49-F238E27FC236}">
                <a16:creationId xmlns:a16="http://schemas.microsoft.com/office/drawing/2014/main" id="{CEF30CB7-0696-B0FB-3B7F-A320EE23F47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9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 bwMode="auto">
          <a:xfrm>
            <a:off x="7260663" y="719966"/>
            <a:ext cx="4734560" cy="2663190"/>
          </a:xfrm>
          <a:prstGeom prst="rect">
            <a:avLst/>
          </a:prstGeom>
          <a:noFill/>
          <a:ln>
            <a:solidFill>
              <a:srgbClr val="FF0000"/>
            </a:solidFill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28" name="Picture 4" descr="Andersen Patio Door Hinge 1992-2005 - Left - Oil Rubbed Bronze - 2579574  7165-12">
            <a:extLst>
              <a:ext uri="{FF2B5EF4-FFF2-40B4-BE49-F238E27FC236}">
                <a16:creationId xmlns:a16="http://schemas.microsoft.com/office/drawing/2014/main" id="{744BF381-20B7-61FD-1A28-C6AFF44C3870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10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 bwMode="auto">
          <a:xfrm>
            <a:off x="56809" y="3995224"/>
            <a:ext cx="2770470" cy="2797810"/>
          </a:xfrm>
          <a:prstGeom prst="rect">
            <a:avLst/>
          </a:prstGeom>
          <a:noFill/>
          <a:ln>
            <a:solidFill>
              <a:srgbClr val="FF0000"/>
            </a:solidFill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DD4394FC-D1D9-F361-3B76-4BF1E090F672}"/>
              </a:ext>
            </a:extLst>
          </p:cNvPr>
          <p:cNvSpPr txBox="1"/>
          <p:nvPr/>
        </p:nvSpPr>
        <p:spPr>
          <a:xfrm>
            <a:off x="4439857" y="719966"/>
            <a:ext cx="2770470" cy="1815882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  <a:ln>
            <a:solidFill>
              <a:srgbClr val="FF0000"/>
            </a:solidFill>
          </a:ln>
        </p:spPr>
        <p:txBody>
          <a:bodyPr wrap="square" rtlCol="0">
            <a:spAutoFit/>
          </a:bodyPr>
          <a:lstStyle/>
          <a:p>
            <a:r>
              <a:rPr lang="en-US" sz="1400" i="0" dirty="0">
                <a:solidFill>
                  <a:srgbClr val="0F0F0F"/>
                </a:solidFill>
                <a:effectLst/>
                <a:latin typeface="Calibri" panose="020F0502020204030204" pitchFamily="34" charset="0"/>
                <a:cs typeface="Calibri" panose="020F0502020204030204" pitchFamily="34" charset="0"/>
              </a:rPr>
              <a:t>There are 3 hex-head screws. The regulation is done by the central one.</a:t>
            </a:r>
          </a:p>
          <a:p>
            <a:r>
              <a:rPr lang="en-US" sz="1400" dirty="0">
                <a:solidFill>
                  <a:srgbClr val="0F0F0F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1. loosen the top and bottom</a:t>
            </a:r>
          </a:p>
          <a:p>
            <a:r>
              <a:rPr lang="en-US" sz="1400" i="0" dirty="0">
                <a:solidFill>
                  <a:srgbClr val="0F0F0F"/>
                </a:solidFill>
                <a:effectLst/>
                <a:latin typeface="Calibri" panose="020F0502020204030204" pitchFamily="34" charset="0"/>
                <a:cs typeface="Calibri" panose="020F0502020204030204" pitchFamily="34" charset="0"/>
              </a:rPr>
              <a:t>2. regulate the middle (screw-in or out to decrease or increase the opening)</a:t>
            </a:r>
          </a:p>
          <a:p>
            <a:r>
              <a:rPr lang="en-US" sz="1400" dirty="0">
                <a:solidFill>
                  <a:srgbClr val="0F0F0F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3. tighten the top and bottom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B0EF3AE3-0CC4-EF6E-4DBF-2E113DCE69FF}"/>
              </a:ext>
            </a:extLst>
          </p:cNvPr>
          <p:cNvPicPr>
            <a:picLocks noChangeAspect="1"/>
          </p:cNvPicPr>
          <p:nvPr/>
        </p:nvPicPr>
        <p:blipFill>
          <a:blip r:embed="rId11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9830134" y="3552190"/>
            <a:ext cx="1926405" cy="2940050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7737935D-E707-14BF-B756-82C276AA6A2D}"/>
              </a:ext>
            </a:extLst>
          </p:cNvPr>
          <p:cNvSpPr txBox="1"/>
          <p:nvPr/>
        </p:nvSpPr>
        <p:spPr>
          <a:xfrm>
            <a:off x="6946925" y="4808643"/>
            <a:ext cx="2770470" cy="738664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  <a:ln>
            <a:solidFill>
              <a:srgbClr val="FF0000"/>
            </a:solidFill>
          </a:ln>
        </p:spPr>
        <p:txBody>
          <a:bodyPr wrap="square" rtlCol="0">
            <a:spAutoFit/>
          </a:bodyPr>
          <a:lstStyle/>
          <a:p>
            <a:r>
              <a:rPr lang="en-US" sz="1400" i="0" dirty="0">
                <a:solidFill>
                  <a:srgbClr val="0F0F0F"/>
                </a:solidFill>
                <a:effectLst/>
                <a:latin typeface="Calibri" panose="020F0502020204030204" pitchFamily="34" charset="0"/>
                <a:cs typeface="Calibri" panose="020F0502020204030204" pitchFamily="34" charset="0"/>
              </a:rPr>
              <a:t>There is also up/down adjustment of the hinge:</a:t>
            </a:r>
          </a:p>
          <a:p>
            <a:r>
              <a:rPr lang="en-US" sz="1400" i="0" dirty="0">
                <a:solidFill>
                  <a:srgbClr val="0F0F0F"/>
                </a:solidFill>
                <a:effectLst/>
                <a:latin typeface="Calibri" panose="020F0502020204030204" pitchFamily="34" charset="0"/>
                <a:cs typeface="Calibri" panose="020F0502020204030204" pitchFamily="34" charset="0"/>
              </a:rPr>
              <a:t>screw-in/out to move up/down</a:t>
            </a:r>
            <a:endParaRPr lang="en-US" sz="1400" dirty="0">
              <a:solidFill>
                <a:srgbClr val="0F0F0F"/>
              </a:solidFill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7B592990-D1BA-C296-2298-1BF166D148B6}"/>
              </a:ext>
            </a:extLst>
          </p:cNvPr>
          <p:cNvSpPr txBox="1"/>
          <p:nvPr/>
        </p:nvSpPr>
        <p:spPr>
          <a:xfrm>
            <a:off x="3572388" y="4760605"/>
            <a:ext cx="2559379" cy="523220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  <a:ln>
            <a:solidFill>
              <a:srgbClr val="FF0000"/>
            </a:solidFill>
          </a:ln>
        </p:spPr>
        <p:txBody>
          <a:bodyPr wrap="square" rtlCol="0">
            <a:spAutoFit/>
          </a:bodyPr>
          <a:lstStyle/>
          <a:p>
            <a:r>
              <a:rPr lang="en-US" sz="1400" i="0" dirty="0">
                <a:solidFill>
                  <a:srgbClr val="0F0F0F"/>
                </a:solidFill>
                <a:effectLst/>
                <a:latin typeface="Calibri" panose="020F0502020204030204" pitchFamily="34" charset="0"/>
                <a:cs typeface="Calibri" panose="020F0502020204030204" pitchFamily="34" charset="0"/>
              </a:rPr>
              <a:t>size of hex wrenches and nuts is measured "Across </a:t>
            </a:r>
            <a:r>
              <a:rPr lang="en-US" sz="1400" dirty="0">
                <a:solidFill>
                  <a:srgbClr val="0F0F0F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F</a:t>
            </a:r>
            <a:r>
              <a:rPr lang="en-US" sz="1400" i="0" dirty="0">
                <a:solidFill>
                  <a:srgbClr val="0F0F0F"/>
                </a:solidFill>
                <a:effectLst/>
                <a:latin typeface="Calibri" panose="020F0502020204030204" pitchFamily="34" charset="0"/>
                <a:cs typeface="Calibri" panose="020F0502020204030204" pitchFamily="34" charset="0"/>
              </a:rPr>
              <a:t>lats" (AF). </a:t>
            </a:r>
            <a:endParaRPr lang="en-US" sz="1400" dirty="0">
              <a:solidFill>
                <a:srgbClr val="0F0F0F"/>
              </a:solidFill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pic>
        <p:nvPicPr>
          <p:cNvPr id="7" name="Picture 2" descr="Wrench Openings Table">
            <a:extLst>
              <a:ext uri="{FF2B5EF4-FFF2-40B4-BE49-F238E27FC236}">
                <a16:creationId xmlns:a16="http://schemas.microsoft.com/office/drawing/2014/main" id="{6E5751B3-81D1-2831-CBE0-9AA39DB6D945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12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 r="38959" b="13530"/>
          <a:stretch/>
        </p:blipFill>
        <p:spPr bwMode="auto">
          <a:xfrm>
            <a:off x="3582263" y="5344667"/>
            <a:ext cx="1167035" cy="738665"/>
          </a:xfrm>
          <a:prstGeom prst="rect">
            <a:avLst/>
          </a:prstGeom>
          <a:noFill/>
          <a:ln>
            <a:solidFill>
              <a:srgbClr val="FF0000"/>
            </a:solidFill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89510814-5C39-8B5B-6866-6D14C2CCD83C}"/>
              </a:ext>
            </a:extLst>
          </p:cNvPr>
          <p:cNvPicPr>
            <a:picLocks noChangeAspect="1"/>
          </p:cNvPicPr>
          <p:nvPr/>
        </p:nvPicPr>
        <p:blipFill>
          <a:blip r:embed="rId13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4797122" y="5344667"/>
            <a:ext cx="1322454" cy="750049"/>
          </a:xfrm>
          <a:prstGeom prst="rect">
            <a:avLst/>
          </a:prstGeom>
          <a:ln>
            <a:solidFill>
              <a:srgbClr val="FF0000"/>
            </a:solidFill>
          </a:ln>
        </p:spPr>
      </p:pic>
    </p:spTree>
    <p:extLst>
      <p:ext uri="{BB962C8B-B14F-4D97-AF65-F5344CB8AC3E}">
        <p14:creationId xmlns:p14="http://schemas.microsoft.com/office/powerpoint/2010/main" val="1053730920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>
            <a:extLst>
              <a:ext uri="{FF2B5EF4-FFF2-40B4-BE49-F238E27FC236}">
                <a16:creationId xmlns:a16="http://schemas.microsoft.com/office/drawing/2014/main" id="{3533AD92-30D4-92E5-D6D2-8F5D6215EFD1}"/>
              </a:ext>
            </a:extLst>
          </p:cNvPr>
          <p:cNvPicPr>
            <a:picLocks noChangeAspect="1"/>
          </p:cNvPicPr>
          <p:nvPr/>
        </p:nvPicPr>
        <p:blipFill>
          <a:blip r:embed="rId2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411997" y="362794"/>
            <a:ext cx="7772400" cy="3776667"/>
          </a:xfrm>
          <a:prstGeom prst="rect">
            <a:avLst/>
          </a:prstGeom>
        </p:spPr>
      </p:pic>
      <p:graphicFrame>
        <p:nvGraphicFramePr>
          <p:cNvPr id="3" name="Table 2">
            <a:extLst>
              <a:ext uri="{FF2B5EF4-FFF2-40B4-BE49-F238E27FC236}">
                <a16:creationId xmlns:a16="http://schemas.microsoft.com/office/drawing/2014/main" id="{52D5817A-0316-C176-D239-D180F804A839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020736888"/>
              </p:ext>
            </p:extLst>
          </p:nvPr>
        </p:nvGraphicFramePr>
        <p:xfrm>
          <a:off x="411997" y="4646387"/>
          <a:ext cx="5280805" cy="1104900"/>
        </p:xfrm>
        <a:graphic>
          <a:graphicData uri="http://schemas.openxmlformats.org/drawingml/2006/table">
            <a:tbl>
              <a:tblPr/>
              <a:tblGrid>
                <a:gridCol w="1576711">
                  <a:extLst>
                    <a:ext uri="{9D8B030D-6E8A-4147-A177-3AD203B41FA5}">
                      <a16:colId xmlns:a16="http://schemas.microsoft.com/office/drawing/2014/main" val="3327541240"/>
                    </a:ext>
                  </a:extLst>
                </a:gridCol>
                <a:gridCol w="2406599">
                  <a:extLst>
                    <a:ext uri="{9D8B030D-6E8A-4147-A177-3AD203B41FA5}">
                      <a16:colId xmlns:a16="http://schemas.microsoft.com/office/drawing/2014/main" val="605654601"/>
                    </a:ext>
                  </a:extLst>
                </a:gridCol>
                <a:gridCol w="1297495">
                  <a:extLst>
                    <a:ext uri="{9D8B030D-6E8A-4147-A177-3AD203B41FA5}">
                      <a16:colId xmlns:a16="http://schemas.microsoft.com/office/drawing/2014/main" val="2903411824"/>
                    </a:ext>
                  </a:extLst>
                </a:gridCol>
              </a:tblGrid>
              <a:tr h="200025">
                <a:tc>
                  <a:txBody>
                    <a:bodyPr/>
                    <a:lstStyle/>
                    <a:p>
                      <a:pPr rtl="0" fontAlgn="b"/>
                      <a:r>
                        <a:rPr lang="en-US" sz="1200" b="1">
                          <a:solidFill>
                            <a:srgbClr val="7A7A7A"/>
                          </a:solidFill>
                          <a:effectLst/>
                          <a:highlight>
                            <a:srgbClr val="FFFFFF"/>
                          </a:highlight>
                          <a:latin typeface="Roboto" panose="02000000000000000000" pitchFamily="2" charset="0"/>
                        </a:rPr>
                        <a:t>Door Thickness</a:t>
                      </a:r>
                    </a:p>
                  </a:txBody>
                  <a:tcPr marL="28575" marR="28575" marT="19050" marB="19050" anchor="b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rtl="0" fontAlgn="b"/>
                      <a:r>
                        <a:rPr lang="en-US" sz="1200" b="1">
                          <a:solidFill>
                            <a:srgbClr val="7A7A7A"/>
                          </a:solidFill>
                          <a:effectLst/>
                          <a:highlight>
                            <a:srgbClr val="FFFFFF"/>
                          </a:highlight>
                          <a:latin typeface="Roboto" panose="02000000000000000000" pitchFamily="2" charset="0"/>
                        </a:rPr>
                        <a:t>Door Width</a:t>
                      </a:r>
                    </a:p>
                  </a:txBody>
                  <a:tcPr marL="28575" marR="28575" marT="19050" marB="19050" anchor="b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60936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rtl="0" fontAlgn="b"/>
                      <a:r>
                        <a:rPr lang="en-US" sz="1200" b="1">
                          <a:solidFill>
                            <a:srgbClr val="7A7A7A"/>
                          </a:solidFill>
                          <a:effectLst/>
                          <a:highlight>
                            <a:srgbClr val="FFFFFF"/>
                          </a:highlight>
                          <a:latin typeface="Roboto" panose="02000000000000000000" pitchFamily="2" charset="0"/>
                        </a:rPr>
                        <a:t>Hinge Size to Use</a:t>
                      </a:r>
                    </a:p>
                  </a:txBody>
                  <a:tcPr marL="0" marR="0" marT="19050" marB="19050" anchor="b">
                    <a:lnL w="9525" cap="flat" cmpd="sng" algn="ctr">
                      <a:solidFill>
                        <a:srgbClr val="60936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60936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60936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934276438"/>
                  </a:ext>
                </a:extLst>
              </a:tr>
              <a:tr h="200025">
                <a:tc>
                  <a:txBody>
                    <a:bodyPr/>
                    <a:lstStyle/>
                    <a:p>
                      <a:pPr rtl="0" fontAlgn="b"/>
                      <a:r>
                        <a:rPr lang="en-US" sz="1200" b="0">
                          <a:solidFill>
                            <a:srgbClr val="7A7A7A"/>
                          </a:solidFill>
                          <a:effectLst/>
                          <a:highlight>
                            <a:srgbClr val="FFFFFF"/>
                          </a:highlight>
                          <a:latin typeface="Roboto" panose="02000000000000000000" pitchFamily="2" charset="0"/>
                        </a:rPr>
                        <a:t>1-3/8 inches thick</a:t>
                      </a:r>
                    </a:p>
                  </a:txBody>
                  <a:tcPr marL="28575" marR="28575" marT="19050" marB="19050" anchor="b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rtl="0" fontAlgn="b"/>
                      <a:r>
                        <a:rPr lang="en-US" sz="1200" b="0">
                          <a:solidFill>
                            <a:srgbClr val="7A7A7A"/>
                          </a:solidFill>
                          <a:effectLst/>
                          <a:highlight>
                            <a:srgbClr val="FFFFFF"/>
                          </a:highlight>
                          <a:latin typeface="Roboto" panose="02000000000000000000" pitchFamily="2" charset="0"/>
                        </a:rPr>
                        <a:t>up to 32 inches</a:t>
                      </a:r>
                    </a:p>
                  </a:txBody>
                  <a:tcPr marL="28575" marR="28575" marT="19050" marB="19050" anchor="b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rtl="0" fontAlgn="b"/>
                      <a:r>
                        <a:rPr lang="en-US" sz="1200" b="0" dirty="0">
                          <a:solidFill>
                            <a:srgbClr val="7A7A7A"/>
                          </a:solidFill>
                          <a:effectLst/>
                          <a:highlight>
                            <a:srgbClr val="FFFFFF"/>
                          </a:highlight>
                          <a:latin typeface="Roboto" panose="02000000000000000000" pitchFamily="2" charset="0"/>
                        </a:rPr>
                        <a:t>3 x 3 hinge</a:t>
                      </a:r>
                    </a:p>
                  </a:txBody>
                  <a:tcPr marL="28575" marR="28575" marT="19050" marB="19050" anchor="b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57037394"/>
                  </a:ext>
                </a:extLst>
              </a:tr>
              <a:tr h="200025">
                <a:tc>
                  <a:txBody>
                    <a:bodyPr/>
                    <a:lstStyle/>
                    <a:p>
                      <a:pPr rtl="0" fontAlgn="b"/>
                      <a:r>
                        <a:rPr lang="en-US" sz="1200" b="0">
                          <a:solidFill>
                            <a:srgbClr val="7A7A7A"/>
                          </a:solidFill>
                          <a:effectLst/>
                          <a:highlight>
                            <a:srgbClr val="FFFFFF"/>
                          </a:highlight>
                          <a:latin typeface="Roboto" panose="02000000000000000000" pitchFamily="2" charset="0"/>
                        </a:rPr>
                        <a:t>1-3/8 inches thick</a:t>
                      </a:r>
                    </a:p>
                  </a:txBody>
                  <a:tcPr marL="28575" marR="28575" marT="19050" marB="19050" anchor="b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rtl="0" fontAlgn="b"/>
                      <a:r>
                        <a:rPr lang="en-US" sz="1200" b="0">
                          <a:solidFill>
                            <a:srgbClr val="7A7A7A"/>
                          </a:solidFill>
                          <a:effectLst/>
                          <a:highlight>
                            <a:srgbClr val="FFFFFF"/>
                          </a:highlight>
                          <a:latin typeface="Roboto" panose="02000000000000000000" pitchFamily="2" charset="0"/>
                        </a:rPr>
                        <a:t>between 32 and 37 inches</a:t>
                      </a:r>
                    </a:p>
                  </a:txBody>
                  <a:tcPr marL="28575" marR="28575" marT="19050" marB="19050" anchor="b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rtl="0" fontAlgn="b"/>
                      <a:r>
                        <a:rPr lang="en-US" sz="1200" b="0">
                          <a:solidFill>
                            <a:srgbClr val="7A7A7A"/>
                          </a:solidFill>
                          <a:effectLst/>
                          <a:highlight>
                            <a:srgbClr val="FFFFFF"/>
                          </a:highlight>
                          <a:latin typeface="Roboto" panose="02000000000000000000" pitchFamily="2" charset="0"/>
                        </a:rPr>
                        <a:t>4 x 4 hinge</a:t>
                      </a:r>
                    </a:p>
                  </a:txBody>
                  <a:tcPr marL="28575" marR="28575" marT="19050" marB="19050" anchor="b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40566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630894509"/>
                  </a:ext>
                </a:extLst>
              </a:tr>
              <a:tr h="200025">
                <a:tc>
                  <a:txBody>
                    <a:bodyPr/>
                    <a:lstStyle/>
                    <a:p>
                      <a:pPr rtl="0" fontAlgn="b"/>
                      <a:r>
                        <a:rPr lang="en-US" sz="1200" b="0">
                          <a:solidFill>
                            <a:srgbClr val="7A7A7A"/>
                          </a:solidFill>
                          <a:effectLst/>
                          <a:highlight>
                            <a:srgbClr val="FFFFFF"/>
                          </a:highlight>
                          <a:latin typeface="Roboto" panose="02000000000000000000" pitchFamily="2" charset="0"/>
                        </a:rPr>
                        <a:t>1-3/4 inches thick</a:t>
                      </a:r>
                    </a:p>
                  </a:txBody>
                  <a:tcPr marL="28575" marR="28575" marT="19050" marB="19050" anchor="b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rtl="0" fontAlgn="b"/>
                      <a:r>
                        <a:rPr lang="en-US" sz="1200" b="0">
                          <a:solidFill>
                            <a:srgbClr val="7A7A7A"/>
                          </a:solidFill>
                          <a:effectLst/>
                          <a:highlight>
                            <a:srgbClr val="FFFFFF"/>
                          </a:highlight>
                          <a:latin typeface="Roboto" panose="02000000000000000000" pitchFamily="2" charset="0"/>
                        </a:rPr>
                        <a:t>up to 36 inches</a:t>
                      </a:r>
                    </a:p>
                  </a:txBody>
                  <a:tcPr marL="28575" marR="28575" marT="19050" marB="19050" anchor="b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40566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rtl="0" fontAlgn="b"/>
                      <a:r>
                        <a:rPr lang="en-US" sz="1200" b="0">
                          <a:solidFill>
                            <a:srgbClr val="7A7A7A"/>
                          </a:solidFill>
                          <a:effectLst/>
                          <a:highlight>
                            <a:srgbClr val="FFFFFF"/>
                          </a:highlight>
                          <a:latin typeface="Roboto" panose="02000000000000000000" pitchFamily="2" charset="0"/>
                        </a:rPr>
                        <a:t>4.5 x 4.5 hinge</a:t>
                      </a:r>
                    </a:p>
                  </a:txBody>
                  <a:tcPr marL="0" marR="0" marT="19050" marB="19050" anchor="b">
                    <a:lnL w="9525" cap="flat" cmpd="sng" algn="ctr">
                      <a:solidFill>
                        <a:srgbClr val="40566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40566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40566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304792015"/>
                  </a:ext>
                </a:extLst>
              </a:tr>
              <a:tr h="200025">
                <a:tc>
                  <a:txBody>
                    <a:bodyPr/>
                    <a:lstStyle/>
                    <a:p>
                      <a:pPr rtl="0" fontAlgn="b"/>
                      <a:r>
                        <a:rPr lang="en-US" sz="1200" b="0">
                          <a:solidFill>
                            <a:srgbClr val="7A7A7A"/>
                          </a:solidFill>
                          <a:effectLst/>
                          <a:highlight>
                            <a:srgbClr val="FFFFFF"/>
                          </a:highlight>
                          <a:latin typeface="Roboto" panose="02000000000000000000" pitchFamily="2" charset="0"/>
                        </a:rPr>
                        <a:t>1-3/4 inches thick</a:t>
                      </a:r>
                    </a:p>
                  </a:txBody>
                  <a:tcPr marL="28575" marR="28575" marT="19050" marB="19050" anchor="b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rtl="0" fontAlgn="b"/>
                      <a:r>
                        <a:rPr lang="en-US" sz="1200" b="0">
                          <a:solidFill>
                            <a:srgbClr val="7A7A7A"/>
                          </a:solidFill>
                          <a:effectLst/>
                          <a:highlight>
                            <a:srgbClr val="FFFFFF"/>
                          </a:highlight>
                          <a:latin typeface="Roboto" panose="02000000000000000000" pitchFamily="2" charset="0"/>
                        </a:rPr>
                        <a:t>between 36 and 48 inches</a:t>
                      </a:r>
                    </a:p>
                  </a:txBody>
                  <a:tcPr marL="28575" marR="28575" marT="19050" marB="19050" anchor="b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rtl="0" fontAlgn="b"/>
                      <a:r>
                        <a:rPr lang="en-US" sz="1200" b="0" dirty="0">
                          <a:solidFill>
                            <a:srgbClr val="7A7A7A"/>
                          </a:solidFill>
                          <a:effectLst/>
                          <a:highlight>
                            <a:srgbClr val="FFFFFF"/>
                          </a:highlight>
                          <a:latin typeface="Roboto" panose="02000000000000000000" pitchFamily="2" charset="0"/>
                        </a:rPr>
                        <a:t>5 x 5 hinge</a:t>
                      </a:r>
                    </a:p>
                  </a:txBody>
                  <a:tcPr marL="28575" marR="28575" marT="19050" marB="19050" anchor="b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351316885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949535260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844</TotalTime>
  <Words>305</Words>
  <Application>Microsoft Macintosh PowerPoint</Application>
  <PresentationFormat>Widescreen</PresentationFormat>
  <Paragraphs>46</Paragraphs>
  <Slides>4</Slides>
  <Notes>3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9" baseType="lpstr">
      <vt:lpstr>Arial</vt:lpstr>
      <vt:lpstr>Calibri</vt:lpstr>
      <vt:lpstr>Calibri Light</vt:lpstr>
      <vt:lpstr>Roboto</vt:lpstr>
      <vt:lpstr>Office Theme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Lev Selector</dc:creator>
  <cp:lastModifiedBy>Lev Selector</cp:lastModifiedBy>
  <cp:revision>74</cp:revision>
  <dcterms:created xsi:type="dcterms:W3CDTF">2022-06-02T16:58:09Z</dcterms:created>
  <dcterms:modified xsi:type="dcterms:W3CDTF">2024-05-26T02:53:43Z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MSIP_Label_4f518368-b969-4042-91d9-8939bd921da2_Enabled">
    <vt:lpwstr>true</vt:lpwstr>
  </property>
  <property fmtid="{D5CDD505-2E9C-101B-9397-08002B2CF9AE}" pid="3" name="MSIP_Label_4f518368-b969-4042-91d9-8939bd921da2_SetDate">
    <vt:lpwstr>2022-06-02T16:58:10Z</vt:lpwstr>
  </property>
  <property fmtid="{D5CDD505-2E9C-101B-9397-08002B2CF9AE}" pid="4" name="MSIP_Label_4f518368-b969-4042-91d9-8939bd921da2_Method">
    <vt:lpwstr>Standard</vt:lpwstr>
  </property>
  <property fmtid="{D5CDD505-2E9C-101B-9397-08002B2CF9AE}" pid="5" name="MSIP_Label_4f518368-b969-4042-91d9-8939bd921da2_Name">
    <vt:lpwstr>General</vt:lpwstr>
  </property>
  <property fmtid="{D5CDD505-2E9C-101B-9397-08002B2CF9AE}" pid="6" name="MSIP_Label_4f518368-b969-4042-91d9-8939bd921da2_SiteId">
    <vt:lpwstr>116e9905-19fc-428e-93d4-bcaffb833597</vt:lpwstr>
  </property>
  <property fmtid="{D5CDD505-2E9C-101B-9397-08002B2CF9AE}" pid="7" name="MSIP_Label_4f518368-b969-4042-91d9-8939bd921da2_ActionId">
    <vt:lpwstr>93134c22-9ab4-41e7-a5b4-b1f73aac775b</vt:lpwstr>
  </property>
  <property fmtid="{D5CDD505-2E9C-101B-9397-08002B2CF9AE}" pid="8" name="MSIP_Label_4f518368-b969-4042-91d9-8939bd921da2_ContentBits">
    <vt:lpwstr>0</vt:lpwstr>
  </property>
</Properties>
</file>