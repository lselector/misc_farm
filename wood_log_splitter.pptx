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1" r:id="rId2"/>
    <p:sldId id="268" r:id="rId3"/>
    <p:sldId id="262" r:id="rId4"/>
    <p:sldId id="267" r:id="rId5"/>
    <p:sldId id="263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078"/>
    <p:restoredTop sz="91368"/>
  </p:normalViewPr>
  <p:slideViewPr>
    <p:cSldViewPr snapToGrid="0" snapToObjects="1">
      <p:cViewPr varScale="1">
        <p:scale>
          <a:sx n="73" d="100"/>
          <a:sy n="73" d="100"/>
        </p:scale>
        <p:origin x="1120" y="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A7E78-4330-193B-B423-8314C67628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080FDA-9F58-7E15-C3A0-BCA67A1B65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FD1846-5607-2F80-FE77-B45D1134D8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59EC29-87F8-BE2D-794A-6DA472257B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340454-B433-410E-0FF8-FC3528287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5089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6760B-86A2-A753-7B95-0F58C129D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26CB2F-877F-D8BF-FD37-54A9FCD98E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7B5966-DCE9-9278-FC75-7505EFC826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8C6C7F-3558-A2B7-B9CB-C865542E0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53B692-9BC3-C542-CF13-B75CF4818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79295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201A7-590C-E867-7D0C-AE29A5E7C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89C844-B762-199D-E840-4432CFA9EC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8F83D9-6582-F301-0C23-DFC2554944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52132C-12F6-FB49-15E9-71DC67F2F8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D5F5A6-E475-572D-EB19-BDCB29C26D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89418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67E54A-D232-E13B-03B8-197985E469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95FE80-6415-A129-A133-13F4E69631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F34163-2BC5-67B8-C044-B2B91150F7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E24A9F-6EBE-F2FD-B790-457A880F4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11/23/25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165A11-D3B2-DAF0-6C96-3A013B4B66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148667-6987-698C-D3F8-33E4C2F455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62347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89EB9B-3B5A-BAA4-1104-35CFEE511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A6AF77-D30B-078E-7377-864E200417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D3BB66-8448-BDCE-8885-0DCCD1D2FD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C4BBBE-287A-8A3C-D9AC-73777D133F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EC8599-617C-397F-DC3D-826467ADF3E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BF5D750-7437-B1AA-EDBA-8CE16147AE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11/23/25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61E2CB5-60FB-BFE3-7C57-6D71206F09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C2E5366-9BBC-DD63-6667-F2ABAD0CF7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103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502E0-2360-8A3B-C660-0EEE2283A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761752-B6B9-B0D3-79D0-BA63B329CC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11/23/25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49FDB9-28AA-E5EE-0E6F-1C8709834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D1A72C3-CCD3-E994-0553-1649E7C05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43061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727FBEF-93F3-4398-ABDE-E19A2BE6EE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11/23/25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24BDFD-B5CF-6FE3-E5D7-46013C29E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995C03-7815-0295-8D6D-6E94DCC40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5297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60438-A2C9-EC42-359F-79480BBFBC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BAC04E-128D-0581-C7DA-E12F971BB4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57F62C-C89B-1A1C-EE71-DFB3CCC880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E8FE63-1511-35E5-E243-54A541D531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11/23/25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388C57B-944F-63EC-027D-0775FFD317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0B95C2-F629-DCC1-1A34-EFD210A359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61875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1C171-16B5-30EF-DF6B-EA8297BFE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0EC62FB-CB34-C301-34F2-0BC3B063A2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14D87E-859D-4374-028E-34A7E0967C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A0E7CC-E810-603C-A310-365D6E2E76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11/23/25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4811FA3-03C6-243F-1B00-D8C263B8A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D7B7296-43FF-9B1B-273A-D8A59A1AF5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69878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B347D-D077-DA5B-BCBF-255D910F8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D969ED-67C2-311E-252D-6A110850A0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D0FBA1-3C89-EC11-74D4-20B92AAFDA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A7745B-5BAE-F9D3-47E4-0138D1CEA5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730326-C5CD-0886-9BE9-A7F7DB749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5030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D2BAD8-9CAB-A380-AAC3-A59F3A32560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D29A6E-D831-F47F-A2AE-F6E1AFD2D00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F4713-8CBC-B5EB-3BDB-7F46E4C81A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491023-0B0A-7041-9F06-D25A50EF063B}" type="datetimeFigureOut">
              <a:t>11/23/25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B814CE-5D3F-6AF3-1B95-C1BCD7CEF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44F38C-1773-F5A8-9806-A23E993F7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72999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2D680EF-BCA9-239E-5CBB-C870C41B48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0FCFB0-9A1E-EE20-9776-1EF4CAC7D5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1C2FEA-8E7F-70CC-474B-CC138894A0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491023-0B0A-7041-9F06-D25A50EF063B}" type="datetimeFigureOut">
              <a:t>11/23/25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68BAB-55F6-6894-580A-32AFD5780B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8BF367-BF67-C7BE-7EC4-9DB85C434E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3E528E-3295-EB44-B5E3-209426A0E5EC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5609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7txUWFFHkBc" TargetMode="External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11" Type="http://schemas.openxmlformats.org/officeDocument/2006/relationships/hyperlink" Target="https://www.amazon.com/dp/B006ZBCB3M" TargetMode="External"/><Relationship Id="rId5" Type="http://schemas.openxmlformats.org/officeDocument/2006/relationships/image" Target="../media/image9.png"/><Relationship Id="rId10" Type="http://schemas.openxmlformats.org/officeDocument/2006/relationships/image" Target="../media/image12.png"/><Relationship Id="rId4" Type="http://schemas.openxmlformats.org/officeDocument/2006/relationships/image" Target="../media/image8.png"/><Relationship Id="rId9" Type="http://schemas.openxmlformats.org/officeDocument/2006/relationships/hyperlink" Target="https://www.youtube.com/watch?v=wd_E9VhSfSg" TargetMode="Externa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12" Type="http://schemas.openxmlformats.org/officeDocument/2006/relationships/image" Target="../media/image23.pn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11" Type="http://schemas.openxmlformats.org/officeDocument/2006/relationships/image" Target="../media/image22.png"/><Relationship Id="rId5" Type="http://schemas.openxmlformats.org/officeDocument/2006/relationships/image" Target="../media/image16.png"/><Relationship Id="rId10" Type="http://schemas.openxmlformats.org/officeDocument/2006/relationships/image" Target="../media/image21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gif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0163547-3461-AE07-C75E-7594C61EA810}"/>
              </a:ext>
            </a:extLst>
          </p:cNvPr>
          <p:cNvSpPr txBox="1"/>
          <p:nvPr/>
        </p:nvSpPr>
        <p:spPr>
          <a:xfrm>
            <a:off x="82880" y="158414"/>
            <a:ext cx="4524172" cy="695575"/>
          </a:xfrm>
          <a:prstGeom prst="rect">
            <a:avLst/>
          </a:prstGeom>
          <a:noFill/>
        </p:spPr>
        <p:txBody>
          <a:bodyPr wrap="square" lIns="9144" tIns="9144" rIns="9144" bIns="9144" rtlCol="0" anchor="ctr" anchorCtr="0">
            <a:spAutoFit/>
          </a:bodyPr>
          <a:lstStyle/>
          <a:p>
            <a:pPr algn="ctr"/>
            <a:r>
              <a:rPr lang="en-US" sz="4400" b="1" dirty="0">
                <a:solidFill>
                  <a:srgbClr val="00B0F0"/>
                </a:solidFill>
              </a:rPr>
              <a:t>Wood Log Splitter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655759-F48C-8A54-0B76-14B9D9FB56DC}"/>
              </a:ext>
            </a:extLst>
          </p:cNvPr>
          <p:cNvSpPr txBox="1"/>
          <p:nvPr/>
        </p:nvSpPr>
        <p:spPr>
          <a:xfrm>
            <a:off x="2162760" y="4120109"/>
            <a:ext cx="24442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34 tons, gas engine, $1,900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DAC7BC1-783C-2E93-F310-EA32A930A68B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058062" y="2743199"/>
            <a:ext cx="1930918" cy="140000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882EA93-1EB4-7982-274C-E7C7E1044B67}"/>
              </a:ext>
            </a:extLst>
          </p:cNvPr>
          <p:cNvSpPr txBox="1"/>
          <p:nvPr/>
        </p:nvSpPr>
        <p:spPr>
          <a:xfrm>
            <a:off x="82880" y="2214670"/>
            <a:ext cx="195810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5 tons, electric, $45 on </a:t>
            </a:r>
            <a:r>
              <a:rPr lang="en-US" sz="1400" dirty="0" err="1"/>
              <a:t>facebook</a:t>
            </a:r>
            <a:r>
              <a:rPr lang="en-US" sz="1400" dirty="0"/>
              <a:t> marketplace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DF2D2E2-8294-5773-7483-E8634850EFFC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1876" y="853989"/>
            <a:ext cx="1776186" cy="140000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8042D75-EB5E-64EB-3BD0-6C8A230E8F99}"/>
              </a:ext>
            </a:extLst>
          </p:cNvPr>
          <p:cNvSpPr txBox="1"/>
          <p:nvPr/>
        </p:nvSpPr>
        <p:spPr>
          <a:xfrm>
            <a:off x="2434032" y="2214670"/>
            <a:ext cx="217302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22 tons, electric $2,850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8ACB916-6D38-DBDC-B741-70D7557CE02B}"/>
              </a:ext>
            </a:extLst>
          </p:cNvPr>
          <p:cNvSpPr txBox="1"/>
          <p:nvPr/>
        </p:nvSpPr>
        <p:spPr>
          <a:xfrm>
            <a:off x="177958" y="4120109"/>
            <a:ext cx="17409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9 tons, electric $550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6DBE0FC-9666-03D2-D0C4-6325D22EDC48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7958" y="2847521"/>
            <a:ext cx="1546550" cy="116295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E32BEA5-FC28-F22D-4271-E7BDEEB8768B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434032" y="1173732"/>
            <a:ext cx="1797050" cy="96171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E5781FE-1DB8-E350-79D5-54C8C33802D6}"/>
              </a:ext>
            </a:extLst>
          </p:cNvPr>
          <p:cNvSpPr txBox="1"/>
          <p:nvPr/>
        </p:nvSpPr>
        <p:spPr>
          <a:xfrm>
            <a:off x="6096000" y="645009"/>
            <a:ext cx="5771712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Firewood is traditionally cut to 16 inches because three pieces at this length equal 48 inches (4 feet), which perfectly fits the standard cord measurement of 4'x4'x8'.</a:t>
            </a:r>
          </a:p>
          <a:p>
            <a:endParaRPr lang="en-US" sz="1400" dirty="0"/>
          </a:p>
          <a:p>
            <a:r>
              <a:rPr lang="en-US" sz="1400" dirty="0"/>
              <a:t>This 16-inch standard became universal because it fits virtually all residential wood stoves, splits and dries more efficiently than longer pieces, and simplifies volume calculations for buying and selling firewood.</a:t>
            </a:r>
          </a:p>
          <a:p>
            <a:endParaRPr lang="en-US" sz="1400" dirty="0"/>
          </a:p>
          <a:p>
            <a:r>
              <a:rPr lang="en-US" sz="1400" dirty="0"/>
              <a:t>Most residential splitters use hydraulic cylinders with approximately 24-inch stroke lengths. The max length of the logs is a bit smaller (usually 20.5-inch).</a:t>
            </a:r>
          </a:p>
          <a:p>
            <a:endParaRPr lang="en-US" sz="1400" dirty="0"/>
          </a:p>
          <a:p>
            <a:r>
              <a:rPr lang="en-US" sz="1400" dirty="0"/>
              <a:t>Larger commercial units that handle longer logs require correspondingly longer frames and heavier construction.</a:t>
            </a:r>
          </a:p>
        </p:txBody>
      </p:sp>
    </p:spTree>
    <p:extLst>
      <p:ext uri="{BB962C8B-B14F-4D97-AF65-F5344CB8AC3E}">
        <p14:creationId xmlns:p14="http://schemas.microsoft.com/office/powerpoint/2010/main" val="2058619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26D9D8-049F-E07E-FF56-6B41F2F6A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600AE0D6-0488-053B-AB69-0CC2563AF5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4089206"/>
              </p:ext>
            </p:extLst>
          </p:nvPr>
        </p:nvGraphicFramePr>
        <p:xfrm>
          <a:off x="355599" y="635001"/>
          <a:ext cx="7044269" cy="485300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39885">
                  <a:extLst>
                    <a:ext uri="{9D8B030D-6E8A-4147-A177-3AD203B41FA5}">
                      <a16:colId xmlns:a16="http://schemas.microsoft.com/office/drawing/2014/main" val="611815041"/>
                    </a:ext>
                  </a:extLst>
                </a:gridCol>
                <a:gridCol w="763607">
                  <a:extLst>
                    <a:ext uri="{9D8B030D-6E8A-4147-A177-3AD203B41FA5}">
                      <a16:colId xmlns:a16="http://schemas.microsoft.com/office/drawing/2014/main" val="1045610948"/>
                    </a:ext>
                  </a:extLst>
                </a:gridCol>
                <a:gridCol w="744516">
                  <a:extLst>
                    <a:ext uri="{9D8B030D-6E8A-4147-A177-3AD203B41FA5}">
                      <a16:colId xmlns:a16="http://schemas.microsoft.com/office/drawing/2014/main" val="1183527022"/>
                    </a:ext>
                  </a:extLst>
                </a:gridCol>
                <a:gridCol w="763606">
                  <a:extLst>
                    <a:ext uri="{9D8B030D-6E8A-4147-A177-3AD203B41FA5}">
                      <a16:colId xmlns:a16="http://schemas.microsoft.com/office/drawing/2014/main" val="746862576"/>
                    </a:ext>
                  </a:extLst>
                </a:gridCol>
                <a:gridCol w="744516">
                  <a:extLst>
                    <a:ext uri="{9D8B030D-6E8A-4147-A177-3AD203B41FA5}">
                      <a16:colId xmlns:a16="http://schemas.microsoft.com/office/drawing/2014/main" val="2134847549"/>
                    </a:ext>
                  </a:extLst>
                </a:gridCol>
                <a:gridCol w="1088139">
                  <a:extLst>
                    <a:ext uri="{9D8B030D-6E8A-4147-A177-3AD203B41FA5}">
                      <a16:colId xmlns:a16="http://schemas.microsoft.com/office/drawing/2014/main" val="766747122"/>
                    </a:ext>
                  </a:extLst>
                </a:gridCol>
              </a:tblGrid>
              <a:tr h="192587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Power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Force (tons)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Log length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Price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Horizontal / Vertical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51634043"/>
                  </a:ext>
                </a:extLst>
              </a:tr>
              <a:tr h="320979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 panose="020F0502020204030204" pitchFamily="34" charset="0"/>
                          <a:ea typeface="Menlo" panose="020B0609030804020204" pitchFamily="49" charset="0"/>
                          <a:cs typeface="Calibri" panose="020F0502020204030204" pitchFamily="34" charset="0"/>
                        </a:rPr>
                        <a:t>Champion Power Equipment 27-Ton Splitter </a:t>
                      </a:r>
                      <a:endParaRPr 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25"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$1.3K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3879770"/>
                  </a:ext>
                </a:extLst>
              </a:tr>
              <a:tr h="320979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 panose="020F0502020204030204" pitchFamily="34" charset="0"/>
                          <a:ea typeface="Menlo" panose="020B0609030804020204" pitchFamily="49" charset="0"/>
                          <a:cs typeface="Calibri" panose="020F0502020204030204" pitchFamily="34" charset="0"/>
                        </a:rPr>
                        <a:t>Swisher 22-Ton Electric Log Splitter Eco Split LS22E </a:t>
                      </a:r>
                      <a:endParaRPr 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Electric</a:t>
                      </a:r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22</a:t>
                      </a:r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25"</a:t>
                      </a:r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$3.3K</a:t>
                      </a:r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58880388"/>
                  </a:ext>
                </a:extLst>
              </a:tr>
              <a:tr h="320979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 panose="020F0502020204030204" pitchFamily="34" charset="0"/>
                          <a:ea typeface="Menlo" panose="020B0609030804020204" pitchFamily="49" charset="0"/>
                          <a:cs typeface="Calibri" panose="020F0502020204030204" pitchFamily="34" charset="0"/>
                        </a:rPr>
                        <a:t>Dirty Hand Tools 28-Ton Gas Log Splitter</a:t>
                      </a:r>
                      <a:endParaRPr 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25"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$1.2K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0792842"/>
                  </a:ext>
                </a:extLst>
              </a:tr>
              <a:tr h="230342">
                <a:tc>
                  <a:txBody>
                    <a:bodyPr/>
                    <a:lstStyle/>
                    <a:p>
                      <a:r>
                        <a:rPr lang="en-US" sz="1200" dirty="0" err="1">
                          <a:latin typeface="Calibri" panose="020F0502020204030204" pitchFamily="34" charset="0"/>
                          <a:ea typeface="Menlo" panose="020B0609030804020204" pitchFamily="49" charset="0"/>
                          <a:cs typeface="Calibri" panose="020F0502020204030204" pitchFamily="34" charset="0"/>
                        </a:rPr>
                        <a:t>SuperHandy</a:t>
                      </a:r>
                      <a:r>
                        <a:rPr lang="en-US" sz="1200" dirty="0">
                          <a:latin typeface="Calibri" panose="020F0502020204030204" pitchFamily="34" charset="0"/>
                          <a:ea typeface="Menlo" panose="020B0609030804020204" pitchFamily="49" charset="0"/>
                          <a:cs typeface="Calibri" panose="020F0502020204030204" pitchFamily="34" charset="0"/>
                        </a:rPr>
                        <a:t> 20-Ton Electric </a:t>
                      </a:r>
                      <a:endParaRPr 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Electric</a:t>
                      </a:r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20</a:t>
                      </a:r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25"</a:t>
                      </a:r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 panose="020F0502020204030204" pitchFamily="34" charset="0"/>
                          <a:ea typeface="Menlo" panose="020B0609030804020204" pitchFamily="49" charset="0"/>
                          <a:cs typeface="Calibri" panose="020F0502020204030204" pitchFamily="34" charset="0"/>
                        </a:rPr>
                        <a:t>$0.9K </a:t>
                      </a:r>
                      <a:endParaRPr 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5681017"/>
                  </a:ext>
                </a:extLst>
              </a:tr>
              <a:tr h="192587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NorthStar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25"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$1.0K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H + 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0063497"/>
                  </a:ext>
                </a:extLst>
              </a:tr>
              <a:tr h="326359">
                <a:tc>
                  <a:txBody>
                    <a:bodyPr/>
                    <a:lstStyle/>
                    <a:p>
                      <a:r>
                        <a:rPr lang="en-US" sz="12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Yardmax</a:t>
                      </a:r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YU2566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$1.0K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1600476"/>
                  </a:ext>
                </a:extLst>
              </a:tr>
              <a:tr h="326359">
                <a:tc>
                  <a:txBody>
                    <a:bodyPr/>
                    <a:lstStyle/>
                    <a:p>
                      <a:r>
                        <a:rPr lang="en-US" sz="12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Yardmax</a:t>
                      </a:r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Gas Log Splitter 32 Ton 2-Way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26.5"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$1.7K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88842436"/>
                  </a:ext>
                </a:extLst>
              </a:tr>
              <a:tr h="192587">
                <a:tc>
                  <a:txBody>
                    <a:bodyPr/>
                    <a:lstStyle/>
                    <a:p>
                      <a:r>
                        <a:rPr lang="en-US" sz="1200" dirty="0" err="1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CountyLine</a:t>
                      </a:r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 25-Ton Log Splitter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26"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$1.7K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H + 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1630913"/>
                  </a:ext>
                </a:extLst>
              </a:tr>
              <a:tr h="449371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DeWalt FLEXVOLT Max 20-Ton 60V Cordless Battery Powered Log Splitter Kit</a:t>
                      </a:r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battery 60V</a:t>
                      </a:r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20</a:t>
                      </a:r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25"</a:t>
                      </a:r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$2.2K</a:t>
                      </a:r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480409"/>
                  </a:ext>
                </a:extLst>
              </a:tr>
              <a:tr h="449371">
                <a:tc>
                  <a:txBody>
                    <a:bodyPr/>
                    <a:lstStyle/>
                    <a:p>
                      <a:r>
                        <a:rPr lang="en-US" sz="1200" dirty="0" err="1"/>
                        <a:t>Ramsplitter</a:t>
                      </a:r>
                      <a:r>
                        <a:rPr lang="en-US" sz="1200" dirty="0"/>
                        <a:t> 20-Ton Electric (Model H20-4)</a:t>
                      </a:r>
                      <a:endParaRPr 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Electric 25A</a:t>
                      </a:r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20</a:t>
                      </a:r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26"</a:t>
                      </a:r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$2.1K</a:t>
                      </a:r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HV20-4 : </a:t>
                      </a:r>
                    </a:p>
                    <a:p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H + V</a:t>
                      </a:r>
                    </a:p>
                  </a:txBody>
                  <a:tcP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9652923"/>
                  </a:ext>
                </a:extLst>
              </a:tr>
              <a:tr h="449371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NorthStar Horizontal/Vertical Log Splitter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25"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$1.7K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H+V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1760704"/>
                  </a:ext>
                </a:extLst>
              </a:tr>
              <a:tr h="449371"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Oregon 25-Ton 208cc Briggs &amp; Stratton Horizontal / Vertical Log Splitter OR25TBS-1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gas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25.5"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>
                          <a:latin typeface="Calibri" panose="020F0502020204030204" pitchFamily="34" charset="0"/>
                          <a:cs typeface="Calibri" panose="020F0502020204030204" pitchFamily="34" charset="0"/>
                        </a:rPr>
                        <a:t>$1.6K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 dirty="0">
                        <a:latin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8482706"/>
                  </a:ext>
                </a:extLst>
              </a:tr>
            </a:tbl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344F08BE-1582-1D32-E92A-E8AFA2C62F3B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676591" y="4368799"/>
            <a:ext cx="2624292" cy="1914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68140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06B216E-B8F9-F30A-8A29-4C0F002BE577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882989" y="1586208"/>
            <a:ext cx="2863026" cy="158264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0102615-A460-0BC4-4287-C603ED763DB5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882989" y="3288424"/>
            <a:ext cx="2863026" cy="158264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A94D19A-D407-723E-628A-E25561D60A15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882989" y="4990640"/>
            <a:ext cx="2863026" cy="158264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67BBA98-E811-6867-2AD4-299F38A33399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67711" y="1586210"/>
            <a:ext cx="2863025" cy="158264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F8DD1CE-2A86-10BC-C3D2-76C58F1218A2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67711" y="3288425"/>
            <a:ext cx="2863026" cy="158264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42C22DD-13F2-5100-7C61-ECE710858B84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67713" y="4990640"/>
            <a:ext cx="2863025" cy="158264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1D141E4-E613-1381-3F34-350329F8B271}"/>
              </a:ext>
            </a:extLst>
          </p:cNvPr>
          <p:cNvSpPr txBox="1"/>
          <p:nvPr/>
        </p:nvSpPr>
        <p:spPr>
          <a:xfrm>
            <a:off x="6958593" y="741593"/>
            <a:ext cx="43626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8"/>
              </a:rPr>
              <a:t>https://www.youtube.com/watch?v=7txUWFFHkBc</a:t>
            </a:r>
            <a:endParaRPr lang="en-US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>
                <a:hlinkClick r:id="rId9"/>
              </a:rPr>
              <a:t>https://www.youtube.com/watch?v=wd_E9VhSfSg</a:t>
            </a:r>
            <a:endParaRPr lang="en-US" sz="140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ADFF37-24A8-B407-EE91-AD135CDC10D8}"/>
              </a:ext>
            </a:extLst>
          </p:cNvPr>
          <p:cNvSpPr txBox="1"/>
          <p:nvPr/>
        </p:nvSpPr>
        <p:spPr>
          <a:xfrm>
            <a:off x="-1" y="0"/>
            <a:ext cx="45830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 err="1"/>
              <a:t>Maunual</a:t>
            </a:r>
            <a:r>
              <a:rPr lang="en-US" sz="2800" b="1" dirty="0"/>
              <a:t> Firewood Splitter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91F8582-0B59-5EA2-9D1A-C7C3D0662FBC}"/>
              </a:ext>
            </a:extLst>
          </p:cNvPr>
          <p:cNvPicPr>
            <a:picLocks noChangeAspect="1"/>
          </p:cNvPicPr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61263" y="1586208"/>
            <a:ext cx="1759857" cy="213636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D9DEEA8-6FAE-6DC1-D6B0-79A4E137CF96}"/>
              </a:ext>
            </a:extLst>
          </p:cNvPr>
          <p:cNvSpPr txBox="1"/>
          <p:nvPr/>
        </p:nvSpPr>
        <p:spPr>
          <a:xfrm>
            <a:off x="250371" y="3864429"/>
            <a:ext cx="360317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10 Ton Horizontal Log Splitter Wood Cutter Manual Hydraulic 2 Speed</a:t>
            </a:r>
          </a:p>
          <a:p>
            <a:r>
              <a:rPr lang="en-US" sz="1400" dirty="0"/>
              <a:t>.. </a:t>
            </a:r>
            <a:r>
              <a:rPr lang="en-US" sz="1400" dirty="0">
                <a:hlinkClick r:id="rId11"/>
              </a:rPr>
              <a:t>https://</a:t>
            </a:r>
            <a:r>
              <a:rPr lang="en-US" sz="1400" dirty="0" err="1">
                <a:hlinkClick r:id="rId11"/>
              </a:rPr>
              <a:t>www.amazon.com</a:t>
            </a:r>
            <a:r>
              <a:rPr lang="en-US" sz="1400" dirty="0">
                <a:hlinkClick r:id="rId11"/>
              </a:rPr>
              <a:t>/</a:t>
            </a:r>
            <a:r>
              <a:rPr lang="en-US" sz="1400" dirty="0" err="1">
                <a:hlinkClick r:id="rId11"/>
              </a:rPr>
              <a:t>dp</a:t>
            </a:r>
            <a:r>
              <a:rPr lang="en-US" sz="1400" dirty="0">
                <a:hlinkClick r:id="rId11"/>
              </a:rPr>
              <a:t>/B006ZBCB3M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8170949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Stikkan Softwood Kindling Splitter | PlowHearth">
            <a:extLst>
              <a:ext uri="{FF2B5EF4-FFF2-40B4-BE49-F238E27FC236}">
                <a16:creationId xmlns:a16="http://schemas.microsoft.com/office/drawing/2014/main" id="{356777D3-3C66-0162-518D-204FE019CF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9383112" y="60860"/>
            <a:ext cx="2717800" cy="2984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22C2CA8-7878-50CC-3F77-55E584BF9241}"/>
              </a:ext>
            </a:extLst>
          </p:cNvPr>
          <p:cNvSpPr txBox="1"/>
          <p:nvPr/>
        </p:nvSpPr>
        <p:spPr>
          <a:xfrm>
            <a:off x="9963252" y="3090992"/>
            <a:ext cx="17617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Stikkan Softwood Kindling Splitter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3A25EF-4BC3-CFA8-2831-3C553806D56F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571312" y="1375494"/>
            <a:ext cx="1185880" cy="21545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1E6925B1-9D55-5F22-1AA6-8868593145D5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66370" y="4027105"/>
            <a:ext cx="1609884" cy="200603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603EDC7-2175-627F-4FFB-963CFC0235ED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4600" y="1039007"/>
            <a:ext cx="2286000" cy="26797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D18BF97-99B6-72ED-B004-2617305970B5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13551" y="3878639"/>
            <a:ext cx="1470680" cy="21545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06190BB-65C8-092A-7E56-53ED3E165A08}"/>
              </a:ext>
            </a:extLst>
          </p:cNvPr>
          <p:cNvSpPr txBox="1"/>
          <p:nvPr/>
        </p:nvSpPr>
        <p:spPr>
          <a:xfrm>
            <a:off x="7056370" y="3166310"/>
            <a:ext cx="17617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/>
              <a:t>The Beaver Lever Kindling Cutter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C460650-DA05-EE48-5546-D1F66D0C85A0}"/>
              </a:ext>
            </a:extLst>
          </p:cNvPr>
          <p:cNvPicPr>
            <a:picLocks noChangeAspect="1"/>
          </p:cNvPicPr>
          <p:nvPr/>
        </p:nvPicPr>
        <p:blipFill>
          <a:blip r:embed="rId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804008" y="60860"/>
            <a:ext cx="2462543" cy="307817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7E7E923-3D26-F24F-07F5-E197D1FF5510}"/>
              </a:ext>
            </a:extLst>
          </p:cNvPr>
          <p:cNvPicPr>
            <a:picLocks noChangeAspect="1"/>
          </p:cNvPicPr>
          <p:nvPr/>
        </p:nvPicPr>
        <p:blipFill>
          <a:blip r:embed="rId8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54464" y="848507"/>
            <a:ext cx="1612900" cy="30607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344CBB8-8D0B-64E2-97DE-CFBBB5F98E53}"/>
              </a:ext>
            </a:extLst>
          </p:cNvPr>
          <p:cNvSpPr txBox="1"/>
          <p:nvPr/>
        </p:nvSpPr>
        <p:spPr>
          <a:xfrm>
            <a:off x="1348966" y="6265215"/>
            <a:ext cx="21909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/>
              <a:t>Firewood Kindling Splitter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90C7DBCB-FE83-D249-63E3-F27C666865A2}"/>
              </a:ext>
            </a:extLst>
          </p:cNvPr>
          <p:cNvPicPr>
            <a:picLocks noChangeAspect="1"/>
          </p:cNvPicPr>
          <p:nvPr/>
        </p:nvPicPr>
        <p:blipFill>
          <a:blip r:embed="rId9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009489" y="4139504"/>
            <a:ext cx="1321806" cy="1109074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FA52DAF-AE6C-F230-9FCC-3463D43DD1F2}"/>
              </a:ext>
            </a:extLst>
          </p:cNvPr>
          <p:cNvPicPr>
            <a:picLocks noChangeAspect="1"/>
          </p:cNvPicPr>
          <p:nvPr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370176" y="4139504"/>
            <a:ext cx="1761705" cy="109428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BC38013-34B2-1D6A-F592-38EAF1B61CAD}"/>
              </a:ext>
            </a:extLst>
          </p:cNvPr>
          <p:cNvSpPr txBox="1"/>
          <p:nvPr/>
        </p:nvSpPr>
        <p:spPr>
          <a:xfrm>
            <a:off x="7346081" y="5611766"/>
            <a:ext cx="4206141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i="0">
                <a:solidFill>
                  <a:srgbClr val="030303"/>
                </a:solidFill>
                <a:effectLst/>
                <a:latin typeface="YouTube Sans"/>
              </a:rPr>
              <a:t>Kindling Cracker Wood Splitter for Firewood</a:t>
            </a:r>
          </a:p>
          <a:p>
            <a:endParaRPr lang="en-US" sz="1200"/>
          </a:p>
          <a:p>
            <a:r>
              <a:rPr lang="en-US" sz="1200"/>
              <a:t>https://www.youtube.com/watch?v=HGLJjR5frtc</a:t>
            </a:r>
          </a:p>
          <a:p>
            <a:r>
              <a:rPr lang="en-US" sz="1200"/>
              <a:t>https://www.youtube.com/watch?v=HGLJjR5frtc</a:t>
            </a:r>
          </a:p>
          <a:p>
            <a:r>
              <a:rPr lang="en-US" sz="1200"/>
              <a:t>https://www.youtube.com/watch?v=ZI6cwHRAu8U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6CAA34A-6135-5DAE-CF3D-9DF2ADBCAAEB}"/>
              </a:ext>
            </a:extLst>
          </p:cNvPr>
          <p:cNvPicPr>
            <a:picLocks noChangeAspect="1"/>
          </p:cNvPicPr>
          <p:nvPr/>
        </p:nvPicPr>
        <p:blipFill>
          <a:blip r:embed="rId11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779668" y="4144911"/>
            <a:ext cx="2190940" cy="110058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B143E4F-C667-0B79-25D1-7CD0379BFC41}"/>
              </a:ext>
            </a:extLst>
          </p:cNvPr>
          <p:cNvPicPr>
            <a:picLocks noChangeAspect="1"/>
          </p:cNvPicPr>
          <p:nvPr/>
        </p:nvPicPr>
        <p:blipFill>
          <a:blip r:embed="rId1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87645" y="4139504"/>
            <a:ext cx="1601875" cy="158574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4C024757-9E1C-B1F0-A808-3486E53F47CE}"/>
              </a:ext>
            </a:extLst>
          </p:cNvPr>
          <p:cNvSpPr txBox="1"/>
          <p:nvPr/>
        </p:nvSpPr>
        <p:spPr>
          <a:xfrm>
            <a:off x="9054" y="18323"/>
            <a:ext cx="43818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Firewood Kindling Splitter</a:t>
            </a:r>
          </a:p>
        </p:txBody>
      </p:sp>
    </p:spTree>
    <p:extLst>
      <p:ext uri="{BB962C8B-B14F-4D97-AF65-F5344CB8AC3E}">
        <p14:creationId xmlns:p14="http://schemas.microsoft.com/office/powerpoint/2010/main" val="35922381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B64F2AC-692E-D7E6-CA93-F90AA607E2E4}"/>
              </a:ext>
            </a:extLst>
          </p:cNvPr>
          <p:cNvSpPr txBox="1"/>
          <p:nvPr/>
        </p:nvSpPr>
        <p:spPr>
          <a:xfrm>
            <a:off x="0" y="88609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</a:t>
            </a:r>
            <a:r>
              <a:rPr lang="en-US" dirty="0" err="1"/>
              <a:t>www.youtube.com</a:t>
            </a:r>
            <a:r>
              <a:rPr lang="en-US" dirty="0"/>
              <a:t>/</a:t>
            </a:r>
            <a:r>
              <a:rPr lang="en-US" dirty="0" err="1"/>
              <a:t>watch?v</a:t>
            </a:r>
            <a:r>
              <a:rPr lang="en-US" dirty="0"/>
              <a:t>=</a:t>
            </a:r>
            <a:r>
              <a:rPr lang="en-US" dirty="0" err="1"/>
              <a:t>hlAerawLdYU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A366788-5B6E-8575-F977-ABF5D08C8DE8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802666" y="3790043"/>
            <a:ext cx="4236357" cy="291749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27301AD-8D93-E663-DB32-2F87A7E94DDF}"/>
              </a:ext>
            </a:extLst>
          </p:cNvPr>
          <p:cNvSpPr txBox="1"/>
          <p:nvPr/>
        </p:nvSpPr>
        <p:spPr>
          <a:xfrm>
            <a:off x="0" y="-28283"/>
            <a:ext cx="6629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Fly Wheel Log Splitter = kinetic log splitter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B5B51E7-8203-F70E-17D1-849D54884FDD}"/>
              </a:ext>
            </a:extLst>
          </p:cNvPr>
          <p:cNvSpPr txBox="1"/>
          <p:nvPr/>
        </p:nvSpPr>
        <p:spPr>
          <a:xfrm>
            <a:off x="0" y="547540"/>
            <a:ext cx="483325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Google for vintage fly  wheel log splitter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E42DCBC-7FAA-EDA6-531C-AC35C5627119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73670" y="3913503"/>
            <a:ext cx="3078773" cy="279403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5647C4A-87E4-7536-6B37-EFD8C065A3B1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472" y="1550437"/>
            <a:ext cx="2641600" cy="26035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A252C3A-2379-4C2E-EB9A-65C938F8604A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0800000">
            <a:off x="3599342" y="2244272"/>
            <a:ext cx="1663700" cy="10668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2DDD14D-D18A-5F98-9870-1140EC295A2D}"/>
              </a:ext>
            </a:extLst>
          </p:cNvPr>
          <p:cNvSpPr txBox="1"/>
          <p:nvPr/>
        </p:nvSpPr>
        <p:spPr>
          <a:xfrm>
            <a:off x="3471485" y="3378330"/>
            <a:ext cx="174695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rack and pinion gear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99C1E2A-1ABA-6F8C-1683-D5FF623C4CC3}"/>
              </a:ext>
            </a:extLst>
          </p:cNvPr>
          <p:cNvSpPr txBox="1"/>
          <p:nvPr/>
        </p:nvSpPr>
        <p:spPr>
          <a:xfrm>
            <a:off x="254908" y="4299919"/>
            <a:ext cx="4368539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Motor (gas or electric) rotates massive flywheel(s)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The shaft (axle) of this wheel has a (pinion) gear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A moveable rack also has gear.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It is pressed to the shaft gear using a cam lock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The rotating gear pushes the rack in a short burst, </a:t>
            </a:r>
            <a:br>
              <a:rPr lang="en-US" sz="1400" dirty="0"/>
            </a:br>
            <a:r>
              <a:rPr lang="en-US" sz="1400" dirty="0"/>
              <a:t>then </a:t>
            </a:r>
            <a:r>
              <a:rPr lang="en-US" sz="1400" dirty="0" err="1"/>
              <a:t>disenges</a:t>
            </a:r>
            <a:r>
              <a:rPr lang="en-US" sz="14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Several burst may be needed to split the wood</a:t>
            </a:r>
          </a:p>
        </p:txBody>
      </p:sp>
      <p:pic>
        <p:nvPicPr>
          <p:cNvPr id="1026" name="Picture 2" descr="Flywheel Wood Splitter Plans">
            <a:extLst>
              <a:ext uri="{FF2B5EF4-FFF2-40B4-BE49-F238E27FC236}">
                <a16:creationId xmlns:a16="http://schemas.microsoft.com/office/drawing/2014/main" id="{46FE64C1-2E01-1338-6489-854BD872E2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357257" y="233327"/>
            <a:ext cx="5777996" cy="36801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759831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472</TotalTime>
  <Words>522</Words>
  <Application>Microsoft Macintosh PowerPoint</Application>
  <PresentationFormat>Widescreen</PresentationFormat>
  <Paragraphs>107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Calibri</vt:lpstr>
      <vt:lpstr>Calibri Light</vt:lpstr>
      <vt:lpstr>YouTube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Lev Selector</dc:creator>
  <cp:lastModifiedBy>Lev Selector</cp:lastModifiedBy>
  <cp:revision>39</cp:revision>
  <dcterms:created xsi:type="dcterms:W3CDTF">2022-06-02T16:58:09Z</dcterms:created>
  <dcterms:modified xsi:type="dcterms:W3CDTF">2025-11-23T23:48:03Z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f518368-b969-4042-91d9-8939bd921da2_Enabled">
    <vt:lpwstr>true</vt:lpwstr>
  </property>
  <property fmtid="{D5CDD505-2E9C-101B-9397-08002B2CF9AE}" pid="3" name="MSIP_Label_4f518368-b969-4042-91d9-8939bd921da2_SetDate">
    <vt:lpwstr>2022-06-02T16:58:10Z</vt:lpwstr>
  </property>
  <property fmtid="{D5CDD505-2E9C-101B-9397-08002B2CF9AE}" pid="4" name="MSIP_Label_4f518368-b969-4042-91d9-8939bd921da2_Method">
    <vt:lpwstr>Standard</vt:lpwstr>
  </property>
  <property fmtid="{D5CDD505-2E9C-101B-9397-08002B2CF9AE}" pid="5" name="MSIP_Label_4f518368-b969-4042-91d9-8939bd921da2_Name">
    <vt:lpwstr>General</vt:lpwstr>
  </property>
  <property fmtid="{D5CDD505-2E9C-101B-9397-08002B2CF9AE}" pid="6" name="MSIP_Label_4f518368-b969-4042-91d9-8939bd921da2_SiteId">
    <vt:lpwstr>116e9905-19fc-428e-93d4-bcaffb833597</vt:lpwstr>
  </property>
  <property fmtid="{D5CDD505-2E9C-101B-9397-08002B2CF9AE}" pid="7" name="MSIP_Label_4f518368-b969-4042-91d9-8939bd921da2_ActionId">
    <vt:lpwstr>93134c22-9ab4-41e7-a5b4-b1f73aac775b</vt:lpwstr>
  </property>
  <property fmtid="{D5CDD505-2E9C-101B-9397-08002B2CF9AE}" pid="8" name="MSIP_Label_4f518368-b969-4042-91d9-8939bd921da2_ContentBits">
    <vt:lpwstr>0</vt:lpwstr>
  </property>
</Properties>
</file>