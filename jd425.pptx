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7" r:id="rId3"/>
    <p:sldId id="279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/>
    <p:restoredTop sz="94733"/>
  </p:normalViewPr>
  <p:slideViewPr>
    <p:cSldViewPr snapToGrid="0" snapToObjects="1">
      <p:cViewPr varScale="1">
        <p:scale>
          <a:sx n="127" d="100"/>
          <a:sy n="127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10/8/22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hyperlink" Target="https://www.tractordata.com/lawn-tractors/000/0/4/43-john-deere-425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partscatalog.deere.com/jdrc/sidebyside/equipment/73515/referrer/navigation/pgId/2523090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gp/product/B07KMX858N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hyperlink" Target="https://www.amazon.com/dp/B08R95SSTJ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meg-mo.com/" TargetMode="External"/><Relationship Id="rId7" Type="http://schemas.openxmlformats.org/officeDocument/2006/relationships/hyperlink" Target="https://www.greenpartstore.com/John-Deere-Blade-Bolt-19M7788.htm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rtscatalog.deere.com/jdrc/sidebyside/equipment/78976/referrer/navigation/pgId/2341197" TargetMode="External"/><Relationship Id="rId5" Type="http://schemas.openxmlformats.org/officeDocument/2006/relationships/hyperlink" Target="https://partscatalog.deere.com/jdrc/navigation/equipment/78976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partscatalog.deere.com/jdrc/navigation/equipment/73515" TargetMode="External"/><Relationship Id="rId9" Type="http://schemas.openxmlformats.org/officeDocument/2006/relationships/hyperlink" Target="https://www.amazon.com/LEXIVON-2-Inch-Torque-13-6-203-5-LX-183/dp/B07MP1Q3W8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amazon.com/dp/B08WKX95B9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170C2-C55C-F926-847D-CE9811CB83B6}"/>
              </a:ext>
            </a:extLst>
          </p:cNvPr>
          <p:cNvSpPr txBox="1"/>
          <p:nvPr/>
        </p:nvSpPr>
        <p:spPr>
          <a:xfrm>
            <a:off x="-1" y="0"/>
            <a:ext cx="4942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 Deere 425 (and 445)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FCE01-521A-5BFC-274E-0CED7BE03889}"/>
              </a:ext>
            </a:extLst>
          </p:cNvPr>
          <p:cNvSpPr txBox="1"/>
          <p:nvPr/>
        </p:nvSpPr>
        <p:spPr>
          <a:xfrm>
            <a:off x="217918" y="972441"/>
            <a:ext cx="41233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1992 - 2001</a:t>
            </a:r>
          </a:p>
          <a:p>
            <a:r>
              <a:rPr lang="en-US" sz="1400"/>
              <a:t>Built in Horicon, Wisconsin, USA</a:t>
            </a:r>
          </a:p>
          <a:p>
            <a:r>
              <a:rPr lang="en-US" sz="1400"/>
              <a:t>Original price was $8,995 in 1995</a:t>
            </a:r>
          </a:p>
          <a:p>
            <a:r>
              <a:rPr lang="en-US" sz="1400"/>
              <a:t>Engine: 20HP Kawasaki 617cc 2-cyl gasoline</a:t>
            </a:r>
          </a:p>
          <a:p>
            <a:r>
              <a:rPr lang="en-US" sz="1400"/>
              <a:t>   carburetor</a:t>
            </a:r>
          </a:p>
          <a:p>
            <a:r>
              <a:rPr lang="en-US" sz="1400"/>
              <a:t>   (model 445 has 22 hp and fuel injection)</a:t>
            </a:r>
          </a:p>
          <a:p>
            <a:r>
              <a:rPr lang="en-US" sz="1400"/>
              <a:t>Fuel tank: 6.5 gal (</a:t>
            </a:r>
            <a:r>
              <a:rPr lang="en-US" sz="1400" b="1">
                <a:solidFill>
                  <a:srgbClr val="FF0000"/>
                </a:solidFill>
              </a:rPr>
              <a:t>regular gasoline, no ethanol</a:t>
            </a:r>
            <a:r>
              <a:rPr lang="en-US" sz="1400"/>
              <a:t>)</a:t>
            </a:r>
          </a:p>
          <a:p>
            <a:r>
              <a:rPr lang="en-US" sz="1400"/>
              <a:t>Oil - 10W30</a:t>
            </a:r>
          </a:p>
          <a:p>
            <a:r>
              <a:rPr lang="en-US" sz="1400"/>
              <a:t>Transmission: hydrostatic</a:t>
            </a:r>
          </a:p>
          <a:p>
            <a:r>
              <a:rPr lang="en-US" sz="1400"/>
              <a:t>Two-wheel drive, differential lock (mechanical rear)</a:t>
            </a:r>
          </a:p>
          <a:p>
            <a:r>
              <a:rPr lang="en-US" sz="1400"/>
              <a:t>Power Steering</a:t>
            </a:r>
          </a:p>
          <a:p>
            <a:endParaRPr lang="en-US" sz="1400"/>
          </a:p>
          <a:p>
            <a:r>
              <a:rPr lang="en-US" sz="1400"/>
              <a:t>425 Serial Numbers </a:t>
            </a:r>
          </a:p>
          <a:p>
            <a:r>
              <a:rPr lang="en-US" sz="1400">
                <a:hlinkClick r:id="rId2"/>
              </a:rPr>
              <a:t>https://www.tractordata.com/lawn-tractors/000/0/4/43-john-deere-425.html</a:t>
            </a:r>
            <a:endParaRPr lang="en-US" sz="1400"/>
          </a:p>
          <a:p>
            <a:r>
              <a:rPr lang="en-US" sz="1400"/>
              <a:t>Year.     First tractor</a:t>
            </a:r>
          </a:p>
          <a:p>
            <a:r>
              <a:rPr lang="en-US" sz="1400"/>
              <a:t>1993    010001</a:t>
            </a:r>
          </a:p>
          <a:p>
            <a:r>
              <a:rPr lang="en-US" sz="1400"/>
              <a:t>1994    020001</a:t>
            </a:r>
          </a:p>
          <a:p>
            <a:r>
              <a:rPr lang="en-US" sz="1400"/>
              <a:t>1995    030001     M00425A-036065</a:t>
            </a:r>
          </a:p>
          <a:p>
            <a:r>
              <a:rPr lang="en-US" sz="1400"/>
              <a:t>1996    040001</a:t>
            </a:r>
          </a:p>
          <a:p>
            <a:r>
              <a:rPr lang="en-US" sz="1400"/>
              <a:t>1997    050001</a:t>
            </a:r>
          </a:p>
          <a:p>
            <a:r>
              <a:rPr lang="en-US" sz="1400"/>
              <a:t>1998    060001</a:t>
            </a:r>
          </a:p>
          <a:p>
            <a:r>
              <a:rPr lang="en-US" sz="1400"/>
              <a:t>1999    070001</a:t>
            </a:r>
          </a:p>
          <a:p>
            <a:r>
              <a:rPr lang="en-US" sz="1400"/>
              <a:t>2000    080001</a:t>
            </a:r>
          </a:p>
          <a:p>
            <a:r>
              <a:rPr lang="en-US" sz="1400"/>
              <a:t>2001    090001</a:t>
            </a:r>
          </a:p>
        </p:txBody>
      </p:sp>
      <p:pic>
        <p:nvPicPr>
          <p:cNvPr id="1028" name="Picture 4" descr="John Deere 425 with mower and three-point hitch.">
            <a:extLst>
              <a:ext uri="{FF2B5EF4-FFF2-40B4-BE49-F238E27FC236}">
                <a16:creationId xmlns:a16="http://schemas.microsoft.com/office/drawing/2014/main" id="{D4471E49-4A8A-A73F-2713-55E07C810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7651" y="389947"/>
            <a:ext cx="3816431" cy="286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ohn Deere 425 with chains and front blade, rear view.">
            <a:extLst>
              <a:ext uri="{FF2B5EF4-FFF2-40B4-BE49-F238E27FC236}">
                <a16:creationId xmlns:a16="http://schemas.microsoft.com/office/drawing/2014/main" id="{C46AE3F6-086C-2A64-62B8-063DB3036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7651" y="3360113"/>
            <a:ext cx="3816431" cy="286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6223C9-3BD9-27E8-C425-8B56875572D8}"/>
              </a:ext>
            </a:extLst>
          </p:cNvPr>
          <p:cNvSpPr txBox="1"/>
          <p:nvPr/>
        </p:nvSpPr>
        <p:spPr>
          <a:xfrm>
            <a:off x="5399656" y="150505"/>
            <a:ext cx="2277979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Our JD 425 1995</a:t>
            </a:r>
          </a:p>
          <a:p>
            <a:r>
              <a:rPr lang="en-US"/>
              <a:t>Engine: </a:t>
            </a:r>
            <a:r>
              <a:rPr lang="en-US" b="1" i="0">
                <a:solidFill>
                  <a:srgbClr val="030303"/>
                </a:solidFill>
                <a:effectLst/>
                <a:latin typeface="YouTube Sans"/>
              </a:rPr>
              <a:t>Kawasaki</a:t>
            </a:r>
            <a:endParaRPr lang="en-US"/>
          </a:p>
          <a:p>
            <a:r>
              <a:rPr lang="en-US"/>
              <a:t>Liquid Cooled V-TWIN</a:t>
            </a:r>
            <a:br>
              <a:rPr lang="en-US"/>
            </a:br>
            <a:r>
              <a:rPr lang="en-US"/>
              <a:t>20 HP OHV FD620D</a:t>
            </a:r>
            <a:br>
              <a:rPr lang="en-US"/>
            </a:br>
            <a:r>
              <a:rPr lang="en-US"/>
              <a:t>John Deere K Series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8B424-CD83-FB23-58A1-7B5CBD32119C}"/>
              </a:ext>
            </a:extLst>
          </p:cNvPr>
          <p:cNvSpPr txBox="1"/>
          <p:nvPr/>
        </p:nvSpPr>
        <p:spPr>
          <a:xfrm>
            <a:off x="4513055" y="1778338"/>
            <a:ext cx="333772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Spark Plugs AM101194  (short)</a:t>
            </a:r>
          </a:p>
          <a:p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https://partscatalog.deere.com/jdrc/sidebyside/equipment/73515/referrer/navigation/pgId/2523090</a:t>
            </a:r>
            <a:endParaRPr 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5BA12-475B-BB7C-D83A-A9CEECDFB07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5523" y="3998843"/>
            <a:ext cx="1178054" cy="1584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D60BFF-CC9D-2F2A-B5EC-92425A03825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4350" y="3927468"/>
            <a:ext cx="1232528" cy="1804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3FE4F9-7861-271A-1431-7971BCF5867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3505" y="192141"/>
            <a:ext cx="549056" cy="13940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9499FD-BA3B-0253-3FEB-CC78EF1799ED}"/>
              </a:ext>
            </a:extLst>
          </p:cNvPr>
          <p:cNvSpPr txBox="1"/>
          <p:nvPr/>
        </p:nvSpPr>
        <p:spPr>
          <a:xfrm>
            <a:off x="4513055" y="2521059"/>
            <a:ext cx="351557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Note: there are two models of spark plugs: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AM101194 (short) </a:t>
            </a:r>
            <a:b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</a:rPr>
              <a:t>for engine marked </a:t>
            </a:r>
            <a:r>
              <a:rPr lang="en-US" sz="10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ASO2, BSO2, CSO2, DSO2, ESO2, FSO2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M805853 (long) </a:t>
            </a:r>
            <a:b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</a:rPr>
              <a:t>for engine marked </a:t>
            </a:r>
            <a:r>
              <a:rPr lang="en-US" sz="10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GSO2</a:t>
            </a:r>
            <a:endParaRPr 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7A68F-6468-1263-C8B2-2E8C6DE18245}"/>
              </a:ext>
            </a:extLst>
          </p:cNvPr>
          <p:cNvSpPr txBox="1"/>
          <p:nvPr/>
        </p:nvSpPr>
        <p:spPr>
          <a:xfrm>
            <a:off x="4034350" y="6178692"/>
            <a:ext cx="1757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We have short one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8A4B7C4-16C7-858C-4502-CCDA5AB241A4}"/>
              </a:ext>
            </a:extLst>
          </p:cNvPr>
          <p:cNvSpPr/>
          <p:nvPr/>
        </p:nvSpPr>
        <p:spPr>
          <a:xfrm rot="17948713">
            <a:off x="4624497" y="5806094"/>
            <a:ext cx="371789" cy="153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2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B9B836-28F9-422A-F700-BCB256EF61BC}"/>
              </a:ext>
            </a:extLst>
          </p:cNvPr>
          <p:cNvSpPr txBox="1"/>
          <p:nvPr/>
        </p:nvSpPr>
        <p:spPr>
          <a:xfrm>
            <a:off x="0" y="0"/>
            <a:ext cx="1996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Sweeper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F558E4-0A66-D9E2-A5E5-D38E2E8292A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309" y="2265382"/>
            <a:ext cx="4672944" cy="28367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FB1A7-51B9-A3EB-86E4-0C0F6337BDB9}"/>
              </a:ext>
            </a:extLst>
          </p:cNvPr>
          <p:cNvSpPr txBox="1"/>
          <p:nvPr/>
        </p:nvSpPr>
        <p:spPr>
          <a:xfrm>
            <a:off x="315309" y="5244257"/>
            <a:ext cx="42041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Agri-Fab Inc 45-0546 52" Lawn Sweeper, Black</a:t>
            </a:r>
          </a:p>
          <a:p>
            <a:endParaRPr lang="en-US" sz="1400"/>
          </a:p>
          <a:p>
            <a:r>
              <a:rPr lang="en-US" sz="1400">
                <a:hlinkClick r:id="rId3"/>
              </a:rPr>
              <a:t>https://www.amazon.com/gp/product/B07KMX858N/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864CA-A3E4-F5AA-7FF7-7AE95298D8A7}"/>
              </a:ext>
            </a:extLst>
          </p:cNvPr>
          <p:cNvSpPr txBox="1"/>
          <p:nvPr/>
        </p:nvSpPr>
        <p:spPr>
          <a:xfrm>
            <a:off x="6537434" y="5244257"/>
            <a:ext cx="4939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10 Cubic Feet Steel Dump Cart</a:t>
            </a:r>
          </a:p>
          <a:p>
            <a:endParaRPr lang="en-US" sz="1400"/>
          </a:p>
          <a:p>
            <a:r>
              <a:rPr lang="en-US" sz="1400">
                <a:hlinkClick r:id="rId4"/>
              </a:rPr>
              <a:t>https://www.amazon.com/dp/B08R95SSTJ</a:t>
            </a: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85604-9374-0FFF-0CE2-7340BF5A210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1438" y="2243754"/>
            <a:ext cx="4567865" cy="28800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391762-C22A-4BA5-C8BC-BCA7C7847B78}"/>
              </a:ext>
            </a:extLst>
          </p:cNvPr>
          <p:cNvSpPr txBox="1"/>
          <p:nvPr/>
        </p:nvSpPr>
        <p:spPr>
          <a:xfrm>
            <a:off x="6281438" y="93444"/>
            <a:ext cx="302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Dump Cart</a:t>
            </a:r>
          </a:p>
        </p:txBody>
      </p:sp>
    </p:spTree>
    <p:extLst>
      <p:ext uri="{BB962C8B-B14F-4D97-AF65-F5344CB8AC3E}">
        <p14:creationId xmlns:p14="http://schemas.microsoft.com/office/powerpoint/2010/main" val="390115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723A6-746F-9725-14BD-F67FA71999D9}"/>
              </a:ext>
            </a:extLst>
          </p:cNvPr>
          <p:cNvSpPr txBox="1"/>
          <p:nvPr/>
        </p:nvSpPr>
        <p:spPr>
          <a:xfrm>
            <a:off x="0" y="0"/>
            <a:ext cx="4234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Meg-Mo blades</a:t>
            </a:r>
          </a:p>
        </p:txBody>
      </p:sp>
      <p:pic>
        <p:nvPicPr>
          <p:cNvPr id="1028" name="Picture 4" descr="Meg-Mo Systems | High-Performance Rotary Mulching Blades">
            <a:extLst>
              <a:ext uri="{FF2B5EF4-FFF2-40B4-BE49-F238E27FC236}">
                <a16:creationId xmlns:a16="http://schemas.microsoft.com/office/drawing/2014/main" id="{731F5F83-859B-5910-413C-4CA835EE0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037" y="1413622"/>
            <a:ext cx="3836276" cy="215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200BB3-D2A2-F174-B263-AF0A9720273B}"/>
              </a:ext>
            </a:extLst>
          </p:cNvPr>
          <p:cNvSpPr txBox="1"/>
          <p:nvPr/>
        </p:nvSpPr>
        <p:spPr>
          <a:xfrm>
            <a:off x="266416" y="599089"/>
            <a:ext cx="46455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3"/>
              </a:rPr>
              <a:t>https://meg-mo.com</a:t>
            </a:r>
            <a:endParaRPr lang="en-US" sz="1400"/>
          </a:p>
          <a:p>
            <a:endParaRPr lang="en-US" sz="1400"/>
          </a:p>
          <a:p>
            <a:r>
              <a:rPr lang="en-US" sz="1400"/>
              <a:t>The MEG-MO™ Rotary Mulching Blade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A6AC1-660D-994D-CD24-175AA4B0405A}"/>
              </a:ext>
            </a:extLst>
          </p:cNvPr>
          <p:cNvSpPr txBox="1"/>
          <p:nvPr/>
        </p:nvSpPr>
        <p:spPr>
          <a:xfrm>
            <a:off x="6096000" y="368184"/>
            <a:ext cx="310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Center hole - round</a:t>
            </a:r>
          </a:p>
          <a:p>
            <a:r>
              <a:rPr lang="en-US" sz="1400"/>
              <a:t>Current Blade OEM Part #      M115495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24E6A-2C6A-EAFB-9E70-6106D3606AEE}"/>
              </a:ext>
            </a:extLst>
          </p:cNvPr>
          <p:cNvSpPr txBox="1"/>
          <p:nvPr/>
        </p:nvSpPr>
        <p:spPr>
          <a:xfrm>
            <a:off x="5729738" y="105103"/>
            <a:ext cx="355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 order I need to provide this info: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2D038-DE19-28BB-E573-D9A019DCD6BB}"/>
              </a:ext>
            </a:extLst>
          </p:cNvPr>
          <p:cNvSpPr txBox="1"/>
          <p:nvPr/>
        </p:nvSpPr>
        <p:spPr>
          <a:xfrm>
            <a:off x="6096000" y="891404"/>
            <a:ext cx="4456387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John Deere Standard Mower Blade for 48" deck</a:t>
            </a:r>
          </a:p>
          <a:p>
            <a:r>
              <a:rPr lang="en-US" sz="1400"/>
              <a:t>Part Number: M115495</a:t>
            </a:r>
          </a:p>
          <a:p>
            <a:r>
              <a:rPr lang="en-US" sz="1400"/>
              <a:t>Hole in the center – round, 13/16 inch</a:t>
            </a:r>
          </a:p>
          <a:p>
            <a:r>
              <a:rPr lang="en-US" sz="1400"/>
              <a:t>Length of the blade (rotating diameter) 16 5/8 inch</a:t>
            </a:r>
          </a:p>
          <a:p>
            <a:r>
              <a:rPr lang="en-US" sz="1400"/>
              <a:t>Nut M18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2F24B-073F-BCC7-CDC5-5BECC88B62E0}"/>
              </a:ext>
            </a:extLst>
          </p:cNvPr>
          <p:cNvSpPr txBox="1"/>
          <p:nvPr/>
        </p:nvSpPr>
        <p:spPr>
          <a:xfrm>
            <a:off x="439837" y="3762703"/>
            <a:ext cx="3406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E-Mail: sales@meg-mo.com</a:t>
            </a:r>
            <a:br>
              <a:rPr lang="en-US" sz="1400"/>
            </a:br>
            <a:r>
              <a:rPr lang="en-US" sz="1400"/>
              <a:t>Call (877) 625-0125</a:t>
            </a:r>
          </a:p>
          <a:p>
            <a:r>
              <a:rPr lang="en-US" sz="1400"/>
              <a:t>Received call from 815-625-0125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2FE5A-9BE8-486A-8867-5454E9BA3D7E}"/>
              </a:ext>
            </a:extLst>
          </p:cNvPr>
          <p:cNvSpPr txBox="1"/>
          <p:nvPr/>
        </p:nvSpPr>
        <p:spPr>
          <a:xfrm>
            <a:off x="4289821" y="2169062"/>
            <a:ext cx="77671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Searching John Deere Parts:</a:t>
            </a:r>
          </a:p>
          <a:p>
            <a:r>
              <a:rPr lang="en-US" sz="1400"/>
              <a:t> .. </a:t>
            </a:r>
            <a:r>
              <a:rPr lang="en-US" sz="1400">
                <a:hlinkClick r:id="rId4"/>
              </a:rPr>
              <a:t>https://partscatalog.deere.com/jdrc/navigation/equipment/73515</a:t>
            </a:r>
            <a:endParaRPr lang="en-US" sz="1400"/>
          </a:p>
          <a:p>
            <a:r>
              <a:rPr lang="en-US" sz="1400"/>
              <a:t>Then go to mower deck attachment:</a:t>
            </a:r>
          </a:p>
          <a:p>
            <a:r>
              <a:rPr lang="en-US" sz="1400"/>
              <a:t> .. </a:t>
            </a:r>
            <a:r>
              <a:rPr lang="en-US" sz="1400">
                <a:hlinkClick r:id="rId5"/>
              </a:rPr>
              <a:t>https://partscatalog.deere.com/jdrc/navigation/equipment/78976</a:t>
            </a:r>
            <a:endParaRPr lang="en-US" sz="1400"/>
          </a:p>
          <a:p>
            <a:r>
              <a:rPr lang="en-US" sz="1400"/>
              <a:t>Then select "20 Mid-Mount Mower Decks 48-Inch and 54-Inch (For 425, 445 and 455 LGT)"</a:t>
            </a:r>
          </a:p>
          <a:p>
            <a:r>
              <a:rPr lang="en-US" sz="1400"/>
              <a:t>Then select "Belt Drive, Blades, Idlers and Spindles - ST561860"</a:t>
            </a:r>
          </a:p>
          <a:p>
            <a:r>
              <a:rPr lang="en-US" sz="1400"/>
              <a:t> .. </a:t>
            </a:r>
            <a:r>
              <a:rPr lang="en-US" sz="1400">
                <a:hlinkClick r:id="rId6"/>
              </a:rPr>
              <a:t>https://partscatalog.deere.com/jdrc/sidebyside/equipment/78976/referrer/navigation/pgId/2341197</a:t>
            </a:r>
            <a:endParaRPr lang="en-US" sz="1400"/>
          </a:p>
          <a:p>
            <a:r>
              <a:rPr lang="en-US" sz="1400"/>
              <a:t>The John Deere Blade Bolt - 19M7788 (requires M18 nut driver (18mm)): </a:t>
            </a:r>
          </a:p>
          <a:p>
            <a:r>
              <a:rPr lang="en-US" sz="1400"/>
              <a:t> .. </a:t>
            </a:r>
            <a:r>
              <a:rPr lang="en-US" sz="1400">
                <a:hlinkClick r:id="rId7"/>
              </a:rPr>
              <a:t>https://www.greenpartstore.com/John-Deere-Blade-Bolt-19M7788.html</a:t>
            </a:r>
            <a:endParaRPr lang="en-US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051A58-8260-44FA-BDA6-4B5FA463DE1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961" y="3898526"/>
            <a:ext cx="1136650" cy="1041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088724-09EB-3EDC-61D5-E34A74BDA580}"/>
              </a:ext>
            </a:extLst>
          </p:cNvPr>
          <p:cNvSpPr txBox="1"/>
          <p:nvPr/>
        </p:nvSpPr>
        <p:spPr>
          <a:xfrm>
            <a:off x="4289820" y="5031696"/>
            <a:ext cx="26049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Riding mower blades should be installed between </a:t>
            </a:r>
          </a:p>
          <a:p>
            <a:r>
              <a:rPr lang="en-US" sz="1400"/>
              <a:t>70 and 90 foot pounds of torque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B542B-A1C7-5F98-F30A-6CD2F41E6E63}"/>
              </a:ext>
            </a:extLst>
          </p:cNvPr>
          <p:cNvSpPr txBox="1"/>
          <p:nvPr/>
        </p:nvSpPr>
        <p:spPr>
          <a:xfrm>
            <a:off x="4289821" y="6255136"/>
            <a:ext cx="525517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LEXIVON 1/2-Inch Drive LX-183 (10-150 Ft-lb)</a:t>
            </a:r>
          </a:p>
          <a:p>
            <a:r>
              <a:rPr lang="en-US" sz="1050">
                <a:hlinkClick r:id="rId9"/>
              </a:rPr>
              <a:t>https://www.amazon.com/LEXIVON-2-Inch-Torque-13-6-203-5-LX-183/dp/B07MP1Q3W8/</a:t>
            </a:r>
            <a:endParaRPr lang="en-US" sz="10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B5B537-9FEE-0ED2-5E80-E1576E95B5B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30" y="4685163"/>
            <a:ext cx="1524429" cy="145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0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D4F527-8FD9-2801-24F0-71FFECCC11E0}"/>
              </a:ext>
            </a:extLst>
          </p:cNvPr>
          <p:cNvSpPr txBox="1"/>
          <p:nvPr/>
        </p:nvSpPr>
        <p:spPr>
          <a:xfrm>
            <a:off x="-1" y="28159"/>
            <a:ext cx="3630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JohnDeere 425 Tires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CF8DA-D914-6193-DFDF-DBFD81204547}"/>
              </a:ext>
            </a:extLst>
          </p:cNvPr>
          <p:cNvSpPr txBox="1"/>
          <p:nvPr/>
        </p:nvSpPr>
        <p:spPr>
          <a:xfrm>
            <a:off x="8681545" y="5921109"/>
            <a:ext cx="35104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Otar Recommends </a:t>
            </a:r>
          </a:p>
          <a:p>
            <a:r>
              <a:rPr lang="en-US" sz="1400"/>
              <a:t>TireJect Tire Sealant &amp; Bead Sealer Kit:</a:t>
            </a:r>
          </a:p>
          <a:p>
            <a:r>
              <a:rPr lang="en-US" sz="1400">
                <a:hlinkClick r:id="rId2"/>
              </a:rPr>
              <a:t>https://www.amazon.com/dp/B08WKX95B9/</a:t>
            </a:r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CBE42-EF8C-6CFC-B754-0F6689262E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9842" y="3429000"/>
            <a:ext cx="1586072" cy="2233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0532D-B04B-E61F-A964-FE2AE77C4356}"/>
              </a:ext>
            </a:extLst>
          </p:cNvPr>
          <p:cNvSpPr txBox="1"/>
          <p:nvPr/>
        </p:nvSpPr>
        <p:spPr>
          <a:xfrm>
            <a:off x="5697915" y="5921109"/>
            <a:ext cx="2207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Tim (dealer) recommends:</a:t>
            </a:r>
          </a:p>
          <a:p>
            <a:r>
              <a:rPr lang="en-US" sz="1400"/>
              <a:t>LiquiTube tire sealant </a:t>
            </a:r>
          </a:p>
        </p:txBody>
      </p:sp>
      <p:pic>
        <p:nvPicPr>
          <p:cNvPr id="1026" name="Picture 2" descr="Amazon.com : LiquiTube Tire Sealant 32oz : Patio, Lawn &amp; Garden">
            <a:extLst>
              <a:ext uri="{FF2B5EF4-FFF2-40B4-BE49-F238E27FC236}">
                <a16:creationId xmlns:a16="http://schemas.microsoft.com/office/drawing/2014/main" id="{002F732A-E035-8FD8-73F1-12EB0C5D6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2106" y="3794234"/>
            <a:ext cx="522904" cy="178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CE0390-D4BF-9B10-8650-533ECF36463D}"/>
              </a:ext>
            </a:extLst>
          </p:cNvPr>
          <p:cNvSpPr txBox="1"/>
          <p:nvPr/>
        </p:nvSpPr>
        <p:spPr>
          <a:xfrm>
            <a:off x="168166" y="829188"/>
            <a:ext cx="3909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front  16 x  7.50 -  8 (2-ply 8-12 PSI)</a:t>
            </a:r>
          </a:p>
          <a:p>
            <a:r>
              <a:rPr lang="en-US" sz="12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rear   23 x 10.50 – 12 (2-ply 6-10 PSI)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BA300-C81F-58E5-D3CD-E7B447FB037A}"/>
              </a:ext>
            </a:extLst>
          </p:cNvPr>
          <p:cNvSpPr txBox="1"/>
          <p:nvPr/>
        </p:nvSpPr>
        <p:spPr>
          <a:xfrm>
            <a:off x="294290" y="3696420"/>
            <a:ext cx="3584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Tire Pressure from the manual: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76D70B8-BAB5-659C-6340-B6C45295E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080389"/>
              </p:ext>
            </p:extLst>
          </p:nvPr>
        </p:nvGraphicFramePr>
        <p:xfrm>
          <a:off x="409904" y="4201832"/>
          <a:ext cx="3220555" cy="236639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50017">
                  <a:extLst>
                    <a:ext uri="{9D8B030D-6E8A-4147-A177-3AD203B41FA5}">
                      <a16:colId xmlns:a16="http://schemas.microsoft.com/office/drawing/2014/main" val="75087229"/>
                    </a:ext>
                  </a:extLst>
                </a:gridCol>
                <a:gridCol w="851338">
                  <a:extLst>
                    <a:ext uri="{9D8B030D-6E8A-4147-A177-3AD203B41FA5}">
                      <a16:colId xmlns:a16="http://schemas.microsoft.com/office/drawing/2014/main" val="363904184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04852135"/>
                    </a:ext>
                  </a:extLst>
                </a:gridCol>
              </a:tblGrid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Tire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Ply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Pressure (PSI)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790368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F0000"/>
                          </a:solidFill>
                        </a:rPr>
                        <a:t>16 x 7.50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F0000"/>
                          </a:solidFill>
                        </a:rPr>
                        <a:t>8-12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63662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18 x 8.50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128598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23 x 8.50 –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4905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23 x 10.5 - 12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6-10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218174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26 12.00 - 12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91262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26 12.00 - 12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54543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3E56A26-82E0-994E-E219-798A22787F2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4923" y="289769"/>
            <a:ext cx="2111713" cy="2125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06A49C-B1DE-2F91-F74D-94821CD2E4A9}"/>
              </a:ext>
            </a:extLst>
          </p:cNvPr>
          <p:cNvSpPr txBox="1"/>
          <p:nvPr/>
        </p:nvSpPr>
        <p:spPr>
          <a:xfrm>
            <a:off x="5644922" y="2498810"/>
            <a:ext cx="2111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We may need to install Tire Tubes (~$15 each)</a:t>
            </a:r>
          </a:p>
        </p:txBody>
      </p:sp>
    </p:spTree>
    <p:extLst>
      <p:ext uri="{BB962C8B-B14F-4D97-AF65-F5344CB8AC3E}">
        <p14:creationId xmlns:p14="http://schemas.microsoft.com/office/powerpoint/2010/main" val="2726419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620</Words>
  <Application>Microsoft Macintosh PowerPoint</Application>
  <PresentationFormat>Widescreen</PresentationFormat>
  <Paragraphs>100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Menlo</vt:lpstr>
      <vt:lpstr>YouTube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87</cp:revision>
  <dcterms:created xsi:type="dcterms:W3CDTF">2022-05-02T00:38:22Z</dcterms:created>
  <dcterms:modified xsi:type="dcterms:W3CDTF">2022-10-08T04:38:42Z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