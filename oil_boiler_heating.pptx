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65" r:id="rId5"/>
    <p:sldId id="261" r:id="rId6"/>
    <p:sldId id="259" r:id="rId7"/>
    <p:sldId id="260" r:id="rId8"/>
    <p:sldId id="262" r:id="rId9"/>
    <p:sldId id="263" r:id="rId10"/>
    <p:sldId id="266" r:id="rId11"/>
    <p:sldId id="264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764"/>
    <p:restoredTop sz="93582"/>
  </p:normalViewPr>
  <p:slideViewPr>
    <p:cSldViewPr snapToGrid="0" snapToObjects="1">
      <p:cViewPr varScale="1">
        <p:scale>
          <a:sx n="123" d="100"/>
          <a:sy n="123" d="100"/>
        </p:scale>
        <p:origin x="208" y="5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1ADE972-A30E-EB4D-8E6E-AA4C5D685F81}" type="datetimeFigureOut">
              <a:rPr lang="en-US" smtClean="0"/>
              <a:t>12/29/23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98E7CD-ECDC-AF4F-BE57-C5F612713F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41408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98E7CD-ECDC-AF4F-BE57-C5F612713F5B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826017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98E7CD-ECDC-AF4F-BE57-C5F612713F5B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44729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1A7E78-4330-193B-B423-8314C67628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080FDA-9F58-7E15-C3A0-BCA67A1B65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FD1846-5607-2F80-FE77-B45D1134D8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12/29/23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59EC29-87F8-BE2D-794A-6DA472257B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340454-B433-410E-0FF8-FC3528287F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05089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36760B-86A2-A753-7B95-0F58C129DD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26CB2F-877F-D8BF-FD37-54A9FCD98E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7B5966-DCE9-9278-FC75-7505EFC826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12/29/23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8C6C7F-3558-A2B7-B9CB-C865542E0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53B692-9BC3-C542-CF13-B75CF4818C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79295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0201A7-590C-E867-7D0C-AE29A5E7C7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89C844-B762-199D-E840-4432CFA9EC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8F83D9-6582-F301-0C23-DFC2554944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12/29/23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52132C-12F6-FB49-15E9-71DC67F2F8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D5F5A6-E475-572D-EB19-BDCB29C26D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89418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67E54A-D232-E13B-03B8-197985E469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95FE80-6415-A129-A133-13F4E69631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EF34163-2BC5-67B8-C044-B2B91150F7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E24A9F-6EBE-F2FD-B790-457A880F4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12/29/23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165A11-D3B2-DAF0-6C96-3A013B4B66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148667-6987-698C-D3F8-33E4C2F455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62347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89EB9B-3B5A-BAA4-1104-35CFEE511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A6AF77-D30B-078E-7377-864E200417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DD3BB66-8448-BDCE-8885-0DCCD1D2FD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0C4BBBE-287A-8A3C-D9AC-73777D133F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2EC8599-617C-397F-DC3D-826467ADF3E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BF5D750-7437-B1AA-EDBA-8CE16147AE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12/29/23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61E2CB5-60FB-BFE3-7C57-6D71206F09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C2E5366-9BBC-DD63-6667-F2ABAD0CF7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61031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4502E0-2360-8A3B-C660-0EEE2283AC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761752-B6B9-B0D3-79D0-BA63B329CC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12/29/23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549FDB9-28AA-E5EE-0E6F-1C87098343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D1A72C3-CCD3-E994-0553-1649E7C05A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43061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727FBEF-93F3-4398-ABDE-E19A2BE6EE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12/29/23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224BDFD-B5CF-6FE3-E5D7-46013C29E0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995C03-7815-0295-8D6D-6E94DCC40D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65297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460438-A2C9-EC42-359F-79480BBFBC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BAC04E-128D-0581-C7DA-E12F971BB4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57F62C-C89B-1A1C-EE71-DFB3CCC880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3E8FE63-1511-35E5-E243-54A541D531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12/29/23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88C57B-944F-63EC-027D-0775FFD317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0B95C2-F629-DCC1-1A34-EFD210A359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61875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11C171-16B5-30EF-DF6B-EA8297BFE4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0EC62FB-CB34-C301-34F2-0BC3B063A2A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714D87E-859D-4374-028E-34A7E0967C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A0E7CC-E810-603C-A310-365D6E2E76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12/29/23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4811FA3-03C6-243F-1B00-D8C263B8A5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7B7296-43FF-9B1B-273A-D8A59A1AF5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69878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5B347D-D077-DA5B-BCBF-255D910F83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D969ED-67C2-311E-252D-6A110850A0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D0FBA1-3C89-EC11-74D4-20B92AAFDA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12/29/23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A7745B-5BAE-F9D3-47E4-0138D1CEA5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730326-C5CD-0886-9BE9-A7F7DB749C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45030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D2BAD8-9CAB-A380-AAC3-A59F3A32560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7D29A6E-D831-F47F-A2AE-F6E1AFD2D00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7F4713-8CBC-B5EB-3BDB-7F46E4C81A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12/29/23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B814CE-5D3F-6AF3-1B95-C1BCD7CEF6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44F38C-1773-F5A8-9806-A23E993F74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2999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2D680EF-BCA9-239E-5CBB-C870C41B48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0FCFB0-9A1E-EE20-9776-1EF4CAC7D5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1C2FEA-8E7F-70CC-474B-CC138894A0A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F491023-0B0A-7041-9F06-D25A50EF063B}" type="datetimeFigureOut">
              <a:t>12/29/23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568BAB-55F6-6894-580A-32AFD5780B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8BF367-BF67-C7BE-7EC4-9DB85C434E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05609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acebook.com/DJSPlumbingHeating/" TargetMode="Externa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3.png"/><Relationship Id="rId7" Type="http://schemas.openxmlformats.org/officeDocument/2006/relationships/hyperlink" Target="https://www.jmesales.com/krueger-sentry-type-h-2-in-galvanized-therma-tank-gauge/" TargetMode="External"/><Relationship Id="rId2" Type="http://schemas.openxmlformats.org/officeDocument/2006/relationships/hyperlink" Target="https://www.mathsisfun.com/geometry/cylinder-horizontal-volume.html" TargetMode="Externa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jpeg"/><Relationship Id="rId4" Type="http://schemas.openxmlformats.org/officeDocument/2006/relationships/image" Target="../media/image4.png"/><Relationship Id="rId9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youtube.com/watch?v=5GbXgEYw5TE" TargetMode="External"/><Relationship Id="rId3" Type="http://schemas.openxmlformats.org/officeDocument/2006/relationships/image" Target="../media/image10.png"/><Relationship Id="rId7" Type="http://schemas.openxmlformats.org/officeDocument/2006/relationships/hyperlink" Target="https://www.peerlessboilers.com/products/series-wbv/" TargetMode="External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www.peerlessboilers.com/" TargetMode="External"/><Relationship Id="rId11" Type="http://schemas.openxmlformats.org/officeDocument/2006/relationships/image" Target="../media/image14.png"/><Relationship Id="rId5" Type="http://schemas.openxmlformats.org/officeDocument/2006/relationships/image" Target="../media/image12.png"/><Relationship Id="rId10" Type="http://schemas.openxmlformats.org/officeDocument/2006/relationships/image" Target="../media/image13.png"/><Relationship Id="rId4" Type="http://schemas.openxmlformats.org/officeDocument/2006/relationships/image" Target="../media/image11.png"/><Relationship Id="rId9" Type="http://schemas.openxmlformats.org/officeDocument/2006/relationships/hyperlink" Target="https://www.beckettcorp.com/product/genisys-7505-oil-burner-control/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www.peerlessboilers.com/products/series-wbv/" TargetMode="External"/><Relationship Id="rId4" Type="http://schemas.openxmlformats.org/officeDocument/2006/relationships/hyperlink" Target="https://www.peerlessboilers.com/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hyperlink" Target="https://www.youtube.com/watch?v=Wd7vrkUDaz4" TargetMode="Externa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hyperlink" Target="https://store.google.com/us/widget/compatibility/thermostat" TargetMode="External"/><Relationship Id="rId13" Type="http://schemas.openxmlformats.org/officeDocument/2006/relationships/hyperlink" Target="https://www.youtube.com/watch?v=7SzjOU30AYg" TargetMode="External"/><Relationship Id="rId3" Type="http://schemas.openxmlformats.org/officeDocument/2006/relationships/image" Target="../media/image21.png"/><Relationship Id="rId7" Type="http://schemas.openxmlformats.org/officeDocument/2006/relationships/hyperlink" Target="https://www.youtube.com/watch?v=WFDPWIKKBHY" TargetMode="External"/><Relationship Id="rId12" Type="http://schemas.openxmlformats.org/officeDocument/2006/relationships/hyperlink" Target="https://www.youtube.com/watch?v=rdfUbAZi7k0" TargetMode="External"/><Relationship Id="rId2" Type="http://schemas.openxmlformats.org/officeDocument/2006/relationships/hyperlink" Target="https://store.google.com/us/product/nest_thermostat" TargetMode="External"/><Relationship Id="rId16" Type="http://schemas.openxmlformats.org/officeDocument/2006/relationships/hyperlink" Target="https://www.youtube.com/watch?v=iKcSKpR9KAM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www.doityourself.com/forum/thermostatic-controls/602985-connecting-nest-thermostat-genisys-7505-oil-burner.html" TargetMode="External"/><Relationship Id="rId11" Type="http://schemas.openxmlformats.org/officeDocument/2006/relationships/hyperlink" Target="https://support.google.com/googlenest/answer/9373007?hl=en" TargetMode="External"/><Relationship Id="rId5" Type="http://schemas.openxmlformats.org/officeDocument/2006/relationships/hyperlink" Target="https://www.cnet.com/home/internet/nest-wifi-vs-nest-wifi-pro-wi-fi-6e-mesh-routers/" TargetMode="External"/><Relationship Id="rId15" Type="http://schemas.openxmlformats.org/officeDocument/2006/relationships/hyperlink" Target="https://www.youtube.com/watch?v=AdGDXpb4VzE" TargetMode="External"/><Relationship Id="rId10" Type="http://schemas.openxmlformats.org/officeDocument/2006/relationships/hyperlink" Target="https://support.google.com/googlenest/answer/9248184?hl=en" TargetMode="External"/><Relationship Id="rId4" Type="http://schemas.openxmlformats.org/officeDocument/2006/relationships/image" Target="../media/image22.png"/><Relationship Id="rId9" Type="http://schemas.openxmlformats.org/officeDocument/2006/relationships/hyperlink" Target="https://support.google.com/googlenest/answer/9246656" TargetMode="External"/><Relationship Id="rId14" Type="http://schemas.openxmlformats.org/officeDocument/2006/relationships/hyperlink" Target="https://www.youtube.com/watch?v=iXi8asdsXTM" TargetMode="Externa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13" Type="http://schemas.openxmlformats.org/officeDocument/2006/relationships/image" Target="../media/image32.png"/><Relationship Id="rId3" Type="http://schemas.openxmlformats.org/officeDocument/2006/relationships/hyperlink" Target="https://www.youtube.com/watch?v=iKcSKpR9KAM" TargetMode="External"/><Relationship Id="rId7" Type="http://schemas.openxmlformats.org/officeDocument/2006/relationships/image" Target="../media/image26.png"/><Relationship Id="rId12" Type="http://schemas.openxmlformats.org/officeDocument/2006/relationships/image" Target="../media/image31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3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5.png"/><Relationship Id="rId11" Type="http://schemas.openxmlformats.org/officeDocument/2006/relationships/image" Target="../media/image30.png"/><Relationship Id="rId5" Type="http://schemas.openxmlformats.org/officeDocument/2006/relationships/image" Target="../media/image24.png"/><Relationship Id="rId15" Type="http://schemas.openxmlformats.org/officeDocument/2006/relationships/image" Target="../media/image34.png"/><Relationship Id="rId10" Type="http://schemas.openxmlformats.org/officeDocument/2006/relationships/image" Target="../media/image29.png"/><Relationship Id="rId4" Type="http://schemas.openxmlformats.org/officeDocument/2006/relationships/image" Target="../media/image23.png"/><Relationship Id="rId9" Type="http://schemas.openxmlformats.org/officeDocument/2006/relationships/image" Target="../media/image28.png"/><Relationship Id="rId14" Type="http://schemas.openxmlformats.org/officeDocument/2006/relationships/image" Target="../media/image3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eM_2CXz45RE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widgets.nest.com/nest-thermostat-troubleshooter" TargetMode="Externa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jpe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jpeg"/><Relationship Id="rId2" Type="http://schemas.openxmlformats.org/officeDocument/2006/relationships/hyperlink" Target="https://www.htproducts.com/superstor-ultra-waterheater.html" TargetMode="Externa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1.jpeg"/><Relationship Id="rId5" Type="http://schemas.openxmlformats.org/officeDocument/2006/relationships/image" Target="../media/image40.gif"/><Relationship Id="rId4" Type="http://schemas.openxmlformats.org/officeDocument/2006/relationships/image" Target="../media/image39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6B310C2-CE44-BD76-D583-B4E3D7BDFA4A}"/>
              </a:ext>
            </a:extLst>
          </p:cNvPr>
          <p:cNvSpPr txBox="1"/>
          <p:nvPr/>
        </p:nvSpPr>
        <p:spPr>
          <a:xfrm>
            <a:off x="30921" y="0"/>
            <a:ext cx="33793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Oil - 550 Gallon Tank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FEEB734-25C1-5F8A-526D-3CB1B8DD47B1}"/>
              </a:ext>
            </a:extLst>
          </p:cNvPr>
          <p:cNvSpPr txBox="1"/>
          <p:nvPr/>
        </p:nvSpPr>
        <p:spPr>
          <a:xfrm>
            <a:off x="121479" y="523220"/>
            <a:ext cx="3136346" cy="193899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>
                <a:effectLst/>
              </a:rPr>
              <a:t>Delaware Valley Oil</a:t>
            </a:r>
          </a:p>
          <a:p>
            <a:r>
              <a:rPr lang="en-US" sz="1200" dirty="0">
                <a:effectLst/>
              </a:rPr>
              <a:t>http://</a:t>
            </a:r>
            <a:r>
              <a:rPr lang="en-US" sz="1200" dirty="0" err="1">
                <a:effectLst/>
              </a:rPr>
              <a:t>dvoil.com</a:t>
            </a:r>
            <a:endParaRPr lang="en-US" sz="1200" dirty="0">
              <a:effectLst/>
            </a:endParaRPr>
          </a:p>
          <a:p>
            <a:r>
              <a:rPr lang="en-US" sz="1200" dirty="0"/>
              <a:t>Phone (845)-887-6090</a:t>
            </a:r>
            <a:r>
              <a:rPr lang="en-US" sz="1200" dirty="0">
                <a:effectLst/>
              </a:rPr>
              <a:t> </a:t>
            </a:r>
          </a:p>
          <a:p>
            <a:r>
              <a:rPr lang="en-US" sz="1200" dirty="0"/>
              <a:t>Office: M-F 8am-4pm</a:t>
            </a:r>
          </a:p>
          <a:p>
            <a:r>
              <a:rPr lang="en-US" sz="1200" dirty="0"/>
              <a:t>3 Bridge Street, Callicoon, NY 12723</a:t>
            </a:r>
            <a:endParaRPr lang="en-US" sz="1200" dirty="0">
              <a:effectLst/>
            </a:endParaRPr>
          </a:p>
          <a:p>
            <a:r>
              <a:rPr lang="en-US" sz="1200" dirty="0">
                <a:effectLst/>
              </a:rPr>
              <a:t>P.O. Box 838 Callicoon NY 12723 </a:t>
            </a:r>
          </a:p>
          <a:p>
            <a:r>
              <a:rPr lang="en-US" sz="1200" dirty="0">
                <a:effectLst/>
              </a:rPr>
              <a:t>Email </a:t>
            </a:r>
            <a:r>
              <a:rPr lang="en-US" sz="1200" dirty="0" err="1">
                <a:effectLst/>
              </a:rPr>
              <a:t>delawarevalleyoilllc@yahoo.com</a:t>
            </a:r>
            <a:endParaRPr lang="en-US" sz="1200" dirty="0">
              <a:effectLst/>
            </a:endParaRPr>
          </a:p>
          <a:p>
            <a:r>
              <a:rPr lang="en-US" sz="1200" dirty="0"/>
              <a:t>Email: </a:t>
            </a:r>
            <a:r>
              <a:rPr lang="en-US" sz="1200" dirty="0" err="1"/>
              <a:t>LeanaStanton@aol.com</a:t>
            </a:r>
            <a:endParaRPr lang="en-US" sz="1200" dirty="0"/>
          </a:p>
          <a:p>
            <a:r>
              <a:rPr lang="en-US" sz="1200" dirty="0"/>
              <a:t>Owner  wife: Casey Milk</a:t>
            </a:r>
          </a:p>
          <a:p>
            <a:r>
              <a:rPr lang="en-US" sz="1200" dirty="0"/>
              <a:t>Truck driver: Larry, Kevin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380C0D2-5EC1-261F-5C36-7F5DC3A1C39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121479" y="4921441"/>
            <a:ext cx="4329202" cy="18005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FC4B971-B9D5-8899-CCF0-429268F160B7}"/>
              </a:ext>
            </a:extLst>
          </p:cNvPr>
          <p:cNvSpPr txBox="1"/>
          <p:nvPr/>
        </p:nvSpPr>
        <p:spPr>
          <a:xfrm>
            <a:off x="3562625" y="136039"/>
            <a:ext cx="106900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>
                <a:solidFill>
                  <a:srgbClr val="FF0000"/>
                </a:solidFill>
              </a:rPr>
              <a:t>Service?</a:t>
            </a:r>
          </a:p>
          <a:p>
            <a:r>
              <a:rPr lang="en-US" sz="1400" b="1">
                <a:solidFill>
                  <a:srgbClr val="FF0000"/>
                </a:solidFill>
              </a:rPr>
              <a:t>Cleaning?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4B8586B-655B-3796-8623-5D607AE246AD}"/>
              </a:ext>
            </a:extLst>
          </p:cNvPr>
          <p:cNvSpPr txBox="1"/>
          <p:nvPr/>
        </p:nvSpPr>
        <p:spPr>
          <a:xfrm>
            <a:off x="3424961" y="659259"/>
            <a:ext cx="2250281" cy="83099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/>
              <a:t>Brian</a:t>
            </a:r>
          </a:p>
          <a:p>
            <a:r>
              <a:rPr lang="en-US" sz="1200" dirty="0"/>
              <a:t>845-645-9403 cell</a:t>
            </a:r>
          </a:p>
          <a:p>
            <a:r>
              <a:rPr lang="en-US" sz="1200" dirty="0"/>
              <a:t>Plumber</a:t>
            </a:r>
          </a:p>
          <a:p>
            <a:r>
              <a:rPr lang="en-US" sz="1200" dirty="0"/>
              <a:t>(Boiler/Filter </a:t>
            </a:r>
            <a:r>
              <a:rPr lang="en-US" sz="1200" dirty="0" err="1"/>
              <a:t>mainenance</a:t>
            </a:r>
            <a:r>
              <a:rPr lang="en-US" sz="1200" dirty="0"/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BC3C9F0-2CB3-6295-6E05-74493BFB9A49}"/>
              </a:ext>
            </a:extLst>
          </p:cNvPr>
          <p:cNvSpPr txBox="1"/>
          <p:nvPr/>
        </p:nvSpPr>
        <p:spPr>
          <a:xfrm>
            <a:off x="121480" y="2814746"/>
            <a:ext cx="4329201" cy="193899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/>
              <a:t>2022-07-06: ordered 150 gal ($5.79/gal) = $868.50</a:t>
            </a:r>
          </a:p>
          <a:p>
            <a:r>
              <a:rPr lang="en-US" sz="1200" dirty="0"/>
              <a:t>2022-11-22: ordered 150 gal ($5.59/gal) = $838.50</a:t>
            </a:r>
          </a:p>
          <a:p>
            <a:r>
              <a:rPr lang="en-US" sz="1200" dirty="0"/>
              <a:t>2023-01-07: gauge reading: 1/4 = 108 Gal </a:t>
            </a:r>
          </a:p>
          <a:p>
            <a:r>
              <a:rPr lang="en-US" sz="1200" dirty="0"/>
              <a:t>2023-01-07: ordered 150 gal ($4.29/gal) = $643.50</a:t>
            </a:r>
          </a:p>
          <a:p>
            <a:r>
              <a:rPr lang="en-US" sz="1200" dirty="0"/>
              <a:t>2023-01-14: gauge reading: 1/2 = 275 Gal  </a:t>
            </a:r>
          </a:p>
          <a:p>
            <a:r>
              <a:rPr lang="en-US" sz="1200" dirty="0"/>
              <a:t>2023-02-05: gauge reading: 3/8- = 175 Gal</a:t>
            </a:r>
          </a:p>
          <a:p>
            <a:r>
              <a:rPr lang="en-US" sz="1200" dirty="0"/>
              <a:t>2023-02-10: ordered 250 gal ($4.19/gal) = $1,047.50</a:t>
            </a:r>
          </a:p>
          <a:p>
            <a:r>
              <a:rPr lang="en-US" sz="1200" dirty="0"/>
              <a:t>2023-02-11: gauge reading: 3/4+ = 455 Gal</a:t>
            </a:r>
          </a:p>
          <a:p>
            <a:r>
              <a:rPr lang="en-US" sz="1200" dirty="0"/>
              <a:t>2023-05-30: ordered 200 gal ($3.52/gal)</a:t>
            </a:r>
          </a:p>
          <a:p>
            <a:r>
              <a:rPr lang="en-US" sz="1200" dirty="0"/>
              <a:t>Gage new reading close to 465 gal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96648DA-236B-6772-0175-BECAB63BE447}"/>
              </a:ext>
            </a:extLst>
          </p:cNvPr>
          <p:cNvSpPr txBox="1"/>
          <p:nvPr/>
        </p:nvSpPr>
        <p:spPr>
          <a:xfrm>
            <a:off x="7898059" y="2768579"/>
            <a:ext cx="3532178" cy="175432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/>
              <a:t>DJS Plumbing and Heating</a:t>
            </a:r>
          </a:p>
          <a:p>
            <a:r>
              <a:rPr lang="en-US" sz="1200" dirty="0"/>
              <a:t>Doug Santoro</a:t>
            </a:r>
          </a:p>
          <a:p>
            <a:r>
              <a:rPr lang="en-US" sz="1200" dirty="0"/>
              <a:t>(845) 887-6309 office</a:t>
            </a:r>
          </a:p>
          <a:p>
            <a:r>
              <a:rPr lang="en-US" sz="1200" dirty="0"/>
              <a:t>(845) ... mobile</a:t>
            </a:r>
          </a:p>
          <a:p>
            <a:r>
              <a:rPr lang="en-US" sz="1200" dirty="0"/>
              <a:t>email: </a:t>
            </a:r>
            <a:r>
              <a:rPr lang="en-US" sz="1200" dirty="0" err="1"/>
              <a:t>djsph@hvc.rr.com</a:t>
            </a:r>
            <a:endParaRPr lang="en-US" sz="1200" dirty="0"/>
          </a:p>
          <a:p>
            <a:r>
              <a:rPr lang="en-US" sz="1200" dirty="0"/>
              <a:t>.. https://</a:t>
            </a:r>
            <a:r>
              <a:rPr lang="en-US" sz="1200" dirty="0" err="1"/>
              <a:t>www.djsph.com</a:t>
            </a:r>
            <a:endParaRPr lang="en-US" sz="1200" dirty="0"/>
          </a:p>
          <a:p>
            <a:r>
              <a:rPr lang="en-US" sz="1200" dirty="0"/>
              <a:t>.. </a:t>
            </a:r>
            <a:r>
              <a:rPr lang="en-US" sz="1200" dirty="0">
                <a:hlinkClick r:id="rId3"/>
              </a:rPr>
              <a:t>https://www.facebook.com/DJSPlumbingHeating/</a:t>
            </a:r>
            <a:r>
              <a:rPr lang="en-US" sz="1200" dirty="0"/>
              <a:t> </a:t>
            </a:r>
          </a:p>
          <a:p>
            <a:r>
              <a:rPr lang="en-US" sz="1200" dirty="0"/>
              <a:t>.. 9 Del Vue Rd, Callicoon, NY 12723</a:t>
            </a:r>
          </a:p>
          <a:p>
            <a:r>
              <a:rPr lang="en-US" sz="1200" dirty="0"/>
              <a:t>.. 4-6 weeks waiting for scheduled service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12D43AF-402A-9653-4CDA-87A8363E8799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525244" y="136039"/>
            <a:ext cx="4545277" cy="246760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7347999-C252-85DD-B48E-90F93FAD3ECC}"/>
              </a:ext>
            </a:extLst>
          </p:cNvPr>
          <p:cNvSpPr txBox="1"/>
          <p:nvPr/>
        </p:nvSpPr>
        <p:spPr>
          <a:xfrm>
            <a:off x="7898059" y="4687843"/>
            <a:ext cx="3532178" cy="138499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/>
              <a:t>Hook Well Drilling.  570-224-....</a:t>
            </a:r>
          </a:p>
          <a:p>
            <a:endParaRPr lang="en-US" sz="1200" b="0" i="0" dirty="0">
              <a:solidFill>
                <a:srgbClr val="4F5155"/>
              </a:solidFill>
              <a:effectLst/>
              <a:latin typeface="Helvetica Neue" panose="02000503000000020004" pitchFamily="2" charset="0"/>
            </a:endParaRPr>
          </a:p>
          <a:p>
            <a:r>
              <a:rPr lang="en-US" sz="1200" b="0" i="0" dirty="0">
                <a:solidFill>
                  <a:srgbClr val="4F5155"/>
                </a:solidFill>
                <a:effectLst/>
                <a:latin typeface="Helvetica Neue" panose="02000503000000020004" pitchFamily="2" charset="0"/>
              </a:rPr>
              <a:t>Head Electric Plumbing &amp; Heating, Inc</a:t>
            </a:r>
          </a:p>
          <a:p>
            <a:r>
              <a:rPr lang="en-US" sz="1200" b="0" i="0" dirty="0">
                <a:solidFill>
                  <a:srgbClr val="4F5155"/>
                </a:solidFill>
                <a:effectLst/>
                <a:latin typeface="Helvetica Neue" panose="02000503000000020004" pitchFamily="2" charset="0"/>
              </a:rPr>
              <a:t>(845) 807-7676</a:t>
            </a:r>
            <a:endParaRPr lang="en-US" sz="1200" dirty="0">
              <a:solidFill>
                <a:srgbClr val="4F5155"/>
              </a:solidFill>
              <a:latin typeface="Helvetica Neue" panose="02000503000000020004" pitchFamily="2" charset="0"/>
            </a:endParaRPr>
          </a:p>
          <a:p>
            <a:r>
              <a:rPr lang="en-US" sz="1200" b="0" i="0" dirty="0">
                <a:solidFill>
                  <a:srgbClr val="4F5155"/>
                </a:solidFill>
                <a:effectLst/>
                <a:latin typeface="Helvetica Neue" panose="02000503000000020004" pitchFamily="2" charset="0"/>
              </a:rPr>
              <a:t>4499 St Rt 17B, Callicoon, NY 12723</a:t>
            </a:r>
          </a:p>
          <a:p>
            <a:endParaRPr lang="en-US" sz="1200" dirty="0">
              <a:solidFill>
                <a:srgbClr val="4F5155"/>
              </a:solidFill>
              <a:latin typeface="Helvetica Neue" panose="02000503000000020004" pitchFamily="2" charset="0"/>
            </a:endParaRPr>
          </a:p>
          <a:p>
            <a:r>
              <a:rPr lang="en-US" sz="1200" b="0" i="0" dirty="0">
                <a:solidFill>
                  <a:srgbClr val="4F5155"/>
                </a:solidFill>
                <a:effectLst/>
                <a:latin typeface="Helvetica Neue" panose="02000503000000020004" pitchFamily="2" charset="0"/>
              </a:rPr>
              <a:t>pat </a:t>
            </a:r>
            <a:r>
              <a:rPr lang="en-US" sz="1200" b="0" i="0" dirty="0" err="1">
                <a:solidFill>
                  <a:srgbClr val="4F5155"/>
                </a:solidFill>
                <a:effectLst/>
                <a:latin typeface="Helvetica Neue" panose="02000503000000020004" pitchFamily="2" charset="0"/>
              </a:rPr>
              <a:t>costello</a:t>
            </a:r>
            <a:r>
              <a:rPr lang="en-US" sz="1200" b="0" i="0" dirty="0">
                <a:solidFill>
                  <a:srgbClr val="4F5155"/>
                </a:solidFill>
                <a:effectLst/>
                <a:latin typeface="Helvetica Neue" panose="02000503000000020004" pitchFamily="2" charset="0"/>
              </a:rPr>
              <a:t> plumbing PA. </a:t>
            </a:r>
            <a:r>
              <a:rPr lang="en-US" sz="1200" b="0" i="0">
                <a:solidFill>
                  <a:srgbClr val="4F5155"/>
                </a:solidFill>
                <a:effectLst/>
                <a:latin typeface="Helvetica Neue" panose="02000503000000020004" pitchFamily="2" charset="0"/>
              </a:rPr>
              <a:t>570-224-....</a:t>
            </a:r>
            <a:endParaRPr lang="en-US" sz="1200" b="0" i="0" dirty="0">
              <a:solidFill>
                <a:srgbClr val="4F5155"/>
              </a:solidFill>
              <a:effectLst/>
              <a:latin typeface="Helvetica Neue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880512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C4E05B1-D1D3-3C74-6CC1-0FC68B66402A}"/>
              </a:ext>
            </a:extLst>
          </p:cNvPr>
          <p:cNvSpPr txBox="1"/>
          <p:nvPr/>
        </p:nvSpPr>
        <p:spPr>
          <a:xfrm>
            <a:off x="5234534" y="3583016"/>
            <a:ext cx="1971336" cy="8156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Calculator:</a:t>
            </a:r>
          </a:p>
          <a:p>
            <a:r>
              <a:rPr lang="en-US" sz="1100" dirty="0">
                <a:hlinkClick r:id="rId2"/>
              </a:rPr>
              <a:t>https://</a:t>
            </a:r>
            <a:r>
              <a:rPr lang="en-US" sz="1100" dirty="0" err="1">
                <a:hlinkClick r:id="rId2"/>
              </a:rPr>
              <a:t>www.mathsisfun.com</a:t>
            </a:r>
            <a:r>
              <a:rPr lang="en-US" sz="1100" dirty="0">
                <a:hlinkClick r:id="rId2"/>
              </a:rPr>
              <a:t>/geometry/cylinder-horizontal-</a:t>
            </a:r>
            <a:r>
              <a:rPr lang="en-US" sz="1100" dirty="0" err="1">
                <a:hlinkClick r:id="rId2"/>
              </a:rPr>
              <a:t>volume.html</a:t>
            </a:r>
            <a:endParaRPr lang="en-US" sz="11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E71890E-ACE8-D2D3-FCB4-F5CFADB82FD7}"/>
              </a:ext>
            </a:extLst>
          </p:cNvPr>
          <p:cNvSpPr txBox="1"/>
          <p:nvPr/>
        </p:nvSpPr>
        <p:spPr>
          <a:xfrm>
            <a:off x="0" y="0"/>
            <a:ext cx="2213514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Oil Tank </a:t>
            </a:r>
            <a:br>
              <a:rPr lang="en-US" sz="2800" b="1" dirty="0"/>
            </a:br>
            <a:r>
              <a:rPr lang="en-US" b="1" dirty="0"/>
              <a:t>48" diameter, 550 gal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FD3474A-43EA-53F4-62FB-95E2D1F2AA7A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179869" y="4488813"/>
            <a:ext cx="2080665" cy="99757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EAF0B40-7A04-ABA7-A078-F096F1D32144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428172" y="5801411"/>
            <a:ext cx="4576809" cy="492007"/>
          </a:xfrm>
          <a:prstGeom prst="rect">
            <a:avLst/>
          </a:prstGeom>
        </p:spPr>
      </p:pic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6DCBC3DE-AEB8-1D2E-DB14-DFB49B11BA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9693489"/>
              </p:ext>
            </p:extLst>
          </p:nvPr>
        </p:nvGraphicFramePr>
        <p:xfrm>
          <a:off x="8080513" y="79966"/>
          <a:ext cx="4034645" cy="5406426"/>
        </p:xfrm>
        <a:graphic>
          <a:graphicData uri="http://schemas.openxmlformats.org/drawingml/2006/table">
            <a:tbl>
              <a:tblPr/>
              <a:tblGrid>
                <a:gridCol w="540253">
                  <a:extLst>
                    <a:ext uri="{9D8B030D-6E8A-4147-A177-3AD203B41FA5}">
                      <a16:colId xmlns:a16="http://schemas.microsoft.com/office/drawing/2014/main" val="1629085675"/>
                    </a:ext>
                  </a:extLst>
                </a:gridCol>
                <a:gridCol w="735662">
                  <a:extLst>
                    <a:ext uri="{9D8B030D-6E8A-4147-A177-3AD203B41FA5}">
                      <a16:colId xmlns:a16="http://schemas.microsoft.com/office/drawing/2014/main" val="728063579"/>
                    </a:ext>
                  </a:extLst>
                </a:gridCol>
                <a:gridCol w="344840">
                  <a:extLst>
                    <a:ext uri="{9D8B030D-6E8A-4147-A177-3AD203B41FA5}">
                      <a16:colId xmlns:a16="http://schemas.microsoft.com/office/drawing/2014/main" val="577979000"/>
                    </a:ext>
                  </a:extLst>
                </a:gridCol>
                <a:gridCol w="459788">
                  <a:extLst>
                    <a:ext uri="{9D8B030D-6E8A-4147-A177-3AD203B41FA5}">
                      <a16:colId xmlns:a16="http://schemas.microsoft.com/office/drawing/2014/main" val="415530821"/>
                    </a:ext>
                  </a:extLst>
                </a:gridCol>
                <a:gridCol w="540253">
                  <a:extLst>
                    <a:ext uri="{9D8B030D-6E8A-4147-A177-3AD203B41FA5}">
                      <a16:colId xmlns:a16="http://schemas.microsoft.com/office/drawing/2014/main" val="4193150815"/>
                    </a:ext>
                  </a:extLst>
                </a:gridCol>
                <a:gridCol w="597725">
                  <a:extLst>
                    <a:ext uri="{9D8B030D-6E8A-4147-A177-3AD203B41FA5}">
                      <a16:colId xmlns:a16="http://schemas.microsoft.com/office/drawing/2014/main" val="2329286384"/>
                    </a:ext>
                  </a:extLst>
                </a:gridCol>
                <a:gridCol w="390820">
                  <a:extLst>
                    <a:ext uri="{9D8B030D-6E8A-4147-A177-3AD203B41FA5}">
                      <a16:colId xmlns:a16="http://schemas.microsoft.com/office/drawing/2014/main" val="4271786362"/>
                    </a:ext>
                  </a:extLst>
                </a:gridCol>
                <a:gridCol w="425304">
                  <a:extLst>
                    <a:ext uri="{9D8B030D-6E8A-4147-A177-3AD203B41FA5}">
                      <a16:colId xmlns:a16="http://schemas.microsoft.com/office/drawing/2014/main" val="1217790681"/>
                    </a:ext>
                  </a:extLst>
                </a:gridCol>
              </a:tblGrid>
              <a:tr h="311538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dirty="0">
                          <a:effectLst/>
                        </a:rPr>
                        <a:t>inch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part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part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gals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inch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part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part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gals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148498"/>
                  </a:ext>
                </a:extLst>
              </a:tr>
              <a:tr h="21228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1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0.02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3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25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0.52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290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4758063"/>
                  </a:ext>
                </a:extLst>
              </a:tr>
              <a:tr h="21228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2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0.04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8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26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0.54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304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10734"/>
                  </a:ext>
                </a:extLst>
              </a:tr>
              <a:tr h="21228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3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0.06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14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27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0.56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319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016672"/>
                  </a:ext>
                </a:extLst>
              </a:tr>
              <a:tr h="21228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4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0.08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22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28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0.58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333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6149776"/>
                  </a:ext>
                </a:extLst>
              </a:tr>
              <a:tr h="21228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5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0.10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30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29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0.60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347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9790269"/>
                  </a:ext>
                </a:extLst>
              </a:tr>
              <a:tr h="21228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6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0.13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1/8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40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30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0.63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5/8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362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3784333"/>
                  </a:ext>
                </a:extLst>
              </a:tr>
              <a:tr h="21228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7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0.15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50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31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0.65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376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3182816"/>
                  </a:ext>
                </a:extLst>
              </a:tr>
              <a:tr h="21228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8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0.17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60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32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0.67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390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5425900"/>
                  </a:ext>
                </a:extLst>
              </a:tr>
              <a:tr h="21228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9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0.19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71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33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0.69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403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35354659"/>
                  </a:ext>
                </a:extLst>
              </a:tr>
              <a:tr h="21228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10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0.21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83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34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0.71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417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5673854"/>
                  </a:ext>
                </a:extLst>
              </a:tr>
              <a:tr h="21228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11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0.23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95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35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0.73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430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868159"/>
                  </a:ext>
                </a:extLst>
              </a:tr>
              <a:tr h="21228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12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0.25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1/4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108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36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0.75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3/4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442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4094709"/>
                  </a:ext>
                </a:extLst>
              </a:tr>
              <a:tr h="21228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13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0.27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120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37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0.77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sz="1100" dirty="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455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7102373"/>
                  </a:ext>
                </a:extLst>
              </a:tr>
              <a:tr h="21228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14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0.29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133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38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0.79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467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1463987"/>
                  </a:ext>
                </a:extLst>
              </a:tr>
              <a:tr h="21228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15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0.31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147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39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0.81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479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23972"/>
                  </a:ext>
                </a:extLst>
              </a:tr>
              <a:tr h="21228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16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0.33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160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40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0.83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490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0270909"/>
                  </a:ext>
                </a:extLst>
              </a:tr>
              <a:tr h="21228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17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0.35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174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41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0.85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500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7252432"/>
                  </a:ext>
                </a:extLst>
              </a:tr>
              <a:tr h="21228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18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0.38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3/8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188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42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dirty="0">
                          <a:effectLst/>
                        </a:rPr>
                        <a:t>0.88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dirty="0">
                          <a:effectLst/>
                        </a:rPr>
                        <a:t>7/8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dirty="0">
                          <a:effectLst/>
                        </a:rPr>
                        <a:t>510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6734909"/>
                  </a:ext>
                </a:extLst>
              </a:tr>
              <a:tr h="21228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19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0.40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203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43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0.90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520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0950645"/>
                  </a:ext>
                </a:extLst>
              </a:tr>
              <a:tr h="21228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20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0.42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217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44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0.92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528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748385"/>
                  </a:ext>
                </a:extLst>
              </a:tr>
              <a:tr h="21228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21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0.44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231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45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0.94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536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4179338"/>
                  </a:ext>
                </a:extLst>
              </a:tr>
              <a:tr h="21228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22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0.46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246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46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0.96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542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6657528"/>
                  </a:ext>
                </a:extLst>
              </a:tr>
              <a:tr h="21228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23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0.48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260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47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0.98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547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3703690"/>
                  </a:ext>
                </a:extLst>
              </a:tr>
              <a:tr h="21228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24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0.50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1/2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275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48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1.00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"1"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dirty="0">
                          <a:effectLst/>
                        </a:rPr>
                        <a:t>550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417702"/>
                  </a:ext>
                </a:extLst>
              </a:tr>
            </a:tbl>
          </a:graphicData>
        </a:graphic>
      </p:graphicFrame>
      <p:pic>
        <p:nvPicPr>
          <p:cNvPr id="2" name="Picture 1" descr="A picture containing indoor, dirty, kitchen appliance&#10;&#10;Description automatically generated">
            <a:extLst>
              <a:ext uri="{FF2B5EF4-FFF2-40B4-BE49-F238E27FC236}">
                <a16:creationId xmlns:a16="http://schemas.microsoft.com/office/drawing/2014/main" id="{4806EC39-920E-2707-D2A6-3B55A6044DE6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5400000">
            <a:off x="430937" y="523592"/>
            <a:ext cx="3076831" cy="385762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EC3A42C-28EA-FF9E-0136-3C468E72A56C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32881" y="4068762"/>
            <a:ext cx="1050684" cy="242936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98DE13C-5950-CF49-53E3-E2D9903CA343}"/>
              </a:ext>
            </a:extLst>
          </p:cNvPr>
          <p:cNvSpPr txBox="1"/>
          <p:nvPr/>
        </p:nvSpPr>
        <p:spPr>
          <a:xfrm>
            <a:off x="2062343" y="5801411"/>
            <a:ext cx="1868952" cy="9848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Krueger Sentry Therma Tank Gauge</a:t>
            </a:r>
          </a:p>
          <a:p>
            <a:r>
              <a:rPr lang="en-US" sz="1000" dirty="0">
                <a:hlinkClick r:id="rId7"/>
              </a:rPr>
              <a:t>https://</a:t>
            </a:r>
            <a:r>
              <a:rPr lang="en-US" sz="1000" dirty="0" err="1">
                <a:hlinkClick r:id="rId7"/>
              </a:rPr>
              <a:t>www.jmesales.com</a:t>
            </a:r>
            <a:r>
              <a:rPr lang="en-US" sz="1000" dirty="0">
                <a:hlinkClick r:id="rId7"/>
              </a:rPr>
              <a:t>/krueger-sentry-type-h-2-in-galvanized-therma-tank-gauge/</a:t>
            </a:r>
            <a:endParaRPr lang="en-US" sz="10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F18E931-021C-347B-970E-7EE3338C94DF}"/>
              </a:ext>
            </a:extLst>
          </p:cNvPr>
          <p:cNvPicPr>
            <a:picLocks noChangeAspect="1"/>
          </p:cNvPicPr>
          <p:nvPr/>
        </p:nvPicPr>
        <p:blipFill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842" y="4101599"/>
            <a:ext cx="1446709" cy="1631809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5DEDC02-E272-C9C2-2573-659456400A60}"/>
              </a:ext>
            </a:extLst>
          </p:cNvPr>
          <p:cNvPicPr>
            <a:picLocks noChangeAspect="1"/>
          </p:cNvPicPr>
          <p:nvPr/>
        </p:nvPicPr>
        <p:blipFill>
          <a:blip r:embed="rId9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945627" y="198151"/>
            <a:ext cx="2382909" cy="30768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44410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1070465-8795-8E8D-0B50-3446414507E6}"/>
              </a:ext>
            </a:extLst>
          </p:cNvPr>
          <p:cNvSpPr txBox="1"/>
          <p:nvPr/>
        </p:nvSpPr>
        <p:spPr>
          <a:xfrm>
            <a:off x="0" y="0"/>
            <a:ext cx="49749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Peerless Boiler WB-3 Series (WBV-110-WPD ?)</a:t>
            </a:r>
          </a:p>
          <a:p>
            <a:r>
              <a:rPr lang="en-US" b="0" i="0" dirty="0">
                <a:solidFill>
                  <a:srgbClr val="001D35"/>
                </a:solidFill>
                <a:effectLst/>
                <a:latin typeface="Google Sans"/>
              </a:rPr>
              <a:t>residential, oil-fired boilers</a:t>
            </a:r>
            <a:endParaRPr lang="en-US" b="1" dirty="0"/>
          </a:p>
        </p:txBody>
      </p:sp>
      <p:pic>
        <p:nvPicPr>
          <p:cNvPr id="4" name="Picture 3" descr="A picture containing device, dirty, miller, cluttered&#10;&#10;Description automatically generated">
            <a:extLst>
              <a:ext uri="{FF2B5EF4-FFF2-40B4-BE49-F238E27FC236}">
                <a16:creationId xmlns:a16="http://schemas.microsoft.com/office/drawing/2014/main" id="{961BFD51-4021-8E3B-7B7B-B3ADF40286D1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5400000">
            <a:off x="-655983" y="2165555"/>
            <a:ext cx="5357191" cy="385762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C43F9B1-8BD9-D70B-20BA-D460D20D9307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107287" y="823302"/>
            <a:ext cx="3781727" cy="139890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5BEE45E-406C-9702-BB17-B3195EB79AA9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33657" y="93012"/>
            <a:ext cx="4064543" cy="437570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041E1AC-444B-9876-F9EA-0859A352646D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218969" y="4596545"/>
            <a:ext cx="1879231" cy="210450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361199B-1F88-0065-0F8F-2335FAEBB58F}"/>
              </a:ext>
            </a:extLst>
          </p:cNvPr>
          <p:cNvSpPr txBox="1"/>
          <p:nvPr/>
        </p:nvSpPr>
        <p:spPr>
          <a:xfrm>
            <a:off x="116102" y="601727"/>
            <a:ext cx="3672288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hlinkClick r:id="rId6"/>
              </a:rPr>
              <a:t>https://www.peerlessboilers.com</a:t>
            </a:r>
            <a:r>
              <a:rPr lang="en-US" sz="1100" dirty="0"/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hlinkClick r:id="rId7"/>
              </a:rPr>
              <a:t>https://</a:t>
            </a:r>
            <a:r>
              <a:rPr lang="en-US" sz="1100" dirty="0" err="1">
                <a:hlinkClick r:id="rId7"/>
              </a:rPr>
              <a:t>www.peerlessboilers.com</a:t>
            </a:r>
            <a:r>
              <a:rPr lang="en-US" sz="1100" dirty="0">
                <a:hlinkClick r:id="rId7"/>
              </a:rPr>
              <a:t>/products/series-</a:t>
            </a:r>
            <a:r>
              <a:rPr lang="en-US" sz="1100" dirty="0" err="1">
                <a:hlinkClick r:id="rId7"/>
              </a:rPr>
              <a:t>wbv</a:t>
            </a:r>
            <a:r>
              <a:rPr lang="en-US" sz="1100" dirty="0">
                <a:hlinkClick r:id="rId7"/>
              </a:rPr>
              <a:t>/</a:t>
            </a:r>
            <a:r>
              <a:rPr lang="en-US" sz="1100" dirty="0"/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hlinkClick r:id="rId8"/>
              </a:rPr>
              <a:t>https://</a:t>
            </a:r>
            <a:r>
              <a:rPr lang="en-US" sz="1100" dirty="0" err="1">
                <a:hlinkClick r:id="rId8"/>
              </a:rPr>
              <a:t>www.youtube.com</a:t>
            </a:r>
            <a:r>
              <a:rPr lang="en-US" sz="1100" dirty="0">
                <a:hlinkClick r:id="rId8"/>
              </a:rPr>
              <a:t>/</a:t>
            </a:r>
            <a:r>
              <a:rPr lang="en-US" sz="1100" dirty="0" err="1">
                <a:hlinkClick r:id="rId8"/>
              </a:rPr>
              <a:t>watch?v</a:t>
            </a:r>
            <a:r>
              <a:rPr lang="en-US" sz="1100" dirty="0">
                <a:hlinkClick r:id="rId8"/>
              </a:rPr>
              <a:t>=5GbXgEYw5TE</a:t>
            </a:r>
            <a:endParaRPr lang="en-US" sz="11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/>
              <a:t>12-18 Gal of water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9797784-4826-7124-7E36-1254E5D818DE}"/>
              </a:ext>
            </a:extLst>
          </p:cNvPr>
          <p:cNvSpPr txBox="1"/>
          <p:nvPr/>
        </p:nvSpPr>
        <p:spPr>
          <a:xfrm>
            <a:off x="5646485" y="2806871"/>
            <a:ext cx="2008957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Honeywell boiler </a:t>
            </a:r>
            <a:r>
              <a:rPr lang="en-US" sz="1400" dirty="0" err="1"/>
              <a:t>aquastat</a:t>
            </a:r>
            <a:r>
              <a:rPr lang="en-US" sz="1400" dirty="0"/>
              <a:t> (thermostat)</a:t>
            </a:r>
          </a:p>
          <a:p>
            <a:r>
              <a:rPr lang="en-US" sz="1400" dirty="0"/>
              <a:t>sends "more heat" signal</a:t>
            </a:r>
          </a:p>
          <a:p>
            <a:r>
              <a:rPr lang="en-US" sz="1400" dirty="0"/>
              <a:t>to 7505 burner control unit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4ADD781-EAD7-4496-89D1-1703C2863C71}"/>
              </a:ext>
            </a:extLst>
          </p:cNvPr>
          <p:cNvSpPr txBox="1"/>
          <p:nvPr/>
        </p:nvSpPr>
        <p:spPr>
          <a:xfrm>
            <a:off x="6966938" y="4943504"/>
            <a:ext cx="312508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Beckett </a:t>
            </a:r>
            <a:r>
              <a:rPr lang="en-US" sz="1200" dirty="0" err="1"/>
              <a:t>GeniSys</a:t>
            </a:r>
            <a:r>
              <a:rPr lang="en-US" sz="1200" dirty="0"/>
              <a:t>™ 7505 oil burner control </a:t>
            </a:r>
            <a:r>
              <a:rPr lang="en-US" sz="1200" dirty="0">
                <a:hlinkClick r:id="rId9"/>
              </a:rPr>
              <a:t>https://www.beckettcorp.com/product/genisys-7505-oil-burner-control/</a:t>
            </a:r>
            <a:endParaRPr lang="en-US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used with a suitable cad cell flame sensor to control the oil burner motor, igniter, and optional solenoid valve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has 24 VAC thermostat terminals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can provide interrupted or intermittent duty ignition, and it has a 15 second lockout time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123D31D-181B-5DC2-F5C0-60CC6F7698C4}"/>
              </a:ext>
            </a:extLst>
          </p:cNvPr>
          <p:cNvSpPr txBox="1"/>
          <p:nvPr/>
        </p:nvSpPr>
        <p:spPr>
          <a:xfrm>
            <a:off x="8033657" y="4516188"/>
            <a:ext cx="18792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Specific model 7505A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A6A2F21D-CC68-A2AC-771F-0D28DFB79442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33656" y="131652"/>
            <a:ext cx="4064543" cy="437570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6EC3B41-13DA-CF7B-479F-5236CCD33E77}"/>
              </a:ext>
            </a:extLst>
          </p:cNvPr>
          <p:cNvPicPr>
            <a:picLocks noChangeAspect="1"/>
          </p:cNvPicPr>
          <p:nvPr/>
        </p:nvPicPr>
        <p:blipFill>
          <a:blip r:embed="rId10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078369" y="2806871"/>
            <a:ext cx="1441173" cy="97865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CDEC992-7AAE-FD85-346F-0AA5C8C3029D}"/>
              </a:ext>
            </a:extLst>
          </p:cNvPr>
          <p:cNvPicPr>
            <a:picLocks noChangeAspect="1"/>
          </p:cNvPicPr>
          <p:nvPr/>
        </p:nvPicPr>
        <p:blipFill>
          <a:blip r:embed="rId11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078369" y="4210493"/>
            <a:ext cx="2761626" cy="25624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85686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74AE441-BFEF-F220-CAC7-D27430C3F116}"/>
              </a:ext>
            </a:extLst>
          </p:cNvPr>
          <p:cNvSpPr txBox="1"/>
          <p:nvPr/>
        </p:nvSpPr>
        <p:spPr>
          <a:xfrm>
            <a:off x="152400" y="99060"/>
            <a:ext cx="914400" cy="381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Boiler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57E6FE0-5AEB-C665-309D-6FCA2450C55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69848" y="71628"/>
            <a:ext cx="5943600" cy="475488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2B8BCAA-E862-8586-60B7-78BFD939EB36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090540" y="78057"/>
            <a:ext cx="5079158" cy="554215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5296587-6C3F-D106-1BDC-1369940C4F32}"/>
              </a:ext>
            </a:extLst>
          </p:cNvPr>
          <p:cNvSpPr txBox="1"/>
          <p:nvPr/>
        </p:nvSpPr>
        <p:spPr>
          <a:xfrm>
            <a:off x="152400" y="4935679"/>
            <a:ext cx="4666159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dirty="0">
                <a:hlinkClick r:id="rId4"/>
              </a:rPr>
              <a:t>https://www.peerlessboilers.com</a:t>
            </a:r>
            <a:r>
              <a:rPr lang="en-US" sz="1400" dirty="0"/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dirty="0">
                <a:hlinkClick r:id="rId5"/>
              </a:rPr>
              <a:t>https://www.peerlessboilers.com/products/series-wbv/</a:t>
            </a:r>
            <a:r>
              <a:rPr lang="en-US" sz="1400" dirty="0"/>
              <a:t> </a:t>
            </a:r>
          </a:p>
          <a:p>
            <a:endParaRPr lang="en-US" sz="1400" dirty="0"/>
          </a:p>
          <a:p>
            <a:r>
              <a:rPr lang="en-US" sz="1400" dirty="0"/>
              <a:t>Water Pressure in kitchen sink – 40-60 PSI</a:t>
            </a:r>
          </a:p>
          <a:p>
            <a:r>
              <a:rPr lang="en-US" sz="1400" dirty="0"/>
              <a:t>Water Pressure in house heating should be low (15 psi ?)</a:t>
            </a:r>
          </a:p>
          <a:p>
            <a:r>
              <a:rPr lang="en-US" sz="1400" dirty="0"/>
              <a:t>Test – time to fill a 5 Gal bucket </a:t>
            </a:r>
          </a:p>
          <a:p>
            <a:r>
              <a:rPr lang="en-US" sz="1400" dirty="0"/>
              <a:t>(20 sec – excellent, 60 sec – fine)</a:t>
            </a:r>
          </a:p>
        </p:txBody>
      </p:sp>
    </p:spTree>
    <p:extLst>
      <p:ext uri="{BB962C8B-B14F-4D97-AF65-F5344CB8AC3E}">
        <p14:creationId xmlns:p14="http://schemas.microsoft.com/office/powerpoint/2010/main" val="27686050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4B19B9A-B50E-0689-D372-15D53E762033}"/>
              </a:ext>
            </a:extLst>
          </p:cNvPr>
          <p:cNvSpPr txBox="1"/>
          <p:nvPr/>
        </p:nvSpPr>
        <p:spPr>
          <a:xfrm>
            <a:off x="0" y="0"/>
            <a:ext cx="372139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Honeywell </a:t>
            </a:r>
            <a:r>
              <a:rPr lang="en-US" sz="2800" b="1" dirty="0" err="1"/>
              <a:t>Aquastat</a:t>
            </a:r>
            <a:endParaRPr lang="en-US" sz="2800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732FA62-7030-9247-BE8B-723131C8932E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81986" y="784000"/>
            <a:ext cx="4684643" cy="347876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5A35325-3294-89FE-A51B-F55B97BD4191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743501" y="783999"/>
            <a:ext cx="2741280" cy="347342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5DBAFE0-6A0F-1C80-0404-7B2AB38470FC}"/>
              </a:ext>
            </a:extLst>
          </p:cNvPr>
          <p:cNvSpPr txBox="1"/>
          <p:nvPr/>
        </p:nvSpPr>
        <p:spPr>
          <a:xfrm>
            <a:off x="4327451" y="4646428"/>
            <a:ext cx="223283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Pictures from internet</a:t>
            </a:r>
          </a:p>
          <a:p>
            <a:pPr algn="ctr"/>
            <a:r>
              <a:rPr lang="en-US" sz="1400" dirty="0"/>
              <a:t>Maybe different model</a:t>
            </a:r>
          </a:p>
          <a:p>
            <a:pPr algn="ctr"/>
            <a:r>
              <a:rPr lang="en-US" sz="1400" dirty="0"/>
              <a:t>$120</a:t>
            </a:r>
          </a:p>
        </p:txBody>
      </p:sp>
    </p:spTree>
    <p:extLst>
      <p:ext uri="{BB962C8B-B14F-4D97-AF65-F5344CB8AC3E}">
        <p14:creationId xmlns:p14="http://schemas.microsoft.com/office/powerpoint/2010/main" val="27560875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4B19B9A-B50E-0689-D372-15D53E762033}"/>
              </a:ext>
            </a:extLst>
          </p:cNvPr>
          <p:cNvSpPr txBox="1"/>
          <p:nvPr/>
        </p:nvSpPr>
        <p:spPr>
          <a:xfrm>
            <a:off x="83288" y="1126359"/>
            <a:ext cx="4307959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Google for:</a:t>
            </a:r>
          </a:p>
          <a:p>
            <a:r>
              <a:rPr lang="en-US" sz="1400" dirty="0" err="1"/>
              <a:t>Genisys</a:t>
            </a:r>
            <a:r>
              <a:rPr lang="en-US" sz="1400" dirty="0"/>
              <a:t> 7505 won't start after power outage</a:t>
            </a:r>
          </a:p>
          <a:p>
            <a:endParaRPr lang="en-US" sz="1400" dirty="0"/>
          </a:p>
          <a:p>
            <a:r>
              <a:rPr lang="en-US" sz="1400" dirty="0"/>
              <a:t>Video troubleshooting the 7505</a:t>
            </a:r>
          </a:p>
          <a:p>
            <a:r>
              <a:rPr lang="en-US" sz="1400" dirty="0"/>
              <a:t>.. </a:t>
            </a:r>
            <a:r>
              <a:rPr lang="en-US" sz="1400" dirty="0">
                <a:hlinkClick r:id="rId2"/>
              </a:rPr>
              <a:t>https://</a:t>
            </a:r>
            <a:r>
              <a:rPr lang="en-US" sz="1400" dirty="0" err="1">
                <a:hlinkClick r:id="rId2"/>
              </a:rPr>
              <a:t>www.youtube.com</a:t>
            </a:r>
            <a:r>
              <a:rPr lang="en-US" sz="1400" dirty="0">
                <a:hlinkClick r:id="rId2"/>
              </a:rPr>
              <a:t>/</a:t>
            </a:r>
            <a:r>
              <a:rPr lang="en-US" sz="1400" dirty="0" err="1">
                <a:hlinkClick r:id="rId2"/>
              </a:rPr>
              <a:t>watch?v</a:t>
            </a:r>
            <a:r>
              <a:rPr lang="en-US" sz="1400" dirty="0">
                <a:hlinkClick r:id="rId2"/>
              </a:rPr>
              <a:t>=Wd7vrkUDaz4</a:t>
            </a:r>
            <a:endParaRPr lang="en-US" sz="1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C934772-4DEB-8B94-EBB9-1085F4051A39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156384" y="853885"/>
            <a:ext cx="1879231" cy="210450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52DFAD3-0585-574B-7103-CFE5B2D8DC56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99301" y="848569"/>
            <a:ext cx="3619500" cy="35433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E5EF694-94BF-68B8-9F75-42F66F75A4C0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3288" y="3413542"/>
            <a:ext cx="6012712" cy="334215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D571962-2A19-077E-C34A-D6933E460260}"/>
              </a:ext>
            </a:extLst>
          </p:cNvPr>
          <p:cNvSpPr txBox="1"/>
          <p:nvPr/>
        </p:nvSpPr>
        <p:spPr>
          <a:xfrm>
            <a:off x="0" y="0"/>
            <a:ext cx="528692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Troubleshooting  </a:t>
            </a:r>
            <a:r>
              <a:rPr lang="en-US" sz="2800" b="1" dirty="0" err="1"/>
              <a:t>Genisys</a:t>
            </a:r>
            <a:r>
              <a:rPr lang="en-US" sz="2800" b="1" dirty="0"/>
              <a:t> 7505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420B81A-CE5A-82C1-7D2D-56C964B9663D}"/>
              </a:ext>
            </a:extLst>
          </p:cNvPr>
          <p:cNvSpPr txBox="1"/>
          <p:nvPr/>
        </p:nvSpPr>
        <p:spPr>
          <a:xfrm>
            <a:off x="7289061" y="5084617"/>
            <a:ext cx="392341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Checks for flame presence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Ignites – and checks that it is ignited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reacts to signal "more heat" to start/stop blower (and shut off the valve)</a:t>
            </a:r>
          </a:p>
        </p:txBody>
      </p:sp>
    </p:spTree>
    <p:extLst>
      <p:ext uri="{BB962C8B-B14F-4D97-AF65-F5344CB8AC3E}">
        <p14:creationId xmlns:p14="http://schemas.microsoft.com/office/powerpoint/2010/main" val="16414996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4B19B9A-B50E-0689-D372-15D53E762033}"/>
              </a:ext>
            </a:extLst>
          </p:cNvPr>
          <p:cNvSpPr txBox="1"/>
          <p:nvPr/>
        </p:nvSpPr>
        <p:spPr>
          <a:xfrm>
            <a:off x="0" y="478821"/>
            <a:ext cx="4593265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Google Nest Thermostat:</a:t>
            </a:r>
          </a:p>
          <a:p>
            <a:r>
              <a:rPr lang="en-US" sz="1400" dirty="0"/>
              <a:t>.. </a:t>
            </a:r>
            <a:r>
              <a:rPr lang="en-US" sz="1400" dirty="0">
                <a:hlinkClick r:id="rId2"/>
              </a:rPr>
              <a:t>https://</a:t>
            </a:r>
            <a:r>
              <a:rPr lang="en-US" sz="1400" dirty="0" err="1">
                <a:hlinkClick r:id="rId2"/>
              </a:rPr>
              <a:t>store.google.com</a:t>
            </a:r>
            <a:r>
              <a:rPr lang="en-US" sz="1400" dirty="0">
                <a:hlinkClick r:id="rId2"/>
              </a:rPr>
              <a:t>/us/product/</a:t>
            </a:r>
            <a:r>
              <a:rPr lang="en-US" sz="1400" dirty="0" err="1">
                <a:hlinkClick r:id="rId2"/>
              </a:rPr>
              <a:t>nest_thermostat</a:t>
            </a:r>
            <a:endParaRPr lang="en-US" sz="1400" dirty="0"/>
          </a:p>
          <a:p>
            <a:r>
              <a:rPr lang="en-US" sz="1400" dirty="0"/>
              <a:t>Nest </a:t>
            </a:r>
            <a:r>
              <a:rPr lang="en-US" sz="1400" dirty="0" err="1"/>
              <a:t>Wifi</a:t>
            </a:r>
            <a:r>
              <a:rPr lang="en-US" sz="1400" dirty="0"/>
              <a:t> requires a Nest </a:t>
            </a:r>
            <a:r>
              <a:rPr lang="en-US" sz="1400" dirty="0" err="1"/>
              <a:t>Wifi</a:t>
            </a:r>
            <a:r>
              <a:rPr lang="en-US" sz="1400" dirty="0"/>
              <a:t> router (or Google </a:t>
            </a:r>
            <a:r>
              <a:rPr lang="en-US" sz="1400" dirty="0" err="1"/>
              <a:t>WiFi</a:t>
            </a:r>
            <a:r>
              <a:rPr lang="en-US" sz="1400" dirty="0"/>
              <a:t>)</a:t>
            </a:r>
          </a:p>
          <a:p>
            <a:r>
              <a:rPr lang="en-US" sz="1400" dirty="0"/>
              <a:t>Latest - Nest </a:t>
            </a:r>
            <a:r>
              <a:rPr lang="en-US" sz="1400" dirty="0" err="1"/>
              <a:t>Wifi</a:t>
            </a:r>
            <a:r>
              <a:rPr lang="en-US" sz="1400" dirty="0"/>
              <a:t> Pro router ($200)</a:t>
            </a:r>
          </a:p>
          <a:p>
            <a:r>
              <a:rPr lang="en-US" sz="1400" dirty="0"/>
              <a:t>The devices are controlled using Google Home App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AA13167-72BE-3016-0C51-F732F7A64CA4}"/>
              </a:ext>
            </a:extLst>
          </p:cNvPr>
          <p:cNvSpPr txBox="1"/>
          <p:nvPr/>
        </p:nvSpPr>
        <p:spPr>
          <a:xfrm>
            <a:off x="0" y="0"/>
            <a:ext cx="528692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Google Nest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7FBCC3C-D46C-0DDE-CB4B-9571E8F72043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825562" y="110663"/>
            <a:ext cx="4272517" cy="307541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B0A6DBD-29A9-3B38-8B50-C2D85C70CF7E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9877" y="1648372"/>
            <a:ext cx="4850218" cy="135387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F9F5ADA-B0FF-0732-50FB-9A5260346F8C}"/>
              </a:ext>
            </a:extLst>
          </p:cNvPr>
          <p:cNvSpPr txBox="1"/>
          <p:nvPr/>
        </p:nvSpPr>
        <p:spPr>
          <a:xfrm>
            <a:off x="0" y="3044279"/>
            <a:ext cx="752608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hlinkClick r:id="rId5"/>
              </a:rPr>
              <a:t>https://www.cnet.com/home/internet/nest-wifi-vs-nest-wifi-pro-wi-fi-6e-mesh-routers/</a:t>
            </a:r>
            <a:endParaRPr lang="en-US" sz="11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hlinkClick r:id="rId6"/>
              </a:rPr>
              <a:t>https://www.doityourself.com/forum/thermostatic-controls/602985-connecting-nest-thermostat-genisys-7505-oil-burner.html</a:t>
            </a:r>
            <a:endParaRPr lang="en-US" sz="11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hlinkClick r:id="rId7"/>
              </a:rPr>
              <a:t>https://www.youtube.com/watch?v=WFDPWIKKBHY</a:t>
            </a:r>
            <a:endParaRPr lang="en-US" sz="11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120064D-9ACB-2FC4-18DE-777EBE1F8EAC}"/>
              </a:ext>
            </a:extLst>
          </p:cNvPr>
          <p:cNvSpPr txBox="1"/>
          <p:nvPr/>
        </p:nvSpPr>
        <p:spPr>
          <a:xfrm>
            <a:off x="7890710" y="3409447"/>
            <a:ext cx="4142220" cy="172354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100" dirty="0"/>
              <a:t>.. </a:t>
            </a:r>
            <a:r>
              <a:rPr lang="en-US" sz="1100" dirty="0">
                <a:hlinkClick r:id="rId8"/>
              </a:rPr>
              <a:t>https://</a:t>
            </a:r>
            <a:r>
              <a:rPr lang="en-US" sz="1100" dirty="0" err="1">
                <a:hlinkClick r:id="rId8"/>
              </a:rPr>
              <a:t>store.google.com</a:t>
            </a:r>
            <a:r>
              <a:rPr lang="en-US" sz="1100" dirty="0">
                <a:hlinkClick r:id="rId8"/>
              </a:rPr>
              <a:t>/us/widget/compatibility/thermostat</a:t>
            </a:r>
            <a:endParaRPr lang="en-US" sz="11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Google Nest thermostats are designed to work </a:t>
            </a:r>
            <a:br>
              <a:rPr lang="en-US" sz="1400" dirty="0"/>
            </a:br>
            <a:r>
              <a:rPr lang="en-US" sz="1400" dirty="0"/>
              <a:t>with most 24 V systems, even older systems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Online Compatibility Checker:</a:t>
            </a:r>
            <a:br>
              <a:rPr lang="en-US" sz="1400" dirty="0"/>
            </a:br>
            <a:r>
              <a:rPr lang="en-US" sz="1100" dirty="0"/>
              <a:t>.. </a:t>
            </a:r>
            <a:r>
              <a:rPr lang="en-US" sz="1100" dirty="0">
                <a:hlinkClick r:id="rId9"/>
              </a:rPr>
              <a:t>https://support.google.com/googlenest/answer/9246656</a:t>
            </a:r>
            <a:r>
              <a:rPr lang="en-US" sz="1100" dirty="0"/>
              <a:t> 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dirty="0"/>
              <a:t>Nest </a:t>
            </a:r>
            <a:r>
              <a:rPr lang="en-US" sz="1400" b="1" dirty="0">
                <a:solidFill>
                  <a:srgbClr val="00B0F0"/>
                </a:solidFill>
              </a:rPr>
              <a:t>Learning</a:t>
            </a:r>
            <a:r>
              <a:rPr lang="en-US" sz="1400" dirty="0"/>
              <a:t> Thermostat is more compatible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dirty="0"/>
              <a:t>Older Regular Nest Thermostat may need C wire or Nest Power Connector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A596AE3-AE00-EA84-230E-FABF4B280E3D}"/>
              </a:ext>
            </a:extLst>
          </p:cNvPr>
          <p:cNvSpPr txBox="1"/>
          <p:nvPr/>
        </p:nvSpPr>
        <p:spPr>
          <a:xfrm>
            <a:off x="5531750" y="5285242"/>
            <a:ext cx="6501180" cy="138499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Note about Nest Learning Thermostat.</a:t>
            </a:r>
          </a:p>
          <a:p>
            <a:r>
              <a:rPr lang="en-US" sz="1400" dirty="0"/>
              <a:t>It has many settings to automatically adjust temperature based on history, etc. </a:t>
            </a:r>
          </a:p>
          <a:p>
            <a:r>
              <a:rPr lang="en-US" sz="1400" b="1" dirty="0">
                <a:solidFill>
                  <a:srgbClr val="FF0000"/>
                </a:solidFill>
              </a:rPr>
              <a:t>I turned them all off because it was overriding my wishes. </a:t>
            </a:r>
            <a:r>
              <a:rPr lang="en-US" sz="1400" dirty="0"/>
              <a:t>For example, we had two bedrooms with thermostats. Last several weeks we had visitors and were using both bedrooms. This week we using only one, so I decreased the thermostat setting to 56F. But it by itself warmed up to 68F.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7ECAA03-2CDF-1351-FAA0-07BCCAD5C737}"/>
              </a:ext>
            </a:extLst>
          </p:cNvPr>
          <p:cNvSpPr txBox="1"/>
          <p:nvPr/>
        </p:nvSpPr>
        <p:spPr>
          <a:xfrm>
            <a:off x="96520" y="4192391"/>
            <a:ext cx="5345056" cy="163121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000" dirty="0"/>
              <a:t>We have the latest Nest Learning Thermostat (3rd generation)</a:t>
            </a:r>
            <a:br>
              <a:rPr lang="en-US" sz="1000" dirty="0"/>
            </a:br>
            <a:r>
              <a:rPr lang="en-US" sz="1000" dirty="0"/>
              <a:t>I was following </a:t>
            </a:r>
            <a:r>
              <a:rPr lang="en-US" sz="1000" dirty="0" err="1"/>
              <a:t>youtube</a:t>
            </a:r>
            <a:r>
              <a:rPr lang="en-US" sz="1000" dirty="0"/>
              <a:t> videos and online guides, for example:</a:t>
            </a:r>
          </a:p>
          <a:p>
            <a:r>
              <a:rPr lang="en-US" sz="1000" dirty="0"/>
              <a:t>.. </a:t>
            </a:r>
            <a:r>
              <a:rPr lang="en-US" sz="1000" dirty="0">
                <a:hlinkClick r:id="rId10"/>
              </a:rPr>
              <a:t>https://support.google.com/googlenest/answer/9248184</a:t>
            </a:r>
            <a:r>
              <a:rPr lang="en-US" sz="1000" dirty="0"/>
              <a:t> - docs</a:t>
            </a:r>
            <a:br>
              <a:rPr lang="en-US" sz="1000" dirty="0"/>
            </a:br>
            <a:r>
              <a:rPr lang="en-US" sz="1000" dirty="0"/>
              <a:t>.. </a:t>
            </a:r>
            <a:r>
              <a:rPr lang="en-US" sz="1000" dirty="0">
                <a:hlinkClick r:id="rId11"/>
              </a:rPr>
              <a:t>https://support.google.com/googlenest/answer/9373007?hl=en</a:t>
            </a:r>
            <a:r>
              <a:rPr lang="en-US" sz="1000" dirty="0"/>
              <a:t> – PDFs</a:t>
            </a:r>
          </a:p>
          <a:p>
            <a:r>
              <a:rPr lang="en-US" sz="1000" dirty="0"/>
              <a:t>.. </a:t>
            </a:r>
            <a:r>
              <a:rPr lang="en-US" sz="1000" dirty="0">
                <a:hlinkClick r:id="rId12"/>
              </a:rPr>
              <a:t>https://www.youtube.com/watch?v=rdfUbAZi7k0</a:t>
            </a:r>
            <a:r>
              <a:rPr lang="en-US" sz="1000" dirty="0"/>
              <a:t> – missing manual</a:t>
            </a:r>
            <a:br>
              <a:rPr lang="en-US" sz="1000" dirty="0"/>
            </a:br>
            <a:r>
              <a:rPr lang="en-US" sz="1000" dirty="0"/>
              <a:t>.. </a:t>
            </a:r>
            <a:r>
              <a:rPr lang="en-US" sz="1000" dirty="0">
                <a:hlinkClick r:id="rId13"/>
              </a:rPr>
              <a:t>https://www.youtube.com/watch?v=7SzjOU30AYg</a:t>
            </a:r>
            <a:r>
              <a:rPr lang="en-US" sz="1000" dirty="0"/>
              <a:t> - </a:t>
            </a:r>
            <a:r>
              <a:rPr lang="en-US" sz="1000" i="0" dirty="0">
                <a:solidFill>
                  <a:srgbClr val="0F0F0F"/>
                </a:solidFill>
                <a:effectLst/>
                <a:latin typeface="YouTube Sans"/>
              </a:rPr>
              <a:t>How to Use ... </a:t>
            </a:r>
            <a:br>
              <a:rPr lang="en-US" sz="1000" dirty="0"/>
            </a:br>
            <a:r>
              <a:rPr lang="en-US" sz="1000" dirty="0"/>
              <a:t>.. </a:t>
            </a:r>
            <a:r>
              <a:rPr lang="en-US" sz="1000" dirty="0">
                <a:hlinkClick r:id="rId14"/>
              </a:rPr>
              <a:t>https://www.youtube.com/watch?v=iXi8asdsXTM</a:t>
            </a:r>
            <a:r>
              <a:rPr lang="en-US" sz="1000" dirty="0"/>
              <a:t> – How to Use ... for beginners</a:t>
            </a:r>
            <a:br>
              <a:rPr lang="en-US" sz="1000" dirty="0"/>
            </a:br>
            <a:r>
              <a:rPr lang="en-US" sz="1000" dirty="0"/>
              <a:t>.. </a:t>
            </a:r>
            <a:r>
              <a:rPr lang="en-US" sz="1000" dirty="0">
                <a:hlinkClick r:id="rId15"/>
              </a:rPr>
              <a:t>https://www.youtube.com/watch?v=AdGDXpb4VzE</a:t>
            </a:r>
            <a:r>
              <a:rPr lang="en-US" sz="1000" dirty="0"/>
              <a:t> - How to Use and Program ... </a:t>
            </a:r>
            <a:br>
              <a:rPr lang="en-US" sz="1000" dirty="0"/>
            </a:br>
            <a:r>
              <a:rPr lang="en-US" sz="1000" dirty="0"/>
              <a:t>.. </a:t>
            </a:r>
            <a:r>
              <a:rPr lang="en-US" sz="1000" dirty="0">
                <a:hlinkClick r:id="rId16"/>
              </a:rPr>
              <a:t>https://www.youtube.com/watch?v=iKcSKpR9KAM</a:t>
            </a:r>
            <a:r>
              <a:rPr lang="en-US" sz="1000" dirty="0"/>
              <a:t> - </a:t>
            </a:r>
            <a:r>
              <a:rPr lang="en-US" sz="1000" i="0" dirty="0">
                <a:solidFill>
                  <a:srgbClr val="0F0F0F"/>
                </a:solidFill>
                <a:effectLst/>
                <a:latin typeface="YouTube Sans"/>
              </a:rPr>
              <a:t>How to Make Nest Thermostat Manual</a:t>
            </a:r>
          </a:p>
          <a:p>
            <a:r>
              <a:rPr lang="en-US" sz="1000" dirty="0"/>
              <a:t>   (remove learning automation parts)</a:t>
            </a:r>
          </a:p>
        </p:txBody>
      </p:sp>
    </p:spTree>
    <p:extLst>
      <p:ext uri="{BB962C8B-B14F-4D97-AF65-F5344CB8AC3E}">
        <p14:creationId xmlns:p14="http://schemas.microsoft.com/office/powerpoint/2010/main" val="14872512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4DCFD91-CA3F-FFC3-07A6-2442FCCC85FD}"/>
              </a:ext>
            </a:extLst>
          </p:cNvPr>
          <p:cNvSpPr txBox="1"/>
          <p:nvPr/>
        </p:nvSpPr>
        <p:spPr>
          <a:xfrm>
            <a:off x="6107069" y="71297"/>
            <a:ext cx="32816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.. </a:t>
            </a:r>
            <a:r>
              <a:rPr lang="en-US" sz="1100" dirty="0">
                <a:hlinkClick r:id="rId3"/>
              </a:rPr>
              <a:t>https://www.youtube.com/watch?v=iKcSKpR9KAM</a:t>
            </a:r>
            <a:r>
              <a:rPr lang="en-US" sz="1100" dirty="0"/>
              <a:t>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D599D3A-A567-ABBA-0E93-9875A91F9143}"/>
              </a:ext>
            </a:extLst>
          </p:cNvPr>
          <p:cNvSpPr txBox="1"/>
          <p:nvPr/>
        </p:nvSpPr>
        <p:spPr>
          <a:xfrm>
            <a:off x="0" y="-59508"/>
            <a:ext cx="6096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i="0" dirty="0">
                <a:solidFill>
                  <a:srgbClr val="0F0F0F"/>
                </a:solidFill>
                <a:effectLst/>
                <a:latin typeface="YouTube Sans"/>
              </a:rPr>
              <a:t>How to Make Nest Thermostat Manual</a:t>
            </a:r>
            <a:endParaRPr lang="en-US" sz="2800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4EB0E75-8FA4-0CA6-6A06-EB2F710AE842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30960" y="479199"/>
            <a:ext cx="1366742" cy="135933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EEFAF27-5C7E-95FB-9043-9BD48416AE45}"/>
              </a:ext>
            </a:extLst>
          </p:cNvPr>
          <p:cNvSpPr txBox="1"/>
          <p:nvPr/>
        </p:nvSpPr>
        <p:spPr>
          <a:xfrm>
            <a:off x="1444307" y="1767413"/>
            <a:ext cx="11400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Go to Settings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FC38119-50E0-FB0B-736A-DCB36F9A2C3E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769870" y="503660"/>
            <a:ext cx="1342973" cy="133569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08B39B9-CE4C-DF76-EC76-4CC612337326}"/>
              </a:ext>
            </a:extLst>
          </p:cNvPr>
          <p:cNvSpPr txBox="1"/>
          <p:nvPr/>
        </p:nvSpPr>
        <p:spPr>
          <a:xfrm>
            <a:off x="2767303" y="1756876"/>
            <a:ext cx="112141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Nest Sense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5A8053F-648D-A83F-8F8B-7FB9121AD1B8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185011" y="513366"/>
            <a:ext cx="1342973" cy="133569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7DAE375-5BD6-8509-D20C-D1036BC3663F}"/>
              </a:ext>
            </a:extLst>
          </p:cNvPr>
          <p:cNvSpPr txBox="1"/>
          <p:nvPr/>
        </p:nvSpPr>
        <p:spPr>
          <a:xfrm>
            <a:off x="4185011" y="1771248"/>
            <a:ext cx="12503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Auto Schedule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7F5F78A-3568-F213-81D7-433F70E7BA40}"/>
              </a:ext>
            </a:extLst>
          </p:cNvPr>
          <p:cNvPicPr>
            <a:picLocks noChangeAspect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600152" y="502838"/>
            <a:ext cx="1342974" cy="133569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B5B9C03-323D-9EC5-19ED-0ECA891D4EAD}"/>
              </a:ext>
            </a:extLst>
          </p:cNvPr>
          <p:cNvSpPr txBox="1"/>
          <p:nvPr/>
        </p:nvSpPr>
        <p:spPr>
          <a:xfrm>
            <a:off x="5651561" y="1761088"/>
            <a:ext cx="124015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No (to learning)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CDBCB77-5E1D-BF35-ED73-DA8E1CCDBAAC}"/>
              </a:ext>
            </a:extLst>
          </p:cNvPr>
          <p:cNvPicPr>
            <a:picLocks noChangeAspect="1"/>
          </p:cNvPicPr>
          <p:nvPr/>
        </p:nvPicPr>
        <p:blipFill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015293" y="502838"/>
            <a:ext cx="1328524" cy="1321323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CC257007-4C15-63C0-6737-E30689380FC7}"/>
              </a:ext>
            </a:extLst>
          </p:cNvPr>
          <p:cNvSpPr txBox="1"/>
          <p:nvPr/>
        </p:nvSpPr>
        <p:spPr>
          <a:xfrm>
            <a:off x="7347208" y="1753041"/>
            <a:ext cx="7016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DONE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A3F425D8-DA9C-FB8A-18F3-4160E7B913CD}"/>
              </a:ext>
            </a:extLst>
          </p:cNvPr>
          <p:cNvPicPr>
            <a:picLocks noChangeAspect="1"/>
          </p:cNvPicPr>
          <p:nvPr/>
        </p:nvPicPr>
        <p:blipFill>
          <a:blip r:embed="rId9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769870" y="2056307"/>
            <a:ext cx="1342973" cy="1335694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B7416FAC-DCF2-1AAA-CDAF-051BA787749D}"/>
              </a:ext>
            </a:extLst>
          </p:cNvPr>
          <p:cNvSpPr txBox="1"/>
          <p:nvPr/>
        </p:nvSpPr>
        <p:spPr>
          <a:xfrm>
            <a:off x="3124491" y="3334876"/>
            <a:ext cx="6337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ECO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97C70EBE-2596-4E83-86AE-67797FAF0B37}"/>
              </a:ext>
            </a:extLst>
          </p:cNvPr>
          <p:cNvPicPr>
            <a:picLocks noChangeAspect="1"/>
          </p:cNvPicPr>
          <p:nvPr/>
        </p:nvPicPr>
        <p:blipFill>
          <a:blip r:embed="rId10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189623" y="2083046"/>
            <a:ext cx="1338361" cy="1331107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D18B5C59-8612-5242-32DA-51F1970486E9}"/>
              </a:ext>
            </a:extLst>
          </p:cNvPr>
          <p:cNvSpPr txBox="1"/>
          <p:nvPr/>
        </p:nvSpPr>
        <p:spPr>
          <a:xfrm>
            <a:off x="4407869" y="3348927"/>
            <a:ext cx="80459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off both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D77837BE-0E94-9227-328D-30CD58F62877}"/>
              </a:ext>
            </a:extLst>
          </p:cNvPr>
          <p:cNvPicPr>
            <a:picLocks noChangeAspect="1"/>
          </p:cNvPicPr>
          <p:nvPr/>
        </p:nvPicPr>
        <p:blipFill>
          <a:blip r:embed="rId11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763826" y="3611875"/>
            <a:ext cx="1328525" cy="1321324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3786CD94-FDBC-C142-7C93-7466F67C8B5A}"/>
              </a:ext>
            </a:extLst>
          </p:cNvPr>
          <p:cNvSpPr txBox="1"/>
          <p:nvPr/>
        </p:nvSpPr>
        <p:spPr>
          <a:xfrm>
            <a:off x="2777094" y="4876074"/>
            <a:ext cx="132852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Home Away Assist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D246E166-E0CF-E013-CB16-D980EE21F607}"/>
              </a:ext>
            </a:extLst>
          </p:cNvPr>
          <p:cNvPicPr>
            <a:picLocks noChangeAspect="1"/>
          </p:cNvPicPr>
          <p:nvPr/>
        </p:nvPicPr>
        <p:blipFill>
          <a:blip r:embed="rId1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192206" y="3615765"/>
            <a:ext cx="1328524" cy="1321323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0D2B31D9-D92B-9065-A3BE-A16C1246A483}"/>
              </a:ext>
            </a:extLst>
          </p:cNvPr>
          <p:cNvSpPr txBox="1"/>
          <p:nvPr/>
        </p:nvSpPr>
        <p:spPr>
          <a:xfrm>
            <a:off x="4158854" y="4886234"/>
            <a:ext cx="132852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STOP Using ECO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748F5FCD-4ADB-A4B0-12F9-567BB4067C0B}"/>
              </a:ext>
            </a:extLst>
          </p:cNvPr>
          <p:cNvPicPr>
            <a:picLocks noChangeAspect="1"/>
          </p:cNvPicPr>
          <p:nvPr/>
        </p:nvPicPr>
        <p:blipFill>
          <a:blip r:embed="rId1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723858" y="5169558"/>
            <a:ext cx="1338361" cy="1331107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665FFBF6-BEEE-0BA2-EEE6-1DDE12C579F2}"/>
              </a:ext>
            </a:extLst>
          </p:cNvPr>
          <p:cNvSpPr txBox="1"/>
          <p:nvPr/>
        </p:nvSpPr>
        <p:spPr>
          <a:xfrm>
            <a:off x="3056830" y="6429839"/>
            <a:ext cx="7016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RESET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11CEB214-F140-4C67-CF04-2BEC744D0A0F}"/>
              </a:ext>
            </a:extLst>
          </p:cNvPr>
          <p:cNvPicPr>
            <a:picLocks noChangeAspect="1"/>
          </p:cNvPicPr>
          <p:nvPr/>
        </p:nvPicPr>
        <p:blipFill>
          <a:blip r:embed="rId1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158854" y="5173888"/>
            <a:ext cx="1338361" cy="1331107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5F571C4D-9774-5D85-A5D0-077EE004E92A}"/>
              </a:ext>
            </a:extLst>
          </p:cNvPr>
          <p:cNvSpPr txBox="1"/>
          <p:nvPr/>
        </p:nvSpPr>
        <p:spPr>
          <a:xfrm>
            <a:off x="4377630" y="6500959"/>
            <a:ext cx="87509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Schedule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4CC0CD22-C736-DFB6-F4C1-E774D9466F1E}"/>
              </a:ext>
            </a:extLst>
          </p:cNvPr>
          <p:cNvPicPr>
            <a:picLocks noChangeAspect="1"/>
          </p:cNvPicPr>
          <p:nvPr/>
        </p:nvPicPr>
        <p:blipFill>
          <a:blip r:embed="rId1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93850" y="5173888"/>
            <a:ext cx="1349276" cy="1341963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45E0905A-8515-31A0-1AD1-D1A5EADE1F2B}"/>
              </a:ext>
            </a:extLst>
          </p:cNvPr>
          <p:cNvSpPr txBox="1"/>
          <p:nvPr/>
        </p:nvSpPr>
        <p:spPr>
          <a:xfrm>
            <a:off x="5820350" y="6490799"/>
            <a:ext cx="87509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Reset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9F2FA63B-6782-4838-2CE6-4166F0C0743A}"/>
              </a:ext>
            </a:extLst>
          </p:cNvPr>
          <p:cNvPicPr>
            <a:picLocks noChangeAspect="1"/>
          </p:cNvPicPr>
          <p:nvPr/>
        </p:nvPicPr>
        <p:blipFill>
          <a:blip r:embed="rId1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050996" y="5163233"/>
            <a:ext cx="1359989" cy="1352618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73A6ACA0-8299-4C9F-E2B2-DC91E550261D}"/>
              </a:ext>
            </a:extLst>
          </p:cNvPr>
          <p:cNvSpPr txBox="1"/>
          <p:nvPr/>
        </p:nvSpPr>
        <p:spPr>
          <a:xfrm>
            <a:off x="7039550" y="6490799"/>
            <a:ext cx="137143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Turn right to reset</a:t>
            </a:r>
          </a:p>
        </p:txBody>
      </p:sp>
      <p:sp>
        <p:nvSpPr>
          <p:cNvPr id="30" name="Right Arrow 29">
            <a:extLst>
              <a:ext uri="{FF2B5EF4-FFF2-40B4-BE49-F238E27FC236}">
                <a16:creationId xmlns:a16="http://schemas.microsoft.com/office/drawing/2014/main" id="{37930EFB-1148-44FF-B4FA-CED2D20252A9}"/>
              </a:ext>
            </a:extLst>
          </p:cNvPr>
          <p:cNvSpPr/>
          <p:nvPr/>
        </p:nvSpPr>
        <p:spPr>
          <a:xfrm>
            <a:off x="335280" y="1026160"/>
            <a:ext cx="650240" cy="2743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ight Arrow 30">
            <a:extLst>
              <a:ext uri="{FF2B5EF4-FFF2-40B4-BE49-F238E27FC236}">
                <a16:creationId xmlns:a16="http://schemas.microsoft.com/office/drawing/2014/main" id="{0D80D227-4811-7658-4F8F-762C94FBF25F}"/>
              </a:ext>
            </a:extLst>
          </p:cNvPr>
          <p:cNvSpPr/>
          <p:nvPr/>
        </p:nvSpPr>
        <p:spPr>
          <a:xfrm>
            <a:off x="1788160" y="2590800"/>
            <a:ext cx="650240" cy="2743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ight Arrow 31">
            <a:extLst>
              <a:ext uri="{FF2B5EF4-FFF2-40B4-BE49-F238E27FC236}">
                <a16:creationId xmlns:a16="http://schemas.microsoft.com/office/drawing/2014/main" id="{28AE3596-E4A9-1693-7A71-ADCC2720416C}"/>
              </a:ext>
            </a:extLst>
          </p:cNvPr>
          <p:cNvSpPr/>
          <p:nvPr/>
        </p:nvSpPr>
        <p:spPr>
          <a:xfrm>
            <a:off x="1757680" y="4074160"/>
            <a:ext cx="650240" cy="2743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ight Arrow 32">
            <a:extLst>
              <a:ext uri="{FF2B5EF4-FFF2-40B4-BE49-F238E27FC236}">
                <a16:creationId xmlns:a16="http://schemas.microsoft.com/office/drawing/2014/main" id="{E0FDC5F7-0318-A454-1183-44ED1B835A16}"/>
              </a:ext>
            </a:extLst>
          </p:cNvPr>
          <p:cNvSpPr/>
          <p:nvPr/>
        </p:nvSpPr>
        <p:spPr>
          <a:xfrm>
            <a:off x="1778000" y="5659120"/>
            <a:ext cx="650240" cy="2743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8820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4DCFD91-CA3F-FFC3-07A6-2442FCCC85FD}"/>
              </a:ext>
            </a:extLst>
          </p:cNvPr>
          <p:cNvSpPr txBox="1"/>
          <p:nvPr/>
        </p:nvSpPr>
        <p:spPr>
          <a:xfrm>
            <a:off x="189012" y="560143"/>
            <a:ext cx="32816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hlinkClick r:id="rId3"/>
              </a:rPr>
              <a:t>https://</a:t>
            </a:r>
            <a:r>
              <a:rPr lang="en-US" sz="1100" dirty="0" err="1">
                <a:hlinkClick r:id="rId3"/>
              </a:rPr>
              <a:t>www.youtube.com</a:t>
            </a:r>
            <a:r>
              <a:rPr lang="en-US" sz="1100" dirty="0">
                <a:hlinkClick r:id="rId3"/>
              </a:rPr>
              <a:t>/</a:t>
            </a:r>
            <a:r>
              <a:rPr lang="en-US" sz="1100" dirty="0" err="1">
                <a:hlinkClick r:id="rId3"/>
              </a:rPr>
              <a:t>watch?v</a:t>
            </a:r>
            <a:r>
              <a:rPr lang="en-US" sz="1100" dirty="0">
                <a:hlinkClick r:id="rId3"/>
              </a:rPr>
              <a:t>=eM_2CXz45RE</a:t>
            </a:r>
            <a:endParaRPr lang="en-US" sz="11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D599D3A-A567-ABBA-0E93-9875A91F9143}"/>
              </a:ext>
            </a:extLst>
          </p:cNvPr>
          <p:cNvSpPr txBox="1"/>
          <p:nvPr/>
        </p:nvSpPr>
        <p:spPr>
          <a:xfrm>
            <a:off x="11069" y="36923"/>
            <a:ext cx="6096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i="0" dirty="0">
                <a:solidFill>
                  <a:srgbClr val="0F0F0F"/>
                </a:solidFill>
                <a:effectLst/>
                <a:latin typeface="YouTube Sans"/>
              </a:rPr>
              <a:t>Nest Thermostat Loses </a:t>
            </a:r>
            <a:r>
              <a:rPr lang="en-US" sz="2800" b="1" i="0" dirty="0" err="1">
                <a:solidFill>
                  <a:srgbClr val="0F0F0F"/>
                </a:solidFill>
                <a:effectLst/>
                <a:latin typeface="YouTube Sans"/>
              </a:rPr>
              <a:t>WiFi</a:t>
            </a:r>
            <a:r>
              <a:rPr lang="en-US" sz="2800" b="1" i="0" dirty="0">
                <a:solidFill>
                  <a:srgbClr val="0F0F0F"/>
                </a:solidFill>
                <a:effectLst/>
                <a:latin typeface="YouTube Sans"/>
              </a:rPr>
              <a:t> Randomly</a:t>
            </a:r>
            <a:endParaRPr lang="en-US" sz="2800" b="1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354FC1D-08B3-61DC-6D6C-725F9B4F2CA3}"/>
              </a:ext>
            </a:extLst>
          </p:cNvPr>
          <p:cNvSpPr txBox="1"/>
          <p:nvPr/>
        </p:nvSpPr>
        <p:spPr>
          <a:xfrm>
            <a:off x="1076960" y="1210383"/>
            <a:ext cx="4787464" cy="28931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Check </a:t>
            </a:r>
            <a:r>
              <a:rPr lang="en-US" sz="1400" dirty="0" err="1"/>
              <a:t>WiFi</a:t>
            </a:r>
            <a:r>
              <a:rPr lang="en-US" sz="1400" dirty="0"/>
              <a:t> stability and speed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Turn router off for 30 sec – and then turn on again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Check that battery level &gt; 3.6V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Reset-Restart the Thermostat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After restarting check Network settings in the Thermostat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  ping speed should be &lt; 1500 </a:t>
            </a:r>
            <a:r>
              <a:rPr lang="en-US" sz="1400" dirty="0" err="1"/>
              <a:t>ms</a:t>
            </a: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  ping speed == 0 – no communication with server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  signal strength should be &gt; 50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Reset Network Settings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Install updates on your Thermostat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Install updates on phone app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Use the interactive Guide:</a:t>
            </a:r>
            <a:br>
              <a:rPr lang="en-US" sz="1400" dirty="0"/>
            </a:br>
            <a:r>
              <a:rPr lang="en-US" sz="1000" dirty="0">
                <a:hlinkClick r:id="rId4"/>
              </a:rPr>
              <a:t>https://</a:t>
            </a:r>
            <a:r>
              <a:rPr lang="en-US" sz="1000" dirty="0" err="1">
                <a:hlinkClick r:id="rId4"/>
              </a:rPr>
              <a:t>widgets.nest.com</a:t>
            </a:r>
            <a:r>
              <a:rPr lang="en-US" sz="1000" dirty="0">
                <a:hlinkClick r:id="rId4"/>
              </a:rPr>
              <a:t>/nest-thermostat-troubleshooter/</a:t>
            </a:r>
            <a:endParaRPr lang="en-US" sz="10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C9D92EC-EBC7-4EE7-BDD1-5065CBE9A9A5}"/>
              </a:ext>
            </a:extLst>
          </p:cNvPr>
          <p:cNvSpPr txBox="1"/>
          <p:nvPr/>
        </p:nvSpPr>
        <p:spPr>
          <a:xfrm>
            <a:off x="1114624" y="4492113"/>
            <a:ext cx="4749800" cy="52322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b="0" i="0" dirty="0">
                <a:effectLst/>
                <a:latin typeface="Roboto" panose="02000000000000000000" pitchFamily="2" charset="0"/>
              </a:rPr>
              <a:t>Contact Google Nest Help:</a:t>
            </a:r>
            <a:br>
              <a:rPr lang="en-US" sz="1400" b="0" i="0" dirty="0">
                <a:effectLst/>
                <a:latin typeface="Roboto" panose="02000000000000000000" pitchFamily="2" charset="0"/>
              </a:rPr>
            </a:br>
            <a:r>
              <a:rPr lang="en-US" sz="1400" b="0" i="0" dirty="0">
                <a:effectLst/>
                <a:latin typeface="Roboto" panose="02000000000000000000" pitchFamily="2" charset="0"/>
              </a:rPr>
              <a:t>    Twitter @</a:t>
            </a:r>
            <a:r>
              <a:rPr lang="en-US" sz="1400" b="0" i="0" dirty="0" err="1">
                <a:effectLst/>
                <a:latin typeface="Roboto" panose="02000000000000000000" pitchFamily="2" charset="0"/>
              </a:rPr>
              <a:t>GoogleNestHelp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2199844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How Is a Tank Type Gas Water Heater Designed? | Calentadores de agua,  Calefaccion solar, Calentador de agua solar">
            <a:extLst>
              <a:ext uri="{FF2B5EF4-FFF2-40B4-BE49-F238E27FC236}">
                <a16:creationId xmlns:a16="http://schemas.microsoft.com/office/drawing/2014/main" id="{F8E81EA8-7C87-DCB7-B4DC-D4D9DF29C4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262746" y="862446"/>
            <a:ext cx="3439392" cy="34393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EC0F309A-6048-BB75-AA88-C3EE61770687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16555" y="724992"/>
            <a:ext cx="1230668" cy="282869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F158EAB-7252-335F-36B9-A0C2B3F785EB}"/>
              </a:ext>
            </a:extLst>
          </p:cNvPr>
          <p:cNvSpPr txBox="1"/>
          <p:nvPr/>
        </p:nvSpPr>
        <p:spPr>
          <a:xfrm>
            <a:off x="110838" y="78661"/>
            <a:ext cx="315190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electric tank water heaters</a:t>
            </a:r>
          </a:p>
          <a:p>
            <a:r>
              <a:rPr lang="en-US" dirty="0"/>
              <a:t>at home depot ~ 50 gal, ~$500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F96B222-3A8F-E439-70E4-2EDF0FAA43D9}"/>
              </a:ext>
            </a:extLst>
          </p:cNvPr>
          <p:cNvSpPr txBox="1"/>
          <p:nvPr/>
        </p:nvSpPr>
        <p:spPr>
          <a:xfrm>
            <a:off x="3903519" y="217160"/>
            <a:ext cx="24972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gas tank water heater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095A64D-A9FB-D5D4-526E-A7C91431851A}"/>
              </a:ext>
            </a:extLst>
          </p:cNvPr>
          <p:cNvSpPr txBox="1"/>
          <p:nvPr/>
        </p:nvSpPr>
        <p:spPr>
          <a:xfrm>
            <a:off x="7831283" y="206769"/>
            <a:ext cx="315190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combination / hybrid,</a:t>
            </a:r>
          </a:p>
          <a:p>
            <a:r>
              <a:rPr lang="en-US" dirty="0"/>
              <a:t>for example electric + gas</a:t>
            </a:r>
          </a:p>
          <a:p>
            <a:r>
              <a:rPr lang="en-US" dirty="0"/>
              <a:t>or electric + boiler</a:t>
            </a:r>
          </a:p>
        </p:txBody>
      </p:sp>
    </p:spTree>
    <p:extLst>
      <p:ext uri="{BB962C8B-B14F-4D97-AF65-F5344CB8AC3E}">
        <p14:creationId xmlns:p14="http://schemas.microsoft.com/office/powerpoint/2010/main" val="14353315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F86FB1C-19B3-9197-5B00-6BCCEDE90772}"/>
              </a:ext>
            </a:extLst>
          </p:cNvPr>
          <p:cNvSpPr txBox="1"/>
          <p:nvPr/>
        </p:nvSpPr>
        <p:spPr>
          <a:xfrm>
            <a:off x="83820" y="80510"/>
            <a:ext cx="519226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 err="1"/>
              <a:t>SuperStor</a:t>
            </a:r>
            <a:r>
              <a:rPr lang="en-US" sz="2400" b="1" dirty="0"/>
              <a:t> ULTRA water heater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41434CB-B889-6AEF-F850-EC4180C9C785}"/>
              </a:ext>
            </a:extLst>
          </p:cNvPr>
          <p:cNvSpPr txBox="1"/>
          <p:nvPr/>
        </p:nvSpPr>
        <p:spPr>
          <a:xfrm>
            <a:off x="1123188" y="5305341"/>
            <a:ext cx="2733294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0" i="0" dirty="0">
                <a:solidFill>
                  <a:srgbClr val="001D35"/>
                </a:solidFill>
                <a:effectLst/>
                <a:latin typeface="Google Sans"/>
              </a:rPr>
              <a:t>Indirect water heaters – uses h</a:t>
            </a:r>
            <a:r>
              <a:rPr lang="en-US" sz="1400" dirty="0">
                <a:solidFill>
                  <a:srgbClr val="001D35"/>
                </a:solidFill>
                <a:latin typeface="Google Sans"/>
              </a:rPr>
              <a:t>ot water from boiler going through</a:t>
            </a:r>
          </a:p>
          <a:p>
            <a:r>
              <a:rPr lang="en-US" sz="1400" dirty="0">
                <a:solidFill>
                  <a:srgbClr val="001D35"/>
                </a:solidFill>
                <a:latin typeface="Google Sans"/>
              </a:rPr>
              <a:t>the coil to heat the tank.</a:t>
            </a:r>
          </a:p>
          <a:p>
            <a:r>
              <a:rPr lang="en-US" sz="1400" dirty="0">
                <a:solidFill>
                  <a:srgbClr val="001D35"/>
                </a:solidFill>
                <a:latin typeface="Google Sans"/>
              </a:rPr>
              <a:t>Has its own thermostat.</a:t>
            </a:r>
          </a:p>
          <a:p>
            <a:r>
              <a:rPr lang="en-US" sz="1400" dirty="0">
                <a:solidFill>
                  <a:srgbClr val="001D35"/>
                </a:solidFill>
                <a:latin typeface="Google Sans"/>
              </a:rPr>
              <a:t>Has good thermal insulation.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AA38790-5624-AF4D-0C84-4DADF35C9A2E}"/>
              </a:ext>
            </a:extLst>
          </p:cNvPr>
          <p:cNvSpPr txBox="1"/>
          <p:nvPr/>
        </p:nvSpPr>
        <p:spPr>
          <a:xfrm>
            <a:off x="83820" y="542175"/>
            <a:ext cx="481203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hlinkClick r:id="rId2"/>
              </a:rPr>
              <a:t>https://</a:t>
            </a:r>
            <a:r>
              <a:rPr lang="en-US" sz="1400" dirty="0" err="1">
                <a:hlinkClick r:id="rId2"/>
              </a:rPr>
              <a:t>www.htproducts.com</a:t>
            </a:r>
            <a:r>
              <a:rPr lang="en-US" sz="1400" dirty="0">
                <a:hlinkClick r:id="rId2"/>
              </a:rPr>
              <a:t>/</a:t>
            </a:r>
            <a:r>
              <a:rPr lang="en-US" sz="1400" dirty="0" err="1">
                <a:hlinkClick r:id="rId2"/>
              </a:rPr>
              <a:t>superstor</a:t>
            </a:r>
            <a:r>
              <a:rPr lang="en-US" sz="1400" dirty="0">
                <a:hlinkClick r:id="rId2"/>
              </a:rPr>
              <a:t>-ultra-</a:t>
            </a:r>
            <a:r>
              <a:rPr lang="en-US" sz="1400" dirty="0" err="1">
                <a:hlinkClick r:id="rId2"/>
              </a:rPr>
              <a:t>waterheater.html</a:t>
            </a:r>
            <a:endParaRPr lang="en-US" sz="1400" dirty="0"/>
          </a:p>
        </p:txBody>
      </p:sp>
      <p:pic>
        <p:nvPicPr>
          <p:cNvPr id="1030" name="Picture 6" descr="SuperStor Ultra Indirect Water Heater">
            <a:extLst>
              <a:ext uri="{FF2B5EF4-FFF2-40B4-BE49-F238E27FC236}">
                <a16:creationId xmlns:a16="http://schemas.microsoft.com/office/drawing/2014/main" id="{6C62D66D-D906-1A62-8AF0-234FADBFEE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533860" y="1106424"/>
            <a:ext cx="2216579" cy="32826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D2B4937-73A4-B5BA-6C95-5CFD5A83D070}"/>
              </a:ext>
            </a:extLst>
          </p:cNvPr>
          <p:cNvSpPr txBox="1"/>
          <p:nvPr/>
        </p:nvSpPr>
        <p:spPr>
          <a:xfrm>
            <a:off x="533860" y="4491703"/>
            <a:ext cx="234315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0" i="0" dirty="0" err="1">
                <a:solidFill>
                  <a:srgbClr val="001D35"/>
                </a:solidFill>
                <a:effectLst/>
                <a:latin typeface="Google Sans"/>
              </a:rPr>
              <a:t>SuperStor</a:t>
            </a:r>
            <a:r>
              <a:rPr lang="en-US" sz="1400" b="0" i="0" dirty="0">
                <a:solidFill>
                  <a:srgbClr val="001D35"/>
                </a:solidFill>
                <a:effectLst/>
                <a:latin typeface="Google Sans"/>
              </a:rPr>
              <a:t> ULTRA </a:t>
            </a:r>
          </a:p>
          <a:p>
            <a:r>
              <a:rPr lang="en-US" sz="1400" b="0" i="0" dirty="0">
                <a:solidFill>
                  <a:srgbClr val="001D35"/>
                </a:solidFill>
                <a:effectLst/>
                <a:latin typeface="Google Sans"/>
              </a:rPr>
              <a:t>316 Liters</a:t>
            </a:r>
            <a:endParaRPr lang="en-US" sz="1400" dirty="0">
              <a:solidFill>
                <a:srgbClr val="001D35"/>
              </a:solidFill>
              <a:latin typeface="Google Sans"/>
            </a:endParaRPr>
          </a:p>
        </p:txBody>
      </p:sp>
      <p:pic>
        <p:nvPicPr>
          <p:cNvPr id="1032" name="Picture 8" descr="Inside the SuperStor Ultra">
            <a:extLst>
              <a:ext uri="{FF2B5EF4-FFF2-40B4-BE49-F238E27FC236}">
                <a16:creationId xmlns:a16="http://schemas.microsoft.com/office/drawing/2014/main" id="{986B8B3B-0952-1366-6FC4-4CC1D5DFCE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226302" y="1243578"/>
            <a:ext cx="4099571" cy="37947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 descr="Diagram of a water heater&#10;&#10;Description automatically generated">
            <a:extLst>
              <a:ext uri="{FF2B5EF4-FFF2-40B4-BE49-F238E27FC236}">
                <a16:creationId xmlns:a16="http://schemas.microsoft.com/office/drawing/2014/main" id="{AED8CC51-80E2-810E-ED97-0E37AC4C4196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610140" y="467205"/>
            <a:ext cx="3048000" cy="2590800"/>
          </a:xfrm>
          <a:prstGeom prst="rect">
            <a:avLst/>
          </a:prstGeom>
        </p:spPr>
      </p:pic>
      <p:pic>
        <p:nvPicPr>
          <p:cNvPr id="9" name="Picture 8" descr="A machine with pipes and valves&#10;&#10;Description automatically generated">
            <a:extLst>
              <a:ext uri="{FF2B5EF4-FFF2-40B4-BE49-F238E27FC236}">
                <a16:creationId xmlns:a16="http://schemas.microsoft.com/office/drawing/2014/main" id="{7E497CE9-BC24-8DC1-9628-460E935A0E41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610140" y="3239770"/>
            <a:ext cx="3395821" cy="2953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21108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866</TotalTime>
  <Words>1397</Words>
  <Application>Microsoft Macintosh PowerPoint</Application>
  <PresentationFormat>Widescreen</PresentationFormat>
  <Paragraphs>310</Paragraphs>
  <Slides>11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9" baseType="lpstr">
      <vt:lpstr>Arial</vt:lpstr>
      <vt:lpstr>Calibri</vt:lpstr>
      <vt:lpstr>Calibri Light</vt:lpstr>
      <vt:lpstr>Google Sans</vt:lpstr>
      <vt:lpstr>Helvetica Neue</vt:lpstr>
      <vt:lpstr>Roboto</vt:lpstr>
      <vt:lpstr>YouTube Sans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Lev Selector</dc:creator>
  <cp:lastModifiedBy>Lev Selector</cp:lastModifiedBy>
  <cp:revision>50</cp:revision>
  <dcterms:created xsi:type="dcterms:W3CDTF">2022-06-02T16:58:09Z</dcterms:created>
  <dcterms:modified xsi:type="dcterms:W3CDTF">2023-12-29T16:30:22Z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f518368-b969-4042-91d9-8939bd921da2_Enabled">
    <vt:lpwstr>true</vt:lpwstr>
  </property>
  <property fmtid="{D5CDD505-2E9C-101B-9397-08002B2CF9AE}" pid="3" name="MSIP_Label_4f518368-b969-4042-91d9-8939bd921da2_SetDate">
    <vt:lpwstr>2022-06-02T16:58:10Z</vt:lpwstr>
  </property>
  <property fmtid="{D5CDD505-2E9C-101B-9397-08002B2CF9AE}" pid="4" name="MSIP_Label_4f518368-b969-4042-91d9-8939bd921da2_Method">
    <vt:lpwstr>Standard</vt:lpwstr>
  </property>
  <property fmtid="{D5CDD505-2E9C-101B-9397-08002B2CF9AE}" pid="5" name="MSIP_Label_4f518368-b969-4042-91d9-8939bd921da2_Name">
    <vt:lpwstr>General</vt:lpwstr>
  </property>
  <property fmtid="{D5CDD505-2E9C-101B-9397-08002B2CF9AE}" pid="6" name="MSIP_Label_4f518368-b969-4042-91d9-8939bd921da2_SiteId">
    <vt:lpwstr>116e9905-19fc-428e-93d4-bcaffb833597</vt:lpwstr>
  </property>
  <property fmtid="{D5CDD505-2E9C-101B-9397-08002B2CF9AE}" pid="7" name="MSIP_Label_4f518368-b969-4042-91d9-8939bd921da2_ActionId">
    <vt:lpwstr>93134c22-9ab4-41e7-a5b4-b1f73aac775b</vt:lpwstr>
  </property>
  <property fmtid="{D5CDD505-2E9C-101B-9397-08002B2CF9AE}" pid="8" name="MSIP_Label_4f518368-b969-4042-91d9-8939bd921da2_ContentBits">
    <vt:lpwstr>0</vt:lpwstr>
  </property>
</Properties>
</file>