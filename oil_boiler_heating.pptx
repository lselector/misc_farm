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6"/>
    <p:restoredTop sz="93610"/>
  </p:normalViewPr>
  <p:slideViewPr>
    <p:cSldViewPr snapToGrid="0" snapToObjects="1">
      <p:cViewPr varScale="1">
        <p:scale>
          <a:sx n="81" d="100"/>
          <a:sy n="81" d="100"/>
        </p:scale>
        <p:origin x="192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ADE972-A30E-EB4D-8E6E-AA4C5D685F81}" type="datetimeFigureOut">
              <a:rPr lang="en-US" smtClean="0"/>
              <a:t>8/16/23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8E7CD-ECDC-AF4F-BE57-C5F61271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4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8E7CD-ECDC-AF4F-BE57-C5F612713F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60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8E7CD-ECDC-AF4F-BE57-C5F612713F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72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DJSPlumbingHeatin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hyperlink" Target="https://www.jmesales.com/krueger-sentry-type-h-2-in-galvanized-therma-tank-gauge/" TargetMode="External"/><Relationship Id="rId2" Type="http://schemas.openxmlformats.org/officeDocument/2006/relationships/hyperlink" Target="https://www.mathsisfun.com/geometry/cylinder-horizontal-volume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eckettcorp.com/product/genisys-7505-oil-burner-control/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www.youtube.com/watch?v=5GbXgEYw5TE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eerlessboilers.com/" TargetMode="External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youtube.com/watch?v=Wd7vrkUDaz4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tore.google.com/us/widget/compatibility/thermostat" TargetMode="External"/><Relationship Id="rId13" Type="http://schemas.openxmlformats.org/officeDocument/2006/relationships/hyperlink" Target="https://www.youtube.com/watch?v=7SzjOU30AYg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www.youtube.com/watch?v=WFDPWIKKBHY" TargetMode="External"/><Relationship Id="rId12" Type="http://schemas.openxmlformats.org/officeDocument/2006/relationships/hyperlink" Target="https://www.youtube.com/watch?v=rdfUbAZi7k0" TargetMode="External"/><Relationship Id="rId2" Type="http://schemas.openxmlformats.org/officeDocument/2006/relationships/hyperlink" Target="https://store.google.com/us/product/nest_thermostat" TargetMode="External"/><Relationship Id="rId16" Type="http://schemas.openxmlformats.org/officeDocument/2006/relationships/hyperlink" Target="https://www.youtube.com/watch?v=iKcSKpR9KA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doityourself.com/forum/thermostatic-controls/602985-connecting-nest-thermostat-genisys-7505-oil-burner.html" TargetMode="External"/><Relationship Id="rId11" Type="http://schemas.openxmlformats.org/officeDocument/2006/relationships/hyperlink" Target="https://support.google.com/googlenest/answer/9373007?hl=en" TargetMode="External"/><Relationship Id="rId5" Type="http://schemas.openxmlformats.org/officeDocument/2006/relationships/hyperlink" Target="https://www.cnet.com/home/internet/nest-wifi-vs-nest-wifi-pro-wi-fi-6e-mesh-routers/" TargetMode="External"/><Relationship Id="rId15" Type="http://schemas.openxmlformats.org/officeDocument/2006/relationships/hyperlink" Target="https://www.youtube.com/watch?v=AdGDXpb4VzE" TargetMode="External"/><Relationship Id="rId10" Type="http://schemas.openxmlformats.org/officeDocument/2006/relationships/hyperlink" Target="https://support.google.com/googlenest/answer/9248184?hl=en" TargetMode="External"/><Relationship Id="rId4" Type="http://schemas.openxmlformats.org/officeDocument/2006/relationships/image" Target="../media/image20.png"/><Relationship Id="rId9" Type="http://schemas.openxmlformats.org/officeDocument/2006/relationships/hyperlink" Target="https://support.google.com/googlenest/answer/9246656" TargetMode="External"/><Relationship Id="rId14" Type="http://schemas.openxmlformats.org/officeDocument/2006/relationships/hyperlink" Target="https://www.youtube.com/watch?v=iXi8asdsXTM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hyperlink" Target="https://www.youtube.com/watch?v=iKcSKpR9KAM" TargetMode="External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M_2CXz45R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idgets.nest.com/nest-thermostat-troubleshoo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310C2-CE44-BD76-D583-B4E3D7BDFA4A}"/>
              </a:ext>
            </a:extLst>
          </p:cNvPr>
          <p:cNvSpPr txBox="1"/>
          <p:nvPr/>
        </p:nvSpPr>
        <p:spPr>
          <a:xfrm>
            <a:off x="30921" y="0"/>
            <a:ext cx="3379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Oil - 550 Gallon Tank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EB734-25C1-5F8A-526D-3CB1B8DD47B1}"/>
              </a:ext>
            </a:extLst>
          </p:cNvPr>
          <p:cNvSpPr txBox="1"/>
          <p:nvPr/>
        </p:nvSpPr>
        <p:spPr>
          <a:xfrm>
            <a:off x="121479" y="523220"/>
            <a:ext cx="3136346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</a:rPr>
              <a:t>Delaware Valley Oil</a:t>
            </a:r>
          </a:p>
          <a:p>
            <a:r>
              <a:rPr lang="en-US" sz="1200" dirty="0">
                <a:effectLst/>
              </a:rPr>
              <a:t>http://</a:t>
            </a:r>
            <a:r>
              <a:rPr lang="en-US" sz="1200" dirty="0" err="1">
                <a:effectLst/>
              </a:rPr>
              <a:t>dvoil.com</a:t>
            </a:r>
            <a:endParaRPr lang="en-US" sz="1200" dirty="0">
              <a:effectLst/>
            </a:endParaRPr>
          </a:p>
          <a:p>
            <a:r>
              <a:rPr lang="en-US" sz="1200" dirty="0"/>
              <a:t>Phone (845)-887-6090</a:t>
            </a:r>
            <a:r>
              <a:rPr lang="en-US" sz="1200" dirty="0">
                <a:effectLst/>
              </a:rPr>
              <a:t> </a:t>
            </a:r>
          </a:p>
          <a:p>
            <a:r>
              <a:rPr lang="en-US" sz="1200" dirty="0"/>
              <a:t>Office: M-F 8am-4pm</a:t>
            </a:r>
          </a:p>
          <a:p>
            <a:r>
              <a:rPr lang="en-US" sz="1200" dirty="0"/>
              <a:t>3 Bridge Street, Callicoon, NY 12723</a:t>
            </a:r>
            <a:endParaRPr lang="en-US" sz="1200" dirty="0">
              <a:effectLst/>
            </a:endParaRPr>
          </a:p>
          <a:p>
            <a:r>
              <a:rPr lang="en-US" sz="1200" dirty="0">
                <a:effectLst/>
              </a:rPr>
              <a:t>P.O. Box 838 Callicoon NY 12723 </a:t>
            </a:r>
          </a:p>
          <a:p>
            <a:r>
              <a:rPr lang="en-US" sz="1200" dirty="0">
                <a:effectLst/>
              </a:rPr>
              <a:t>Email </a:t>
            </a:r>
            <a:r>
              <a:rPr lang="en-US" sz="1200" dirty="0" err="1">
                <a:effectLst/>
              </a:rPr>
              <a:t>delawarevalleyoilllc@yahoo.com</a:t>
            </a:r>
            <a:endParaRPr lang="en-US" sz="1200" dirty="0">
              <a:effectLst/>
            </a:endParaRPr>
          </a:p>
          <a:p>
            <a:r>
              <a:rPr lang="en-US" sz="1200" dirty="0"/>
              <a:t>Email: </a:t>
            </a:r>
            <a:r>
              <a:rPr lang="en-US" sz="1200" dirty="0" err="1"/>
              <a:t>LeanaStanton@aol.com</a:t>
            </a:r>
            <a:endParaRPr lang="en-US" sz="1200" dirty="0"/>
          </a:p>
          <a:p>
            <a:r>
              <a:rPr lang="en-US" sz="1200" dirty="0"/>
              <a:t>Owner  wife: Casey Milk</a:t>
            </a:r>
          </a:p>
          <a:p>
            <a:r>
              <a:rPr lang="en-US" sz="1200" dirty="0"/>
              <a:t>Truck driver: Larry, Kevin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80C0D2-5EC1-261F-5C36-7F5DC3A1C3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1479" y="4921441"/>
            <a:ext cx="4329202" cy="180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C4B971-B9D5-8899-CCF0-429268F160B7}"/>
              </a:ext>
            </a:extLst>
          </p:cNvPr>
          <p:cNvSpPr txBox="1"/>
          <p:nvPr/>
        </p:nvSpPr>
        <p:spPr>
          <a:xfrm>
            <a:off x="3562625" y="136039"/>
            <a:ext cx="1069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Service?</a:t>
            </a:r>
          </a:p>
          <a:p>
            <a:r>
              <a:rPr lang="en-US" sz="1400" b="1">
                <a:solidFill>
                  <a:srgbClr val="FF0000"/>
                </a:solidFill>
              </a:rPr>
              <a:t>Cleaning?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B8586B-655B-3796-8623-5D607AE246AD}"/>
              </a:ext>
            </a:extLst>
          </p:cNvPr>
          <p:cNvSpPr txBox="1"/>
          <p:nvPr/>
        </p:nvSpPr>
        <p:spPr>
          <a:xfrm>
            <a:off x="3424961" y="659259"/>
            <a:ext cx="2250281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Brian</a:t>
            </a:r>
          </a:p>
          <a:p>
            <a:r>
              <a:rPr lang="en-US" sz="1200" dirty="0"/>
              <a:t>845-645-9403 cell</a:t>
            </a:r>
          </a:p>
          <a:p>
            <a:r>
              <a:rPr lang="en-US" sz="1200" dirty="0"/>
              <a:t>Plumber</a:t>
            </a:r>
          </a:p>
          <a:p>
            <a:r>
              <a:rPr lang="en-US" sz="1200" dirty="0"/>
              <a:t>(Boiler/Filter </a:t>
            </a:r>
            <a:r>
              <a:rPr lang="en-US" sz="1200" dirty="0" err="1"/>
              <a:t>mainenance</a:t>
            </a:r>
            <a:r>
              <a:rPr lang="en-US" sz="12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3C9F0-2CB3-6295-6E05-74493BFB9A49}"/>
              </a:ext>
            </a:extLst>
          </p:cNvPr>
          <p:cNvSpPr txBox="1"/>
          <p:nvPr/>
        </p:nvSpPr>
        <p:spPr>
          <a:xfrm>
            <a:off x="121480" y="2814746"/>
            <a:ext cx="4329201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2022-07-06: ordered 150 gal ($5.79/gal) = $868.50</a:t>
            </a:r>
          </a:p>
          <a:p>
            <a:r>
              <a:rPr lang="en-US" sz="1200" dirty="0"/>
              <a:t>2022-11-22: ordered 150 gal ($5.59/gal) = $838.50</a:t>
            </a:r>
          </a:p>
          <a:p>
            <a:r>
              <a:rPr lang="en-US" sz="1200" dirty="0"/>
              <a:t>2023-01-07: gauge reading: 1/4 = 108 Gal </a:t>
            </a:r>
          </a:p>
          <a:p>
            <a:r>
              <a:rPr lang="en-US" sz="1200" dirty="0"/>
              <a:t>2023-01-07: ordered 150 gal ($4.29/gal) = $643.50</a:t>
            </a:r>
          </a:p>
          <a:p>
            <a:r>
              <a:rPr lang="en-US" sz="1200" dirty="0"/>
              <a:t>2023-01-14: gauge reading: 1/2 = 275 Gal  </a:t>
            </a:r>
          </a:p>
          <a:p>
            <a:r>
              <a:rPr lang="en-US" sz="1200" dirty="0"/>
              <a:t>2023-02-05: gauge reading: 3/8- = 175 Gal</a:t>
            </a:r>
          </a:p>
          <a:p>
            <a:r>
              <a:rPr lang="en-US" sz="1200" dirty="0"/>
              <a:t>2023-02-10: ordered 250 gal ($4.19/gal) = $1,047.50</a:t>
            </a:r>
          </a:p>
          <a:p>
            <a:r>
              <a:rPr lang="en-US" sz="1200" dirty="0"/>
              <a:t>2023-02-11: gauge reading: 3/4+ = 455 Gal</a:t>
            </a:r>
          </a:p>
          <a:p>
            <a:r>
              <a:rPr lang="en-US" sz="1200" dirty="0"/>
              <a:t>2023-05-30: ordered 200 gal ($3.52/gal)</a:t>
            </a:r>
          </a:p>
          <a:p>
            <a:r>
              <a:rPr lang="en-US" sz="1200" dirty="0"/>
              <a:t>Gage new reading close to 465 gal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648DA-236B-6772-0175-BECAB63BE447}"/>
              </a:ext>
            </a:extLst>
          </p:cNvPr>
          <p:cNvSpPr txBox="1"/>
          <p:nvPr/>
        </p:nvSpPr>
        <p:spPr>
          <a:xfrm>
            <a:off x="7898059" y="2768579"/>
            <a:ext cx="3532178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DJS Plumbing and Heating</a:t>
            </a:r>
          </a:p>
          <a:p>
            <a:r>
              <a:rPr lang="en-US" sz="1200" dirty="0"/>
              <a:t>Doug Santoro</a:t>
            </a:r>
          </a:p>
          <a:p>
            <a:r>
              <a:rPr lang="en-US" sz="1200" dirty="0"/>
              <a:t>(845) 887-6309 office</a:t>
            </a:r>
          </a:p>
          <a:p>
            <a:r>
              <a:rPr lang="en-US" sz="1200" dirty="0"/>
              <a:t>(845) ... mobile</a:t>
            </a:r>
          </a:p>
          <a:p>
            <a:r>
              <a:rPr lang="en-US" sz="1200" dirty="0"/>
              <a:t>email: </a:t>
            </a:r>
            <a:r>
              <a:rPr lang="en-US" sz="1200" dirty="0" err="1"/>
              <a:t>djsph@hvc.rr.com</a:t>
            </a:r>
            <a:endParaRPr lang="en-US" sz="1200" dirty="0"/>
          </a:p>
          <a:p>
            <a:r>
              <a:rPr lang="en-US" sz="1200" dirty="0"/>
              <a:t>.. https://</a:t>
            </a:r>
            <a:r>
              <a:rPr lang="en-US" sz="1200" dirty="0" err="1"/>
              <a:t>www.djsph.com</a:t>
            </a:r>
            <a:endParaRPr lang="en-US" sz="1200" dirty="0"/>
          </a:p>
          <a:p>
            <a:r>
              <a:rPr lang="en-US" sz="1200" dirty="0"/>
              <a:t>.. </a:t>
            </a:r>
            <a:r>
              <a:rPr lang="en-US" sz="1200" dirty="0">
                <a:hlinkClick r:id="rId3"/>
              </a:rPr>
              <a:t>https://www.facebook.com/DJSPlumbingHeating/</a:t>
            </a:r>
            <a:r>
              <a:rPr lang="en-US" sz="1200" dirty="0"/>
              <a:t> </a:t>
            </a:r>
          </a:p>
          <a:p>
            <a:r>
              <a:rPr lang="en-US" sz="1200" dirty="0"/>
              <a:t>.. 9 Del Vue Rd, Callicoon, NY 12723</a:t>
            </a:r>
          </a:p>
          <a:p>
            <a:r>
              <a:rPr lang="en-US" sz="1200" dirty="0"/>
              <a:t>.. 4-6 weeks waiting for scheduled service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2D43AF-402A-9653-4CDA-87A8363E879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5244" y="136039"/>
            <a:ext cx="4545277" cy="24676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347999-C252-85DD-B48E-90F93FAD3ECC}"/>
              </a:ext>
            </a:extLst>
          </p:cNvPr>
          <p:cNvSpPr txBox="1"/>
          <p:nvPr/>
        </p:nvSpPr>
        <p:spPr>
          <a:xfrm>
            <a:off x="7898059" y="4687843"/>
            <a:ext cx="3532178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Hook Well Drilling.  570-224-....</a:t>
            </a:r>
          </a:p>
          <a:p>
            <a:endParaRPr lang="en-US" sz="1200" b="0" i="0" dirty="0">
              <a:solidFill>
                <a:srgbClr val="4F5155"/>
              </a:solidFill>
              <a:effectLst/>
              <a:latin typeface="Helvetica Neue" panose="02000503000000020004" pitchFamily="2" charset="0"/>
            </a:endParaRPr>
          </a:p>
          <a:p>
            <a:r>
              <a:rPr lang="en-US" sz="1200" b="0" i="0" dirty="0">
                <a:solidFill>
                  <a:srgbClr val="4F5155"/>
                </a:solidFill>
                <a:effectLst/>
                <a:latin typeface="Helvetica Neue" panose="02000503000000020004" pitchFamily="2" charset="0"/>
              </a:rPr>
              <a:t>Head Electric Plumbing &amp; Heating, Inc</a:t>
            </a:r>
          </a:p>
          <a:p>
            <a:r>
              <a:rPr lang="en-US" sz="1200" b="0" i="0" dirty="0">
                <a:solidFill>
                  <a:srgbClr val="4F5155"/>
                </a:solidFill>
                <a:effectLst/>
                <a:latin typeface="Helvetica Neue" panose="02000503000000020004" pitchFamily="2" charset="0"/>
              </a:rPr>
              <a:t>(845) 807-7676</a:t>
            </a:r>
            <a:endParaRPr lang="en-US" sz="1200" dirty="0">
              <a:solidFill>
                <a:srgbClr val="4F5155"/>
              </a:solidFill>
              <a:latin typeface="Helvetica Neue" panose="02000503000000020004" pitchFamily="2" charset="0"/>
            </a:endParaRPr>
          </a:p>
          <a:p>
            <a:r>
              <a:rPr lang="en-US" sz="1200" b="0" i="0" dirty="0">
                <a:solidFill>
                  <a:srgbClr val="4F5155"/>
                </a:solidFill>
                <a:effectLst/>
                <a:latin typeface="Helvetica Neue" panose="02000503000000020004" pitchFamily="2" charset="0"/>
              </a:rPr>
              <a:t>4499 St Rt 17B, Callicoon, NY 12723</a:t>
            </a:r>
          </a:p>
          <a:p>
            <a:endParaRPr lang="en-US" sz="1200" dirty="0">
              <a:solidFill>
                <a:srgbClr val="4F5155"/>
              </a:solidFill>
              <a:latin typeface="Helvetica Neue" panose="02000503000000020004" pitchFamily="2" charset="0"/>
            </a:endParaRPr>
          </a:p>
          <a:p>
            <a:r>
              <a:rPr lang="en-US" sz="1200" b="0" i="0" dirty="0">
                <a:solidFill>
                  <a:srgbClr val="4F5155"/>
                </a:solidFill>
                <a:effectLst/>
                <a:latin typeface="Helvetica Neue" panose="02000503000000020004" pitchFamily="2" charset="0"/>
              </a:rPr>
              <a:t>pat </a:t>
            </a:r>
            <a:r>
              <a:rPr lang="en-US" sz="1200" b="0" i="0" dirty="0" err="1">
                <a:solidFill>
                  <a:srgbClr val="4F5155"/>
                </a:solidFill>
                <a:effectLst/>
                <a:latin typeface="Helvetica Neue" panose="02000503000000020004" pitchFamily="2" charset="0"/>
              </a:rPr>
              <a:t>costello</a:t>
            </a:r>
            <a:r>
              <a:rPr lang="en-US" sz="1200" b="0" i="0" dirty="0">
                <a:solidFill>
                  <a:srgbClr val="4F5155"/>
                </a:solidFill>
                <a:effectLst/>
                <a:latin typeface="Helvetica Neue" panose="02000503000000020004" pitchFamily="2" charset="0"/>
              </a:rPr>
              <a:t> plumbing PA. </a:t>
            </a:r>
            <a:r>
              <a:rPr lang="en-US" sz="1200" b="0" i="0">
                <a:solidFill>
                  <a:srgbClr val="4F5155"/>
                </a:solidFill>
                <a:effectLst/>
                <a:latin typeface="Helvetica Neue" panose="02000503000000020004" pitchFamily="2" charset="0"/>
              </a:rPr>
              <a:t>570-224-....</a:t>
            </a:r>
            <a:endParaRPr lang="en-US" sz="1200" b="0" i="0" dirty="0">
              <a:solidFill>
                <a:srgbClr val="4F5155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051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4E05B1-D1D3-3C74-6CC1-0FC68B66402A}"/>
              </a:ext>
            </a:extLst>
          </p:cNvPr>
          <p:cNvSpPr txBox="1"/>
          <p:nvPr/>
        </p:nvSpPr>
        <p:spPr>
          <a:xfrm>
            <a:off x="5234534" y="3583016"/>
            <a:ext cx="197133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Calculator:</a:t>
            </a:r>
          </a:p>
          <a:p>
            <a:r>
              <a:rPr lang="en-US" sz="1100" dirty="0">
                <a:hlinkClick r:id="rId2"/>
              </a:rPr>
              <a:t>https://</a:t>
            </a:r>
            <a:r>
              <a:rPr lang="en-US" sz="1100" dirty="0" err="1">
                <a:hlinkClick r:id="rId2"/>
              </a:rPr>
              <a:t>www.mathsisfun.com</a:t>
            </a:r>
            <a:r>
              <a:rPr lang="en-US" sz="1100" dirty="0">
                <a:hlinkClick r:id="rId2"/>
              </a:rPr>
              <a:t>/geometry/cylinder-horizontal-</a:t>
            </a:r>
            <a:r>
              <a:rPr lang="en-US" sz="1100" dirty="0" err="1">
                <a:hlinkClick r:id="rId2"/>
              </a:rPr>
              <a:t>volume.html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71890E-ACE8-D2D3-FCB4-F5CFADB82FD7}"/>
              </a:ext>
            </a:extLst>
          </p:cNvPr>
          <p:cNvSpPr txBox="1"/>
          <p:nvPr/>
        </p:nvSpPr>
        <p:spPr>
          <a:xfrm>
            <a:off x="0" y="0"/>
            <a:ext cx="221351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Oil Tank </a:t>
            </a:r>
            <a:br>
              <a:rPr lang="en-US" sz="2800" b="1" dirty="0"/>
            </a:br>
            <a:r>
              <a:rPr lang="en-US" b="1" dirty="0"/>
              <a:t>48" diameter, 550 gal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D3474A-43EA-53F4-62FB-95E2D1F2AA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9869" y="4488813"/>
            <a:ext cx="2080665" cy="997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AF0B40-7A04-ABA7-A078-F096F1D3214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8172" y="5801411"/>
            <a:ext cx="4576809" cy="492007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DCBC3DE-AEB8-1D2E-DB14-DFB49B11B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93489"/>
              </p:ext>
            </p:extLst>
          </p:nvPr>
        </p:nvGraphicFramePr>
        <p:xfrm>
          <a:off x="8080513" y="79966"/>
          <a:ext cx="4034645" cy="5406426"/>
        </p:xfrm>
        <a:graphic>
          <a:graphicData uri="http://schemas.openxmlformats.org/drawingml/2006/table">
            <a:tbl>
              <a:tblPr/>
              <a:tblGrid>
                <a:gridCol w="540253">
                  <a:extLst>
                    <a:ext uri="{9D8B030D-6E8A-4147-A177-3AD203B41FA5}">
                      <a16:colId xmlns:a16="http://schemas.microsoft.com/office/drawing/2014/main" val="1629085675"/>
                    </a:ext>
                  </a:extLst>
                </a:gridCol>
                <a:gridCol w="735662">
                  <a:extLst>
                    <a:ext uri="{9D8B030D-6E8A-4147-A177-3AD203B41FA5}">
                      <a16:colId xmlns:a16="http://schemas.microsoft.com/office/drawing/2014/main" val="728063579"/>
                    </a:ext>
                  </a:extLst>
                </a:gridCol>
                <a:gridCol w="344840">
                  <a:extLst>
                    <a:ext uri="{9D8B030D-6E8A-4147-A177-3AD203B41FA5}">
                      <a16:colId xmlns:a16="http://schemas.microsoft.com/office/drawing/2014/main" val="577979000"/>
                    </a:ext>
                  </a:extLst>
                </a:gridCol>
                <a:gridCol w="459788">
                  <a:extLst>
                    <a:ext uri="{9D8B030D-6E8A-4147-A177-3AD203B41FA5}">
                      <a16:colId xmlns:a16="http://schemas.microsoft.com/office/drawing/2014/main" val="415530821"/>
                    </a:ext>
                  </a:extLst>
                </a:gridCol>
                <a:gridCol w="540253">
                  <a:extLst>
                    <a:ext uri="{9D8B030D-6E8A-4147-A177-3AD203B41FA5}">
                      <a16:colId xmlns:a16="http://schemas.microsoft.com/office/drawing/2014/main" val="4193150815"/>
                    </a:ext>
                  </a:extLst>
                </a:gridCol>
                <a:gridCol w="597725">
                  <a:extLst>
                    <a:ext uri="{9D8B030D-6E8A-4147-A177-3AD203B41FA5}">
                      <a16:colId xmlns:a16="http://schemas.microsoft.com/office/drawing/2014/main" val="2329286384"/>
                    </a:ext>
                  </a:extLst>
                </a:gridCol>
                <a:gridCol w="390820">
                  <a:extLst>
                    <a:ext uri="{9D8B030D-6E8A-4147-A177-3AD203B41FA5}">
                      <a16:colId xmlns:a16="http://schemas.microsoft.com/office/drawing/2014/main" val="4271786362"/>
                    </a:ext>
                  </a:extLst>
                </a:gridCol>
                <a:gridCol w="425304">
                  <a:extLst>
                    <a:ext uri="{9D8B030D-6E8A-4147-A177-3AD203B41FA5}">
                      <a16:colId xmlns:a16="http://schemas.microsoft.com/office/drawing/2014/main" val="1217790681"/>
                    </a:ext>
                  </a:extLst>
                </a:gridCol>
              </a:tblGrid>
              <a:tr h="31153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effectLst/>
                        </a:rPr>
                        <a:t>inch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part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part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gals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inch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part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part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gals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48498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0.02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0.52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290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758063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0.04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0.54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304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0734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0.06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0.56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319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016672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0.08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0.58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333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149776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0.10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0.60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347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9026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0.13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1/8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0.63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5/8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362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784333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0.15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0.65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376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82816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0.17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60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0.67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390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425900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0.19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71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0.69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403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35465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0.21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83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0.71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417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673854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0.23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95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0.73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430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6815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0.25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1/4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108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0.75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3/4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442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09470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0.27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120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0.77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 dirty="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455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102373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0.29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133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0.79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467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63987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0.31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147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0.81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479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3972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0.33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160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0.83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490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27090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0.35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174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0.85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500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252432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0.38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3/8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188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effectLst/>
                        </a:rPr>
                        <a:t>0.88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effectLst/>
                        </a:rPr>
                        <a:t>7/8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effectLst/>
                        </a:rPr>
                        <a:t>510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734909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19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0.40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203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0.90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520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950645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0.42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217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0.92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528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48385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0.44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231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0.94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536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179338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0.46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246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0.96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542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657528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23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0.48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260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0.98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effectLst/>
                      </a:endParaRP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547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03690"/>
                  </a:ext>
                </a:extLst>
              </a:tr>
              <a:tr h="2122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24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0.50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1/2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275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48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1.00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"1"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effectLst/>
                        </a:rPr>
                        <a:t>550</a:t>
                      </a:r>
                    </a:p>
                  </a:txBody>
                  <a:tcPr marL="8321" marR="8321" marT="5547" marB="554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17702"/>
                  </a:ext>
                </a:extLst>
              </a:tr>
            </a:tbl>
          </a:graphicData>
        </a:graphic>
      </p:graphicFrame>
      <p:pic>
        <p:nvPicPr>
          <p:cNvPr id="2" name="Picture 1" descr="A picture containing indoor, dirty, kitchen appliance&#10;&#10;Description automatically generated">
            <a:extLst>
              <a:ext uri="{FF2B5EF4-FFF2-40B4-BE49-F238E27FC236}">
                <a16:creationId xmlns:a16="http://schemas.microsoft.com/office/drawing/2014/main" id="{4806EC39-920E-2707-D2A6-3B55A6044DE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30937" y="523592"/>
            <a:ext cx="3076831" cy="3857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C3A42C-28EA-FF9E-0136-3C468E72A56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2881" y="4068762"/>
            <a:ext cx="1050684" cy="24293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8DE13C-5950-CF49-53E3-E2D9903CA343}"/>
              </a:ext>
            </a:extLst>
          </p:cNvPr>
          <p:cNvSpPr txBox="1"/>
          <p:nvPr/>
        </p:nvSpPr>
        <p:spPr>
          <a:xfrm>
            <a:off x="2062343" y="5801411"/>
            <a:ext cx="186895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Krueger Sentry Therma Tank Gauge</a:t>
            </a:r>
          </a:p>
          <a:p>
            <a:r>
              <a:rPr lang="en-US" sz="1000" dirty="0">
                <a:hlinkClick r:id="rId7"/>
              </a:rPr>
              <a:t>https://</a:t>
            </a:r>
            <a:r>
              <a:rPr lang="en-US" sz="1000" dirty="0" err="1">
                <a:hlinkClick r:id="rId7"/>
              </a:rPr>
              <a:t>www.jmesales.com</a:t>
            </a:r>
            <a:r>
              <a:rPr lang="en-US" sz="1000" dirty="0">
                <a:hlinkClick r:id="rId7"/>
              </a:rPr>
              <a:t>/krueger-sentry-type-h-2-in-galvanized-therma-tank-gauge/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18E931-021C-347B-970E-7EE3338C94D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42" y="4101599"/>
            <a:ext cx="1446709" cy="1631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DEDC02-E272-C9C2-2573-659456400A6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5627" y="198151"/>
            <a:ext cx="2382909" cy="307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4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070465-8795-8E8D-0B50-3446414507E6}"/>
              </a:ext>
            </a:extLst>
          </p:cNvPr>
          <p:cNvSpPr txBox="1"/>
          <p:nvPr/>
        </p:nvSpPr>
        <p:spPr>
          <a:xfrm>
            <a:off x="0" y="0"/>
            <a:ext cx="3101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Peerless Boiler</a:t>
            </a:r>
          </a:p>
        </p:txBody>
      </p:sp>
      <p:pic>
        <p:nvPicPr>
          <p:cNvPr id="4" name="Picture 3" descr="A picture containing device, dirty, miller, cluttered&#10;&#10;Description automatically generated">
            <a:extLst>
              <a:ext uri="{FF2B5EF4-FFF2-40B4-BE49-F238E27FC236}">
                <a16:creationId xmlns:a16="http://schemas.microsoft.com/office/drawing/2014/main" id="{961BFD51-4021-8E3B-7B7B-B3ADF40286D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655983" y="2165555"/>
            <a:ext cx="5357191" cy="3857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43F9B1-8BD9-D70B-20BA-D460D20D93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07287" y="823302"/>
            <a:ext cx="3781727" cy="1398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BEE45E-406C-9702-BB17-B3195EB79AA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3657" y="93012"/>
            <a:ext cx="4064543" cy="4375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41E1AC-444B-9876-F9EA-0859A352646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8969" y="4596545"/>
            <a:ext cx="1879231" cy="21045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61199B-1F88-0065-0F8F-2335FAEBB58F}"/>
              </a:ext>
            </a:extLst>
          </p:cNvPr>
          <p:cNvSpPr txBox="1"/>
          <p:nvPr/>
        </p:nvSpPr>
        <p:spPr>
          <a:xfrm>
            <a:off x="0" y="523220"/>
            <a:ext cx="395142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hlinkClick r:id="rId6"/>
              </a:rPr>
              <a:t>https://www.peerlessboilers.com</a:t>
            </a:r>
            <a:r>
              <a:rPr lang="en-U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hlinkClick r:id="rId7"/>
              </a:rPr>
              <a:t>https://</a:t>
            </a:r>
            <a:r>
              <a:rPr lang="en-US" sz="1100" dirty="0" err="1">
                <a:hlinkClick r:id="rId7"/>
              </a:rPr>
              <a:t>www.youtube.com</a:t>
            </a:r>
            <a:r>
              <a:rPr lang="en-US" sz="1100" dirty="0">
                <a:hlinkClick r:id="rId7"/>
              </a:rPr>
              <a:t>/</a:t>
            </a:r>
            <a:r>
              <a:rPr lang="en-US" sz="1100" dirty="0" err="1">
                <a:hlinkClick r:id="rId7"/>
              </a:rPr>
              <a:t>watch?v</a:t>
            </a:r>
            <a:r>
              <a:rPr lang="en-US" sz="1100" dirty="0">
                <a:hlinkClick r:id="rId7"/>
              </a:rPr>
              <a:t>=5GbXgEYw5TE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xxx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797784-4826-7124-7E36-1254E5D818DE}"/>
              </a:ext>
            </a:extLst>
          </p:cNvPr>
          <p:cNvSpPr txBox="1"/>
          <p:nvPr/>
        </p:nvSpPr>
        <p:spPr>
          <a:xfrm>
            <a:off x="5646485" y="2806871"/>
            <a:ext cx="20089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Honeywell boiler </a:t>
            </a:r>
            <a:r>
              <a:rPr lang="en-US" sz="1400" dirty="0" err="1"/>
              <a:t>aquastat</a:t>
            </a:r>
            <a:r>
              <a:rPr lang="en-US" sz="1400" dirty="0"/>
              <a:t> (thermostat)</a:t>
            </a:r>
          </a:p>
          <a:p>
            <a:r>
              <a:rPr lang="en-US" sz="1400" dirty="0"/>
              <a:t>sends "more heat" signal</a:t>
            </a:r>
          </a:p>
          <a:p>
            <a:r>
              <a:rPr lang="en-US" sz="1400" dirty="0"/>
              <a:t>to 7505 burner control unit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ADD781-EAD7-4496-89D1-1703C2863C71}"/>
              </a:ext>
            </a:extLst>
          </p:cNvPr>
          <p:cNvSpPr txBox="1"/>
          <p:nvPr/>
        </p:nvSpPr>
        <p:spPr>
          <a:xfrm>
            <a:off x="6966938" y="4943504"/>
            <a:ext cx="31250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Beckett </a:t>
            </a:r>
            <a:r>
              <a:rPr lang="en-US" sz="1200" dirty="0" err="1"/>
              <a:t>GeniSys</a:t>
            </a:r>
            <a:r>
              <a:rPr lang="en-US" sz="1200" dirty="0"/>
              <a:t>™ 7505 oil burner control </a:t>
            </a:r>
            <a:r>
              <a:rPr lang="en-US" sz="1200" dirty="0">
                <a:hlinkClick r:id="rId8"/>
              </a:rPr>
              <a:t>https://www.beckettcorp.com/product/genisys-7505-oil-burner-control/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used with a suitable cad cell flame sensor to control the oil burner motor, igniter, and optional solenoid valve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has 24 VAC thermostat terminals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can provide interrupted or intermittent duty ignition, and it has a 15 second lockout 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23D31D-181B-5DC2-F5C0-60CC6F7698C4}"/>
              </a:ext>
            </a:extLst>
          </p:cNvPr>
          <p:cNvSpPr txBox="1"/>
          <p:nvPr/>
        </p:nvSpPr>
        <p:spPr>
          <a:xfrm>
            <a:off x="8033657" y="4516188"/>
            <a:ext cx="187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Specific model 7505A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A2F21D-CC68-A2AC-771F-0D28DFB7944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3656" y="131652"/>
            <a:ext cx="4064543" cy="43757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EC3B41-13DA-CF7B-479F-5236CCD33E7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8369" y="2806871"/>
            <a:ext cx="1441173" cy="9786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DEC992-7AAE-FD85-346F-0AA5C8C3029D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8369" y="4210493"/>
            <a:ext cx="2761626" cy="256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6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19B9A-B50E-0689-D372-15D53E762033}"/>
              </a:ext>
            </a:extLst>
          </p:cNvPr>
          <p:cNvSpPr txBox="1"/>
          <p:nvPr/>
        </p:nvSpPr>
        <p:spPr>
          <a:xfrm>
            <a:off x="0" y="0"/>
            <a:ext cx="3721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Honeywell </a:t>
            </a:r>
            <a:r>
              <a:rPr lang="en-US" sz="2800" b="1" dirty="0" err="1"/>
              <a:t>Aquastat</a:t>
            </a:r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32FA62-7030-9247-BE8B-723131C893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986" y="784000"/>
            <a:ext cx="4684643" cy="3478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A35325-3294-89FE-A51B-F55B97BD419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3501" y="783999"/>
            <a:ext cx="2741280" cy="34734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DBAFE0-6A0F-1C80-0404-7B2AB38470FC}"/>
              </a:ext>
            </a:extLst>
          </p:cNvPr>
          <p:cNvSpPr txBox="1"/>
          <p:nvPr/>
        </p:nvSpPr>
        <p:spPr>
          <a:xfrm>
            <a:off x="4327451" y="4646428"/>
            <a:ext cx="22328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Pictures from internet</a:t>
            </a:r>
          </a:p>
          <a:p>
            <a:pPr algn="ctr"/>
            <a:r>
              <a:rPr lang="en-US" sz="1400" dirty="0"/>
              <a:t>Maybe different model</a:t>
            </a:r>
          </a:p>
          <a:p>
            <a:pPr algn="ctr"/>
            <a:r>
              <a:rPr lang="en-US" sz="1400" dirty="0"/>
              <a:t>$120</a:t>
            </a:r>
          </a:p>
        </p:txBody>
      </p:sp>
    </p:spTree>
    <p:extLst>
      <p:ext uri="{BB962C8B-B14F-4D97-AF65-F5344CB8AC3E}">
        <p14:creationId xmlns:p14="http://schemas.microsoft.com/office/powerpoint/2010/main" val="275608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19B9A-B50E-0689-D372-15D53E762033}"/>
              </a:ext>
            </a:extLst>
          </p:cNvPr>
          <p:cNvSpPr txBox="1"/>
          <p:nvPr/>
        </p:nvSpPr>
        <p:spPr>
          <a:xfrm>
            <a:off x="83288" y="1126359"/>
            <a:ext cx="43079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Google for:</a:t>
            </a:r>
          </a:p>
          <a:p>
            <a:r>
              <a:rPr lang="en-US" sz="1400" dirty="0" err="1"/>
              <a:t>Genisys</a:t>
            </a:r>
            <a:r>
              <a:rPr lang="en-US" sz="1400" dirty="0"/>
              <a:t> 7505 won't start after power outage</a:t>
            </a:r>
          </a:p>
          <a:p>
            <a:endParaRPr lang="en-US" sz="1400" dirty="0"/>
          </a:p>
          <a:p>
            <a:r>
              <a:rPr lang="en-US" sz="1400" dirty="0"/>
              <a:t>Video troubleshooting the 7505</a:t>
            </a:r>
          </a:p>
          <a:p>
            <a:r>
              <a:rPr lang="en-US" sz="1400" dirty="0"/>
              <a:t>.. </a:t>
            </a:r>
            <a:r>
              <a:rPr lang="en-US" sz="1400" dirty="0">
                <a:hlinkClick r:id="rId2"/>
              </a:rPr>
              <a:t>https://</a:t>
            </a:r>
            <a:r>
              <a:rPr lang="en-US" sz="1400" dirty="0" err="1">
                <a:hlinkClick r:id="rId2"/>
              </a:rPr>
              <a:t>www.youtube.com</a:t>
            </a:r>
            <a:r>
              <a:rPr lang="en-US" sz="1400" dirty="0">
                <a:hlinkClick r:id="rId2"/>
              </a:rPr>
              <a:t>/</a:t>
            </a:r>
            <a:r>
              <a:rPr lang="en-US" sz="1400" dirty="0" err="1">
                <a:hlinkClick r:id="rId2"/>
              </a:rPr>
              <a:t>watch?v</a:t>
            </a:r>
            <a:r>
              <a:rPr lang="en-US" sz="1400" dirty="0">
                <a:hlinkClick r:id="rId2"/>
              </a:rPr>
              <a:t>=Wd7vrkUDaz4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934772-4DEB-8B94-EBB9-1085F4051A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6384" y="853885"/>
            <a:ext cx="1879231" cy="21045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2DFAD3-0585-574B-7103-CFE5B2D8DC5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9301" y="848569"/>
            <a:ext cx="3619500" cy="3543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5EF694-94BF-68B8-9F75-42F66F75A4C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88" y="3413542"/>
            <a:ext cx="6012712" cy="33421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571962-2A19-077E-C34A-D6933E460260}"/>
              </a:ext>
            </a:extLst>
          </p:cNvPr>
          <p:cNvSpPr txBox="1"/>
          <p:nvPr/>
        </p:nvSpPr>
        <p:spPr>
          <a:xfrm>
            <a:off x="0" y="0"/>
            <a:ext cx="5286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Troubleshooting  </a:t>
            </a:r>
            <a:r>
              <a:rPr lang="en-US" sz="2800" b="1" dirty="0" err="1"/>
              <a:t>Genisys</a:t>
            </a:r>
            <a:r>
              <a:rPr lang="en-US" sz="2800" b="1" dirty="0"/>
              <a:t> 7505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20B81A-CE5A-82C1-7D2D-56C964B9663D}"/>
              </a:ext>
            </a:extLst>
          </p:cNvPr>
          <p:cNvSpPr txBox="1"/>
          <p:nvPr/>
        </p:nvSpPr>
        <p:spPr>
          <a:xfrm>
            <a:off x="7289061" y="5084617"/>
            <a:ext cx="3923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Checks for flame presence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Ignites – and checks that it is ignited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reacts to signal "more heat" to start/stop blower (and shut off the valve)</a:t>
            </a:r>
          </a:p>
        </p:txBody>
      </p:sp>
    </p:spTree>
    <p:extLst>
      <p:ext uri="{BB962C8B-B14F-4D97-AF65-F5344CB8AC3E}">
        <p14:creationId xmlns:p14="http://schemas.microsoft.com/office/powerpoint/2010/main" val="1641499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19B9A-B50E-0689-D372-15D53E762033}"/>
              </a:ext>
            </a:extLst>
          </p:cNvPr>
          <p:cNvSpPr txBox="1"/>
          <p:nvPr/>
        </p:nvSpPr>
        <p:spPr>
          <a:xfrm>
            <a:off x="0" y="478821"/>
            <a:ext cx="45932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Google Nest Thermostat:</a:t>
            </a:r>
          </a:p>
          <a:p>
            <a:r>
              <a:rPr lang="en-US" sz="1400" dirty="0"/>
              <a:t>.. </a:t>
            </a:r>
            <a:r>
              <a:rPr lang="en-US" sz="1400" dirty="0">
                <a:hlinkClick r:id="rId2"/>
              </a:rPr>
              <a:t>https://</a:t>
            </a:r>
            <a:r>
              <a:rPr lang="en-US" sz="1400" dirty="0" err="1">
                <a:hlinkClick r:id="rId2"/>
              </a:rPr>
              <a:t>store.google.com</a:t>
            </a:r>
            <a:r>
              <a:rPr lang="en-US" sz="1400" dirty="0">
                <a:hlinkClick r:id="rId2"/>
              </a:rPr>
              <a:t>/us/product/</a:t>
            </a:r>
            <a:r>
              <a:rPr lang="en-US" sz="1400" dirty="0" err="1">
                <a:hlinkClick r:id="rId2"/>
              </a:rPr>
              <a:t>nest_thermostat</a:t>
            </a:r>
            <a:endParaRPr lang="en-US" sz="1400" dirty="0"/>
          </a:p>
          <a:p>
            <a:r>
              <a:rPr lang="en-US" sz="1400" dirty="0"/>
              <a:t>Nest </a:t>
            </a:r>
            <a:r>
              <a:rPr lang="en-US" sz="1400" dirty="0" err="1"/>
              <a:t>Wifi</a:t>
            </a:r>
            <a:r>
              <a:rPr lang="en-US" sz="1400" dirty="0"/>
              <a:t> requires a Nest </a:t>
            </a:r>
            <a:r>
              <a:rPr lang="en-US" sz="1400" dirty="0" err="1"/>
              <a:t>Wifi</a:t>
            </a:r>
            <a:r>
              <a:rPr lang="en-US" sz="1400" dirty="0"/>
              <a:t> router (or Google </a:t>
            </a:r>
            <a:r>
              <a:rPr lang="en-US" sz="1400" dirty="0" err="1"/>
              <a:t>WiFi</a:t>
            </a:r>
            <a:r>
              <a:rPr lang="en-US" sz="1400" dirty="0"/>
              <a:t>)</a:t>
            </a:r>
          </a:p>
          <a:p>
            <a:r>
              <a:rPr lang="en-US" sz="1400" dirty="0"/>
              <a:t>Latest - Nest </a:t>
            </a:r>
            <a:r>
              <a:rPr lang="en-US" sz="1400" dirty="0" err="1"/>
              <a:t>Wifi</a:t>
            </a:r>
            <a:r>
              <a:rPr lang="en-US" sz="1400" dirty="0"/>
              <a:t> Pro router ($200)</a:t>
            </a:r>
          </a:p>
          <a:p>
            <a:r>
              <a:rPr lang="en-US" sz="1400" dirty="0"/>
              <a:t>The devices are controlled using Google Home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13167-72BE-3016-0C51-F732F7A64CA4}"/>
              </a:ext>
            </a:extLst>
          </p:cNvPr>
          <p:cNvSpPr txBox="1"/>
          <p:nvPr/>
        </p:nvSpPr>
        <p:spPr>
          <a:xfrm>
            <a:off x="0" y="0"/>
            <a:ext cx="5286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Google Nest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FBCC3C-D46C-0DDE-CB4B-9571E8F7204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562" y="110663"/>
            <a:ext cx="4272517" cy="3075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0A6DBD-29A9-3B38-8B50-C2D85C70CF7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877" y="1648372"/>
            <a:ext cx="4850218" cy="13538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9F5ADA-B0FF-0732-50FB-9A5260346F8C}"/>
              </a:ext>
            </a:extLst>
          </p:cNvPr>
          <p:cNvSpPr txBox="1"/>
          <p:nvPr/>
        </p:nvSpPr>
        <p:spPr>
          <a:xfrm>
            <a:off x="0" y="3044279"/>
            <a:ext cx="7526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hlinkClick r:id="rId5"/>
              </a:rPr>
              <a:t>https://www.cnet.com/home/internet/nest-wifi-vs-nest-wifi-pro-wi-fi-6e-mesh-routers/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hlinkClick r:id="rId6"/>
              </a:rPr>
              <a:t>https://www.doityourself.com/forum/thermostatic-controls/602985-connecting-nest-thermostat-genisys-7505-oil-burner.html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hlinkClick r:id="rId7"/>
              </a:rPr>
              <a:t>https://www.youtube.com/watch?v=WFDPWIKKBHY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0064D-9ACB-2FC4-18DE-777EBE1F8EAC}"/>
              </a:ext>
            </a:extLst>
          </p:cNvPr>
          <p:cNvSpPr txBox="1"/>
          <p:nvPr/>
        </p:nvSpPr>
        <p:spPr>
          <a:xfrm>
            <a:off x="7890710" y="3409447"/>
            <a:ext cx="4142220" cy="17235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.. </a:t>
            </a:r>
            <a:r>
              <a:rPr lang="en-US" sz="1100" dirty="0">
                <a:hlinkClick r:id="rId8"/>
              </a:rPr>
              <a:t>https://</a:t>
            </a:r>
            <a:r>
              <a:rPr lang="en-US" sz="1100" dirty="0" err="1">
                <a:hlinkClick r:id="rId8"/>
              </a:rPr>
              <a:t>store.google.com</a:t>
            </a:r>
            <a:r>
              <a:rPr lang="en-US" sz="1100" dirty="0">
                <a:hlinkClick r:id="rId8"/>
              </a:rPr>
              <a:t>/us/widget/compatibility/thermostat</a:t>
            </a: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Google Nest thermostats are designed to work </a:t>
            </a:r>
            <a:br>
              <a:rPr lang="en-US" sz="1400" dirty="0"/>
            </a:br>
            <a:r>
              <a:rPr lang="en-US" sz="1400" dirty="0"/>
              <a:t>with most 24 V systems, even older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Online Compatibility Checker:</a:t>
            </a:r>
            <a:br>
              <a:rPr lang="en-US" sz="1400" dirty="0"/>
            </a:br>
            <a:r>
              <a:rPr lang="en-US" sz="1100" dirty="0"/>
              <a:t>.. </a:t>
            </a:r>
            <a:r>
              <a:rPr lang="en-US" sz="1100" dirty="0">
                <a:hlinkClick r:id="rId9"/>
              </a:rPr>
              <a:t>https://support.google.com/googlenest/answer/9246656</a:t>
            </a:r>
            <a:r>
              <a:rPr lang="en-US" sz="1100" dirty="0"/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Nest </a:t>
            </a:r>
            <a:r>
              <a:rPr lang="en-US" sz="1400" b="1" dirty="0">
                <a:solidFill>
                  <a:srgbClr val="00B0F0"/>
                </a:solidFill>
              </a:rPr>
              <a:t>Learning</a:t>
            </a:r>
            <a:r>
              <a:rPr lang="en-US" sz="1400" dirty="0"/>
              <a:t> Thermostat is more compatible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Older Regular Nest Thermostat may need C wire or Nest Power Connector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596AE3-AE00-EA84-230E-FABF4B280E3D}"/>
              </a:ext>
            </a:extLst>
          </p:cNvPr>
          <p:cNvSpPr txBox="1"/>
          <p:nvPr/>
        </p:nvSpPr>
        <p:spPr>
          <a:xfrm>
            <a:off x="5531750" y="5285242"/>
            <a:ext cx="650118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Note about Nest Learning Thermostat.</a:t>
            </a:r>
          </a:p>
          <a:p>
            <a:r>
              <a:rPr lang="en-US" sz="1400" dirty="0"/>
              <a:t>It has many settings to automatically adjust temperature based on history, etc.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I turned them all off because it was overriding my wishes. </a:t>
            </a:r>
            <a:r>
              <a:rPr lang="en-US" sz="1400" dirty="0"/>
              <a:t>For example, we had two bedrooms with thermostats. Last several weeks we had visitors and were using both bedrooms. This week we using only one, so I decreased the thermostat setting to 56F. But it by itself warmed up to 68F.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CAA03-2CDF-1351-FAA0-07BCCAD5C737}"/>
              </a:ext>
            </a:extLst>
          </p:cNvPr>
          <p:cNvSpPr txBox="1"/>
          <p:nvPr/>
        </p:nvSpPr>
        <p:spPr>
          <a:xfrm>
            <a:off x="96520" y="4192391"/>
            <a:ext cx="5345056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We have the latest Nest Learning Thermostat (3rd generation)</a:t>
            </a:r>
            <a:br>
              <a:rPr lang="en-US" sz="1000" dirty="0"/>
            </a:br>
            <a:r>
              <a:rPr lang="en-US" sz="1000" dirty="0"/>
              <a:t>I was following </a:t>
            </a:r>
            <a:r>
              <a:rPr lang="en-US" sz="1000" dirty="0" err="1"/>
              <a:t>youtube</a:t>
            </a:r>
            <a:r>
              <a:rPr lang="en-US" sz="1000" dirty="0"/>
              <a:t> videos and online guides, for example:</a:t>
            </a:r>
          </a:p>
          <a:p>
            <a:r>
              <a:rPr lang="en-US" sz="1000" dirty="0"/>
              <a:t>.. </a:t>
            </a:r>
            <a:r>
              <a:rPr lang="en-US" sz="1000" dirty="0">
                <a:hlinkClick r:id="rId10"/>
              </a:rPr>
              <a:t>https://support.google.com/googlenest/answer/9248184</a:t>
            </a:r>
            <a:r>
              <a:rPr lang="en-US" sz="1000" dirty="0"/>
              <a:t> - docs</a:t>
            </a:r>
            <a:br>
              <a:rPr lang="en-US" sz="1000" dirty="0"/>
            </a:br>
            <a:r>
              <a:rPr lang="en-US" sz="1000" dirty="0"/>
              <a:t>.. </a:t>
            </a:r>
            <a:r>
              <a:rPr lang="en-US" sz="1000" dirty="0">
                <a:hlinkClick r:id="rId11"/>
              </a:rPr>
              <a:t>https://support.google.com/googlenest/answer/9373007?hl=en</a:t>
            </a:r>
            <a:r>
              <a:rPr lang="en-US" sz="1000" dirty="0"/>
              <a:t> – PDFs</a:t>
            </a:r>
          </a:p>
          <a:p>
            <a:r>
              <a:rPr lang="en-US" sz="1000" dirty="0"/>
              <a:t>.. </a:t>
            </a:r>
            <a:r>
              <a:rPr lang="en-US" sz="1000" dirty="0">
                <a:hlinkClick r:id="rId12"/>
              </a:rPr>
              <a:t>https://www.youtube.com/watch?v=rdfUbAZi7k0</a:t>
            </a:r>
            <a:r>
              <a:rPr lang="en-US" sz="1000" dirty="0"/>
              <a:t> – missing manual</a:t>
            </a:r>
            <a:br>
              <a:rPr lang="en-US" sz="1000" dirty="0"/>
            </a:br>
            <a:r>
              <a:rPr lang="en-US" sz="1000" dirty="0"/>
              <a:t>.. </a:t>
            </a:r>
            <a:r>
              <a:rPr lang="en-US" sz="1000" dirty="0">
                <a:hlinkClick r:id="rId13"/>
              </a:rPr>
              <a:t>https://www.youtube.com/watch?v=7SzjOU30AYg</a:t>
            </a:r>
            <a:r>
              <a:rPr lang="en-US" sz="1000" dirty="0"/>
              <a:t> - </a:t>
            </a:r>
            <a:r>
              <a:rPr lang="en-US" sz="1000" i="0" dirty="0">
                <a:solidFill>
                  <a:srgbClr val="0F0F0F"/>
                </a:solidFill>
                <a:effectLst/>
                <a:latin typeface="YouTube Sans"/>
              </a:rPr>
              <a:t>How to Use ... </a:t>
            </a:r>
            <a:br>
              <a:rPr lang="en-US" sz="1000" dirty="0"/>
            </a:br>
            <a:r>
              <a:rPr lang="en-US" sz="1000" dirty="0"/>
              <a:t>.. </a:t>
            </a:r>
            <a:r>
              <a:rPr lang="en-US" sz="1000" dirty="0">
                <a:hlinkClick r:id="rId14"/>
              </a:rPr>
              <a:t>https://www.youtube.com/watch?v=iXi8asdsXTM</a:t>
            </a:r>
            <a:r>
              <a:rPr lang="en-US" sz="1000" dirty="0"/>
              <a:t> – How to Use ... for beginners</a:t>
            </a:r>
            <a:br>
              <a:rPr lang="en-US" sz="1000" dirty="0"/>
            </a:br>
            <a:r>
              <a:rPr lang="en-US" sz="1000" dirty="0"/>
              <a:t>.. </a:t>
            </a:r>
            <a:r>
              <a:rPr lang="en-US" sz="1000" dirty="0">
                <a:hlinkClick r:id="rId15"/>
              </a:rPr>
              <a:t>https://www.youtube.com/watch?v=AdGDXpb4VzE</a:t>
            </a:r>
            <a:r>
              <a:rPr lang="en-US" sz="1000" dirty="0"/>
              <a:t> - How to Use and Program ... </a:t>
            </a:r>
            <a:br>
              <a:rPr lang="en-US" sz="1000" dirty="0"/>
            </a:br>
            <a:r>
              <a:rPr lang="en-US" sz="1000" dirty="0"/>
              <a:t>.. </a:t>
            </a:r>
            <a:r>
              <a:rPr lang="en-US" sz="1000" dirty="0">
                <a:hlinkClick r:id="rId16"/>
              </a:rPr>
              <a:t>https://www.youtube.com/watch?v=iKcSKpR9KAM</a:t>
            </a:r>
            <a:r>
              <a:rPr lang="en-US" sz="1000" dirty="0"/>
              <a:t> - </a:t>
            </a:r>
            <a:r>
              <a:rPr lang="en-US" sz="1000" i="0" dirty="0">
                <a:solidFill>
                  <a:srgbClr val="0F0F0F"/>
                </a:solidFill>
                <a:effectLst/>
                <a:latin typeface="YouTube Sans"/>
              </a:rPr>
              <a:t>How to Make Nest Thermostat Manual</a:t>
            </a:r>
          </a:p>
          <a:p>
            <a:r>
              <a:rPr lang="en-US" sz="1000" dirty="0"/>
              <a:t>   (remove learning automation parts)</a:t>
            </a:r>
          </a:p>
        </p:txBody>
      </p:sp>
    </p:spTree>
    <p:extLst>
      <p:ext uri="{BB962C8B-B14F-4D97-AF65-F5344CB8AC3E}">
        <p14:creationId xmlns:p14="http://schemas.microsoft.com/office/powerpoint/2010/main" val="148725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DCFD91-CA3F-FFC3-07A6-2442FCCC85FD}"/>
              </a:ext>
            </a:extLst>
          </p:cNvPr>
          <p:cNvSpPr txBox="1"/>
          <p:nvPr/>
        </p:nvSpPr>
        <p:spPr>
          <a:xfrm>
            <a:off x="6107069" y="71297"/>
            <a:ext cx="3281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.. </a:t>
            </a:r>
            <a:r>
              <a:rPr lang="en-US" sz="1100" dirty="0">
                <a:hlinkClick r:id="rId3"/>
              </a:rPr>
              <a:t>https://www.youtube.com/watch?v=iKcSKpR9KAM</a:t>
            </a:r>
            <a:r>
              <a:rPr lang="en-US" sz="11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99D3A-A567-ABBA-0E93-9875A91F9143}"/>
              </a:ext>
            </a:extLst>
          </p:cNvPr>
          <p:cNvSpPr txBox="1"/>
          <p:nvPr/>
        </p:nvSpPr>
        <p:spPr>
          <a:xfrm>
            <a:off x="0" y="-59508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YouTube Sans"/>
              </a:rPr>
              <a:t>How to Make Nest Thermostat Manual</a:t>
            </a:r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B0E75-8FA4-0CA6-6A06-EB2F710AE84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0960" y="479199"/>
            <a:ext cx="1366742" cy="13593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EFAF27-5C7E-95FB-9043-9BD48416AE45}"/>
              </a:ext>
            </a:extLst>
          </p:cNvPr>
          <p:cNvSpPr txBox="1"/>
          <p:nvPr/>
        </p:nvSpPr>
        <p:spPr>
          <a:xfrm>
            <a:off x="1444307" y="1767413"/>
            <a:ext cx="1140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Go to Settings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38119-50E0-FB0B-736A-DCB36F9A2C3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9870" y="503660"/>
            <a:ext cx="1342973" cy="1335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8B39B9-CE4C-DF76-EC76-4CC612337326}"/>
              </a:ext>
            </a:extLst>
          </p:cNvPr>
          <p:cNvSpPr txBox="1"/>
          <p:nvPr/>
        </p:nvSpPr>
        <p:spPr>
          <a:xfrm>
            <a:off x="2767303" y="1756876"/>
            <a:ext cx="1121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Nest Sense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A8053F-648D-A83F-8F8B-7FB9121AD1B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5011" y="513366"/>
            <a:ext cx="1342973" cy="13356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AE375-5BD6-8509-D20C-D1036BC3663F}"/>
              </a:ext>
            </a:extLst>
          </p:cNvPr>
          <p:cNvSpPr txBox="1"/>
          <p:nvPr/>
        </p:nvSpPr>
        <p:spPr>
          <a:xfrm>
            <a:off x="4185011" y="1771248"/>
            <a:ext cx="1250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Auto Schedule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F5F78A-3568-F213-81D7-433F70E7BA4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52" y="502838"/>
            <a:ext cx="1342974" cy="13356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5B9C03-323D-9EC5-19ED-0ECA891D4EAD}"/>
              </a:ext>
            </a:extLst>
          </p:cNvPr>
          <p:cNvSpPr txBox="1"/>
          <p:nvPr/>
        </p:nvSpPr>
        <p:spPr>
          <a:xfrm>
            <a:off x="5651561" y="1761088"/>
            <a:ext cx="1240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 (to learning)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DBCB77-5E1D-BF35-ED73-DA8E1CCDBAA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5293" y="502838"/>
            <a:ext cx="1328524" cy="13213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257007-4C15-63C0-6737-E30689380FC7}"/>
              </a:ext>
            </a:extLst>
          </p:cNvPr>
          <p:cNvSpPr txBox="1"/>
          <p:nvPr/>
        </p:nvSpPr>
        <p:spPr>
          <a:xfrm>
            <a:off x="7347208" y="1753041"/>
            <a:ext cx="701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DONE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F425D8-DA9C-FB8A-18F3-4160E7B913CD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9870" y="2056307"/>
            <a:ext cx="1342973" cy="13356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416FAC-DCF2-1AAA-CDAF-051BA787749D}"/>
              </a:ext>
            </a:extLst>
          </p:cNvPr>
          <p:cNvSpPr txBox="1"/>
          <p:nvPr/>
        </p:nvSpPr>
        <p:spPr>
          <a:xfrm>
            <a:off x="3124491" y="3334876"/>
            <a:ext cx="633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ECO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C70EBE-2596-4E83-86AE-67797FAF0B3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9623" y="2083046"/>
            <a:ext cx="1338361" cy="13311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8B5C59-8612-5242-32DA-51F1970486E9}"/>
              </a:ext>
            </a:extLst>
          </p:cNvPr>
          <p:cNvSpPr txBox="1"/>
          <p:nvPr/>
        </p:nvSpPr>
        <p:spPr>
          <a:xfrm>
            <a:off x="4407869" y="3348927"/>
            <a:ext cx="80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off both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7837BE-0E94-9227-328D-30CD58F62877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3826" y="3611875"/>
            <a:ext cx="1328525" cy="13213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86CD94-FDBC-C142-7C93-7466F67C8B5A}"/>
              </a:ext>
            </a:extLst>
          </p:cNvPr>
          <p:cNvSpPr txBox="1"/>
          <p:nvPr/>
        </p:nvSpPr>
        <p:spPr>
          <a:xfrm>
            <a:off x="2777094" y="4876074"/>
            <a:ext cx="1328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Home Away Assist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246E166-E0CF-E013-CB16-D980EE21F607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2206" y="3615765"/>
            <a:ext cx="1328524" cy="13213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D2B31D9-D92B-9065-A3BE-A16C1246A483}"/>
              </a:ext>
            </a:extLst>
          </p:cNvPr>
          <p:cNvSpPr txBox="1"/>
          <p:nvPr/>
        </p:nvSpPr>
        <p:spPr>
          <a:xfrm>
            <a:off x="4158854" y="4886234"/>
            <a:ext cx="1328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STOP Using ECO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48F5FCD-4ADB-A4B0-12F9-567BB4067C0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858" y="5169558"/>
            <a:ext cx="1338361" cy="133110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65FFBF6-BEEE-0BA2-EEE6-1DDE12C579F2}"/>
              </a:ext>
            </a:extLst>
          </p:cNvPr>
          <p:cNvSpPr txBox="1"/>
          <p:nvPr/>
        </p:nvSpPr>
        <p:spPr>
          <a:xfrm>
            <a:off x="3056830" y="6429839"/>
            <a:ext cx="701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RESET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1CEB214-F140-4C67-CF04-2BEC744D0A0F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8854" y="5173888"/>
            <a:ext cx="1338361" cy="133110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F571C4D-9774-5D85-A5D0-077EE004E92A}"/>
              </a:ext>
            </a:extLst>
          </p:cNvPr>
          <p:cNvSpPr txBox="1"/>
          <p:nvPr/>
        </p:nvSpPr>
        <p:spPr>
          <a:xfrm>
            <a:off x="4377630" y="6500959"/>
            <a:ext cx="875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Schedule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CC0CD22-C736-DFB6-F4C1-E774D9466F1E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3850" y="5173888"/>
            <a:ext cx="1349276" cy="13419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5E0905A-8515-31A0-1AD1-D1A5EADE1F2B}"/>
              </a:ext>
            </a:extLst>
          </p:cNvPr>
          <p:cNvSpPr txBox="1"/>
          <p:nvPr/>
        </p:nvSpPr>
        <p:spPr>
          <a:xfrm>
            <a:off x="5820350" y="6490799"/>
            <a:ext cx="875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Reset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F2FA63B-6782-4838-2CE6-4166F0C0743A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0996" y="5163233"/>
            <a:ext cx="1359989" cy="135261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3A6ACA0-8299-4C9F-E2B2-DC91E550261D}"/>
              </a:ext>
            </a:extLst>
          </p:cNvPr>
          <p:cNvSpPr txBox="1"/>
          <p:nvPr/>
        </p:nvSpPr>
        <p:spPr>
          <a:xfrm>
            <a:off x="7039550" y="6490799"/>
            <a:ext cx="1371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Turn right to reset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37930EFB-1148-44FF-B4FA-CED2D20252A9}"/>
              </a:ext>
            </a:extLst>
          </p:cNvPr>
          <p:cNvSpPr/>
          <p:nvPr/>
        </p:nvSpPr>
        <p:spPr>
          <a:xfrm>
            <a:off x="335280" y="1026160"/>
            <a:ext cx="650240" cy="274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0D80D227-4811-7658-4F8F-762C94FBF25F}"/>
              </a:ext>
            </a:extLst>
          </p:cNvPr>
          <p:cNvSpPr/>
          <p:nvPr/>
        </p:nvSpPr>
        <p:spPr>
          <a:xfrm>
            <a:off x="1788160" y="2590800"/>
            <a:ext cx="650240" cy="274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28AE3596-E4A9-1693-7A71-ADCC2720416C}"/>
              </a:ext>
            </a:extLst>
          </p:cNvPr>
          <p:cNvSpPr/>
          <p:nvPr/>
        </p:nvSpPr>
        <p:spPr>
          <a:xfrm>
            <a:off x="1757680" y="4074160"/>
            <a:ext cx="650240" cy="274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E0FDC5F7-0318-A454-1183-44ED1B835A16}"/>
              </a:ext>
            </a:extLst>
          </p:cNvPr>
          <p:cNvSpPr/>
          <p:nvPr/>
        </p:nvSpPr>
        <p:spPr>
          <a:xfrm>
            <a:off x="1778000" y="5659120"/>
            <a:ext cx="650240" cy="274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82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DCFD91-CA3F-FFC3-07A6-2442FCCC85FD}"/>
              </a:ext>
            </a:extLst>
          </p:cNvPr>
          <p:cNvSpPr txBox="1"/>
          <p:nvPr/>
        </p:nvSpPr>
        <p:spPr>
          <a:xfrm>
            <a:off x="189012" y="560143"/>
            <a:ext cx="3281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3"/>
              </a:rPr>
              <a:t>https://</a:t>
            </a:r>
            <a:r>
              <a:rPr lang="en-US" sz="1100" dirty="0" err="1">
                <a:hlinkClick r:id="rId3"/>
              </a:rPr>
              <a:t>www.youtube.com</a:t>
            </a:r>
            <a:r>
              <a:rPr lang="en-US" sz="1100" dirty="0">
                <a:hlinkClick r:id="rId3"/>
              </a:rPr>
              <a:t>/</a:t>
            </a:r>
            <a:r>
              <a:rPr lang="en-US" sz="1100" dirty="0" err="1">
                <a:hlinkClick r:id="rId3"/>
              </a:rPr>
              <a:t>watch?v</a:t>
            </a:r>
            <a:r>
              <a:rPr lang="en-US" sz="1100" dirty="0">
                <a:hlinkClick r:id="rId3"/>
              </a:rPr>
              <a:t>=eM_2CXz45RE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99D3A-A567-ABBA-0E93-9875A91F9143}"/>
              </a:ext>
            </a:extLst>
          </p:cNvPr>
          <p:cNvSpPr txBox="1"/>
          <p:nvPr/>
        </p:nvSpPr>
        <p:spPr>
          <a:xfrm>
            <a:off x="11069" y="36923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YouTube Sans"/>
              </a:rPr>
              <a:t>Nest Thermostat Loses </a:t>
            </a:r>
            <a:r>
              <a:rPr lang="en-US" sz="2800" b="1" i="0" dirty="0" err="1">
                <a:solidFill>
                  <a:srgbClr val="0F0F0F"/>
                </a:solidFill>
                <a:effectLst/>
                <a:latin typeface="YouTube Sans"/>
              </a:rPr>
              <a:t>WiFi</a:t>
            </a:r>
            <a:r>
              <a:rPr lang="en-US" sz="2800" b="1" i="0" dirty="0">
                <a:solidFill>
                  <a:srgbClr val="0F0F0F"/>
                </a:solidFill>
                <a:effectLst/>
                <a:latin typeface="YouTube Sans"/>
              </a:rPr>
              <a:t> Randomly</a:t>
            </a:r>
            <a:endParaRPr lang="en-US" sz="28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54FC1D-08B3-61DC-6D6C-725F9B4F2CA3}"/>
              </a:ext>
            </a:extLst>
          </p:cNvPr>
          <p:cNvSpPr txBox="1"/>
          <p:nvPr/>
        </p:nvSpPr>
        <p:spPr>
          <a:xfrm>
            <a:off x="1076960" y="1210383"/>
            <a:ext cx="4787464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 </a:t>
            </a:r>
            <a:r>
              <a:rPr lang="en-US" sz="1400" dirty="0" err="1"/>
              <a:t>WiFi</a:t>
            </a:r>
            <a:r>
              <a:rPr lang="en-US" sz="1400" dirty="0"/>
              <a:t> stability and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Turn router off for 30 sec – and then turn on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 that battery level &gt; 3.6V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Reset-Restart the Thermostat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restarting check Network settings in the Thermostat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ping speed should be &lt; 1500 </a:t>
            </a:r>
            <a:r>
              <a:rPr lang="en-US" sz="1400" dirty="0" err="1"/>
              <a:t>ms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ping speed == 0 – no communication with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signal strength should be &gt; 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Reset Network Settings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Install updates on your Thermostat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Install updates on phone app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 the interactive Guide:</a:t>
            </a:r>
            <a:br>
              <a:rPr lang="en-US" sz="1400" dirty="0"/>
            </a:br>
            <a:r>
              <a:rPr lang="en-US" sz="1000" dirty="0">
                <a:hlinkClick r:id="rId4"/>
              </a:rPr>
              <a:t>https://</a:t>
            </a:r>
            <a:r>
              <a:rPr lang="en-US" sz="1000" dirty="0" err="1">
                <a:hlinkClick r:id="rId4"/>
              </a:rPr>
              <a:t>widgets.nest.com</a:t>
            </a:r>
            <a:r>
              <a:rPr lang="en-US" sz="1000" dirty="0">
                <a:hlinkClick r:id="rId4"/>
              </a:rPr>
              <a:t>/nest-thermostat-troubleshooter/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9D92EC-EBC7-4EE7-BDD1-5065CBE9A9A5}"/>
              </a:ext>
            </a:extLst>
          </p:cNvPr>
          <p:cNvSpPr txBox="1"/>
          <p:nvPr/>
        </p:nvSpPr>
        <p:spPr>
          <a:xfrm>
            <a:off x="1114624" y="4492113"/>
            <a:ext cx="474980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i="0" dirty="0">
                <a:effectLst/>
                <a:latin typeface="Roboto" panose="02000000000000000000" pitchFamily="2" charset="0"/>
              </a:rPr>
              <a:t>Contact Google Nest Help:</a:t>
            </a:r>
            <a:br>
              <a:rPr lang="en-US" sz="1400" b="0" i="0" dirty="0">
                <a:effectLst/>
                <a:latin typeface="Roboto" panose="02000000000000000000" pitchFamily="2" charset="0"/>
              </a:rPr>
            </a:br>
            <a:r>
              <a:rPr lang="en-US" sz="1400" b="0" i="0" dirty="0">
                <a:effectLst/>
                <a:latin typeface="Roboto" panose="02000000000000000000" pitchFamily="2" charset="0"/>
              </a:rPr>
              <a:t>    Twitter @</a:t>
            </a:r>
            <a:r>
              <a:rPr lang="en-US" sz="1400" b="0" i="0" dirty="0" err="1">
                <a:effectLst/>
                <a:latin typeface="Roboto" panose="02000000000000000000" pitchFamily="2" charset="0"/>
              </a:rPr>
              <a:t>GoogleNestHelp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199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1236</Words>
  <Application>Microsoft Macintosh PowerPoint</Application>
  <PresentationFormat>Widescreen</PresentationFormat>
  <Paragraphs>286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Helvetica Neue</vt:lpstr>
      <vt:lpstr>Roboto</vt:lpstr>
      <vt:lpstr>YouTube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46</cp:revision>
  <dcterms:created xsi:type="dcterms:W3CDTF">2022-06-02T16:58:09Z</dcterms:created>
  <dcterms:modified xsi:type="dcterms:W3CDTF">2023-08-16T04:21:42Z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