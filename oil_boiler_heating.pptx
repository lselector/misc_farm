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1" r:id="rId5"/>
    <p:sldId id="259" r:id="rId6"/>
    <p:sldId id="260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361"/>
    <p:restoredTop sz="93580"/>
  </p:normalViewPr>
  <p:slideViewPr>
    <p:cSldViewPr snapToGrid="0" snapToObjects="1">
      <p:cViewPr varScale="1">
        <p:scale>
          <a:sx n="126" d="100"/>
          <a:sy n="126" d="100"/>
        </p:scale>
        <p:origin x="104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A7E78-4330-193B-B423-8314C67628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080FDA-9F58-7E15-C3A0-BCA67A1B65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FD1846-5607-2F80-FE77-B45D1134D8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11/27/22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59EC29-87F8-BE2D-794A-6DA472257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340454-B433-410E-0FF8-FC3528287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5089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6760B-86A2-A753-7B95-0F58C129D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6CB2F-877F-D8BF-FD37-54A9FCD98E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7B5966-DCE9-9278-FC75-7505EFC826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11/27/22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8C6C7F-3558-A2B7-B9CB-C865542E0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53B692-9BC3-C542-CF13-B75CF4818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79295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201A7-590C-E867-7D0C-AE29A5E7C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89C844-B762-199D-E840-4432CFA9EC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8F83D9-6582-F301-0C23-DFC255494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11/27/22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52132C-12F6-FB49-15E9-71DC67F2F8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D5F5A6-E475-572D-EB19-BDCB29C26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9418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7E54A-D232-E13B-03B8-197985E46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95FE80-6415-A129-A133-13F4E69631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F34163-2BC5-67B8-C044-B2B91150F7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E24A9F-6EBE-F2FD-B790-457A880F4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11/27/22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165A11-D3B2-DAF0-6C96-3A013B4B66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148667-6987-698C-D3F8-33E4C2F45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62347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89EB9B-3B5A-BAA4-1104-35CFEE511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A6AF77-D30B-078E-7377-864E200417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D3BB66-8448-BDCE-8885-0DCCD1D2FD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C4BBBE-287A-8A3C-D9AC-73777D133F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EC8599-617C-397F-DC3D-826467ADF3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BF5D750-7437-B1AA-EDBA-8CE16147AE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11/27/22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1E2CB5-60FB-BFE3-7C57-6D71206F09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C2E5366-9BBC-DD63-6667-F2ABAD0CF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103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502E0-2360-8A3B-C660-0EEE2283A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761752-B6B9-B0D3-79D0-BA63B329CC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11/27/22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49FDB9-28AA-E5EE-0E6F-1C8709834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1A72C3-CCD3-E994-0553-1649E7C05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3061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727FBEF-93F3-4398-ABDE-E19A2BE6E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11/27/22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24BDFD-B5CF-6FE3-E5D7-46013C29E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995C03-7815-0295-8D6D-6E94DCC40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5297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460438-A2C9-EC42-359F-79480BBFBC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BAC04E-128D-0581-C7DA-E12F971BB4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57F62C-C89B-1A1C-EE71-DFB3CCC880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E8FE63-1511-35E5-E243-54A541D531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11/27/22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88C57B-944F-63EC-027D-0775FFD31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0B95C2-F629-DCC1-1A34-EFD210A35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1875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1C171-16B5-30EF-DF6B-EA8297BFE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0EC62FB-CB34-C301-34F2-0BC3B063A2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14D87E-859D-4374-028E-34A7E0967C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A0E7CC-E810-603C-A310-365D6E2E76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11/27/22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811FA3-03C6-243F-1B00-D8C263B8A5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7B7296-43FF-9B1B-273A-D8A59A1AF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69878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B347D-D077-DA5B-BCBF-255D910F8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D969ED-67C2-311E-252D-6A110850A0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D0FBA1-3C89-EC11-74D4-20B92AAFD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11/27/22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745B-5BAE-F9D3-47E4-0138D1CEA5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730326-C5CD-0886-9BE9-A7F7DB749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5030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D2BAD8-9CAB-A380-AAC3-A59F3A32560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7D29A6E-D831-F47F-A2AE-F6E1AFD2D0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F4713-8CBC-B5EB-3BDB-7F46E4C81A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11/27/22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814CE-5D3F-6AF3-1B95-C1BCD7CEF6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44F38C-1773-F5A8-9806-A23E993F7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2999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2D680EF-BCA9-239E-5CBB-C870C41B4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0FCFB0-9A1E-EE20-9776-1EF4CAC7D5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1C2FEA-8E7F-70CC-474B-CC138894A0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491023-0B0A-7041-9F06-D25A50EF063B}" type="datetimeFigureOut">
              <a:t>11/27/22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68BAB-55F6-6894-580A-32AFD5780B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8BF367-BF67-C7BE-7EC4-9DB85C434E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05609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acebook.com/DJSPlumbingHeating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hyperlink" Target="https://www.jmesales.com/krueger-sentry-type-h-2-in-galvanized-therma-tank-gauge/" TargetMode="External"/><Relationship Id="rId2" Type="http://schemas.openxmlformats.org/officeDocument/2006/relationships/hyperlink" Target="https://www.mathsisfun.com/geometry/cylinder-horizontal-volume.html" TargetMode="Externa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beckettcorp.com/product/genisys-7505-oil-burner-control/" TargetMode="External"/><Relationship Id="rId3" Type="http://schemas.openxmlformats.org/officeDocument/2006/relationships/image" Target="../media/image9.png"/><Relationship Id="rId7" Type="http://schemas.openxmlformats.org/officeDocument/2006/relationships/hyperlink" Target="https://www.youtube.com/watch?v=5GbXgEYw5TE" TargetMode="External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peerlessboilers.com/" TargetMode="External"/><Relationship Id="rId5" Type="http://schemas.openxmlformats.org/officeDocument/2006/relationships/image" Target="../media/image11.png"/><Relationship Id="rId10" Type="http://schemas.openxmlformats.org/officeDocument/2006/relationships/image" Target="../media/image13.png"/><Relationship Id="rId4" Type="http://schemas.openxmlformats.org/officeDocument/2006/relationships/image" Target="../media/image10.png"/><Relationship Id="rId9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www.youtube.com/watch?v=Wd7vrkUDaz4" TargetMode="Externa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hyperlink" Target="https://www.youtube.com/watch?v=WFDPWIKKBHY" TargetMode="External"/><Relationship Id="rId2" Type="http://schemas.openxmlformats.org/officeDocument/2006/relationships/hyperlink" Target="https://store.google.com/us/product/nest_thermostat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doityourself.com/forum/thermostatic-controls/602985-connecting-nest-thermostat-genisys-7505-oil-burner.html" TargetMode="External"/><Relationship Id="rId5" Type="http://schemas.openxmlformats.org/officeDocument/2006/relationships/hyperlink" Target="https://www.cnet.com/home/internet/nest-wifi-vs-nest-wifi-pro-wi-fi-6e-mesh-routers/" TargetMode="External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6B310C2-CE44-BD76-D583-B4E3D7BDFA4A}"/>
              </a:ext>
            </a:extLst>
          </p:cNvPr>
          <p:cNvSpPr txBox="1"/>
          <p:nvPr/>
        </p:nvSpPr>
        <p:spPr>
          <a:xfrm>
            <a:off x="0" y="0"/>
            <a:ext cx="33793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/>
              <a:t>Oil - 550 Gallon Tank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EEB734-25C1-5F8A-526D-3CB1B8DD47B1}"/>
              </a:ext>
            </a:extLst>
          </p:cNvPr>
          <p:cNvSpPr txBox="1"/>
          <p:nvPr/>
        </p:nvSpPr>
        <p:spPr>
          <a:xfrm>
            <a:off x="121479" y="523220"/>
            <a:ext cx="3136346" cy="193899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effectLst/>
              </a:rPr>
              <a:t>Delaware Valley Oil</a:t>
            </a:r>
          </a:p>
          <a:p>
            <a:r>
              <a:rPr lang="en-US" sz="1200" dirty="0">
                <a:effectLst/>
              </a:rPr>
              <a:t>http://</a:t>
            </a:r>
            <a:r>
              <a:rPr lang="en-US" sz="1200" dirty="0" err="1">
                <a:effectLst/>
              </a:rPr>
              <a:t>dvoil.com</a:t>
            </a:r>
            <a:endParaRPr lang="en-US" sz="1200" dirty="0">
              <a:effectLst/>
            </a:endParaRPr>
          </a:p>
          <a:p>
            <a:r>
              <a:rPr lang="en-US" sz="1200" dirty="0"/>
              <a:t>Phone (845)-887-6090</a:t>
            </a:r>
            <a:r>
              <a:rPr lang="en-US" sz="1200" dirty="0">
                <a:effectLst/>
              </a:rPr>
              <a:t> </a:t>
            </a:r>
          </a:p>
          <a:p>
            <a:r>
              <a:rPr lang="en-US" sz="1200" dirty="0"/>
              <a:t>Office: M-F 8am-4pm</a:t>
            </a:r>
          </a:p>
          <a:p>
            <a:r>
              <a:rPr lang="en-US" sz="1200" dirty="0"/>
              <a:t>3 Bridge Street, Callicoon, NY 12723</a:t>
            </a:r>
            <a:endParaRPr lang="en-US" sz="1200" dirty="0">
              <a:effectLst/>
            </a:endParaRPr>
          </a:p>
          <a:p>
            <a:r>
              <a:rPr lang="en-US" sz="1200" dirty="0">
                <a:effectLst/>
              </a:rPr>
              <a:t>P.O. Box 838 Callicoon NY 12723 </a:t>
            </a:r>
          </a:p>
          <a:p>
            <a:r>
              <a:rPr lang="en-US" sz="1200" dirty="0">
                <a:effectLst/>
              </a:rPr>
              <a:t>Email </a:t>
            </a:r>
            <a:r>
              <a:rPr lang="en-US" sz="1200" dirty="0" err="1">
                <a:effectLst/>
              </a:rPr>
              <a:t>delawarevalleyoilllc@yahoo.com</a:t>
            </a:r>
            <a:endParaRPr lang="en-US" sz="1200" dirty="0">
              <a:effectLst/>
            </a:endParaRPr>
          </a:p>
          <a:p>
            <a:r>
              <a:rPr lang="en-US" sz="1200" dirty="0"/>
              <a:t>Email: </a:t>
            </a:r>
            <a:r>
              <a:rPr lang="en-US" sz="1200" dirty="0" err="1"/>
              <a:t>LeanaStanton@aol.com</a:t>
            </a:r>
            <a:endParaRPr lang="en-US" sz="1200" dirty="0"/>
          </a:p>
          <a:p>
            <a:r>
              <a:rPr lang="en-US" sz="1200" dirty="0"/>
              <a:t>Owner: Casey Milk</a:t>
            </a:r>
          </a:p>
          <a:p>
            <a:r>
              <a:rPr lang="en-US" sz="1200" dirty="0"/>
              <a:t>Truck driver: Larry, Kevin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380C0D2-5EC1-261F-5C36-7F5DC3A1C39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21479" y="4921441"/>
            <a:ext cx="4329202" cy="18005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FC4B971-B9D5-8899-CCF0-429268F160B7}"/>
              </a:ext>
            </a:extLst>
          </p:cNvPr>
          <p:cNvSpPr txBox="1"/>
          <p:nvPr/>
        </p:nvSpPr>
        <p:spPr>
          <a:xfrm>
            <a:off x="3562625" y="136039"/>
            <a:ext cx="106900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>
                <a:solidFill>
                  <a:srgbClr val="FF0000"/>
                </a:solidFill>
              </a:rPr>
              <a:t>Service?</a:t>
            </a:r>
          </a:p>
          <a:p>
            <a:r>
              <a:rPr lang="en-US" sz="1400" b="1">
                <a:solidFill>
                  <a:srgbClr val="FF0000"/>
                </a:solidFill>
              </a:rPr>
              <a:t>Cleaning?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4B8586B-655B-3796-8623-5D607AE246AD}"/>
              </a:ext>
            </a:extLst>
          </p:cNvPr>
          <p:cNvSpPr txBox="1"/>
          <p:nvPr/>
        </p:nvSpPr>
        <p:spPr>
          <a:xfrm>
            <a:off x="3424961" y="659259"/>
            <a:ext cx="2250281" cy="83099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Brian</a:t>
            </a:r>
          </a:p>
          <a:p>
            <a:r>
              <a:rPr lang="en-US" sz="1200" dirty="0"/>
              <a:t>845-645-9403 cell</a:t>
            </a:r>
          </a:p>
          <a:p>
            <a:r>
              <a:rPr lang="en-US" sz="1200" dirty="0"/>
              <a:t>Plumber</a:t>
            </a:r>
          </a:p>
          <a:p>
            <a:r>
              <a:rPr lang="en-US" sz="1200" dirty="0"/>
              <a:t>(Boiler/Filter </a:t>
            </a:r>
            <a:r>
              <a:rPr lang="en-US" sz="1200" dirty="0" err="1"/>
              <a:t>mainenance</a:t>
            </a:r>
            <a:r>
              <a:rPr lang="en-US" sz="1200" dirty="0"/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C3C9F0-2CB3-6295-6E05-74493BFB9A49}"/>
              </a:ext>
            </a:extLst>
          </p:cNvPr>
          <p:cNvSpPr txBox="1"/>
          <p:nvPr/>
        </p:nvSpPr>
        <p:spPr>
          <a:xfrm>
            <a:off x="121480" y="2814746"/>
            <a:ext cx="2216368" cy="46166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2022-07-06: 150 gal ($5.79/gal)</a:t>
            </a:r>
            <a:br>
              <a:rPr lang="en-US" sz="1200" dirty="0"/>
            </a:br>
            <a:r>
              <a:rPr lang="en-US" sz="1200" dirty="0"/>
              <a:t>2022-11-22: 150 gal ($5.59/gal)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6648DA-236B-6772-0175-BECAB63BE447}"/>
              </a:ext>
            </a:extLst>
          </p:cNvPr>
          <p:cNvSpPr txBox="1"/>
          <p:nvPr/>
        </p:nvSpPr>
        <p:spPr>
          <a:xfrm>
            <a:off x="7898059" y="2768579"/>
            <a:ext cx="3532178" cy="175432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/>
              <a:t>DJS Plumbing and Heating</a:t>
            </a:r>
          </a:p>
          <a:p>
            <a:r>
              <a:rPr lang="en-US" sz="1200" dirty="0"/>
              <a:t>Doug Santoro</a:t>
            </a:r>
          </a:p>
          <a:p>
            <a:r>
              <a:rPr lang="en-US" sz="1200" dirty="0"/>
              <a:t>(845) 887-6309 office</a:t>
            </a:r>
          </a:p>
          <a:p>
            <a:r>
              <a:rPr lang="en-US" sz="1200" dirty="0"/>
              <a:t>(845) ... mobile</a:t>
            </a:r>
          </a:p>
          <a:p>
            <a:r>
              <a:rPr lang="en-US" sz="1200" dirty="0"/>
              <a:t>email: </a:t>
            </a:r>
            <a:r>
              <a:rPr lang="en-US" sz="1200" dirty="0" err="1"/>
              <a:t>djsph@hvc.rr.com</a:t>
            </a:r>
            <a:endParaRPr lang="en-US" sz="1200" dirty="0"/>
          </a:p>
          <a:p>
            <a:r>
              <a:rPr lang="en-US" sz="1200" dirty="0"/>
              <a:t>.. https://</a:t>
            </a:r>
            <a:r>
              <a:rPr lang="en-US" sz="1200" dirty="0" err="1"/>
              <a:t>www.djsph.com</a:t>
            </a:r>
            <a:endParaRPr lang="en-US" sz="1200" dirty="0"/>
          </a:p>
          <a:p>
            <a:r>
              <a:rPr lang="en-US" sz="1200" dirty="0"/>
              <a:t>.. </a:t>
            </a:r>
            <a:r>
              <a:rPr lang="en-US" sz="1200" dirty="0">
                <a:hlinkClick r:id="rId3"/>
              </a:rPr>
              <a:t>https://www.facebook.com/DJSPlumbingHeating/</a:t>
            </a:r>
            <a:r>
              <a:rPr lang="en-US" sz="1200" dirty="0"/>
              <a:t> </a:t>
            </a:r>
          </a:p>
          <a:p>
            <a:r>
              <a:rPr lang="en-US" sz="1200" dirty="0"/>
              <a:t>.. 9 Del Vue Rd, Callicoon, NY 12723</a:t>
            </a:r>
          </a:p>
          <a:p>
            <a:r>
              <a:rPr lang="en-US" sz="1200" dirty="0"/>
              <a:t>.. 4-6 weeks waiting for scheduled service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2D43AF-402A-9653-4CDA-87A8363E8799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525244" y="136039"/>
            <a:ext cx="4545277" cy="2467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80512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C4E05B1-D1D3-3C74-6CC1-0FC68B66402A}"/>
              </a:ext>
            </a:extLst>
          </p:cNvPr>
          <p:cNvSpPr txBox="1"/>
          <p:nvPr/>
        </p:nvSpPr>
        <p:spPr>
          <a:xfrm>
            <a:off x="5234534" y="3583016"/>
            <a:ext cx="1971336" cy="8156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Calculator:</a:t>
            </a:r>
          </a:p>
          <a:p>
            <a:r>
              <a:rPr lang="en-US" sz="1100" dirty="0">
                <a:hlinkClick r:id="rId2"/>
              </a:rPr>
              <a:t>https://</a:t>
            </a:r>
            <a:r>
              <a:rPr lang="en-US" sz="1100" dirty="0" err="1">
                <a:hlinkClick r:id="rId2"/>
              </a:rPr>
              <a:t>www.mathsisfun.com</a:t>
            </a:r>
            <a:r>
              <a:rPr lang="en-US" sz="1100" dirty="0">
                <a:hlinkClick r:id="rId2"/>
              </a:rPr>
              <a:t>/geometry/cylinder-horizontal-</a:t>
            </a:r>
            <a:r>
              <a:rPr lang="en-US" sz="1100" dirty="0" err="1">
                <a:hlinkClick r:id="rId2"/>
              </a:rPr>
              <a:t>volume.html</a:t>
            </a:r>
            <a:endParaRPr lang="en-US" sz="11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71890E-ACE8-D2D3-FCB4-F5CFADB82FD7}"/>
              </a:ext>
            </a:extLst>
          </p:cNvPr>
          <p:cNvSpPr txBox="1"/>
          <p:nvPr/>
        </p:nvSpPr>
        <p:spPr>
          <a:xfrm>
            <a:off x="0" y="0"/>
            <a:ext cx="2213514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Oil Tank </a:t>
            </a:r>
            <a:br>
              <a:rPr lang="en-US" sz="2800" b="1" dirty="0"/>
            </a:br>
            <a:r>
              <a:rPr lang="en-US" b="1" dirty="0"/>
              <a:t>48" diameter, 550 gal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FD3474A-43EA-53F4-62FB-95E2D1F2AA7A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79869" y="4488813"/>
            <a:ext cx="2080665" cy="99757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EAF0B40-7A04-ABA7-A078-F096F1D32144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28172" y="5801411"/>
            <a:ext cx="4576809" cy="492007"/>
          </a:xfrm>
          <a:prstGeom prst="rect">
            <a:avLst/>
          </a:prstGeom>
        </p:spPr>
      </p:pic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6DCBC3DE-AEB8-1D2E-DB14-DFB49B11BA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9693489"/>
              </p:ext>
            </p:extLst>
          </p:nvPr>
        </p:nvGraphicFramePr>
        <p:xfrm>
          <a:off x="8080513" y="79966"/>
          <a:ext cx="4034645" cy="5406426"/>
        </p:xfrm>
        <a:graphic>
          <a:graphicData uri="http://schemas.openxmlformats.org/drawingml/2006/table">
            <a:tbl>
              <a:tblPr/>
              <a:tblGrid>
                <a:gridCol w="540253">
                  <a:extLst>
                    <a:ext uri="{9D8B030D-6E8A-4147-A177-3AD203B41FA5}">
                      <a16:colId xmlns:a16="http://schemas.microsoft.com/office/drawing/2014/main" val="1629085675"/>
                    </a:ext>
                  </a:extLst>
                </a:gridCol>
                <a:gridCol w="735662">
                  <a:extLst>
                    <a:ext uri="{9D8B030D-6E8A-4147-A177-3AD203B41FA5}">
                      <a16:colId xmlns:a16="http://schemas.microsoft.com/office/drawing/2014/main" val="728063579"/>
                    </a:ext>
                  </a:extLst>
                </a:gridCol>
                <a:gridCol w="344840">
                  <a:extLst>
                    <a:ext uri="{9D8B030D-6E8A-4147-A177-3AD203B41FA5}">
                      <a16:colId xmlns:a16="http://schemas.microsoft.com/office/drawing/2014/main" val="577979000"/>
                    </a:ext>
                  </a:extLst>
                </a:gridCol>
                <a:gridCol w="459788">
                  <a:extLst>
                    <a:ext uri="{9D8B030D-6E8A-4147-A177-3AD203B41FA5}">
                      <a16:colId xmlns:a16="http://schemas.microsoft.com/office/drawing/2014/main" val="415530821"/>
                    </a:ext>
                  </a:extLst>
                </a:gridCol>
                <a:gridCol w="540253">
                  <a:extLst>
                    <a:ext uri="{9D8B030D-6E8A-4147-A177-3AD203B41FA5}">
                      <a16:colId xmlns:a16="http://schemas.microsoft.com/office/drawing/2014/main" val="4193150815"/>
                    </a:ext>
                  </a:extLst>
                </a:gridCol>
                <a:gridCol w="597725">
                  <a:extLst>
                    <a:ext uri="{9D8B030D-6E8A-4147-A177-3AD203B41FA5}">
                      <a16:colId xmlns:a16="http://schemas.microsoft.com/office/drawing/2014/main" val="2329286384"/>
                    </a:ext>
                  </a:extLst>
                </a:gridCol>
                <a:gridCol w="390820">
                  <a:extLst>
                    <a:ext uri="{9D8B030D-6E8A-4147-A177-3AD203B41FA5}">
                      <a16:colId xmlns:a16="http://schemas.microsoft.com/office/drawing/2014/main" val="4271786362"/>
                    </a:ext>
                  </a:extLst>
                </a:gridCol>
                <a:gridCol w="425304">
                  <a:extLst>
                    <a:ext uri="{9D8B030D-6E8A-4147-A177-3AD203B41FA5}">
                      <a16:colId xmlns:a16="http://schemas.microsoft.com/office/drawing/2014/main" val="1217790681"/>
                    </a:ext>
                  </a:extLst>
                </a:gridCol>
              </a:tblGrid>
              <a:tr h="311538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inch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part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part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gals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inch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part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part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gals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148498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0.02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0.52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290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4758063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0.04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26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0.54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304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10734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0.06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0.56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319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016672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0.08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0.58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333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6149776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0.10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29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0.60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347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9790269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6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0.13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1/8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0.63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5/8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362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784333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0.15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50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31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0.65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376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182816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0.17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60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0.67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390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5425900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9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0.19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71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0.69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403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5354659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0.21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83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0.71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417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5673854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11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0.23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95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0.73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430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868159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0.25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1/4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108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36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0.75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3/4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442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4094709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0.27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120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0.77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455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7102373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0.29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133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0.79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467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1463987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0.31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147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39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0.81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479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23972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16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0.33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160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0.83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490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0270909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0.35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174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41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0.85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500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7252432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0.38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3/8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188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dirty="0">
                          <a:effectLst/>
                        </a:rPr>
                        <a:t>0.88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dirty="0">
                          <a:effectLst/>
                        </a:rPr>
                        <a:t>7/8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dirty="0">
                          <a:effectLst/>
                        </a:rPr>
                        <a:t>510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6734909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19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0.40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203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0.90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520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0950645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0.42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217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0.92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528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748385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21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0.44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231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0.94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536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4179338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0.46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246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46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0.96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542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6657528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23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0.48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260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0.98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sz="1100">
                        <a:effectLst/>
                      </a:endParaRP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547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3703690"/>
                  </a:ext>
                </a:extLst>
              </a:tr>
              <a:tr h="21228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24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0.50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1/2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275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48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1.00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>
                          <a:effectLst/>
                        </a:rPr>
                        <a:t>"1"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100" dirty="0">
                          <a:effectLst/>
                        </a:rPr>
                        <a:t>550</a:t>
                      </a:r>
                    </a:p>
                  </a:txBody>
                  <a:tcPr marL="8321" marR="8321" marT="5547" marB="5547" anchor="b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417702"/>
                  </a:ext>
                </a:extLst>
              </a:tr>
            </a:tbl>
          </a:graphicData>
        </a:graphic>
      </p:graphicFrame>
      <p:pic>
        <p:nvPicPr>
          <p:cNvPr id="2" name="Picture 1" descr="A picture containing indoor, dirty, kitchen appliance&#10;&#10;Description automatically generated">
            <a:extLst>
              <a:ext uri="{FF2B5EF4-FFF2-40B4-BE49-F238E27FC236}">
                <a16:creationId xmlns:a16="http://schemas.microsoft.com/office/drawing/2014/main" id="{4806EC39-920E-2707-D2A6-3B55A6044DE6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430937" y="523592"/>
            <a:ext cx="3076831" cy="38576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EC3A42C-28EA-FF9E-0136-3C468E72A56C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32881" y="4068762"/>
            <a:ext cx="1050684" cy="242936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98DE13C-5950-CF49-53E3-E2D9903CA343}"/>
              </a:ext>
            </a:extLst>
          </p:cNvPr>
          <p:cNvSpPr txBox="1"/>
          <p:nvPr/>
        </p:nvSpPr>
        <p:spPr>
          <a:xfrm>
            <a:off x="2062343" y="5801411"/>
            <a:ext cx="1868952" cy="984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Krueger Sentry Therma Tank Gauge</a:t>
            </a:r>
          </a:p>
          <a:p>
            <a:r>
              <a:rPr lang="en-US" sz="1000" dirty="0">
                <a:hlinkClick r:id="rId7"/>
              </a:rPr>
              <a:t>https://</a:t>
            </a:r>
            <a:r>
              <a:rPr lang="en-US" sz="1000" dirty="0" err="1">
                <a:hlinkClick r:id="rId7"/>
              </a:rPr>
              <a:t>www.jmesales.com</a:t>
            </a:r>
            <a:r>
              <a:rPr lang="en-US" sz="1000" dirty="0">
                <a:hlinkClick r:id="rId7"/>
              </a:rPr>
              <a:t>/krueger-sentry-type-h-2-in-galvanized-therma-tank-gauge/</a:t>
            </a:r>
            <a:endParaRPr lang="en-US" sz="10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F18E931-021C-347B-970E-7EE3338C94DF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842" y="4101599"/>
            <a:ext cx="1446709" cy="1631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44410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070465-8795-8E8D-0B50-3446414507E6}"/>
              </a:ext>
            </a:extLst>
          </p:cNvPr>
          <p:cNvSpPr txBox="1"/>
          <p:nvPr/>
        </p:nvSpPr>
        <p:spPr>
          <a:xfrm>
            <a:off x="0" y="0"/>
            <a:ext cx="310100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Peerless Boiler</a:t>
            </a:r>
          </a:p>
        </p:txBody>
      </p:sp>
      <p:pic>
        <p:nvPicPr>
          <p:cNvPr id="4" name="Picture 3" descr="A picture containing device, dirty, miller, cluttered&#10;&#10;Description automatically generated">
            <a:extLst>
              <a:ext uri="{FF2B5EF4-FFF2-40B4-BE49-F238E27FC236}">
                <a16:creationId xmlns:a16="http://schemas.microsoft.com/office/drawing/2014/main" id="{961BFD51-4021-8E3B-7B7B-B3ADF40286D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5400000">
            <a:off x="-655983" y="2165555"/>
            <a:ext cx="5357191" cy="385762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C43F9B1-8BD9-D70B-20BA-D460D20D9307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107287" y="823302"/>
            <a:ext cx="3781727" cy="139890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5BEE45E-406C-9702-BB17-B3195EB79AA9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33657" y="93012"/>
            <a:ext cx="4064543" cy="43757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041E1AC-444B-9876-F9EA-0859A352646D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18969" y="4596545"/>
            <a:ext cx="1879231" cy="210450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361199B-1F88-0065-0F8F-2335FAEBB58F}"/>
              </a:ext>
            </a:extLst>
          </p:cNvPr>
          <p:cNvSpPr txBox="1"/>
          <p:nvPr/>
        </p:nvSpPr>
        <p:spPr>
          <a:xfrm>
            <a:off x="0" y="523220"/>
            <a:ext cx="3951426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hlinkClick r:id="rId6"/>
              </a:rPr>
              <a:t>https://www.peerlessboilers.com</a:t>
            </a:r>
            <a:r>
              <a:rPr lang="en-US" sz="1100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hlinkClick r:id="rId7"/>
              </a:rPr>
              <a:t>https://</a:t>
            </a:r>
            <a:r>
              <a:rPr lang="en-US" sz="1100" dirty="0" err="1">
                <a:hlinkClick r:id="rId7"/>
              </a:rPr>
              <a:t>www.youtube.com</a:t>
            </a:r>
            <a:r>
              <a:rPr lang="en-US" sz="1100" dirty="0">
                <a:hlinkClick r:id="rId7"/>
              </a:rPr>
              <a:t>/</a:t>
            </a:r>
            <a:r>
              <a:rPr lang="en-US" sz="1100" dirty="0" err="1">
                <a:hlinkClick r:id="rId7"/>
              </a:rPr>
              <a:t>watch?v</a:t>
            </a:r>
            <a:r>
              <a:rPr lang="en-US" sz="1100" dirty="0">
                <a:hlinkClick r:id="rId7"/>
              </a:rPr>
              <a:t>=5GbXgEYw5TE</a:t>
            </a:r>
            <a:endParaRPr lang="en-US" sz="11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/>
              <a:t>xxx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9797784-4826-7124-7E36-1254E5D818DE}"/>
              </a:ext>
            </a:extLst>
          </p:cNvPr>
          <p:cNvSpPr txBox="1"/>
          <p:nvPr/>
        </p:nvSpPr>
        <p:spPr>
          <a:xfrm>
            <a:off x="5646485" y="2806871"/>
            <a:ext cx="200895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Honeywell boiler </a:t>
            </a:r>
            <a:r>
              <a:rPr lang="en-US" sz="1400" dirty="0" err="1"/>
              <a:t>aquastat</a:t>
            </a:r>
            <a:r>
              <a:rPr lang="en-US" sz="1400" dirty="0"/>
              <a:t> (thermostat)</a:t>
            </a:r>
          </a:p>
          <a:p>
            <a:r>
              <a:rPr lang="en-US" sz="1400" dirty="0"/>
              <a:t>sends "more heat" signal</a:t>
            </a:r>
          </a:p>
          <a:p>
            <a:r>
              <a:rPr lang="en-US" sz="1400" dirty="0"/>
              <a:t>to 7505 burner control unit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ADD781-EAD7-4496-89D1-1703C2863C71}"/>
              </a:ext>
            </a:extLst>
          </p:cNvPr>
          <p:cNvSpPr txBox="1"/>
          <p:nvPr/>
        </p:nvSpPr>
        <p:spPr>
          <a:xfrm>
            <a:off x="6966938" y="4943504"/>
            <a:ext cx="312508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Beckett </a:t>
            </a:r>
            <a:r>
              <a:rPr lang="en-US" sz="1200" dirty="0" err="1"/>
              <a:t>GeniSys</a:t>
            </a:r>
            <a:r>
              <a:rPr lang="en-US" sz="1200" dirty="0"/>
              <a:t>™ 7505 oil burner control </a:t>
            </a:r>
            <a:r>
              <a:rPr lang="en-US" sz="1200" dirty="0">
                <a:hlinkClick r:id="rId8"/>
              </a:rPr>
              <a:t>https://www.beckettcorp.com/product/genisys-7505-oil-burner-control/</a:t>
            </a: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used with a suitable cad cell flame sensor to control the oil burner motor, igniter, and optional solenoid valve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has 24 VAC thermostat terminals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can provide interrupted or intermittent duty ignition, and it has a 15 second lockout time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123D31D-181B-5DC2-F5C0-60CC6F7698C4}"/>
              </a:ext>
            </a:extLst>
          </p:cNvPr>
          <p:cNvSpPr txBox="1"/>
          <p:nvPr/>
        </p:nvSpPr>
        <p:spPr>
          <a:xfrm>
            <a:off x="8033657" y="4516188"/>
            <a:ext cx="18792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Specific model 7505A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A6A2F21D-CC68-A2AC-771F-0D28DFB79442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33656" y="131652"/>
            <a:ext cx="4064543" cy="437570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6EC3B41-13DA-CF7B-479F-5236CCD33E77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78369" y="2806871"/>
            <a:ext cx="1441173" cy="97865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CDEC992-7AAE-FD85-346F-0AA5C8C3029D}"/>
              </a:ext>
            </a:extLst>
          </p:cNvPr>
          <p:cNvPicPr>
            <a:picLocks noChangeAspect="1"/>
          </p:cNvPicPr>
          <p:nvPr/>
        </p:nvPicPr>
        <p:blipFill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78369" y="4210493"/>
            <a:ext cx="2761626" cy="2562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85686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B19B9A-B50E-0689-D372-15D53E762033}"/>
              </a:ext>
            </a:extLst>
          </p:cNvPr>
          <p:cNvSpPr txBox="1"/>
          <p:nvPr/>
        </p:nvSpPr>
        <p:spPr>
          <a:xfrm>
            <a:off x="0" y="0"/>
            <a:ext cx="372139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Honeywell </a:t>
            </a:r>
            <a:r>
              <a:rPr lang="en-US" sz="2800" b="1" dirty="0" err="1"/>
              <a:t>Aquastat</a:t>
            </a:r>
            <a:endParaRPr lang="en-US" sz="28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732FA62-7030-9247-BE8B-723131C8932E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81986" y="784000"/>
            <a:ext cx="4684643" cy="347876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5A35325-3294-89FE-A51B-F55B97BD4191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43501" y="783999"/>
            <a:ext cx="2741280" cy="347342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5DBAFE0-6A0F-1C80-0404-7B2AB38470FC}"/>
              </a:ext>
            </a:extLst>
          </p:cNvPr>
          <p:cNvSpPr txBox="1"/>
          <p:nvPr/>
        </p:nvSpPr>
        <p:spPr>
          <a:xfrm>
            <a:off x="4327451" y="4646428"/>
            <a:ext cx="223283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Pictures from internet</a:t>
            </a:r>
          </a:p>
          <a:p>
            <a:pPr algn="ctr"/>
            <a:r>
              <a:rPr lang="en-US" sz="1400" dirty="0"/>
              <a:t>Maybe different model</a:t>
            </a:r>
          </a:p>
          <a:p>
            <a:pPr algn="ctr"/>
            <a:r>
              <a:rPr lang="en-US" sz="1400" dirty="0"/>
              <a:t>$120</a:t>
            </a:r>
          </a:p>
        </p:txBody>
      </p:sp>
    </p:spTree>
    <p:extLst>
      <p:ext uri="{BB962C8B-B14F-4D97-AF65-F5344CB8AC3E}">
        <p14:creationId xmlns:p14="http://schemas.microsoft.com/office/powerpoint/2010/main" val="27560875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B19B9A-B50E-0689-D372-15D53E762033}"/>
              </a:ext>
            </a:extLst>
          </p:cNvPr>
          <p:cNvSpPr txBox="1"/>
          <p:nvPr/>
        </p:nvSpPr>
        <p:spPr>
          <a:xfrm>
            <a:off x="83288" y="1126359"/>
            <a:ext cx="4307959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Google for:</a:t>
            </a:r>
          </a:p>
          <a:p>
            <a:r>
              <a:rPr lang="en-US" sz="1400" dirty="0" err="1"/>
              <a:t>Genisys</a:t>
            </a:r>
            <a:r>
              <a:rPr lang="en-US" sz="1400" dirty="0"/>
              <a:t> 7505 won't start after power outage</a:t>
            </a:r>
          </a:p>
          <a:p>
            <a:endParaRPr lang="en-US" sz="1400" dirty="0"/>
          </a:p>
          <a:p>
            <a:r>
              <a:rPr lang="en-US" sz="1400" dirty="0"/>
              <a:t>Video troubleshooting the 7505</a:t>
            </a:r>
          </a:p>
          <a:p>
            <a:r>
              <a:rPr lang="en-US" sz="1400" dirty="0"/>
              <a:t>.. </a:t>
            </a:r>
            <a:r>
              <a:rPr lang="en-US" sz="1400" dirty="0">
                <a:hlinkClick r:id="rId2"/>
              </a:rPr>
              <a:t>https://</a:t>
            </a:r>
            <a:r>
              <a:rPr lang="en-US" sz="1400" dirty="0" err="1">
                <a:hlinkClick r:id="rId2"/>
              </a:rPr>
              <a:t>www.youtube.com</a:t>
            </a:r>
            <a:r>
              <a:rPr lang="en-US" sz="1400" dirty="0">
                <a:hlinkClick r:id="rId2"/>
              </a:rPr>
              <a:t>/</a:t>
            </a:r>
            <a:r>
              <a:rPr lang="en-US" sz="1400" dirty="0" err="1">
                <a:hlinkClick r:id="rId2"/>
              </a:rPr>
              <a:t>watch?v</a:t>
            </a:r>
            <a:r>
              <a:rPr lang="en-US" sz="1400" dirty="0">
                <a:hlinkClick r:id="rId2"/>
              </a:rPr>
              <a:t>=Wd7vrkUDaz4</a:t>
            </a:r>
            <a:endParaRPr lang="en-US" sz="1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934772-4DEB-8B94-EBB9-1085F4051A39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56384" y="853885"/>
            <a:ext cx="1879231" cy="21045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52DFAD3-0585-574B-7103-CFE5B2D8DC56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99301" y="848569"/>
            <a:ext cx="3619500" cy="35433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E5EF694-94BF-68B8-9F75-42F66F75A4C0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288" y="3413542"/>
            <a:ext cx="6012712" cy="334215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D571962-2A19-077E-C34A-D6933E460260}"/>
              </a:ext>
            </a:extLst>
          </p:cNvPr>
          <p:cNvSpPr txBox="1"/>
          <p:nvPr/>
        </p:nvSpPr>
        <p:spPr>
          <a:xfrm>
            <a:off x="0" y="0"/>
            <a:ext cx="52869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Troubleshooting  </a:t>
            </a:r>
            <a:r>
              <a:rPr lang="en-US" sz="2800" b="1" dirty="0" err="1"/>
              <a:t>Genisys</a:t>
            </a:r>
            <a:r>
              <a:rPr lang="en-US" sz="2800" b="1" dirty="0"/>
              <a:t> 7505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20B81A-CE5A-82C1-7D2D-56C964B9663D}"/>
              </a:ext>
            </a:extLst>
          </p:cNvPr>
          <p:cNvSpPr txBox="1"/>
          <p:nvPr/>
        </p:nvSpPr>
        <p:spPr>
          <a:xfrm>
            <a:off x="7289061" y="5084617"/>
            <a:ext cx="392341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Checks for flame presence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Ignites – and checks that it is ignited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reacts to signal "more heat" to start/stop blower (and shut off the valve)</a:t>
            </a:r>
          </a:p>
        </p:txBody>
      </p:sp>
    </p:spTree>
    <p:extLst>
      <p:ext uri="{BB962C8B-B14F-4D97-AF65-F5344CB8AC3E}">
        <p14:creationId xmlns:p14="http://schemas.microsoft.com/office/powerpoint/2010/main" val="16414996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B19B9A-B50E-0689-D372-15D53E762033}"/>
              </a:ext>
            </a:extLst>
          </p:cNvPr>
          <p:cNvSpPr txBox="1"/>
          <p:nvPr/>
        </p:nvSpPr>
        <p:spPr>
          <a:xfrm>
            <a:off x="0" y="626105"/>
            <a:ext cx="459326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Google Nest Thermostat:</a:t>
            </a:r>
          </a:p>
          <a:p>
            <a:r>
              <a:rPr lang="en-US" sz="1400" dirty="0"/>
              <a:t>.. </a:t>
            </a:r>
            <a:r>
              <a:rPr lang="en-US" sz="1400" dirty="0">
                <a:hlinkClick r:id="rId2"/>
              </a:rPr>
              <a:t>https://</a:t>
            </a:r>
            <a:r>
              <a:rPr lang="en-US" sz="1400" dirty="0" err="1">
                <a:hlinkClick r:id="rId2"/>
              </a:rPr>
              <a:t>store.google.com</a:t>
            </a:r>
            <a:r>
              <a:rPr lang="en-US" sz="1400" dirty="0">
                <a:hlinkClick r:id="rId2"/>
              </a:rPr>
              <a:t>/us/product/</a:t>
            </a:r>
            <a:r>
              <a:rPr lang="en-US" sz="1400" dirty="0" err="1">
                <a:hlinkClick r:id="rId2"/>
              </a:rPr>
              <a:t>nest_thermostat</a:t>
            </a:r>
            <a:endParaRPr lang="en-US" sz="1400" dirty="0"/>
          </a:p>
          <a:p>
            <a:r>
              <a:rPr lang="en-US" sz="1400" dirty="0"/>
              <a:t>Nest </a:t>
            </a:r>
            <a:r>
              <a:rPr lang="en-US" sz="1400" dirty="0" err="1"/>
              <a:t>Wifi</a:t>
            </a:r>
            <a:r>
              <a:rPr lang="en-US" sz="1400" dirty="0"/>
              <a:t> requires a Nest </a:t>
            </a:r>
            <a:r>
              <a:rPr lang="en-US" sz="1400" dirty="0" err="1"/>
              <a:t>Wifi</a:t>
            </a:r>
            <a:r>
              <a:rPr lang="en-US" sz="1400" dirty="0"/>
              <a:t> router (or Google </a:t>
            </a:r>
            <a:r>
              <a:rPr lang="en-US" sz="1400" dirty="0" err="1"/>
              <a:t>WiFi</a:t>
            </a:r>
            <a:r>
              <a:rPr lang="en-US" sz="1400" dirty="0"/>
              <a:t>)</a:t>
            </a:r>
          </a:p>
          <a:p>
            <a:r>
              <a:rPr lang="en-US" sz="1400" dirty="0"/>
              <a:t>Latest - Nest </a:t>
            </a:r>
            <a:r>
              <a:rPr lang="en-US" sz="1400" dirty="0" err="1"/>
              <a:t>Wifi</a:t>
            </a:r>
            <a:r>
              <a:rPr lang="en-US" sz="1400" dirty="0"/>
              <a:t> Pro router ($200)</a:t>
            </a:r>
          </a:p>
          <a:p>
            <a:endParaRPr lang="en-US" sz="1400" dirty="0"/>
          </a:p>
          <a:p>
            <a:r>
              <a:rPr lang="en-US" sz="1400" dirty="0"/>
              <a:t>The devices are controlled using Google Home App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A13167-72BE-3016-0C51-F732F7A64CA4}"/>
              </a:ext>
            </a:extLst>
          </p:cNvPr>
          <p:cNvSpPr txBox="1"/>
          <p:nvPr/>
        </p:nvSpPr>
        <p:spPr>
          <a:xfrm>
            <a:off x="0" y="0"/>
            <a:ext cx="52869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Google Nest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7FBCC3C-D46C-0DDE-CB4B-9571E8F72043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825562" y="110663"/>
            <a:ext cx="4272517" cy="307541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B0A6DBD-29A9-3B38-8B50-C2D85C70CF7E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3921" y="2113985"/>
            <a:ext cx="4850218" cy="135387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F9F5ADA-B0FF-0732-50FB-9A5260346F8C}"/>
              </a:ext>
            </a:extLst>
          </p:cNvPr>
          <p:cNvSpPr txBox="1"/>
          <p:nvPr/>
        </p:nvSpPr>
        <p:spPr>
          <a:xfrm>
            <a:off x="93921" y="3601865"/>
            <a:ext cx="5286924" cy="19543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hlinkClick r:id="rId5"/>
              </a:rPr>
              <a:t>https://www.cnet.com/home/internet/nest-wifi-vs-nest-wifi-pro-wi-fi-6e-mesh-routers/</a:t>
            </a:r>
            <a:endParaRPr lang="en-US" sz="1100" dirty="0"/>
          </a:p>
          <a:p>
            <a:endParaRPr lang="en-US" sz="1100" dirty="0"/>
          </a:p>
          <a:p>
            <a:endParaRPr lang="en-US" sz="1100" dirty="0"/>
          </a:p>
          <a:p>
            <a:r>
              <a:rPr lang="en-US" sz="1100" dirty="0">
                <a:hlinkClick r:id="rId6"/>
              </a:rPr>
              <a:t>https://www.doityourself.com/forum/thermostatic-controls/602985-connecting-nest-thermostat-genisys-7505-oil-burner.html</a:t>
            </a:r>
            <a:endParaRPr lang="en-US" sz="1100" dirty="0"/>
          </a:p>
          <a:p>
            <a:endParaRPr lang="en-US" sz="1100" dirty="0"/>
          </a:p>
          <a:p>
            <a:r>
              <a:rPr lang="en-US" sz="1100" dirty="0">
                <a:hlinkClick r:id="rId7"/>
              </a:rPr>
              <a:t>https://</a:t>
            </a:r>
            <a:r>
              <a:rPr lang="en-US" sz="1100" dirty="0" err="1">
                <a:hlinkClick r:id="rId7"/>
              </a:rPr>
              <a:t>www.youtube.com</a:t>
            </a:r>
            <a:r>
              <a:rPr lang="en-US" sz="1100" dirty="0">
                <a:hlinkClick r:id="rId7"/>
              </a:rPr>
              <a:t>/</a:t>
            </a:r>
            <a:r>
              <a:rPr lang="en-US" sz="1100" dirty="0" err="1">
                <a:hlinkClick r:id="rId7"/>
              </a:rPr>
              <a:t>watch?v</a:t>
            </a:r>
            <a:r>
              <a:rPr lang="en-US" sz="1100" dirty="0">
                <a:hlinkClick r:id="rId7"/>
              </a:rPr>
              <a:t>=WFDPWIKKBHY</a:t>
            </a:r>
            <a:endParaRPr lang="en-US" sz="1100" dirty="0"/>
          </a:p>
          <a:p>
            <a:endParaRPr lang="en-US" sz="1100" dirty="0"/>
          </a:p>
          <a:p>
            <a:endParaRPr lang="en-US" sz="1100" dirty="0"/>
          </a:p>
          <a:p>
            <a:endParaRPr lang="en-US" sz="1100" dirty="0"/>
          </a:p>
          <a:p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4872512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559</TotalTime>
  <Words>626</Words>
  <Application>Microsoft Macintosh PowerPoint</Application>
  <PresentationFormat>Widescreen</PresentationFormat>
  <Paragraphs>232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Lev Selector</dc:creator>
  <cp:lastModifiedBy>Lev Selector</cp:lastModifiedBy>
  <cp:revision>30</cp:revision>
  <dcterms:created xsi:type="dcterms:W3CDTF">2022-06-02T16:58:09Z</dcterms:created>
  <dcterms:modified xsi:type="dcterms:W3CDTF">2022-11-28T02:05:29Z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f518368-b969-4042-91d9-8939bd921da2_Enabled">
    <vt:lpwstr>true</vt:lpwstr>
  </property>
  <property fmtid="{D5CDD505-2E9C-101B-9397-08002B2CF9AE}" pid="3" name="MSIP_Label_4f518368-b969-4042-91d9-8939bd921da2_SetDate">
    <vt:lpwstr>2022-06-02T16:58:10Z</vt:lpwstr>
  </property>
  <property fmtid="{D5CDD505-2E9C-101B-9397-08002B2CF9AE}" pid="4" name="MSIP_Label_4f518368-b969-4042-91d9-8939bd921da2_Method">
    <vt:lpwstr>Standard</vt:lpwstr>
  </property>
  <property fmtid="{D5CDD505-2E9C-101B-9397-08002B2CF9AE}" pid="5" name="MSIP_Label_4f518368-b969-4042-91d9-8939bd921da2_Name">
    <vt:lpwstr>General</vt:lpwstr>
  </property>
  <property fmtid="{D5CDD505-2E9C-101B-9397-08002B2CF9AE}" pid="6" name="MSIP_Label_4f518368-b969-4042-91d9-8939bd921da2_SiteId">
    <vt:lpwstr>116e9905-19fc-428e-93d4-bcaffb833597</vt:lpwstr>
  </property>
  <property fmtid="{D5CDD505-2E9C-101B-9397-08002B2CF9AE}" pid="7" name="MSIP_Label_4f518368-b969-4042-91d9-8939bd921da2_ActionId">
    <vt:lpwstr>93134c22-9ab4-41e7-a5b4-b1f73aac775b</vt:lpwstr>
  </property>
  <property fmtid="{D5CDD505-2E9C-101B-9397-08002B2CF9AE}" pid="8" name="MSIP_Label_4f518368-b969-4042-91d9-8939bd921da2_ContentBits">
    <vt:lpwstr>0</vt:lpwstr>
  </property>
</Properties>
</file>