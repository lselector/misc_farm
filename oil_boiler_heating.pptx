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60"/>
    <p:restoredTop sz="93633"/>
  </p:normalViewPr>
  <p:slideViewPr>
    <p:cSldViewPr snapToGrid="0" snapToObjects="1">
      <p:cViewPr varScale="1">
        <p:scale>
          <a:sx n="106" d="100"/>
          <a:sy n="106" d="100"/>
        </p:scale>
        <p:origin x="216" y="9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11/28/22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11/28/22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11/28/22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11/28/22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acebook.com/DJSPlumbingHeating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hyperlink" Target="https://www.jmesales.com/krueger-sentry-type-h-2-in-galvanized-therma-tank-gauge/" TargetMode="External"/><Relationship Id="rId2" Type="http://schemas.openxmlformats.org/officeDocument/2006/relationships/hyperlink" Target="https://www.mathsisfun.com/geometry/cylinder-horizontal-volume.html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beckettcorp.com/product/genisys-7505-oil-burner-control/" TargetMode="External"/><Relationship Id="rId3" Type="http://schemas.openxmlformats.org/officeDocument/2006/relationships/image" Target="../media/image9.png"/><Relationship Id="rId7" Type="http://schemas.openxmlformats.org/officeDocument/2006/relationships/hyperlink" Target="https://www.youtube.com/watch?v=5GbXgEYw5TE" TargetMode="Externa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peerlessboilers.com/" TargetMode="External"/><Relationship Id="rId5" Type="http://schemas.openxmlformats.org/officeDocument/2006/relationships/image" Target="../media/image11.png"/><Relationship Id="rId10" Type="http://schemas.openxmlformats.org/officeDocument/2006/relationships/image" Target="../media/image13.png"/><Relationship Id="rId4" Type="http://schemas.openxmlformats.org/officeDocument/2006/relationships/image" Target="../media/image10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www.youtube.com/watch?v=Wd7vrkUDaz4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google.com/us/widget/compatibility/thermostat" TargetMode="External"/><Relationship Id="rId3" Type="http://schemas.openxmlformats.org/officeDocument/2006/relationships/image" Target="../media/image18.png"/><Relationship Id="rId7" Type="http://schemas.openxmlformats.org/officeDocument/2006/relationships/hyperlink" Target="https://www.youtube.com/watch?v=WFDPWIKKBHY" TargetMode="External"/><Relationship Id="rId2" Type="http://schemas.openxmlformats.org/officeDocument/2006/relationships/hyperlink" Target="https://store.google.com/us/product/nest_thermostat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doityourself.com/forum/thermostatic-controls/602985-connecting-nest-thermostat-genisys-7505-oil-burner.html" TargetMode="External"/><Relationship Id="rId5" Type="http://schemas.openxmlformats.org/officeDocument/2006/relationships/hyperlink" Target="https://www.cnet.com/home/internet/nest-wifi-vs-nest-wifi-pro-wi-fi-6e-mesh-routers/" TargetMode="External"/><Relationship Id="rId4" Type="http://schemas.openxmlformats.org/officeDocument/2006/relationships/image" Target="../media/image19.png"/><Relationship Id="rId9" Type="http://schemas.openxmlformats.org/officeDocument/2006/relationships/hyperlink" Target="https://support.google.com/googlenest/answer/924665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6B310C2-CE44-BD76-D583-B4E3D7BDFA4A}"/>
              </a:ext>
            </a:extLst>
          </p:cNvPr>
          <p:cNvSpPr txBox="1"/>
          <p:nvPr/>
        </p:nvSpPr>
        <p:spPr>
          <a:xfrm>
            <a:off x="0" y="0"/>
            <a:ext cx="33793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Oil - 550 Gallon Tank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EEB734-25C1-5F8A-526D-3CB1B8DD47B1}"/>
              </a:ext>
            </a:extLst>
          </p:cNvPr>
          <p:cNvSpPr txBox="1"/>
          <p:nvPr/>
        </p:nvSpPr>
        <p:spPr>
          <a:xfrm>
            <a:off x="121479" y="523220"/>
            <a:ext cx="3136346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effectLst/>
              </a:rPr>
              <a:t>Delaware Valley Oil</a:t>
            </a:r>
          </a:p>
          <a:p>
            <a:r>
              <a:rPr lang="en-US" sz="1200" dirty="0">
                <a:effectLst/>
              </a:rPr>
              <a:t>http://</a:t>
            </a:r>
            <a:r>
              <a:rPr lang="en-US" sz="1200" dirty="0" err="1">
                <a:effectLst/>
              </a:rPr>
              <a:t>dvoil.com</a:t>
            </a:r>
            <a:endParaRPr lang="en-US" sz="1200" dirty="0">
              <a:effectLst/>
            </a:endParaRPr>
          </a:p>
          <a:p>
            <a:r>
              <a:rPr lang="en-US" sz="1200" dirty="0"/>
              <a:t>Phone (845)-887-6090</a:t>
            </a:r>
            <a:r>
              <a:rPr lang="en-US" sz="1200" dirty="0">
                <a:effectLst/>
              </a:rPr>
              <a:t> </a:t>
            </a:r>
          </a:p>
          <a:p>
            <a:r>
              <a:rPr lang="en-US" sz="1200" dirty="0"/>
              <a:t>Office: M-F 8am-4pm</a:t>
            </a:r>
          </a:p>
          <a:p>
            <a:r>
              <a:rPr lang="en-US" sz="1200" dirty="0"/>
              <a:t>3 Bridge Street, Callicoon, NY 12723</a:t>
            </a:r>
            <a:endParaRPr lang="en-US" sz="1200" dirty="0">
              <a:effectLst/>
            </a:endParaRPr>
          </a:p>
          <a:p>
            <a:r>
              <a:rPr lang="en-US" sz="1200" dirty="0">
                <a:effectLst/>
              </a:rPr>
              <a:t>P.O. Box 838 Callicoon NY 12723 </a:t>
            </a:r>
          </a:p>
          <a:p>
            <a:r>
              <a:rPr lang="en-US" sz="1200" dirty="0">
                <a:effectLst/>
              </a:rPr>
              <a:t>Email </a:t>
            </a:r>
            <a:r>
              <a:rPr lang="en-US" sz="1200" dirty="0" err="1">
                <a:effectLst/>
              </a:rPr>
              <a:t>delawarevalleyoilllc@yahoo.com</a:t>
            </a:r>
            <a:endParaRPr lang="en-US" sz="1200" dirty="0">
              <a:effectLst/>
            </a:endParaRPr>
          </a:p>
          <a:p>
            <a:r>
              <a:rPr lang="en-US" sz="1200" dirty="0"/>
              <a:t>Email: </a:t>
            </a:r>
            <a:r>
              <a:rPr lang="en-US" sz="1200" dirty="0" err="1"/>
              <a:t>LeanaStanton@aol.com</a:t>
            </a:r>
            <a:endParaRPr lang="en-US" sz="1200" dirty="0"/>
          </a:p>
          <a:p>
            <a:r>
              <a:rPr lang="en-US" sz="1200" dirty="0"/>
              <a:t>Owner: Casey Milk</a:t>
            </a:r>
          </a:p>
          <a:p>
            <a:r>
              <a:rPr lang="en-US" sz="1200" dirty="0"/>
              <a:t>Truck driver: Larry, Kevin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380C0D2-5EC1-261F-5C36-7F5DC3A1C3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21479" y="4921441"/>
            <a:ext cx="4329202" cy="1800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C4B971-B9D5-8899-CCF0-429268F160B7}"/>
              </a:ext>
            </a:extLst>
          </p:cNvPr>
          <p:cNvSpPr txBox="1"/>
          <p:nvPr/>
        </p:nvSpPr>
        <p:spPr>
          <a:xfrm>
            <a:off x="3562625" y="136039"/>
            <a:ext cx="10690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Service?</a:t>
            </a:r>
          </a:p>
          <a:p>
            <a:r>
              <a:rPr lang="en-US" sz="1400" b="1">
                <a:solidFill>
                  <a:srgbClr val="FF0000"/>
                </a:solidFill>
              </a:rPr>
              <a:t>Cleaning?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B8586B-655B-3796-8623-5D607AE246AD}"/>
              </a:ext>
            </a:extLst>
          </p:cNvPr>
          <p:cNvSpPr txBox="1"/>
          <p:nvPr/>
        </p:nvSpPr>
        <p:spPr>
          <a:xfrm>
            <a:off x="3424961" y="659259"/>
            <a:ext cx="2250281" cy="83099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Brian</a:t>
            </a:r>
          </a:p>
          <a:p>
            <a:r>
              <a:rPr lang="en-US" sz="1200" dirty="0"/>
              <a:t>845-645-9403 cell</a:t>
            </a:r>
          </a:p>
          <a:p>
            <a:r>
              <a:rPr lang="en-US" sz="1200" dirty="0"/>
              <a:t>Plumber</a:t>
            </a:r>
          </a:p>
          <a:p>
            <a:r>
              <a:rPr lang="en-US" sz="1200" dirty="0"/>
              <a:t>(Boiler/Filter </a:t>
            </a:r>
            <a:r>
              <a:rPr lang="en-US" sz="1200" dirty="0" err="1"/>
              <a:t>mainenance</a:t>
            </a:r>
            <a:r>
              <a:rPr lang="en-US" sz="12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C3C9F0-2CB3-6295-6E05-74493BFB9A49}"/>
              </a:ext>
            </a:extLst>
          </p:cNvPr>
          <p:cNvSpPr txBox="1"/>
          <p:nvPr/>
        </p:nvSpPr>
        <p:spPr>
          <a:xfrm>
            <a:off x="121480" y="2814746"/>
            <a:ext cx="2216368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2022-07-06: 150 gal ($5.79/gal)</a:t>
            </a:r>
            <a:br>
              <a:rPr lang="en-US" sz="1200" dirty="0"/>
            </a:br>
            <a:r>
              <a:rPr lang="en-US" sz="1200" dirty="0"/>
              <a:t>2022-11-22: 150 gal ($5.59/gal)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6648DA-236B-6772-0175-BECAB63BE447}"/>
              </a:ext>
            </a:extLst>
          </p:cNvPr>
          <p:cNvSpPr txBox="1"/>
          <p:nvPr/>
        </p:nvSpPr>
        <p:spPr>
          <a:xfrm>
            <a:off x="7898059" y="2768579"/>
            <a:ext cx="3532178" cy="175432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DJS Plumbing and Heating</a:t>
            </a:r>
          </a:p>
          <a:p>
            <a:r>
              <a:rPr lang="en-US" sz="1200" dirty="0"/>
              <a:t>Doug Santoro</a:t>
            </a:r>
          </a:p>
          <a:p>
            <a:r>
              <a:rPr lang="en-US" sz="1200" dirty="0"/>
              <a:t>(845) 887-6309 office</a:t>
            </a:r>
          </a:p>
          <a:p>
            <a:r>
              <a:rPr lang="en-US" sz="1200" dirty="0"/>
              <a:t>(845) ... mobile</a:t>
            </a:r>
          </a:p>
          <a:p>
            <a:r>
              <a:rPr lang="en-US" sz="1200" dirty="0"/>
              <a:t>email: </a:t>
            </a:r>
            <a:r>
              <a:rPr lang="en-US" sz="1200" dirty="0" err="1"/>
              <a:t>djsph@hvc.rr.com</a:t>
            </a:r>
            <a:endParaRPr lang="en-US" sz="1200" dirty="0"/>
          </a:p>
          <a:p>
            <a:r>
              <a:rPr lang="en-US" sz="1200" dirty="0"/>
              <a:t>.. https://</a:t>
            </a:r>
            <a:r>
              <a:rPr lang="en-US" sz="1200" dirty="0" err="1"/>
              <a:t>www.djsph.com</a:t>
            </a:r>
            <a:endParaRPr lang="en-US" sz="1200" dirty="0"/>
          </a:p>
          <a:p>
            <a:r>
              <a:rPr lang="en-US" sz="1200" dirty="0"/>
              <a:t>.. </a:t>
            </a:r>
            <a:r>
              <a:rPr lang="en-US" sz="1200" dirty="0">
                <a:hlinkClick r:id="rId3"/>
              </a:rPr>
              <a:t>https://www.facebook.com/DJSPlumbingHeating/</a:t>
            </a:r>
            <a:r>
              <a:rPr lang="en-US" sz="1200" dirty="0"/>
              <a:t> </a:t>
            </a:r>
          </a:p>
          <a:p>
            <a:r>
              <a:rPr lang="en-US" sz="1200" dirty="0"/>
              <a:t>.. 9 Del Vue Rd, Callicoon, NY 12723</a:t>
            </a:r>
          </a:p>
          <a:p>
            <a:r>
              <a:rPr lang="en-US" sz="1200" dirty="0"/>
              <a:t>.. 4-6 weeks waiting for scheduled service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2D43AF-402A-9653-4CDA-87A8363E8799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25244" y="136039"/>
            <a:ext cx="4545277" cy="2467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0512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C4E05B1-D1D3-3C74-6CC1-0FC68B66402A}"/>
              </a:ext>
            </a:extLst>
          </p:cNvPr>
          <p:cNvSpPr txBox="1"/>
          <p:nvPr/>
        </p:nvSpPr>
        <p:spPr>
          <a:xfrm>
            <a:off x="5234534" y="3583016"/>
            <a:ext cx="1971336" cy="815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Calculator:</a:t>
            </a:r>
          </a:p>
          <a:p>
            <a:r>
              <a:rPr lang="en-US" sz="1100" dirty="0">
                <a:hlinkClick r:id="rId2"/>
              </a:rPr>
              <a:t>https://</a:t>
            </a:r>
            <a:r>
              <a:rPr lang="en-US" sz="1100" dirty="0" err="1">
                <a:hlinkClick r:id="rId2"/>
              </a:rPr>
              <a:t>www.mathsisfun.com</a:t>
            </a:r>
            <a:r>
              <a:rPr lang="en-US" sz="1100" dirty="0">
                <a:hlinkClick r:id="rId2"/>
              </a:rPr>
              <a:t>/geometry/cylinder-horizontal-</a:t>
            </a:r>
            <a:r>
              <a:rPr lang="en-US" sz="1100" dirty="0" err="1">
                <a:hlinkClick r:id="rId2"/>
              </a:rPr>
              <a:t>volume.html</a:t>
            </a:r>
            <a:endParaRPr lang="en-US" sz="11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71890E-ACE8-D2D3-FCB4-F5CFADB82FD7}"/>
              </a:ext>
            </a:extLst>
          </p:cNvPr>
          <p:cNvSpPr txBox="1"/>
          <p:nvPr/>
        </p:nvSpPr>
        <p:spPr>
          <a:xfrm>
            <a:off x="0" y="0"/>
            <a:ext cx="2213514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Oil Tank </a:t>
            </a:r>
            <a:br>
              <a:rPr lang="en-US" sz="2800" b="1" dirty="0"/>
            </a:br>
            <a:r>
              <a:rPr lang="en-US" b="1" dirty="0"/>
              <a:t>48" diameter, 550 gal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D3474A-43EA-53F4-62FB-95E2D1F2AA7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79869" y="4488813"/>
            <a:ext cx="2080665" cy="9975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EAF0B40-7A04-ABA7-A078-F096F1D32144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28172" y="5801411"/>
            <a:ext cx="4576809" cy="492007"/>
          </a:xfrm>
          <a:prstGeom prst="rect">
            <a:avLst/>
          </a:prstGeom>
        </p:spPr>
      </p:pic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6DCBC3DE-AEB8-1D2E-DB14-DFB49B11B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9693489"/>
              </p:ext>
            </p:extLst>
          </p:nvPr>
        </p:nvGraphicFramePr>
        <p:xfrm>
          <a:off x="8080513" y="79966"/>
          <a:ext cx="4034645" cy="5406426"/>
        </p:xfrm>
        <a:graphic>
          <a:graphicData uri="http://schemas.openxmlformats.org/drawingml/2006/table">
            <a:tbl>
              <a:tblPr/>
              <a:tblGrid>
                <a:gridCol w="540253">
                  <a:extLst>
                    <a:ext uri="{9D8B030D-6E8A-4147-A177-3AD203B41FA5}">
                      <a16:colId xmlns:a16="http://schemas.microsoft.com/office/drawing/2014/main" val="1629085675"/>
                    </a:ext>
                  </a:extLst>
                </a:gridCol>
                <a:gridCol w="735662">
                  <a:extLst>
                    <a:ext uri="{9D8B030D-6E8A-4147-A177-3AD203B41FA5}">
                      <a16:colId xmlns:a16="http://schemas.microsoft.com/office/drawing/2014/main" val="728063579"/>
                    </a:ext>
                  </a:extLst>
                </a:gridCol>
                <a:gridCol w="344840">
                  <a:extLst>
                    <a:ext uri="{9D8B030D-6E8A-4147-A177-3AD203B41FA5}">
                      <a16:colId xmlns:a16="http://schemas.microsoft.com/office/drawing/2014/main" val="577979000"/>
                    </a:ext>
                  </a:extLst>
                </a:gridCol>
                <a:gridCol w="459788">
                  <a:extLst>
                    <a:ext uri="{9D8B030D-6E8A-4147-A177-3AD203B41FA5}">
                      <a16:colId xmlns:a16="http://schemas.microsoft.com/office/drawing/2014/main" val="415530821"/>
                    </a:ext>
                  </a:extLst>
                </a:gridCol>
                <a:gridCol w="540253">
                  <a:extLst>
                    <a:ext uri="{9D8B030D-6E8A-4147-A177-3AD203B41FA5}">
                      <a16:colId xmlns:a16="http://schemas.microsoft.com/office/drawing/2014/main" val="4193150815"/>
                    </a:ext>
                  </a:extLst>
                </a:gridCol>
                <a:gridCol w="597725">
                  <a:extLst>
                    <a:ext uri="{9D8B030D-6E8A-4147-A177-3AD203B41FA5}">
                      <a16:colId xmlns:a16="http://schemas.microsoft.com/office/drawing/2014/main" val="2329286384"/>
                    </a:ext>
                  </a:extLst>
                </a:gridCol>
                <a:gridCol w="390820">
                  <a:extLst>
                    <a:ext uri="{9D8B030D-6E8A-4147-A177-3AD203B41FA5}">
                      <a16:colId xmlns:a16="http://schemas.microsoft.com/office/drawing/2014/main" val="4271786362"/>
                    </a:ext>
                  </a:extLst>
                </a:gridCol>
                <a:gridCol w="425304">
                  <a:extLst>
                    <a:ext uri="{9D8B030D-6E8A-4147-A177-3AD203B41FA5}">
                      <a16:colId xmlns:a16="http://schemas.microsoft.com/office/drawing/2014/main" val="1217790681"/>
                    </a:ext>
                  </a:extLst>
                </a:gridCol>
              </a:tblGrid>
              <a:tr h="311538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inch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part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part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gals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inch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part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part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gals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148498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0.02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290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4758063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0.04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304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10734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0.06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319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016672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0.08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333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6149776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347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979026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1/8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5/8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362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784333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376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82816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60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390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5425900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71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403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535465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83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417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5673854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95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430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86815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1/4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108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3/4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442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409470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120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455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7102373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133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467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1463987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0.31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147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0.81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479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3972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0.33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160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0.83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490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027090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0.35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174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0.85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500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7252432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0.38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3/8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188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dirty="0">
                          <a:effectLst/>
                        </a:rPr>
                        <a:t>0.88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dirty="0">
                          <a:effectLst/>
                        </a:rPr>
                        <a:t>7/8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dirty="0">
                          <a:effectLst/>
                        </a:rPr>
                        <a:t>510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673490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203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520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0950645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217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528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748385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231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536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179338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246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542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6657528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260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547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3703690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1/2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275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1.00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"1"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dirty="0">
                          <a:effectLst/>
                        </a:rPr>
                        <a:t>550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417702"/>
                  </a:ext>
                </a:extLst>
              </a:tr>
            </a:tbl>
          </a:graphicData>
        </a:graphic>
      </p:graphicFrame>
      <p:pic>
        <p:nvPicPr>
          <p:cNvPr id="2" name="Picture 1" descr="A picture containing indoor, dirty, kitchen appliance&#10;&#10;Description automatically generated">
            <a:extLst>
              <a:ext uri="{FF2B5EF4-FFF2-40B4-BE49-F238E27FC236}">
                <a16:creationId xmlns:a16="http://schemas.microsoft.com/office/drawing/2014/main" id="{4806EC39-920E-2707-D2A6-3B55A6044DE6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430937" y="523592"/>
            <a:ext cx="3076831" cy="38576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EC3A42C-28EA-FF9E-0136-3C468E72A56C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32881" y="4068762"/>
            <a:ext cx="1050684" cy="24293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98DE13C-5950-CF49-53E3-E2D9903CA343}"/>
              </a:ext>
            </a:extLst>
          </p:cNvPr>
          <p:cNvSpPr txBox="1"/>
          <p:nvPr/>
        </p:nvSpPr>
        <p:spPr>
          <a:xfrm>
            <a:off x="2062343" y="5801411"/>
            <a:ext cx="1868952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Krueger Sentry Therma Tank Gauge</a:t>
            </a:r>
          </a:p>
          <a:p>
            <a:r>
              <a:rPr lang="en-US" sz="1000" dirty="0">
                <a:hlinkClick r:id="rId7"/>
              </a:rPr>
              <a:t>https://</a:t>
            </a:r>
            <a:r>
              <a:rPr lang="en-US" sz="1000" dirty="0" err="1">
                <a:hlinkClick r:id="rId7"/>
              </a:rPr>
              <a:t>www.jmesales.com</a:t>
            </a:r>
            <a:r>
              <a:rPr lang="en-US" sz="1000" dirty="0">
                <a:hlinkClick r:id="rId7"/>
              </a:rPr>
              <a:t>/krueger-sentry-type-h-2-in-galvanized-therma-tank-gauge/</a:t>
            </a:r>
            <a:endParaRPr lang="en-US" sz="10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F18E931-021C-347B-970E-7EE3338C94DF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" y="4101599"/>
            <a:ext cx="1446709" cy="163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441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070465-8795-8E8D-0B50-3446414507E6}"/>
              </a:ext>
            </a:extLst>
          </p:cNvPr>
          <p:cNvSpPr txBox="1"/>
          <p:nvPr/>
        </p:nvSpPr>
        <p:spPr>
          <a:xfrm>
            <a:off x="0" y="0"/>
            <a:ext cx="31010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Peerless Boiler</a:t>
            </a:r>
          </a:p>
        </p:txBody>
      </p:sp>
      <p:pic>
        <p:nvPicPr>
          <p:cNvPr id="4" name="Picture 3" descr="A picture containing device, dirty, miller, cluttered&#10;&#10;Description automatically generated">
            <a:extLst>
              <a:ext uri="{FF2B5EF4-FFF2-40B4-BE49-F238E27FC236}">
                <a16:creationId xmlns:a16="http://schemas.microsoft.com/office/drawing/2014/main" id="{961BFD51-4021-8E3B-7B7B-B3ADF40286D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-655983" y="2165555"/>
            <a:ext cx="5357191" cy="38576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C43F9B1-8BD9-D70B-20BA-D460D20D930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107287" y="823302"/>
            <a:ext cx="3781727" cy="13989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BEE45E-406C-9702-BB17-B3195EB79AA9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3657" y="93012"/>
            <a:ext cx="4064543" cy="43757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041E1AC-444B-9876-F9EA-0859A352646D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18969" y="4596545"/>
            <a:ext cx="1879231" cy="210450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361199B-1F88-0065-0F8F-2335FAEBB58F}"/>
              </a:ext>
            </a:extLst>
          </p:cNvPr>
          <p:cNvSpPr txBox="1"/>
          <p:nvPr/>
        </p:nvSpPr>
        <p:spPr>
          <a:xfrm>
            <a:off x="0" y="523220"/>
            <a:ext cx="395142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hlinkClick r:id="rId6"/>
              </a:rPr>
              <a:t>https://www.peerlessboilers.com</a:t>
            </a:r>
            <a:r>
              <a:rPr lang="en-US" sz="11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hlinkClick r:id="rId7"/>
              </a:rPr>
              <a:t>https://</a:t>
            </a:r>
            <a:r>
              <a:rPr lang="en-US" sz="1100" dirty="0" err="1">
                <a:hlinkClick r:id="rId7"/>
              </a:rPr>
              <a:t>www.youtube.com</a:t>
            </a:r>
            <a:r>
              <a:rPr lang="en-US" sz="1100" dirty="0">
                <a:hlinkClick r:id="rId7"/>
              </a:rPr>
              <a:t>/</a:t>
            </a:r>
            <a:r>
              <a:rPr lang="en-US" sz="1100" dirty="0" err="1">
                <a:hlinkClick r:id="rId7"/>
              </a:rPr>
              <a:t>watch?v</a:t>
            </a:r>
            <a:r>
              <a:rPr lang="en-US" sz="1100" dirty="0">
                <a:hlinkClick r:id="rId7"/>
              </a:rPr>
              <a:t>=5GbXgEYw5TE</a:t>
            </a:r>
            <a:endParaRPr lang="en-US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/>
              <a:t>xxx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797784-4826-7124-7E36-1254E5D818DE}"/>
              </a:ext>
            </a:extLst>
          </p:cNvPr>
          <p:cNvSpPr txBox="1"/>
          <p:nvPr/>
        </p:nvSpPr>
        <p:spPr>
          <a:xfrm>
            <a:off x="5646485" y="2806871"/>
            <a:ext cx="200895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Honeywell boiler </a:t>
            </a:r>
            <a:r>
              <a:rPr lang="en-US" sz="1400" dirty="0" err="1"/>
              <a:t>aquastat</a:t>
            </a:r>
            <a:r>
              <a:rPr lang="en-US" sz="1400" dirty="0"/>
              <a:t> (thermostat)</a:t>
            </a:r>
          </a:p>
          <a:p>
            <a:r>
              <a:rPr lang="en-US" sz="1400" dirty="0"/>
              <a:t>sends "more heat" signal</a:t>
            </a:r>
          </a:p>
          <a:p>
            <a:r>
              <a:rPr lang="en-US" sz="1400" dirty="0"/>
              <a:t>to 7505 burner control unit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ADD781-EAD7-4496-89D1-1703C2863C71}"/>
              </a:ext>
            </a:extLst>
          </p:cNvPr>
          <p:cNvSpPr txBox="1"/>
          <p:nvPr/>
        </p:nvSpPr>
        <p:spPr>
          <a:xfrm>
            <a:off x="6966938" y="4943504"/>
            <a:ext cx="312508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Beckett </a:t>
            </a:r>
            <a:r>
              <a:rPr lang="en-US" sz="1200" dirty="0" err="1"/>
              <a:t>GeniSys</a:t>
            </a:r>
            <a:r>
              <a:rPr lang="en-US" sz="1200" dirty="0"/>
              <a:t>™ 7505 oil burner control </a:t>
            </a:r>
            <a:r>
              <a:rPr lang="en-US" sz="1200" dirty="0">
                <a:hlinkClick r:id="rId8"/>
              </a:rPr>
              <a:t>https://www.beckettcorp.com/product/genisys-7505-oil-burner-control/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used with a suitable cad cell flame sensor to control the oil burner motor, igniter, and optional solenoid valve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has 24 VAC thermostat terminals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can provide interrupted or intermittent duty ignition, and it has a 15 second lockout time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23D31D-181B-5DC2-F5C0-60CC6F7698C4}"/>
              </a:ext>
            </a:extLst>
          </p:cNvPr>
          <p:cNvSpPr txBox="1"/>
          <p:nvPr/>
        </p:nvSpPr>
        <p:spPr>
          <a:xfrm>
            <a:off x="8033657" y="4516188"/>
            <a:ext cx="18792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Specific model 7505A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6A2F21D-CC68-A2AC-771F-0D28DFB79442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3656" y="131652"/>
            <a:ext cx="4064543" cy="437570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6EC3B41-13DA-CF7B-479F-5236CCD33E77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78369" y="2806871"/>
            <a:ext cx="1441173" cy="97865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DEC992-7AAE-FD85-346F-0AA5C8C3029D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78369" y="4210493"/>
            <a:ext cx="2761626" cy="2562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85686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B19B9A-B50E-0689-D372-15D53E762033}"/>
              </a:ext>
            </a:extLst>
          </p:cNvPr>
          <p:cNvSpPr txBox="1"/>
          <p:nvPr/>
        </p:nvSpPr>
        <p:spPr>
          <a:xfrm>
            <a:off x="0" y="0"/>
            <a:ext cx="37213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Honeywell </a:t>
            </a:r>
            <a:r>
              <a:rPr lang="en-US" sz="2800" b="1" dirty="0" err="1"/>
              <a:t>Aquastat</a:t>
            </a:r>
            <a:endParaRPr lang="en-US" sz="28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32FA62-7030-9247-BE8B-723131C8932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1986" y="784000"/>
            <a:ext cx="4684643" cy="347876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A35325-3294-89FE-A51B-F55B97BD419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43501" y="783999"/>
            <a:ext cx="2741280" cy="34734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DBAFE0-6A0F-1C80-0404-7B2AB38470FC}"/>
              </a:ext>
            </a:extLst>
          </p:cNvPr>
          <p:cNvSpPr txBox="1"/>
          <p:nvPr/>
        </p:nvSpPr>
        <p:spPr>
          <a:xfrm>
            <a:off x="4327451" y="4646428"/>
            <a:ext cx="223283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Pictures from internet</a:t>
            </a:r>
          </a:p>
          <a:p>
            <a:pPr algn="ctr"/>
            <a:r>
              <a:rPr lang="en-US" sz="1400" dirty="0"/>
              <a:t>Maybe different model</a:t>
            </a:r>
          </a:p>
          <a:p>
            <a:pPr algn="ctr"/>
            <a:r>
              <a:rPr lang="en-US" sz="1400" dirty="0"/>
              <a:t>$120</a:t>
            </a:r>
          </a:p>
        </p:txBody>
      </p:sp>
    </p:spTree>
    <p:extLst>
      <p:ext uri="{BB962C8B-B14F-4D97-AF65-F5344CB8AC3E}">
        <p14:creationId xmlns:p14="http://schemas.microsoft.com/office/powerpoint/2010/main" val="2756087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B19B9A-B50E-0689-D372-15D53E762033}"/>
              </a:ext>
            </a:extLst>
          </p:cNvPr>
          <p:cNvSpPr txBox="1"/>
          <p:nvPr/>
        </p:nvSpPr>
        <p:spPr>
          <a:xfrm>
            <a:off x="83288" y="1126359"/>
            <a:ext cx="430795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Google for:</a:t>
            </a:r>
          </a:p>
          <a:p>
            <a:r>
              <a:rPr lang="en-US" sz="1400" dirty="0" err="1"/>
              <a:t>Genisys</a:t>
            </a:r>
            <a:r>
              <a:rPr lang="en-US" sz="1400" dirty="0"/>
              <a:t> 7505 won't start after power outage</a:t>
            </a:r>
          </a:p>
          <a:p>
            <a:endParaRPr lang="en-US" sz="1400" dirty="0"/>
          </a:p>
          <a:p>
            <a:r>
              <a:rPr lang="en-US" sz="1400" dirty="0"/>
              <a:t>Video troubleshooting the 7505</a:t>
            </a:r>
          </a:p>
          <a:p>
            <a:r>
              <a:rPr lang="en-US" sz="1400" dirty="0"/>
              <a:t>.. </a:t>
            </a:r>
            <a:r>
              <a:rPr lang="en-US" sz="1400" dirty="0">
                <a:hlinkClick r:id="rId2"/>
              </a:rPr>
              <a:t>https://</a:t>
            </a:r>
            <a:r>
              <a:rPr lang="en-US" sz="1400" dirty="0" err="1">
                <a:hlinkClick r:id="rId2"/>
              </a:rPr>
              <a:t>www.youtube.com</a:t>
            </a:r>
            <a:r>
              <a:rPr lang="en-US" sz="1400" dirty="0">
                <a:hlinkClick r:id="rId2"/>
              </a:rPr>
              <a:t>/</a:t>
            </a:r>
            <a:r>
              <a:rPr lang="en-US" sz="1400" dirty="0" err="1">
                <a:hlinkClick r:id="rId2"/>
              </a:rPr>
              <a:t>watch?v</a:t>
            </a:r>
            <a:r>
              <a:rPr lang="en-US" sz="1400" dirty="0">
                <a:hlinkClick r:id="rId2"/>
              </a:rPr>
              <a:t>=Wd7vrkUDaz4</a:t>
            </a:r>
            <a:endParaRPr lang="en-US" sz="1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934772-4DEB-8B94-EBB9-1085F4051A3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6384" y="853885"/>
            <a:ext cx="1879231" cy="21045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2DFAD3-0585-574B-7103-CFE5B2D8DC56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99301" y="848569"/>
            <a:ext cx="3619500" cy="35433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5EF694-94BF-68B8-9F75-42F66F75A4C0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288" y="3413542"/>
            <a:ext cx="6012712" cy="33421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571962-2A19-077E-C34A-D6933E460260}"/>
              </a:ext>
            </a:extLst>
          </p:cNvPr>
          <p:cNvSpPr txBox="1"/>
          <p:nvPr/>
        </p:nvSpPr>
        <p:spPr>
          <a:xfrm>
            <a:off x="0" y="0"/>
            <a:ext cx="52869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Troubleshooting  </a:t>
            </a:r>
            <a:r>
              <a:rPr lang="en-US" sz="2800" b="1" dirty="0" err="1"/>
              <a:t>Genisys</a:t>
            </a:r>
            <a:r>
              <a:rPr lang="en-US" sz="2800" b="1" dirty="0"/>
              <a:t> 7505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20B81A-CE5A-82C1-7D2D-56C964B9663D}"/>
              </a:ext>
            </a:extLst>
          </p:cNvPr>
          <p:cNvSpPr txBox="1"/>
          <p:nvPr/>
        </p:nvSpPr>
        <p:spPr>
          <a:xfrm>
            <a:off x="7289061" y="5084617"/>
            <a:ext cx="392341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Checks for flame presence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Ignites – and checks that it is ignited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reacts to signal "more heat" to start/stop blower (and shut off the valve)</a:t>
            </a:r>
          </a:p>
        </p:txBody>
      </p:sp>
    </p:spTree>
    <p:extLst>
      <p:ext uri="{BB962C8B-B14F-4D97-AF65-F5344CB8AC3E}">
        <p14:creationId xmlns:p14="http://schemas.microsoft.com/office/powerpoint/2010/main" val="16414996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B19B9A-B50E-0689-D372-15D53E762033}"/>
              </a:ext>
            </a:extLst>
          </p:cNvPr>
          <p:cNvSpPr txBox="1"/>
          <p:nvPr/>
        </p:nvSpPr>
        <p:spPr>
          <a:xfrm>
            <a:off x="0" y="626105"/>
            <a:ext cx="45932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Google Nest Thermostat:</a:t>
            </a:r>
          </a:p>
          <a:p>
            <a:r>
              <a:rPr lang="en-US" sz="1400" dirty="0"/>
              <a:t>.. </a:t>
            </a:r>
            <a:r>
              <a:rPr lang="en-US" sz="1400" dirty="0">
                <a:hlinkClick r:id="rId2"/>
              </a:rPr>
              <a:t>https://</a:t>
            </a:r>
            <a:r>
              <a:rPr lang="en-US" sz="1400" dirty="0" err="1">
                <a:hlinkClick r:id="rId2"/>
              </a:rPr>
              <a:t>store.google.com</a:t>
            </a:r>
            <a:r>
              <a:rPr lang="en-US" sz="1400" dirty="0">
                <a:hlinkClick r:id="rId2"/>
              </a:rPr>
              <a:t>/us/product/</a:t>
            </a:r>
            <a:r>
              <a:rPr lang="en-US" sz="1400" dirty="0" err="1">
                <a:hlinkClick r:id="rId2"/>
              </a:rPr>
              <a:t>nest_thermostat</a:t>
            </a:r>
            <a:endParaRPr lang="en-US" sz="1400" dirty="0"/>
          </a:p>
          <a:p>
            <a:r>
              <a:rPr lang="en-US" sz="1400" dirty="0"/>
              <a:t>Nest </a:t>
            </a:r>
            <a:r>
              <a:rPr lang="en-US" sz="1400" dirty="0" err="1"/>
              <a:t>Wifi</a:t>
            </a:r>
            <a:r>
              <a:rPr lang="en-US" sz="1400" dirty="0"/>
              <a:t> requires a Nest </a:t>
            </a:r>
            <a:r>
              <a:rPr lang="en-US" sz="1400" dirty="0" err="1"/>
              <a:t>Wifi</a:t>
            </a:r>
            <a:r>
              <a:rPr lang="en-US" sz="1400" dirty="0"/>
              <a:t> router (or Google </a:t>
            </a:r>
            <a:r>
              <a:rPr lang="en-US" sz="1400" dirty="0" err="1"/>
              <a:t>WiFi</a:t>
            </a:r>
            <a:r>
              <a:rPr lang="en-US" sz="1400" dirty="0"/>
              <a:t>)</a:t>
            </a:r>
          </a:p>
          <a:p>
            <a:r>
              <a:rPr lang="en-US" sz="1400" dirty="0"/>
              <a:t>Latest - Nest </a:t>
            </a:r>
            <a:r>
              <a:rPr lang="en-US" sz="1400" dirty="0" err="1"/>
              <a:t>Wifi</a:t>
            </a:r>
            <a:r>
              <a:rPr lang="en-US" sz="1400" dirty="0"/>
              <a:t> Pro router ($200)</a:t>
            </a:r>
          </a:p>
          <a:p>
            <a:endParaRPr lang="en-US" sz="1400" dirty="0"/>
          </a:p>
          <a:p>
            <a:r>
              <a:rPr lang="en-US" sz="1400" dirty="0"/>
              <a:t>The devices are controlled using Google Home App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A13167-72BE-3016-0C51-F732F7A64CA4}"/>
              </a:ext>
            </a:extLst>
          </p:cNvPr>
          <p:cNvSpPr txBox="1"/>
          <p:nvPr/>
        </p:nvSpPr>
        <p:spPr>
          <a:xfrm>
            <a:off x="0" y="0"/>
            <a:ext cx="52869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Google Nest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FBCC3C-D46C-0DDE-CB4B-9571E8F7204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25562" y="110663"/>
            <a:ext cx="4272517" cy="30754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B0A6DBD-29A9-3B38-8B50-C2D85C70CF7E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921" y="2113985"/>
            <a:ext cx="4850218" cy="135387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F9F5ADA-B0FF-0732-50FB-9A5260346F8C}"/>
              </a:ext>
            </a:extLst>
          </p:cNvPr>
          <p:cNvSpPr txBox="1"/>
          <p:nvPr/>
        </p:nvSpPr>
        <p:spPr>
          <a:xfrm>
            <a:off x="93921" y="3601865"/>
            <a:ext cx="5286924" cy="19543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linkClick r:id="rId5"/>
              </a:rPr>
              <a:t>https://www.cnet.com/home/internet/nest-wifi-vs-nest-wifi-pro-wi-fi-6e-mesh-routers/</a:t>
            </a:r>
            <a:endParaRPr lang="en-US" sz="1100" dirty="0"/>
          </a:p>
          <a:p>
            <a:endParaRPr lang="en-US" sz="1100" dirty="0"/>
          </a:p>
          <a:p>
            <a:endParaRPr lang="en-US" sz="1100" dirty="0"/>
          </a:p>
          <a:p>
            <a:r>
              <a:rPr lang="en-US" sz="1100" dirty="0">
                <a:hlinkClick r:id="rId6"/>
              </a:rPr>
              <a:t>https://www.doityourself.com/forum/thermostatic-controls/602985-connecting-nest-thermostat-genisys-7505-oil-burner.html</a:t>
            </a:r>
            <a:endParaRPr lang="en-US" sz="1100" dirty="0"/>
          </a:p>
          <a:p>
            <a:endParaRPr lang="en-US" sz="1100" dirty="0"/>
          </a:p>
          <a:p>
            <a:r>
              <a:rPr lang="en-US" sz="1100" dirty="0">
                <a:hlinkClick r:id="rId7"/>
              </a:rPr>
              <a:t>https://</a:t>
            </a:r>
            <a:r>
              <a:rPr lang="en-US" sz="1100" dirty="0" err="1">
                <a:hlinkClick r:id="rId7"/>
              </a:rPr>
              <a:t>www.youtube.com</a:t>
            </a:r>
            <a:r>
              <a:rPr lang="en-US" sz="1100" dirty="0">
                <a:hlinkClick r:id="rId7"/>
              </a:rPr>
              <a:t>/</a:t>
            </a:r>
            <a:r>
              <a:rPr lang="en-US" sz="1100" dirty="0" err="1">
                <a:hlinkClick r:id="rId7"/>
              </a:rPr>
              <a:t>watch?v</a:t>
            </a:r>
            <a:r>
              <a:rPr lang="en-US" sz="1100" dirty="0">
                <a:hlinkClick r:id="rId7"/>
              </a:rPr>
              <a:t>=WFDPWIKKBHY</a:t>
            </a:r>
            <a:endParaRPr lang="en-US" sz="1100" dirty="0"/>
          </a:p>
          <a:p>
            <a:endParaRPr lang="en-US" sz="1100" dirty="0"/>
          </a:p>
          <a:p>
            <a:endParaRPr lang="en-US" sz="1100" dirty="0"/>
          </a:p>
          <a:p>
            <a:endParaRPr lang="en-US" sz="1100" dirty="0"/>
          </a:p>
          <a:p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20064D-9ACB-2FC4-18DE-777EBE1F8EAC}"/>
              </a:ext>
            </a:extLst>
          </p:cNvPr>
          <p:cNvSpPr txBox="1"/>
          <p:nvPr/>
        </p:nvSpPr>
        <p:spPr>
          <a:xfrm>
            <a:off x="7890710" y="3555698"/>
            <a:ext cx="4142220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Compatibility:</a:t>
            </a:r>
            <a:br>
              <a:rPr lang="en-US" sz="1400" dirty="0"/>
            </a:br>
            <a:r>
              <a:rPr lang="en-US" sz="1100" dirty="0"/>
              <a:t>.. </a:t>
            </a:r>
            <a:r>
              <a:rPr lang="en-US" sz="1100" dirty="0">
                <a:hlinkClick r:id="rId8"/>
              </a:rPr>
              <a:t>https://</a:t>
            </a:r>
            <a:r>
              <a:rPr lang="en-US" sz="1100" dirty="0" err="1">
                <a:hlinkClick r:id="rId8"/>
              </a:rPr>
              <a:t>store.google.com</a:t>
            </a:r>
            <a:r>
              <a:rPr lang="en-US" sz="1100" dirty="0">
                <a:hlinkClick r:id="rId8"/>
              </a:rPr>
              <a:t>/us/widget/compatibility/thermostat</a:t>
            </a:r>
            <a:endParaRPr lang="en-US" sz="11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Google Nest thermostats are designed to work </a:t>
            </a:r>
            <a:br>
              <a:rPr lang="en-US" sz="1400" dirty="0"/>
            </a:br>
            <a:r>
              <a:rPr lang="en-US" sz="1400" dirty="0"/>
              <a:t>with most 24 V systems, even older systems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Online Compatibility Checker:</a:t>
            </a:r>
            <a:br>
              <a:rPr lang="en-US" sz="1400" dirty="0"/>
            </a:br>
            <a:r>
              <a:rPr lang="en-US" sz="1100" dirty="0"/>
              <a:t>.. </a:t>
            </a:r>
            <a:r>
              <a:rPr lang="en-US" sz="1100" dirty="0">
                <a:hlinkClick r:id="rId9"/>
              </a:rPr>
              <a:t>https://support.google.com/googlenest/answer/9246656</a:t>
            </a:r>
            <a:r>
              <a:rPr lang="en-US" sz="1100" dirty="0"/>
              <a:t>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Nest Learning Thermostat is more compatible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Regular Nest Thermostat may need C wire or Nest Power Connector</a:t>
            </a:r>
          </a:p>
        </p:txBody>
      </p:sp>
    </p:spTree>
    <p:extLst>
      <p:ext uri="{BB962C8B-B14F-4D97-AF65-F5344CB8AC3E}">
        <p14:creationId xmlns:p14="http://schemas.microsoft.com/office/powerpoint/2010/main" val="14872512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569</TotalTime>
  <Words>698</Words>
  <Application>Microsoft Macintosh PowerPoint</Application>
  <PresentationFormat>Widescreen</PresentationFormat>
  <Paragraphs>237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32</cp:revision>
  <dcterms:created xsi:type="dcterms:W3CDTF">2022-06-02T16:58:09Z</dcterms:created>
  <dcterms:modified xsi:type="dcterms:W3CDTF">2022-11-28T22:54:48Z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