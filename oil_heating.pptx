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6"/>
    <p:restoredTop sz="93605"/>
  </p:normalViewPr>
  <p:slideViewPr>
    <p:cSldViewPr snapToGrid="0" snapToObjects="1">
      <p:cViewPr varScale="1">
        <p:scale>
          <a:sx n="120" d="100"/>
          <a:sy n="120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11/25/22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11/25/22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11/25/22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11/25/22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DJSPlumbingHeatin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hyperlink" Target="https://www.jmesales.com/krueger-sentry-type-h-2-in-galvanized-therma-tank-gauge/" TargetMode="External"/><Relationship Id="rId2" Type="http://schemas.openxmlformats.org/officeDocument/2006/relationships/hyperlink" Target="https://www.mathsisfun.com/geometry/cylinder-horizontal-volume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eerlessboilers.com/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hyperlink" Target="https://www.beckettcorp.com/product/genisys-7505-oil-burner-control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Wd7vrkUDaz4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B310C2-CE44-BD76-D583-B4E3D7BDFA4A}"/>
              </a:ext>
            </a:extLst>
          </p:cNvPr>
          <p:cNvSpPr txBox="1"/>
          <p:nvPr/>
        </p:nvSpPr>
        <p:spPr>
          <a:xfrm>
            <a:off x="0" y="0"/>
            <a:ext cx="3379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Oil - 550 Gallon Tank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EB734-25C1-5F8A-526D-3CB1B8DD47B1}"/>
              </a:ext>
            </a:extLst>
          </p:cNvPr>
          <p:cNvSpPr txBox="1"/>
          <p:nvPr/>
        </p:nvSpPr>
        <p:spPr>
          <a:xfrm>
            <a:off x="121479" y="523220"/>
            <a:ext cx="3136346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</a:rPr>
              <a:t>Delaware Valley Oil</a:t>
            </a:r>
          </a:p>
          <a:p>
            <a:r>
              <a:rPr lang="en-US" sz="1200" dirty="0">
                <a:effectLst/>
              </a:rPr>
              <a:t>http://</a:t>
            </a:r>
            <a:r>
              <a:rPr lang="en-US" sz="1200" dirty="0" err="1">
                <a:effectLst/>
              </a:rPr>
              <a:t>dvoil.com</a:t>
            </a:r>
            <a:endParaRPr lang="en-US" sz="1200" dirty="0">
              <a:effectLst/>
            </a:endParaRPr>
          </a:p>
          <a:p>
            <a:r>
              <a:rPr lang="en-US" sz="1200" dirty="0"/>
              <a:t>Phone (845)-887-6090</a:t>
            </a:r>
            <a:r>
              <a:rPr lang="en-US" sz="1200" dirty="0">
                <a:effectLst/>
              </a:rPr>
              <a:t> </a:t>
            </a:r>
          </a:p>
          <a:p>
            <a:r>
              <a:rPr lang="en-US" sz="1200" dirty="0"/>
              <a:t>Office: M-F 8am-4pm</a:t>
            </a:r>
          </a:p>
          <a:p>
            <a:r>
              <a:rPr lang="en-US" sz="1200" dirty="0"/>
              <a:t>3 Bridge Street, Callicoon, NY 12723</a:t>
            </a:r>
            <a:endParaRPr lang="en-US" sz="1200" dirty="0">
              <a:effectLst/>
            </a:endParaRPr>
          </a:p>
          <a:p>
            <a:r>
              <a:rPr lang="en-US" sz="1200" dirty="0">
                <a:effectLst/>
              </a:rPr>
              <a:t>P.O. Box 838 Callicoon NY 12723 </a:t>
            </a:r>
          </a:p>
          <a:p>
            <a:r>
              <a:rPr lang="en-US" sz="1200" dirty="0">
                <a:effectLst/>
              </a:rPr>
              <a:t>Email </a:t>
            </a:r>
            <a:r>
              <a:rPr lang="en-US" sz="1200" dirty="0" err="1">
                <a:effectLst/>
              </a:rPr>
              <a:t>delawarevalleyoilllc@yahoo.com</a:t>
            </a:r>
            <a:endParaRPr lang="en-US" sz="1200" dirty="0">
              <a:effectLst/>
            </a:endParaRPr>
          </a:p>
          <a:p>
            <a:r>
              <a:rPr lang="en-US" sz="1200" dirty="0"/>
              <a:t>Email: </a:t>
            </a:r>
            <a:r>
              <a:rPr lang="en-US" sz="1200" dirty="0" err="1"/>
              <a:t>LeanaStanton@aol.com</a:t>
            </a:r>
            <a:endParaRPr lang="en-US" sz="1200" dirty="0"/>
          </a:p>
          <a:p>
            <a:r>
              <a:rPr lang="en-US" sz="1200" dirty="0"/>
              <a:t>Owner: Casey Milk</a:t>
            </a:r>
          </a:p>
          <a:p>
            <a:r>
              <a:rPr lang="en-US" sz="1200" dirty="0"/>
              <a:t>Truck driver: Larry, Kevin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380C0D2-5EC1-261F-5C36-7F5DC3A1C3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1479" y="4921441"/>
            <a:ext cx="4329202" cy="180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C4B971-B9D5-8899-CCF0-429268F160B7}"/>
              </a:ext>
            </a:extLst>
          </p:cNvPr>
          <p:cNvSpPr txBox="1"/>
          <p:nvPr/>
        </p:nvSpPr>
        <p:spPr>
          <a:xfrm>
            <a:off x="3562625" y="136039"/>
            <a:ext cx="1069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Service?</a:t>
            </a:r>
          </a:p>
          <a:p>
            <a:r>
              <a:rPr lang="en-US" sz="1400" b="1">
                <a:solidFill>
                  <a:srgbClr val="FF0000"/>
                </a:solidFill>
              </a:rPr>
              <a:t>Cleaning?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B8586B-655B-3796-8623-5D607AE246AD}"/>
              </a:ext>
            </a:extLst>
          </p:cNvPr>
          <p:cNvSpPr txBox="1"/>
          <p:nvPr/>
        </p:nvSpPr>
        <p:spPr>
          <a:xfrm>
            <a:off x="3424961" y="659259"/>
            <a:ext cx="2250281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Brian</a:t>
            </a:r>
          </a:p>
          <a:p>
            <a:r>
              <a:rPr lang="en-US" sz="1200" dirty="0"/>
              <a:t>845-645-9403 cell</a:t>
            </a:r>
          </a:p>
          <a:p>
            <a:r>
              <a:rPr lang="en-US" sz="1200" dirty="0"/>
              <a:t>Plumber</a:t>
            </a:r>
          </a:p>
          <a:p>
            <a:r>
              <a:rPr lang="en-US" sz="1200" dirty="0"/>
              <a:t>(Boiler/Filter </a:t>
            </a:r>
            <a:r>
              <a:rPr lang="en-US" sz="1200" dirty="0" err="1"/>
              <a:t>mainenance</a:t>
            </a:r>
            <a:r>
              <a:rPr lang="en-US" sz="12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3C9F0-2CB3-6295-6E05-74493BFB9A49}"/>
              </a:ext>
            </a:extLst>
          </p:cNvPr>
          <p:cNvSpPr txBox="1"/>
          <p:nvPr/>
        </p:nvSpPr>
        <p:spPr>
          <a:xfrm>
            <a:off x="121480" y="2814746"/>
            <a:ext cx="221636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2022-07-06: 150 gal ($5.79/gal)</a:t>
            </a:r>
            <a:br>
              <a:rPr lang="en-US" sz="1200" dirty="0"/>
            </a:br>
            <a:r>
              <a:rPr lang="en-US" sz="1200" dirty="0"/>
              <a:t>2022-11-22: 150 gal ($5.59/gal)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648DA-236B-6772-0175-BECAB63BE447}"/>
              </a:ext>
            </a:extLst>
          </p:cNvPr>
          <p:cNvSpPr txBox="1"/>
          <p:nvPr/>
        </p:nvSpPr>
        <p:spPr>
          <a:xfrm>
            <a:off x="7898059" y="2768579"/>
            <a:ext cx="3532178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DJS Plumbing and Heating</a:t>
            </a:r>
          </a:p>
          <a:p>
            <a:r>
              <a:rPr lang="en-US" sz="1200" dirty="0"/>
              <a:t>Doug Santoro</a:t>
            </a:r>
          </a:p>
          <a:p>
            <a:r>
              <a:rPr lang="en-US" sz="1200" dirty="0"/>
              <a:t>(845) 887-6309 office</a:t>
            </a:r>
          </a:p>
          <a:p>
            <a:r>
              <a:rPr lang="en-US" sz="1200" dirty="0"/>
              <a:t>(845) ... mobile</a:t>
            </a:r>
          </a:p>
          <a:p>
            <a:r>
              <a:rPr lang="en-US" sz="1200" dirty="0"/>
              <a:t>email: </a:t>
            </a:r>
            <a:r>
              <a:rPr lang="en-US" sz="1200" dirty="0" err="1"/>
              <a:t>djsph@hvc.rr.com</a:t>
            </a:r>
            <a:endParaRPr lang="en-US" sz="1200" dirty="0"/>
          </a:p>
          <a:p>
            <a:r>
              <a:rPr lang="en-US" sz="1200" dirty="0"/>
              <a:t>.. https://</a:t>
            </a:r>
            <a:r>
              <a:rPr lang="en-US" sz="1200" dirty="0" err="1"/>
              <a:t>www.djsph.com</a:t>
            </a:r>
            <a:endParaRPr lang="en-US" sz="1200" dirty="0"/>
          </a:p>
          <a:p>
            <a:r>
              <a:rPr lang="en-US" sz="1200" dirty="0"/>
              <a:t>.. </a:t>
            </a:r>
            <a:r>
              <a:rPr lang="en-US" sz="1200" dirty="0">
                <a:hlinkClick r:id="rId3"/>
              </a:rPr>
              <a:t>https://www.facebook.com/DJSPlumbingHeating/</a:t>
            </a:r>
            <a:r>
              <a:rPr lang="en-US" sz="1200" dirty="0"/>
              <a:t> </a:t>
            </a:r>
          </a:p>
          <a:p>
            <a:r>
              <a:rPr lang="en-US" sz="1200" dirty="0"/>
              <a:t>.. 9 Del Vue Rd, Callicoon, NY 12723</a:t>
            </a:r>
          </a:p>
          <a:p>
            <a:r>
              <a:rPr lang="en-US" sz="1200" dirty="0"/>
              <a:t>.. 4-6 weeks waiting for scheduled service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2D43AF-402A-9653-4CDA-87A8363E879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5244" y="136039"/>
            <a:ext cx="4545277" cy="246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51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4E05B1-D1D3-3C74-6CC1-0FC68B66402A}"/>
              </a:ext>
            </a:extLst>
          </p:cNvPr>
          <p:cNvSpPr txBox="1"/>
          <p:nvPr/>
        </p:nvSpPr>
        <p:spPr>
          <a:xfrm>
            <a:off x="5234534" y="3583016"/>
            <a:ext cx="1971336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Calculator:</a:t>
            </a:r>
          </a:p>
          <a:p>
            <a:r>
              <a:rPr lang="en-US" sz="1100" dirty="0">
                <a:hlinkClick r:id="rId2"/>
              </a:rPr>
              <a:t>https://</a:t>
            </a:r>
            <a:r>
              <a:rPr lang="en-US" sz="1100" dirty="0" err="1">
                <a:hlinkClick r:id="rId2"/>
              </a:rPr>
              <a:t>www.mathsisfun.com</a:t>
            </a:r>
            <a:r>
              <a:rPr lang="en-US" sz="1100" dirty="0">
                <a:hlinkClick r:id="rId2"/>
              </a:rPr>
              <a:t>/geometry/cylinder-horizontal-</a:t>
            </a:r>
            <a:r>
              <a:rPr lang="en-US" sz="1100" dirty="0" err="1">
                <a:hlinkClick r:id="rId2"/>
              </a:rPr>
              <a:t>volume.html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71890E-ACE8-D2D3-FCB4-F5CFADB82FD7}"/>
              </a:ext>
            </a:extLst>
          </p:cNvPr>
          <p:cNvSpPr txBox="1"/>
          <p:nvPr/>
        </p:nvSpPr>
        <p:spPr>
          <a:xfrm>
            <a:off x="0" y="0"/>
            <a:ext cx="221351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Oil Tank </a:t>
            </a:r>
            <a:br>
              <a:rPr lang="en-US" sz="2800" b="1" dirty="0"/>
            </a:br>
            <a:r>
              <a:rPr lang="en-US" b="1" dirty="0"/>
              <a:t>48" diameter, 550 gal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D3474A-43EA-53F4-62FB-95E2D1F2AA7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9869" y="4488813"/>
            <a:ext cx="2080665" cy="9975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AF0B40-7A04-ABA7-A078-F096F1D3214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8172" y="5801411"/>
            <a:ext cx="4576809" cy="492007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DCBC3DE-AEB8-1D2E-DB14-DFB49B11B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693489"/>
              </p:ext>
            </p:extLst>
          </p:nvPr>
        </p:nvGraphicFramePr>
        <p:xfrm>
          <a:off x="8080513" y="79966"/>
          <a:ext cx="4034645" cy="5406426"/>
        </p:xfrm>
        <a:graphic>
          <a:graphicData uri="http://schemas.openxmlformats.org/drawingml/2006/table">
            <a:tbl>
              <a:tblPr/>
              <a:tblGrid>
                <a:gridCol w="540253">
                  <a:extLst>
                    <a:ext uri="{9D8B030D-6E8A-4147-A177-3AD203B41FA5}">
                      <a16:colId xmlns:a16="http://schemas.microsoft.com/office/drawing/2014/main" val="1629085675"/>
                    </a:ext>
                  </a:extLst>
                </a:gridCol>
                <a:gridCol w="735662">
                  <a:extLst>
                    <a:ext uri="{9D8B030D-6E8A-4147-A177-3AD203B41FA5}">
                      <a16:colId xmlns:a16="http://schemas.microsoft.com/office/drawing/2014/main" val="728063579"/>
                    </a:ext>
                  </a:extLst>
                </a:gridCol>
                <a:gridCol w="344840">
                  <a:extLst>
                    <a:ext uri="{9D8B030D-6E8A-4147-A177-3AD203B41FA5}">
                      <a16:colId xmlns:a16="http://schemas.microsoft.com/office/drawing/2014/main" val="577979000"/>
                    </a:ext>
                  </a:extLst>
                </a:gridCol>
                <a:gridCol w="459788">
                  <a:extLst>
                    <a:ext uri="{9D8B030D-6E8A-4147-A177-3AD203B41FA5}">
                      <a16:colId xmlns:a16="http://schemas.microsoft.com/office/drawing/2014/main" val="415530821"/>
                    </a:ext>
                  </a:extLst>
                </a:gridCol>
                <a:gridCol w="540253">
                  <a:extLst>
                    <a:ext uri="{9D8B030D-6E8A-4147-A177-3AD203B41FA5}">
                      <a16:colId xmlns:a16="http://schemas.microsoft.com/office/drawing/2014/main" val="4193150815"/>
                    </a:ext>
                  </a:extLst>
                </a:gridCol>
                <a:gridCol w="597725">
                  <a:extLst>
                    <a:ext uri="{9D8B030D-6E8A-4147-A177-3AD203B41FA5}">
                      <a16:colId xmlns:a16="http://schemas.microsoft.com/office/drawing/2014/main" val="2329286384"/>
                    </a:ext>
                  </a:extLst>
                </a:gridCol>
                <a:gridCol w="390820">
                  <a:extLst>
                    <a:ext uri="{9D8B030D-6E8A-4147-A177-3AD203B41FA5}">
                      <a16:colId xmlns:a16="http://schemas.microsoft.com/office/drawing/2014/main" val="4271786362"/>
                    </a:ext>
                  </a:extLst>
                </a:gridCol>
                <a:gridCol w="425304">
                  <a:extLst>
                    <a:ext uri="{9D8B030D-6E8A-4147-A177-3AD203B41FA5}">
                      <a16:colId xmlns:a16="http://schemas.microsoft.com/office/drawing/2014/main" val="1217790681"/>
                    </a:ext>
                  </a:extLst>
                </a:gridCol>
              </a:tblGrid>
              <a:tr h="31153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inch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part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part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gals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inch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part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part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gals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48498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0.02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0.52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290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758063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0.04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0.54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304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0734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0.06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0.56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319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016672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0.08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0.58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333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149776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0.10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0.60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347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90269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0.13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1/8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0.63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5/8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362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784333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0.15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0.65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376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82816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0.17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60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0.67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390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425900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0.19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71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0.69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403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354659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0.21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83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0.71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417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673854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0.23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95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0.73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430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68159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0.25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1/4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108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0.75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3/4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442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094709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0.27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120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0.77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455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102373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0.29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133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0.79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467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463987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0.31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147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0.81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479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3972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0.33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160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0.83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490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270909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0.35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174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0.85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500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252432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0.38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3/8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188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dirty="0">
                          <a:effectLst/>
                        </a:rPr>
                        <a:t>0.88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dirty="0">
                          <a:effectLst/>
                        </a:rPr>
                        <a:t>7/8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dirty="0">
                          <a:effectLst/>
                        </a:rPr>
                        <a:t>510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734909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0.40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203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0.90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520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950645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0.42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217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0.92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528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48385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0.44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231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0.94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536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179338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0.46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246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0.96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542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657528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0.48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260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0.98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547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703690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0.50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1/2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275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1.00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"1"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dirty="0">
                          <a:effectLst/>
                        </a:rPr>
                        <a:t>550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17702"/>
                  </a:ext>
                </a:extLst>
              </a:tr>
            </a:tbl>
          </a:graphicData>
        </a:graphic>
      </p:graphicFrame>
      <p:pic>
        <p:nvPicPr>
          <p:cNvPr id="2" name="Picture 1" descr="A picture containing indoor, dirty, kitchen appliance&#10;&#10;Description automatically generated">
            <a:extLst>
              <a:ext uri="{FF2B5EF4-FFF2-40B4-BE49-F238E27FC236}">
                <a16:creationId xmlns:a16="http://schemas.microsoft.com/office/drawing/2014/main" id="{4806EC39-920E-2707-D2A6-3B55A6044DE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30937" y="523592"/>
            <a:ext cx="3076831" cy="3857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C3A42C-28EA-FF9E-0136-3C468E72A56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2881" y="4068762"/>
            <a:ext cx="1050684" cy="24293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8DE13C-5950-CF49-53E3-E2D9903CA343}"/>
              </a:ext>
            </a:extLst>
          </p:cNvPr>
          <p:cNvSpPr txBox="1"/>
          <p:nvPr/>
        </p:nvSpPr>
        <p:spPr>
          <a:xfrm>
            <a:off x="2062343" y="5801411"/>
            <a:ext cx="186895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Krueger Sentry Therma Tank Gauge</a:t>
            </a:r>
          </a:p>
          <a:p>
            <a:r>
              <a:rPr lang="en-US" sz="1000" dirty="0">
                <a:hlinkClick r:id="rId7"/>
              </a:rPr>
              <a:t>https://</a:t>
            </a:r>
            <a:r>
              <a:rPr lang="en-US" sz="1000" dirty="0" err="1">
                <a:hlinkClick r:id="rId7"/>
              </a:rPr>
              <a:t>www.jmesales.com</a:t>
            </a:r>
            <a:r>
              <a:rPr lang="en-US" sz="1000" dirty="0">
                <a:hlinkClick r:id="rId7"/>
              </a:rPr>
              <a:t>/krueger-sentry-type-h-2-in-galvanized-therma-tank-gauge/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18E931-021C-347B-970E-7EE3338C94D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42" y="4101599"/>
            <a:ext cx="1446709" cy="163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4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070465-8795-8E8D-0B50-3446414507E6}"/>
              </a:ext>
            </a:extLst>
          </p:cNvPr>
          <p:cNvSpPr txBox="1"/>
          <p:nvPr/>
        </p:nvSpPr>
        <p:spPr>
          <a:xfrm>
            <a:off x="0" y="0"/>
            <a:ext cx="3101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Peerless Boiler</a:t>
            </a:r>
          </a:p>
        </p:txBody>
      </p:sp>
      <p:pic>
        <p:nvPicPr>
          <p:cNvPr id="4" name="Picture 3" descr="A picture containing device, dirty, miller, cluttered&#10;&#10;Description automatically generated">
            <a:extLst>
              <a:ext uri="{FF2B5EF4-FFF2-40B4-BE49-F238E27FC236}">
                <a16:creationId xmlns:a16="http://schemas.microsoft.com/office/drawing/2014/main" id="{961BFD51-4021-8E3B-7B7B-B3ADF40286D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655983" y="2165555"/>
            <a:ext cx="5357191" cy="3857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43F9B1-8BD9-D70B-20BA-D460D20D930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29459" y="1076618"/>
            <a:ext cx="2920088" cy="10801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A7E65F-19E0-3F74-17B8-0F5395E5E2E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29460" y="2254528"/>
            <a:ext cx="2981303" cy="2446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BEE45E-406C-9702-BB17-B3195EB79AA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3657" y="93012"/>
            <a:ext cx="4064543" cy="4375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41E1AC-444B-9876-F9EA-0859A352646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8969" y="4596545"/>
            <a:ext cx="1879231" cy="21045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3BA3C0-F7BB-8D47-FD9C-3E5C47A1B68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3872" y="63195"/>
            <a:ext cx="1745842" cy="9156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61199B-1F88-0065-0F8F-2335FAEBB58F}"/>
              </a:ext>
            </a:extLst>
          </p:cNvPr>
          <p:cNvSpPr txBox="1"/>
          <p:nvPr/>
        </p:nvSpPr>
        <p:spPr>
          <a:xfrm>
            <a:off x="0" y="523220"/>
            <a:ext cx="2266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linkClick r:id="rId8"/>
              </a:rPr>
              <a:t>https://</a:t>
            </a:r>
            <a:r>
              <a:rPr lang="en-US" sz="1100" dirty="0" err="1">
                <a:hlinkClick r:id="rId8"/>
              </a:rPr>
              <a:t>www.peerlessboilers.com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797784-4826-7124-7E36-1254E5D818DE}"/>
              </a:ext>
            </a:extLst>
          </p:cNvPr>
          <p:cNvSpPr txBox="1"/>
          <p:nvPr/>
        </p:nvSpPr>
        <p:spPr>
          <a:xfrm>
            <a:off x="6057248" y="63195"/>
            <a:ext cx="1441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Honeywell boiler control module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ADD781-EAD7-4496-89D1-1703C2863C71}"/>
              </a:ext>
            </a:extLst>
          </p:cNvPr>
          <p:cNvSpPr txBox="1"/>
          <p:nvPr/>
        </p:nvSpPr>
        <p:spPr>
          <a:xfrm>
            <a:off x="6959632" y="4946720"/>
            <a:ext cx="31323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Beckett </a:t>
            </a:r>
            <a:r>
              <a:rPr lang="en-US" sz="1200" dirty="0" err="1"/>
              <a:t>GeniSys</a:t>
            </a:r>
            <a:r>
              <a:rPr lang="en-US" sz="1200" dirty="0"/>
              <a:t>™ 7505 oil burner control </a:t>
            </a:r>
            <a:r>
              <a:rPr lang="en-US" sz="1200" dirty="0">
                <a:hlinkClick r:id="rId9"/>
              </a:rPr>
              <a:t>https://www.beckettcorp.com/product/genisys-7505-oil-burner-control/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used with a suitable cad cell flame sensor to control the oil burner motor, igniter, and optional solenoid valve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has 24 VAC thermostat terminals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can provide interrupted or intermittent duty ignition, and it has a 15 second lockout 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23D31D-181B-5DC2-F5C0-60CC6F7698C4}"/>
              </a:ext>
            </a:extLst>
          </p:cNvPr>
          <p:cNvSpPr txBox="1"/>
          <p:nvPr/>
        </p:nvSpPr>
        <p:spPr>
          <a:xfrm>
            <a:off x="8033657" y="4516188"/>
            <a:ext cx="187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Specific model 7505A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A2F21D-CC68-A2AC-771F-0D28DFB7944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3656" y="131652"/>
            <a:ext cx="4064543" cy="43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68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19B9A-B50E-0689-D372-15D53E762033}"/>
              </a:ext>
            </a:extLst>
          </p:cNvPr>
          <p:cNvSpPr txBox="1"/>
          <p:nvPr/>
        </p:nvSpPr>
        <p:spPr>
          <a:xfrm>
            <a:off x="367747" y="467140"/>
            <a:ext cx="4929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Google for:</a:t>
            </a:r>
          </a:p>
          <a:p>
            <a:r>
              <a:rPr lang="en-US" sz="1400" dirty="0" err="1"/>
              <a:t>Genisys</a:t>
            </a:r>
            <a:r>
              <a:rPr lang="en-US" sz="1400" dirty="0"/>
              <a:t> 7505 won't start after power outage</a:t>
            </a:r>
          </a:p>
          <a:p>
            <a:endParaRPr lang="en-US" sz="1400" dirty="0"/>
          </a:p>
          <a:p>
            <a:r>
              <a:rPr lang="en-US" sz="1400" dirty="0"/>
              <a:t>Video troubleshooting the 7505</a:t>
            </a:r>
          </a:p>
          <a:p>
            <a:r>
              <a:rPr lang="en-US" sz="1400" dirty="0"/>
              <a:t>.. </a:t>
            </a:r>
            <a:r>
              <a:rPr lang="en-US" sz="1400" dirty="0">
                <a:hlinkClick r:id="rId2"/>
              </a:rPr>
              <a:t>https://</a:t>
            </a:r>
            <a:r>
              <a:rPr lang="en-US" sz="1400" dirty="0" err="1">
                <a:hlinkClick r:id="rId2"/>
              </a:rPr>
              <a:t>www.youtube.com</a:t>
            </a:r>
            <a:r>
              <a:rPr lang="en-US" sz="1400" dirty="0">
                <a:hlinkClick r:id="rId2"/>
              </a:rPr>
              <a:t>/</a:t>
            </a:r>
            <a:r>
              <a:rPr lang="en-US" sz="1400" dirty="0" err="1">
                <a:hlinkClick r:id="rId2"/>
              </a:rPr>
              <a:t>watch?v</a:t>
            </a:r>
            <a:r>
              <a:rPr lang="en-US" sz="1400" dirty="0">
                <a:hlinkClick r:id="rId2"/>
              </a:rPr>
              <a:t>=Wd7vrkUDaz4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ADDE9-DF0B-0A60-5EC5-FF1A17D6D620}"/>
              </a:ext>
            </a:extLst>
          </p:cNvPr>
          <p:cNvSpPr txBox="1"/>
          <p:nvPr/>
        </p:nvSpPr>
        <p:spPr>
          <a:xfrm>
            <a:off x="367747" y="2368684"/>
            <a:ext cx="3002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 Google Nest to monitor and reset</a:t>
            </a:r>
          </a:p>
        </p:txBody>
      </p:sp>
    </p:spTree>
    <p:extLst>
      <p:ext uri="{BB962C8B-B14F-4D97-AF65-F5344CB8AC3E}">
        <p14:creationId xmlns:p14="http://schemas.microsoft.com/office/powerpoint/2010/main" val="1641499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469</Words>
  <Application>Microsoft Macintosh PowerPoint</Application>
  <PresentationFormat>Widescreen</PresentationFormat>
  <Paragraphs>206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23</cp:revision>
  <dcterms:created xsi:type="dcterms:W3CDTF">2022-06-02T16:58:09Z</dcterms:created>
  <dcterms:modified xsi:type="dcterms:W3CDTF">2022-11-25T14:47:35Z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