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63" r:id="rId2"/>
    <p:sldId id="264" r:id="rId3"/>
    <p:sldId id="26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14"/>
    <p:restoredTop sz="92833"/>
  </p:normalViewPr>
  <p:slideViewPr>
    <p:cSldViewPr snapToGrid="0" snapToObjects="1">
      <p:cViewPr varScale="1">
        <p:scale>
          <a:sx n="91" d="100"/>
          <a:sy n="91" d="100"/>
        </p:scale>
        <p:origin x="6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F0CDBA-47CC-E641-8EFA-8D71A6B4AFF3}" type="datetimeFigureOut">
              <a:rPr lang="en-US" smtClean="0"/>
              <a:t>5/30/26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68A85-6EDC-9C48-AD36-62FBA7672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185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68A85-6EDC-9C48-AD36-62FBA76721D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179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68A85-6EDC-9C48-AD36-62FBA76721D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78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88DD0-F5B2-15C1-96C2-359AABC4B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979889-D132-4397-0547-895A6BD28D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4E4CA-9799-18AE-D4BA-5EFDB2627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BB017-65CA-D094-EA2F-FAFBC1BF4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27274-3826-028B-64DD-856AA98C7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35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8F12F-3D3D-6A09-2E35-EAD0C90AC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68E21-870B-193E-8931-72FD7C38A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E93E1-1A44-D49B-EE6B-0C6F21404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064A9-6EAD-6647-B6CB-F24B6F708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46CF0-740D-F941-2552-93AF0220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61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6D88C-E684-0092-0D27-0A9FFD171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4D4E3-9349-5B4E-DEFB-7ADB22929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33B29-2069-185B-154E-83B432798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8DB26-E691-EBF7-87CA-8BD4D97E0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CFEAD-6332-0882-351E-3AD7AFFFE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095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5FA89-7A8C-2BF1-56CD-508B1E3AE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41508-596D-D8B8-26A5-1B6CEF8D4A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81378C-B8B8-D5FE-0A75-376AA5292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A08E7F-3616-927D-844D-CBA72BC67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5/30/26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58E9C8-FE23-8D40-43FF-7818A026A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E8D37-47EA-3C05-517B-2F85706E1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41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00495-D3B5-8FE7-8A3A-C5B2727B1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AB79-3B1C-0ED7-23AF-4A8ADD429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B6335-12A0-B132-55DA-56997016F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1792DF-BF6E-04E5-BFF5-08BD5B4788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99D652-4C1F-B377-280F-5B572A11FC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3AB3D8-A558-F32C-0F6C-8E2295130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5/30/26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219288-AD7A-3282-E5DF-333FFFC4C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E91949-9DF7-7EFE-416F-D6305FF02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82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23D81-55BB-5F96-1196-26A570348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A9AC36-FAC6-A4C4-5460-EEAEC1B5C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5/30/26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B1433-EF97-53CD-FFA5-599DF825D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68FD2-26E5-FFE6-4ACD-83B095981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425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5D5769-FB8F-7676-6B25-5EBA32B25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5/30/26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792E3F-F71A-D744-45DE-85B271039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E25D8-219F-7305-3844-4703C5E5F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789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7D570-06BE-22E1-B810-4D69936F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FEFE4-BB75-6E65-2899-3703E92ED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EB9C2-F3DB-B576-224D-3FDA3DDFF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924BA-FA14-81E6-46BF-4DC0ACFE7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5/30/26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ACD7B-C82D-408A-896E-02E718FB5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B12BD-21E4-1209-4294-DF6CA4FB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13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9B197-43DE-26A9-FBD5-F922DB56A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49AB21-2CEA-875A-6CBF-75B078D3A5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7183E7-34CA-DF9E-984A-606380071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9D1642-EBDC-1BB8-58FC-14A4C3ACE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5/30/26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660FC4-1F32-B58B-D652-941B433D0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C0798-2750-3A94-2B3A-695DA7ABE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536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C7D9F-C985-C4AB-ED45-B78B858B7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AC969-2D60-1CB3-6799-FB9ED2553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28186-263E-FD4A-53F8-A165DADB4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315FA-BCCC-2ABC-ACA2-5E0C6CEF1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603C4-A76D-7A84-168E-060D2B068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0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AB02FF-EECD-334D-5725-B39C40CD39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768F00-C914-3B13-0367-6D8129282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E1A78-ED9B-3691-96EB-5C0EB704C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E0378-2403-D8A8-54CC-05A3BEED2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54D63-4319-317A-696B-C3EA4B47E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61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958682-75F9-C5EA-F27F-548F06300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2A268-0258-C17B-1F8F-68BA2735B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2A94D-D8D6-D318-7837-4C19ED151B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86276-9013-2A43-82D1-BA4685C95117}" type="datetimeFigureOut"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D65C9-1B5B-5F28-B659-EB418FAC6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00E21-0F36-45EE-1A56-BB99C66DA9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570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MTeJWE_Ou0g" TargetMode="External"/><Relationship Id="rId3" Type="http://schemas.openxmlformats.org/officeDocument/2006/relationships/image" Target="../media/image3.jpeg"/><Relationship Id="rId7" Type="http://schemas.openxmlformats.org/officeDocument/2006/relationships/hyperlink" Target="https://www.youtube.com/watch?v=BEpQFZ5BG8c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youtube.com/watch?v=qxZFSNITK-c" TargetMode="External"/><Relationship Id="rId5" Type="http://schemas.openxmlformats.org/officeDocument/2006/relationships/hyperlink" Target="https://www.youtube.com/watch?v=h3K_THDapTM" TargetMode="Externa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5BBD15-AEC2-1815-2347-A5BB8F308263}"/>
              </a:ext>
            </a:extLst>
          </p:cNvPr>
          <p:cNvSpPr txBox="1"/>
          <p:nvPr/>
        </p:nvSpPr>
        <p:spPr>
          <a:xfrm>
            <a:off x="87497" y="52860"/>
            <a:ext cx="53175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Hydraulics</a:t>
            </a:r>
            <a:endParaRPr lang="en-US" sz="2400" b="1" i="0" dirty="0">
              <a:solidFill>
                <a:srgbClr val="333333"/>
              </a:solidFill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CAF9AA-7188-244D-4207-3D6194A6A33F}"/>
              </a:ext>
            </a:extLst>
          </p:cNvPr>
          <p:cNvSpPr txBox="1"/>
          <p:nvPr/>
        </p:nvSpPr>
        <p:spPr>
          <a:xfrm>
            <a:off x="370396" y="2439168"/>
            <a:ext cx="4751790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125413" indent="-125413">
              <a:buFont typeface="Arial" panose="020B0604020202020204" pitchFamily="34" charset="0"/>
              <a:buChar char="•"/>
            </a:pPr>
            <a:r>
              <a:rPr lang="en-US" sz="1400" dirty="0"/>
              <a:t>Oil reservoir contains hydraulic liquid (oil) at zero pressure</a:t>
            </a:r>
          </a:p>
          <a:p>
            <a:pPr marL="125413" indent="-125413">
              <a:buFont typeface="Arial" panose="020B0604020202020204" pitchFamily="34" charset="0"/>
              <a:buChar char="•"/>
            </a:pPr>
            <a:r>
              <a:rPr lang="en-US" sz="1400" dirty="0"/>
              <a:t>A pump sucks in some of this oil to create high pressure</a:t>
            </a:r>
          </a:p>
          <a:p>
            <a:pPr marL="125413" indent="-125413">
              <a:buFont typeface="Arial" panose="020B0604020202020204" pitchFamily="34" charset="0"/>
              <a:buChar char="•"/>
            </a:pPr>
            <a:r>
              <a:rPr lang="en-US" sz="1400" dirty="0"/>
              <a:t>A valve can be used to direct high or low pressure to different parts of the actuator cylinder –pushing it in one or another direction</a:t>
            </a:r>
          </a:p>
        </p:txBody>
      </p:sp>
      <p:pic>
        <p:nvPicPr>
          <p:cNvPr id="6" name="Picture 5" descr="vector illustration/diagram of a hydraulics system and how each component works together">
            <a:extLst>
              <a:ext uri="{FF2B5EF4-FFF2-40B4-BE49-F238E27FC236}">
                <a16:creationId xmlns:a16="http://schemas.microsoft.com/office/drawing/2014/main" id="{4D455F1B-3571-D50A-6011-7CC8F052A23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53207" y="3023944"/>
            <a:ext cx="4331673" cy="2634175"/>
          </a:xfrm>
          <a:prstGeom prst="rect">
            <a:avLst/>
          </a:prstGeom>
        </p:spPr>
      </p:pic>
      <p:pic>
        <p:nvPicPr>
          <p:cNvPr id="7" name="Picture 6" descr="Hydraulic Systems: Components, Types ...">
            <a:extLst>
              <a:ext uri="{FF2B5EF4-FFF2-40B4-BE49-F238E27FC236}">
                <a16:creationId xmlns:a16="http://schemas.microsoft.com/office/drawing/2014/main" id="{7428DEA4-82F7-2400-4500-AF7389A2EF1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000" r="5019"/>
          <a:stretch>
            <a:fillRect/>
          </a:stretch>
        </p:blipFill>
        <p:spPr>
          <a:xfrm>
            <a:off x="5922497" y="405177"/>
            <a:ext cx="4182304" cy="225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560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82118-B15A-6F8E-ADE5-13B43B90C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AF6DD3-0B38-EC97-D326-01CBACDBFE8F}"/>
              </a:ext>
            </a:extLst>
          </p:cNvPr>
          <p:cNvSpPr txBox="1"/>
          <p:nvPr/>
        </p:nvSpPr>
        <p:spPr>
          <a:xfrm>
            <a:off x="87497" y="52860"/>
            <a:ext cx="53175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Hydrostatic Transmission</a:t>
            </a:r>
            <a:endParaRPr lang="en-US" sz="2400" b="1" i="0" dirty="0">
              <a:solidFill>
                <a:srgbClr val="333333"/>
              </a:solidFill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1BB32F-7FB9-1183-D9EC-E352C8546CE7}"/>
              </a:ext>
            </a:extLst>
          </p:cNvPr>
          <p:cNvSpPr txBox="1"/>
          <p:nvPr/>
        </p:nvSpPr>
        <p:spPr>
          <a:xfrm>
            <a:off x="87497" y="5519620"/>
            <a:ext cx="8365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xxx</a:t>
            </a:r>
          </a:p>
        </p:txBody>
      </p:sp>
      <p:pic>
        <p:nvPicPr>
          <p:cNvPr id="8" name="Picture 7" descr="Hydrostatic Transmission - YouTube">
            <a:extLst>
              <a:ext uri="{FF2B5EF4-FFF2-40B4-BE49-F238E27FC236}">
                <a16:creationId xmlns:a16="http://schemas.microsoft.com/office/drawing/2014/main" id="{76C8CD14-4879-EA19-A74C-1BAF64F3232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643042" y="283692"/>
            <a:ext cx="4735838" cy="1885071"/>
          </a:xfrm>
          <a:prstGeom prst="rect">
            <a:avLst/>
          </a:prstGeom>
        </p:spPr>
      </p:pic>
      <p:pic>
        <p:nvPicPr>
          <p:cNvPr id="11" name="Picture 10" descr="Hydrostatic Transmission Repair ...">
            <a:extLst>
              <a:ext uri="{FF2B5EF4-FFF2-40B4-BE49-F238E27FC236}">
                <a16:creationId xmlns:a16="http://schemas.microsoft.com/office/drawing/2014/main" id="{E1EB4587-EED5-87AC-B9D7-57DA3F4E6E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1124" y="2496296"/>
            <a:ext cx="2598617" cy="241940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284664C-CD7A-66CD-1CCE-BC51810026EB}"/>
              </a:ext>
            </a:extLst>
          </p:cNvPr>
          <p:cNvSpPr txBox="1"/>
          <p:nvPr/>
        </p:nvSpPr>
        <p:spPr>
          <a:xfrm>
            <a:off x="192259" y="612843"/>
            <a:ext cx="5994436" cy="44012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125413" indent="-125413">
              <a:buFont typeface="Arial" panose="020B0604020202020204" pitchFamily="34" charset="0"/>
              <a:buChar char="•"/>
            </a:pPr>
            <a:r>
              <a:rPr lang="en-US" sz="1400" dirty="0"/>
              <a:t>Hydrostatic transmission transfers power from the engine using pressurized oil instead of gears. </a:t>
            </a:r>
          </a:p>
          <a:p>
            <a:pPr marL="125413" indent="-125413">
              <a:buFont typeface="Arial" panose="020B0604020202020204" pitchFamily="34" charset="0"/>
              <a:buChar char="•"/>
            </a:pPr>
            <a:r>
              <a:rPr lang="en-US" sz="1400" dirty="0"/>
              <a:t>The engine spins an input shaft connected to a variable-displacement axial piston pump</a:t>
            </a:r>
          </a:p>
          <a:p>
            <a:pPr marL="125413" indent="-125413">
              <a:buFont typeface="Arial" panose="020B0604020202020204" pitchFamily="34" charset="0"/>
              <a:buChar char="•"/>
            </a:pPr>
            <a:r>
              <a:rPr lang="en-US" sz="1400" dirty="0"/>
              <a:t>Inside the pump, a rotating cylinder barrel holds a ring of pistons arranged in a circle</a:t>
            </a:r>
          </a:p>
          <a:p>
            <a:pPr marL="125413" indent="-125413">
              <a:buFont typeface="Arial" panose="020B0604020202020204" pitchFamily="34" charset="0"/>
              <a:buChar char="•"/>
            </a:pPr>
            <a:r>
              <a:rPr lang="en-US" sz="1400" dirty="0"/>
              <a:t>Each piston rides against a swash plate - a disc mounted at an angle - which pushes pistons in and out as the barrel spins</a:t>
            </a:r>
          </a:p>
          <a:p>
            <a:pPr marL="125413" indent="-125413">
              <a:buFont typeface="Arial" panose="020B0604020202020204" pitchFamily="34" charset="0"/>
              <a:buChar char="•"/>
            </a:pPr>
            <a:r>
              <a:rPr lang="en-US" sz="1400" dirty="0"/>
              <a:t>A port plate, pressed against the back face of the cylinder barrel, has two kidney-shaped slots that route oil into and out of the pistons at precisely the right moment</a:t>
            </a:r>
          </a:p>
          <a:p>
            <a:pPr marL="125413" indent="-125413">
              <a:buFont typeface="Arial" panose="020B0604020202020204" pitchFamily="34" charset="0"/>
              <a:buChar char="•"/>
            </a:pPr>
            <a:r>
              <a:rPr lang="en-US" sz="1400" dirty="0"/>
              <a:t>Pressurized oil travels through two hydraulic lines to a hydraulic motor, which has the same components - cylinder barrel, pistons, and a fixed swash plate - but runs in reverse, converting oil pressure back into shaft rotation that drives the wheels</a:t>
            </a:r>
          </a:p>
          <a:p>
            <a:pPr marL="125413" indent="-125413">
              <a:buFont typeface="Arial" panose="020B0604020202020204" pitchFamily="34" charset="0"/>
              <a:buChar char="•"/>
            </a:pPr>
            <a:r>
              <a:rPr lang="en-US" sz="1400" dirty="0"/>
              <a:t>Thrust bearings support the swash plate and absorb axial load from the pistons</a:t>
            </a:r>
          </a:p>
          <a:p>
            <a:pPr marL="125413" indent="-125413">
              <a:buFont typeface="Arial" panose="020B0604020202020204" pitchFamily="34" charset="0"/>
              <a:buChar char="•"/>
            </a:pPr>
            <a:r>
              <a:rPr lang="en-US" sz="1400" dirty="0"/>
              <a:t>Tilting the swash plate further increases flow and speed; tilting it the opposite direction reverses the motor</a:t>
            </a:r>
          </a:p>
          <a:p>
            <a:pPr marL="125413" indent="-125413">
              <a:buFont typeface="Arial" panose="020B0604020202020204" pitchFamily="34" charset="0"/>
              <a:buChar char="•"/>
            </a:pPr>
            <a:r>
              <a:rPr lang="en-US" sz="1400" dirty="0"/>
              <a:t>The oil loops continuously between pump and motor in a closed circuit.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7FA513-969A-BF47-B9F8-017707C51CEC}"/>
              </a:ext>
            </a:extLst>
          </p:cNvPr>
          <p:cNvSpPr txBox="1"/>
          <p:nvPr/>
        </p:nvSpPr>
        <p:spPr>
          <a:xfrm>
            <a:off x="6487028" y="138703"/>
            <a:ext cx="1875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Pump,</a:t>
            </a:r>
          </a:p>
          <a:p>
            <a:r>
              <a:rPr lang="en-US" sz="1200" dirty="0"/>
              <a:t>the swash plate angled to define the direction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A0ECA1-F8F8-1BD5-9E24-DEAEED361AD0}"/>
              </a:ext>
            </a:extLst>
          </p:cNvPr>
          <p:cNvSpPr txBox="1"/>
          <p:nvPr/>
        </p:nvSpPr>
        <p:spPr>
          <a:xfrm>
            <a:off x="10124494" y="52860"/>
            <a:ext cx="1875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Motor,</a:t>
            </a:r>
          </a:p>
          <a:p>
            <a:r>
              <a:rPr lang="en-US" sz="1200" dirty="0"/>
              <a:t>the swash plate angle</a:t>
            </a:r>
          </a:p>
          <a:p>
            <a:r>
              <a:rPr lang="en-US" sz="1200" dirty="0"/>
              <a:t>is fixed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717468-2456-4E04-3FEB-C135705B47F6}"/>
              </a:ext>
            </a:extLst>
          </p:cNvPr>
          <p:cNvSpPr txBox="1"/>
          <p:nvPr/>
        </p:nvSpPr>
        <p:spPr>
          <a:xfrm>
            <a:off x="6291457" y="5450011"/>
            <a:ext cx="38330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hlinkClick r:id="rId5"/>
              </a:rPr>
              <a:t>https://</a:t>
            </a:r>
            <a:r>
              <a:rPr lang="en-US" sz="1200" dirty="0" err="1">
                <a:hlinkClick r:id="rId5"/>
              </a:rPr>
              <a:t>www.youtube.com</a:t>
            </a:r>
            <a:r>
              <a:rPr lang="en-US" sz="1200" dirty="0">
                <a:hlinkClick r:id="rId5"/>
              </a:rPr>
              <a:t>/</a:t>
            </a:r>
            <a:r>
              <a:rPr lang="en-US" sz="1200" dirty="0" err="1">
                <a:hlinkClick r:id="rId5"/>
              </a:rPr>
              <a:t>watch?v</a:t>
            </a:r>
            <a:r>
              <a:rPr lang="en-US" sz="1200" dirty="0">
                <a:hlinkClick r:id="rId5"/>
              </a:rPr>
              <a:t>=h3K_THDapTM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hlinkClick r:id="rId6"/>
              </a:rPr>
              <a:t>https://www.youtube.com/watch?v=qxZFSNITK-c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hlinkClick r:id="rId7"/>
              </a:rPr>
              <a:t>https://www.youtube.com/watch?v=BEpQFZ5BG8c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hlinkClick r:id="rId8"/>
              </a:rPr>
              <a:t>https://www.youtube.com/watch?v=MTeJWE_Ou0g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64037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82118-B15A-6F8E-ADE5-13B43B90C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AF6DD3-0B38-EC97-D326-01CBACDBFE8F}"/>
              </a:ext>
            </a:extLst>
          </p:cNvPr>
          <p:cNvSpPr txBox="1"/>
          <p:nvPr/>
        </p:nvSpPr>
        <p:spPr>
          <a:xfrm>
            <a:off x="87496" y="52860"/>
            <a:ext cx="6399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John Deere Hydraulic Front Wheel Drive - HFWD </a:t>
            </a:r>
            <a:endParaRPr lang="en-US" sz="2400" b="1" i="0" dirty="0">
              <a:solidFill>
                <a:srgbClr val="333333"/>
              </a:solidFill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1BB32F-7FB9-1183-D9EC-E352C8546CE7}"/>
              </a:ext>
            </a:extLst>
          </p:cNvPr>
          <p:cNvSpPr txBox="1"/>
          <p:nvPr/>
        </p:nvSpPr>
        <p:spPr>
          <a:xfrm>
            <a:off x="87497" y="5519620"/>
            <a:ext cx="8365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xxx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84664C-CD7A-66CD-1CCE-BC51810026EB}"/>
              </a:ext>
            </a:extLst>
          </p:cNvPr>
          <p:cNvSpPr txBox="1"/>
          <p:nvPr/>
        </p:nvSpPr>
        <p:spPr>
          <a:xfrm>
            <a:off x="87496" y="514525"/>
            <a:ext cx="5877206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125413" indent="-125413">
              <a:buFont typeface="Arial" panose="020B0604020202020204" pitchFamily="34" charset="0"/>
              <a:buChar char="•"/>
            </a:pPr>
            <a:r>
              <a:rPr lang="en-US" sz="1200" dirty="0"/>
              <a:t>The front axle contains 2 independent hydraulic motors (left and right). Each motor is a small unit with pistons – exactly as in the rear transmission – but smaller</a:t>
            </a:r>
          </a:p>
          <a:p>
            <a:pPr marL="125413" indent="-125413">
              <a:buFont typeface="Arial" panose="020B0604020202020204" pitchFamily="34" charset="0"/>
              <a:buChar char="•"/>
            </a:pPr>
            <a:r>
              <a:rPr lang="en-US" sz="1200" dirty="0"/>
              <a:t>The Hydraulic Pressure does NOT come from the main Tuff Torq rear transaxle's closed loop. Instead, a dedicated hydraulic pump in the rear transaxle also supplies pressure specifically for the front axle</a:t>
            </a:r>
          </a:p>
          <a:p>
            <a:pPr marL="125413" indent="-125413">
              <a:buFont typeface="Arial" panose="020B0604020202020204" pitchFamily="34" charset="0"/>
              <a:buChar char="•"/>
            </a:pPr>
            <a:r>
              <a:rPr lang="en-US" sz="1200" dirty="0"/>
              <a:t>The axles share hydraulic fluid and are connected by 2 hydraulic pressure hoses and a balance hose running front to back under the tractor</a:t>
            </a:r>
          </a:p>
          <a:p>
            <a:pPr marL="125413" indent="-125413">
              <a:buFont typeface="Arial" panose="020B0604020202020204" pitchFamily="34" charset="0"/>
              <a:buChar char="•"/>
            </a:pPr>
            <a:r>
              <a:rPr lang="en-US" sz="1200" dirty="0"/>
              <a:t>The fluid circulates between both axles as one shared system</a:t>
            </a:r>
          </a:p>
          <a:p>
            <a:pPr marL="125413" indent="-125413">
              <a:buFont typeface="Arial" panose="020B0604020202020204" pitchFamily="34" charset="0"/>
              <a:buChar char="•"/>
            </a:pPr>
            <a:r>
              <a:rPr lang="en-US" sz="1200" dirty="0"/>
              <a:t>When you turn, your front wheels need to spin at different speeds - the outer wheel travels a longer arc than the inner wheel. </a:t>
            </a:r>
          </a:p>
          <a:p>
            <a:pPr marL="125413" indent="-125413">
              <a:buFont typeface="Arial" panose="020B0604020202020204" pitchFamily="34" charset="0"/>
              <a:buChar char="•"/>
            </a:pPr>
            <a:r>
              <a:rPr lang="en-US" sz="1200" dirty="0"/>
              <a:t>To solve this, the front axle has a proportioning valve  mechanically linked to the steering linkage to adjust the swash plate angles of the two front motors - the outer wheel's motor gets more flow (faster) and the inner wheel's motor gets less (slower)</a:t>
            </a:r>
          </a:p>
          <a:p>
            <a:pPr marL="125413" indent="-125413">
              <a:buFont typeface="Arial" panose="020B0604020202020204" pitchFamily="34" charset="0"/>
              <a:buChar char="•"/>
            </a:pPr>
            <a:r>
              <a:rPr lang="en-US" sz="1200" dirty="0"/>
              <a:t>This happens automatically and continuously, with no electronic sensors involved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33A1E-AC89-370B-F32B-FEE3328D7A71}"/>
              </a:ext>
            </a:extLst>
          </p:cNvPr>
          <p:cNvSpPr txBox="1"/>
          <p:nvPr/>
        </p:nvSpPr>
        <p:spPr>
          <a:xfrm>
            <a:off x="7915421" y="283692"/>
            <a:ext cx="4038600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125413" indent="-125413">
              <a:buFont typeface="Arial" panose="020B0604020202020204" pitchFamily="34" charset="0"/>
              <a:buChar char="•"/>
            </a:pPr>
            <a:r>
              <a:rPr lang="en-US" sz="1200" dirty="0"/>
              <a:t>On X758:</a:t>
            </a:r>
          </a:p>
          <a:p>
            <a:pPr marL="125413" indent="-125413">
              <a:buFont typeface="Arial" panose="020B0604020202020204" pitchFamily="34" charset="0"/>
              <a:buChar char="•"/>
            </a:pPr>
            <a:r>
              <a:rPr lang="en-US" sz="1200" dirty="0"/>
              <a:t>1. Diesel engine → rear Tuff Torq transaxle</a:t>
            </a:r>
          </a:p>
          <a:p>
            <a:pPr marL="125413" indent="-125413">
              <a:buFont typeface="Arial" panose="020B0604020202020204" pitchFamily="34" charset="0"/>
              <a:buChar char="•"/>
            </a:pPr>
            <a:r>
              <a:rPr lang="en-US" sz="1200" dirty="0"/>
              <a:t>2. Transaxle → rear wheels (hydrostatic pump/motor loop)</a:t>
            </a:r>
          </a:p>
          <a:p>
            <a:pPr marL="125413" indent="-125413">
              <a:buFont typeface="Arial" panose="020B0604020202020204" pitchFamily="34" charset="0"/>
              <a:buChar char="•"/>
            </a:pPr>
            <a:r>
              <a:rPr lang="en-US" sz="1200" dirty="0"/>
              <a:t>3. Same transaxle → two hoses forward → front axle</a:t>
            </a:r>
          </a:p>
          <a:p>
            <a:pPr marL="125413" indent="-125413">
              <a:buFont typeface="Arial" panose="020B0604020202020204" pitchFamily="34" charset="0"/>
              <a:buChar char="•"/>
            </a:pPr>
            <a:r>
              <a:rPr lang="en-US" sz="1200" dirty="0"/>
              <a:t>4. Front axle → left motor (left front wheel) </a:t>
            </a:r>
            <a:br>
              <a:rPr lang="en-US" sz="1200" dirty="0"/>
            </a:br>
            <a:r>
              <a:rPr lang="en-US" sz="1200" dirty="0"/>
              <a:t>                          + right motor (right front wheel)</a:t>
            </a:r>
          </a:p>
          <a:p>
            <a:pPr marL="125413" indent="-125413">
              <a:buFont typeface="Arial" panose="020B0604020202020204" pitchFamily="34" charset="0"/>
              <a:buChar char="•"/>
            </a:pPr>
            <a:r>
              <a:rPr lang="en-US" sz="1200" dirty="0"/>
              <a:t>5. Steering linkage → proportioning valve → automatically balances front motor speeds in turns</a:t>
            </a:r>
          </a:p>
        </p:txBody>
      </p:sp>
      <p:pic>
        <p:nvPicPr>
          <p:cNvPr id="6" name="Picture 5" descr="Hydraulic Front Wheel Drive (HFWD) That Reduces Damage for a Lawn｜YANMAR  Technical Review｜Technology｜About Us｜YANMAR">
            <a:extLst>
              <a:ext uri="{FF2B5EF4-FFF2-40B4-BE49-F238E27FC236}">
                <a16:creationId xmlns:a16="http://schemas.microsoft.com/office/drawing/2014/main" id="{B07B77DB-5EB7-935C-F02C-FABDFFD9409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96738" y="2063235"/>
            <a:ext cx="4107766" cy="27315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BEDCF8-61D8-9035-01D6-4220244786B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3375" y="4108275"/>
            <a:ext cx="4038600" cy="22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300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1552</TotalTime>
  <Words>586</Words>
  <Application>Microsoft Macintosh PowerPoint</Application>
  <PresentationFormat>Widescreen</PresentationFormat>
  <Paragraphs>41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108</cp:revision>
  <dcterms:created xsi:type="dcterms:W3CDTF">2022-05-02T00:38:22Z</dcterms:created>
  <dcterms:modified xsi:type="dcterms:W3CDTF">2026-05-30T15:14:58Z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518368-b969-4042-91d9-8939bd921da2_Enabled">
    <vt:lpwstr>true</vt:lpwstr>
  </property>
  <property fmtid="{D5CDD505-2E9C-101B-9397-08002B2CF9AE}" pid="3" name="MSIP_Label_4f518368-b969-4042-91d9-8939bd921da2_SetDate">
    <vt:lpwstr>2022-05-02T00:38:23Z</vt:lpwstr>
  </property>
  <property fmtid="{D5CDD505-2E9C-101B-9397-08002B2CF9AE}" pid="4" name="MSIP_Label_4f518368-b969-4042-91d9-8939bd921da2_Method">
    <vt:lpwstr>Standard</vt:lpwstr>
  </property>
  <property fmtid="{D5CDD505-2E9C-101B-9397-08002B2CF9AE}" pid="5" name="MSIP_Label_4f518368-b969-4042-91d9-8939bd921da2_Name">
    <vt:lpwstr>General</vt:lpwstr>
  </property>
  <property fmtid="{D5CDD505-2E9C-101B-9397-08002B2CF9AE}" pid="6" name="MSIP_Label_4f518368-b969-4042-91d9-8939bd921da2_SiteId">
    <vt:lpwstr>116e9905-19fc-428e-93d4-bcaffb833597</vt:lpwstr>
  </property>
  <property fmtid="{D5CDD505-2E9C-101B-9397-08002B2CF9AE}" pid="7" name="MSIP_Label_4f518368-b969-4042-91d9-8939bd921da2_ActionId">
    <vt:lpwstr>24169d7b-7067-4cc0-93f0-4d109a136a7c</vt:lpwstr>
  </property>
  <property fmtid="{D5CDD505-2E9C-101B-9397-08002B2CF9AE}" pid="8" name="MSIP_Label_4f518368-b969-4042-91d9-8939bd921da2_ContentBits">
    <vt:lpwstr>0</vt:lpwstr>
  </property>
</Properties>
</file>