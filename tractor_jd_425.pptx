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70" r:id="rId2"/>
    <p:sldId id="279" r:id="rId3"/>
    <p:sldId id="280" r:id="rId4"/>
    <p:sldId id="281" r:id="rId5"/>
    <p:sldId id="277" r:id="rId6"/>
    <p:sldId id="256" r:id="rId7"/>
    <p:sldId id="257" r:id="rId8"/>
    <p:sldId id="258" r:id="rId9"/>
    <p:sldId id="283" r:id="rId10"/>
    <p:sldId id="28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46"/>
    <p:restoredTop sz="94710"/>
  </p:normalViewPr>
  <p:slideViewPr>
    <p:cSldViewPr snapToGrid="0" snapToObjects="1">
      <p:cViewPr varScale="1">
        <p:scale>
          <a:sx n="58" d="100"/>
          <a:sy n="58" d="100"/>
        </p:scale>
        <p:origin x="224"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CBACD6-B362-0043-A58B-A3D4BA3FEE7A}" type="datetimeFigureOut">
              <a:rPr lang="en-US" smtClean="0"/>
              <a:t>6/28/26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B4E46E-59E3-D340-93A2-E908CA0C9EE2}" type="slidenum">
              <a:rPr lang="en-US" smtClean="0"/>
              <a:t>‹#›</a:t>
            </a:fld>
            <a:endParaRPr lang="en-US"/>
          </a:p>
        </p:txBody>
      </p:sp>
    </p:spTree>
    <p:extLst>
      <p:ext uri="{BB962C8B-B14F-4D97-AF65-F5344CB8AC3E}">
        <p14:creationId xmlns:p14="http://schemas.microsoft.com/office/powerpoint/2010/main" val="1975272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ec60621966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ec60621966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ed911933c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ed911933c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88DD0-F5B2-15C1-96C2-359AABC4B4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979889-D132-4397-0547-895A6BD28D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084E4CA-9799-18AE-D4BA-5EFDB2627B56}"/>
              </a:ext>
            </a:extLst>
          </p:cNvPr>
          <p:cNvSpPr>
            <a:spLocks noGrp="1"/>
          </p:cNvSpPr>
          <p:nvPr>
            <p:ph type="dt" sz="half" idx="10"/>
          </p:nvPr>
        </p:nvSpPr>
        <p:spPr/>
        <p:txBody>
          <a:bodyPr/>
          <a:lstStyle/>
          <a:p>
            <a:fld id="{16286276-9013-2A43-82D1-BA4685C95117}" type="datetimeFigureOut">
              <a:t>6/28/26</a:t>
            </a:fld>
            <a:endParaRPr lang="en-US"/>
          </a:p>
        </p:txBody>
      </p:sp>
      <p:sp>
        <p:nvSpPr>
          <p:cNvPr id="5" name="Footer Placeholder 4">
            <a:extLst>
              <a:ext uri="{FF2B5EF4-FFF2-40B4-BE49-F238E27FC236}">
                <a16:creationId xmlns:a16="http://schemas.microsoft.com/office/drawing/2014/main" id="{5DEBB017-65CA-D094-EA2F-FAFBC1BF4B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527274-3826-028B-64DD-856AA98C7A45}"/>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263135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8F12F-3D3D-6A09-2E35-EAD0C90AC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368E21-870B-193E-8931-72FD7C38AA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7E93E1-1A44-D49B-EE6B-0C6F21404F05}"/>
              </a:ext>
            </a:extLst>
          </p:cNvPr>
          <p:cNvSpPr>
            <a:spLocks noGrp="1"/>
          </p:cNvSpPr>
          <p:nvPr>
            <p:ph type="dt" sz="half" idx="10"/>
          </p:nvPr>
        </p:nvSpPr>
        <p:spPr/>
        <p:txBody>
          <a:bodyPr/>
          <a:lstStyle/>
          <a:p>
            <a:fld id="{16286276-9013-2A43-82D1-BA4685C95117}" type="datetimeFigureOut">
              <a:t>6/28/26</a:t>
            </a:fld>
            <a:endParaRPr lang="en-US"/>
          </a:p>
        </p:txBody>
      </p:sp>
      <p:sp>
        <p:nvSpPr>
          <p:cNvPr id="5" name="Footer Placeholder 4">
            <a:extLst>
              <a:ext uri="{FF2B5EF4-FFF2-40B4-BE49-F238E27FC236}">
                <a16:creationId xmlns:a16="http://schemas.microsoft.com/office/drawing/2014/main" id="{877064A9-6EAD-6647-B6CB-F24B6F708A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46CF0-740D-F941-2552-93AF02201266}"/>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948861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6D88C-E684-0092-0D27-0A9FFD171D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04D4E3-9349-5B4E-DEFB-7ADB229292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B33B29-2069-185B-154E-83B4327982C4}"/>
              </a:ext>
            </a:extLst>
          </p:cNvPr>
          <p:cNvSpPr>
            <a:spLocks noGrp="1"/>
          </p:cNvSpPr>
          <p:nvPr>
            <p:ph type="dt" sz="half" idx="10"/>
          </p:nvPr>
        </p:nvSpPr>
        <p:spPr/>
        <p:txBody>
          <a:bodyPr/>
          <a:lstStyle/>
          <a:p>
            <a:fld id="{16286276-9013-2A43-82D1-BA4685C95117}" type="datetimeFigureOut">
              <a:t>6/28/26</a:t>
            </a:fld>
            <a:endParaRPr lang="en-US"/>
          </a:p>
        </p:txBody>
      </p:sp>
      <p:sp>
        <p:nvSpPr>
          <p:cNvPr id="5" name="Footer Placeholder 4">
            <a:extLst>
              <a:ext uri="{FF2B5EF4-FFF2-40B4-BE49-F238E27FC236}">
                <a16:creationId xmlns:a16="http://schemas.microsoft.com/office/drawing/2014/main" id="{0428DB26-E691-EBF7-87CA-8BD4D97E0D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6CFEAD-6332-0882-351E-3AD7AFFFECA7}"/>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146009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5FA89-7A8C-2BF1-56CD-508B1E3AE9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741508-596D-D8B8-26A5-1B6CEF8D4A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081378C-B8B8-D5FE-0A75-376AA5292C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A08E7F-3616-927D-844D-CBA72BC67592}"/>
              </a:ext>
            </a:extLst>
          </p:cNvPr>
          <p:cNvSpPr>
            <a:spLocks noGrp="1"/>
          </p:cNvSpPr>
          <p:nvPr>
            <p:ph type="dt" sz="half" idx="10"/>
          </p:nvPr>
        </p:nvSpPr>
        <p:spPr/>
        <p:txBody>
          <a:bodyPr/>
          <a:lstStyle/>
          <a:p>
            <a:fld id="{16286276-9013-2A43-82D1-BA4685C95117}" type="datetimeFigureOut">
              <a:t>6/28/26</a:t>
            </a:fld>
            <a:endParaRPr lang="en-US"/>
          </a:p>
        </p:txBody>
      </p:sp>
      <p:sp>
        <p:nvSpPr>
          <p:cNvPr id="6" name="Footer Placeholder 5">
            <a:extLst>
              <a:ext uri="{FF2B5EF4-FFF2-40B4-BE49-F238E27FC236}">
                <a16:creationId xmlns:a16="http://schemas.microsoft.com/office/drawing/2014/main" id="{6558E9C8-FE23-8D40-43FF-7818A026A2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7E8D37-47EA-3C05-517B-2F85706E13B0}"/>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3222441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00495-D3B5-8FE7-8A3A-C5B2727B1B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25AB79-3B1C-0ED7-23AF-4A8ADD4296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5B6335-12A0-B132-55DA-56997016F4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1792DF-BF6E-04E5-BFF5-08BD5B4788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99D652-4C1F-B377-280F-5B572A11FC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3AB3D8-A558-F32C-0F6C-8E2295130683}"/>
              </a:ext>
            </a:extLst>
          </p:cNvPr>
          <p:cNvSpPr>
            <a:spLocks noGrp="1"/>
          </p:cNvSpPr>
          <p:nvPr>
            <p:ph type="dt" sz="half" idx="10"/>
          </p:nvPr>
        </p:nvSpPr>
        <p:spPr/>
        <p:txBody>
          <a:bodyPr/>
          <a:lstStyle/>
          <a:p>
            <a:fld id="{16286276-9013-2A43-82D1-BA4685C95117}" type="datetimeFigureOut">
              <a:t>6/28/26</a:t>
            </a:fld>
            <a:endParaRPr lang="en-US"/>
          </a:p>
        </p:txBody>
      </p:sp>
      <p:sp>
        <p:nvSpPr>
          <p:cNvPr id="8" name="Footer Placeholder 7">
            <a:extLst>
              <a:ext uri="{FF2B5EF4-FFF2-40B4-BE49-F238E27FC236}">
                <a16:creationId xmlns:a16="http://schemas.microsoft.com/office/drawing/2014/main" id="{8C219288-AD7A-3282-E5DF-333FFFC4C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E91949-9DF7-7EFE-416F-D6305FF02DDA}"/>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94682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23D81-55BB-5F96-1196-26A5703482F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A9AC36-FAC6-A4C4-5460-EEAEC1B5CD49}"/>
              </a:ext>
            </a:extLst>
          </p:cNvPr>
          <p:cNvSpPr>
            <a:spLocks noGrp="1"/>
          </p:cNvSpPr>
          <p:nvPr>
            <p:ph type="dt" sz="half" idx="10"/>
          </p:nvPr>
        </p:nvSpPr>
        <p:spPr/>
        <p:txBody>
          <a:bodyPr/>
          <a:lstStyle/>
          <a:p>
            <a:fld id="{16286276-9013-2A43-82D1-BA4685C95117}" type="datetimeFigureOut">
              <a:t>6/28/26</a:t>
            </a:fld>
            <a:endParaRPr lang="en-US"/>
          </a:p>
        </p:txBody>
      </p:sp>
      <p:sp>
        <p:nvSpPr>
          <p:cNvPr id="4" name="Footer Placeholder 3">
            <a:extLst>
              <a:ext uri="{FF2B5EF4-FFF2-40B4-BE49-F238E27FC236}">
                <a16:creationId xmlns:a16="http://schemas.microsoft.com/office/drawing/2014/main" id="{ACEB1433-EF97-53CD-FFA5-599DF825DA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3E68FD2-26E5-FFE6-4ACD-83B095981312}"/>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2257425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5D5769-FB8F-7676-6B25-5EBA32B25F72}"/>
              </a:ext>
            </a:extLst>
          </p:cNvPr>
          <p:cNvSpPr>
            <a:spLocks noGrp="1"/>
          </p:cNvSpPr>
          <p:nvPr>
            <p:ph type="dt" sz="half" idx="10"/>
          </p:nvPr>
        </p:nvSpPr>
        <p:spPr/>
        <p:txBody>
          <a:bodyPr/>
          <a:lstStyle/>
          <a:p>
            <a:fld id="{16286276-9013-2A43-82D1-BA4685C95117}" type="datetimeFigureOut">
              <a:t>6/28/26</a:t>
            </a:fld>
            <a:endParaRPr lang="en-US"/>
          </a:p>
        </p:txBody>
      </p:sp>
      <p:sp>
        <p:nvSpPr>
          <p:cNvPr id="3" name="Footer Placeholder 2">
            <a:extLst>
              <a:ext uri="{FF2B5EF4-FFF2-40B4-BE49-F238E27FC236}">
                <a16:creationId xmlns:a16="http://schemas.microsoft.com/office/drawing/2014/main" id="{B6792E3F-F71A-D744-45DE-85B2710390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6E25D8-219F-7305-3844-4703C5E5F548}"/>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3171789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7D570-06BE-22E1-B810-4D69936FDF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BFEFE4-BB75-6E65-2899-3703E92ED0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FEB9C2-F3DB-B576-224D-3FDA3DDFFA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B924BA-FA14-81E6-46BF-4DC0ACFE74DC}"/>
              </a:ext>
            </a:extLst>
          </p:cNvPr>
          <p:cNvSpPr>
            <a:spLocks noGrp="1"/>
          </p:cNvSpPr>
          <p:nvPr>
            <p:ph type="dt" sz="half" idx="10"/>
          </p:nvPr>
        </p:nvSpPr>
        <p:spPr/>
        <p:txBody>
          <a:bodyPr/>
          <a:lstStyle/>
          <a:p>
            <a:fld id="{16286276-9013-2A43-82D1-BA4685C95117}" type="datetimeFigureOut">
              <a:t>6/28/26</a:t>
            </a:fld>
            <a:endParaRPr lang="en-US"/>
          </a:p>
        </p:txBody>
      </p:sp>
      <p:sp>
        <p:nvSpPr>
          <p:cNvPr id="6" name="Footer Placeholder 5">
            <a:extLst>
              <a:ext uri="{FF2B5EF4-FFF2-40B4-BE49-F238E27FC236}">
                <a16:creationId xmlns:a16="http://schemas.microsoft.com/office/drawing/2014/main" id="{4BFACD7B-C82D-408A-896E-02E718FB55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FB12BD-21E4-1209-4294-DF6CA4FB3DBE}"/>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2741213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B197-43DE-26A9-FBD5-F922DB56A9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49AB21-2CEA-875A-6CBF-75B078D3A5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7183E7-34CA-DF9E-984A-6063800717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9D1642-EBDC-1BB8-58FC-14A4C3ACEBE6}"/>
              </a:ext>
            </a:extLst>
          </p:cNvPr>
          <p:cNvSpPr>
            <a:spLocks noGrp="1"/>
          </p:cNvSpPr>
          <p:nvPr>
            <p:ph type="dt" sz="half" idx="10"/>
          </p:nvPr>
        </p:nvSpPr>
        <p:spPr/>
        <p:txBody>
          <a:bodyPr/>
          <a:lstStyle/>
          <a:p>
            <a:fld id="{16286276-9013-2A43-82D1-BA4685C95117}" type="datetimeFigureOut">
              <a:t>6/28/26</a:t>
            </a:fld>
            <a:endParaRPr lang="en-US"/>
          </a:p>
        </p:txBody>
      </p:sp>
      <p:sp>
        <p:nvSpPr>
          <p:cNvPr id="6" name="Footer Placeholder 5">
            <a:extLst>
              <a:ext uri="{FF2B5EF4-FFF2-40B4-BE49-F238E27FC236}">
                <a16:creationId xmlns:a16="http://schemas.microsoft.com/office/drawing/2014/main" id="{A7660FC4-1F32-B58B-D652-941B433D0E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CC0798-2750-3A94-2B3A-695DA7ABEFD8}"/>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1577536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C7D9F-C985-C4AB-ED45-B78B858B72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6AC969-2D60-1CB3-6799-FB9ED25537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C28186-263E-FD4A-53F8-A165DADB419A}"/>
              </a:ext>
            </a:extLst>
          </p:cNvPr>
          <p:cNvSpPr>
            <a:spLocks noGrp="1"/>
          </p:cNvSpPr>
          <p:nvPr>
            <p:ph type="dt" sz="half" idx="10"/>
          </p:nvPr>
        </p:nvSpPr>
        <p:spPr/>
        <p:txBody>
          <a:bodyPr/>
          <a:lstStyle/>
          <a:p>
            <a:fld id="{16286276-9013-2A43-82D1-BA4685C95117}" type="datetimeFigureOut">
              <a:t>6/28/26</a:t>
            </a:fld>
            <a:endParaRPr lang="en-US"/>
          </a:p>
        </p:txBody>
      </p:sp>
      <p:sp>
        <p:nvSpPr>
          <p:cNvPr id="5" name="Footer Placeholder 4">
            <a:extLst>
              <a:ext uri="{FF2B5EF4-FFF2-40B4-BE49-F238E27FC236}">
                <a16:creationId xmlns:a16="http://schemas.microsoft.com/office/drawing/2014/main" id="{227315FA-BCCC-2ABC-ACA2-5E0C6CEF10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9603C4-A76D-7A84-168E-060D2B068902}"/>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1937404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AB02FF-EECD-334D-5725-B39C40CD39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768F00-C914-3B13-0367-6D81292821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3E1A78-ED9B-3691-96EB-5C0EB704CC80}"/>
              </a:ext>
            </a:extLst>
          </p:cNvPr>
          <p:cNvSpPr>
            <a:spLocks noGrp="1"/>
          </p:cNvSpPr>
          <p:nvPr>
            <p:ph type="dt" sz="half" idx="10"/>
          </p:nvPr>
        </p:nvSpPr>
        <p:spPr/>
        <p:txBody>
          <a:bodyPr/>
          <a:lstStyle/>
          <a:p>
            <a:fld id="{16286276-9013-2A43-82D1-BA4685C95117}" type="datetimeFigureOut">
              <a:t>6/28/26</a:t>
            </a:fld>
            <a:endParaRPr lang="en-US"/>
          </a:p>
        </p:txBody>
      </p:sp>
      <p:sp>
        <p:nvSpPr>
          <p:cNvPr id="5" name="Footer Placeholder 4">
            <a:extLst>
              <a:ext uri="{FF2B5EF4-FFF2-40B4-BE49-F238E27FC236}">
                <a16:creationId xmlns:a16="http://schemas.microsoft.com/office/drawing/2014/main" id="{CD3E0378-2403-D8A8-54CC-05A3BEED27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E54D63-4319-317A-696B-C3EA4B47E068}"/>
              </a:ext>
            </a:extLst>
          </p:cNvPr>
          <p:cNvSpPr>
            <a:spLocks noGrp="1"/>
          </p:cNvSpPr>
          <p:nvPr>
            <p:ph type="sldNum" sz="quarter" idx="12"/>
          </p:nvPr>
        </p:nvSpPr>
        <p:spPr/>
        <p:txBody>
          <a:bodyPr/>
          <a:lstStyle/>
          <a:p>
            <a:fld id="{2EFA1A7C-04A5-B94C-8298-87E642159084}" type="slidenum">
              <a:t>‹#›</a:t>
            </a:fld>
            <a:endParaRPr lang="en-US"/>
          </a:p>
        </p:txBody>
      </p:sp>
    </p:spTree>
    <p:extLst>
      <p:ext uri="{BB962C8B-B14F-4D97-AF65-F5344CB8AC3E}">
        <p14:creationId xmlns:p14="http://schemas.microsoft.com/office/powerpoint/2010/main" val="855610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958682-75F9-C5EA-F27F-548F063002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42A268-0258-C17B-1F8F-68BA2735B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12A94D-D8D6-D318-7837-4C19ED151B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286276-9013-2A43-82D1-BA4685C95117}" type="datetimeFigureOut">
              <a:t>6/28/26</a:t>
            </a:fld>
            <a:endParaRPr lang="en-US"/>
          </a:p>
        </p:txBody>
      </p:sp>
      <p:sp>
        <p:nvSpPr>
          <p:cNvPr id="5" name="Footer Placeholder 4">
            <a:extLst>
              <a:ext uri="{FF2B5EF4-FFF2-40B4-BE49-F238E27FC236}">
                <a16:creationId xmlns:a16="http://schemas.microsoft.com/office/drawing/2014/main" id="{483D65C9-1B5B-5F28-B659-EB418FAC67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6100E21-0F36-45EE-1A56-BB99C66DA9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FA1A7C-04A5-B94C-8298-87E642159084}" type="slidenum">
              <a:t>‹#›</a:t>
            </a:fld>
            <a:endParaRPr lang="en-US"/>
          </a:p>
        </p:txBody>
      </p:sp>
    </p:spTree>
    <p:extLst>
      <p:ext uri="{BB962C8B-B14F-4D97-AF65-F5344CB8AC3E}">
        <p14:creationId xmlns:p14="http://schemas.microsoft.com/office/powerpoint/2010/main" val="42295703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4.png"/><Relationship Id="rId2" Type="http://schemas.openxmlformats.org/officeDocument/2006/relationships/hyperlink" Target="https://www.tractordata.com/lawn-tractors/000/0/4/43-john-deere-425.html" TargetMode="Externa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s://partscatalog.deere.com/jdrc/sidebyside/equipment/73515/referrer/navigation/pgId/2523090" TargetMode="Externa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s://meg-mo.com/" TargetMode="External"/><Relationship Id="rId7" Type="http://schemas.openxmlformats.org/officeDocument/2006/relationships/hyperlink" Target="https://www.greenpartstore.com/John-Deere-Blade-Bolt-19M7788.html" TargetMode="External"/><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hyperlink" Target="https://partscatalog.deere.com/jdrc/sidebyside/equipment/78976/referrer/navigation/pgId/2341197" TargetMode="External"/><Relationship Id="rId5" Type="http://schemas.openxmlformats.org/officeDocument/2006/relationships/hyperlink" Target="https://partscatalog.deere.com/jdrc/navigation/equipment/78976" TargetMode="External"/><Relationship Id="rId10" Type="http://schemas.openxmlformats.org/officeDocument/2006/relationships/image" Target="../media/image7.png"/><Relationship Id="rId4" Type="http://schemas.openxmlformats.org/officeDocument/2006/relationships/hyperlink" Target="https://partscatalog.deere.com/jdrc/navigation/equipment/73515" TargetMode="External"/><Relationship Id="rId9" Type="http://schemas.openxmlformats.org/officeDocument/2006/relationships/hyperlink" Target="https://www.amazon.com/LEXIVON-2-Inch-Torque-13-6-203-5-LX-183/dp/B07MP1Q3W8/"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amazon.com/dp/B08WKX95B9/" TargetMode="Externa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hyperlink" Target="https://www.littlebuckloader.com/" TargetMode="External"/><Relationship Id="rId7" Type="http://schemas.openxmlformats.org/officeDocument/2006/relationships/image" Target="../media/image25.jpeg"/><Relationship Id="rId2" Type="http://schemas.openxmlformats.org/officeDocument/2006/relationships/hyperlink" Target="https://www.youtube.com/watch?v=FwDi80FUzXU" TargetMode="External"/><Relationship Id="rId1" Type="http://schemas.openxmlformats.org/officeDocument/2006/relationships/slideLayout" Target="../slideLayouts/slideLayout7.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hyperlink" Target="https://www.littlebuckloader.com/shop/p/little-bull-loader-front-end-loader-john-deere"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AzRyIVRD-zQ" TargetMode="External"/><Relationship Id="rId7"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jpeg"/><Relationship Id="rId4" Type="http://schemas.openxmlformats.org/officeDocument/2006/relationships/hyperlink" Target="https://www.amazon.com/dp/B07VPC328F"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3.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www.youtube.com/watch?v=mRGRWwPC3lA" TargetMode="External"/><Relationship Id="rId5" Type="http://schemas.openxmlformats.org/officeDocument/2006/relationships/image" Target="../media/image32.png"/><Relationship Id="rId4" Type="http://schemas.openxmlformats.org/officeDocument/2006/relationships/image" Target="../media/image31.jpe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3" Type="http://schemas.openxmlformats.org/officeDocument/2006/relationships/hyperlink" Target="https://www.amazon.com/gp/product/B07KMX858N/" TargetMode="External"/><Relationship Id="rId2" Type="http://schemas.openxmlformats.org/officeDocument/2006/relationships/image" Target="../media/image37.png"/><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hyperlink" Target="https://www.amazon.com/dp/B08R95SSTJ"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39.jpeg"/><Relationship Id="rId7" Type="http://schemas.openxmlformats.org/officeDocument/2006/relationships/image" Target="../media/image43.jpeg"/><Relationship Id="rId2" Type="http://schemas.openxmlformats.org/officeDocument/2006/relationships/hyperlink" Target="https://www.deere.com/en/mowers/lawn-tractors/" TargetMode="External"/><Relationship Id="rId1" Type="http://schemas.openxmlformats.org/officeDocument/2006/relationships/slideLayout" Target="../slideLayouts/slideLayout7.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8170C2-C55C-F926-847D-CE9811CB83B6}"/>
              </a:ext>
            </a:extLst>
          </p:cNvPr>
          <p:cNvSpPr txBox="1"/>
          <p:nvPr/>
        </p:nvSpPr>
        <p:spPr>
          <a:xfrm>
            <a:off x="-1" y="0"/>
            <a:ext cx="4942115" cy="523220"/>
          </a:xfrm>
          <a:prstGeom prst="rect">
            <a:avLst/>
          </a:prstGeom>
          <a:noFill/>
        </p:spPr>
        <p:txBody>
          <a:bodyPr wrap="square" rtlCol="0">
            <a:spAutoFit/>
          </a:bodyPr>
          <a:lstStyle/>
          <a:p>
            <a:r>
              <a:rPr lang="en-US" sz="2800" b="1"/>
              <a:t>John Deere 425 (and 445)</a:t>
            </a:r>
          </a:p>
        </p:txBody>
      </p:sp>
      <p:sp>
        <p:nvSpPr>
          <p:cNvPr id="3" name="TextBox 2">
            <a:extLst>
              <a:ext uri="{FF2B5EF4-FFF2-40B4-BE49-F238E27FC236}">
                <a16:creationId xmlns:a16="http://schemas.microsoft.com/office/drawing/2014/main" id="{F3BFCE01-521A-5BFC-274E-0CED7BE03889}"/>
              </a:ext>
            </a:extLst>
          </p:cNvPr>
          <p:cNvSpPr txBox="1"/>
          <p:nvPr/>
        </p:nvSpPr>
        <p:spPr>
          <a:xfrm>
            <a:off x="217918" y="972441"/>
            <a:ext cx="3988269" cy="5693866"/>
          </a:xfrm>
          <a:prstGeom prst="rect">
            <a:avLst/>
          </a:prstGeom>
          <a:noFill/>
        </p:spPr>
        <p:txBody>
          <a:bodyPr wrap="square" rtlCol="0">
            <a:spAutoFit/>
          </a:bodyPr>
          <a:lstStyle/>
          <a:p>
            <a:r>
              <a:rPr lang="en-US" sz="1400" dirty="0"/>
              <a:t>1992 - 2001</a:t>
            </a:r>
          </a:p>
          <a:p>
            <a:r>
              <a:rPr lang="en-US" sz="1400" dirty="0"/>
              <a:t>Built in Horicon, Wisconsin, USA</a:t>
            </a:r>
          </a:p>
          <a:p>
            <a:r>
              <a:rPr lang="en-US" sz="1400" dirty="0"/>
              <a:t>Original price was $8,995 in 1995</a:t>
            </a:r>
          </a:p>
          <a:p>
            <a:r>
              <a:rPr lang="en-US" sz="1400" dirty="0"/>
              <a:t>Weight – 805 </a:t>
            </a:r>
            <a:r>
              <a:rPr lang="en-US" sz="1400" dirty="0" err="1"/>
              <a:t>lbs</a:t>
            </a:r>
            <a:r>
              <a:rPr lang="en-US" sz="1400" dirty="0"/>
              <a:t> (365kg)</a:t>
            </a:r>
          </a:p>
          <a:p>
            <a:r>
              <a:rPr lang="en-US" sz="1400" dirty="0"/>
              <a:t>Engine: 20HP Kawasaki 617cc 2-cyl gasoline</a:t>
            </a:r>
          </a:p>
          <a:p>
            <a:r>
              <a:rPr lang="en-US" sz="1400" dirty="0"/>
              <a:t>   carburetor</a:t>
            </a:r>
          </a:p>
          <a:p>
            <a:r>
              <a:rPr lang="en-US" sz="1400" dirty="0"/>
              <a:t>   (model 445 has 22 hp and fuel injection)</a:t>
            </a:r>
          </a:p>
          <a:p>
            <a:r>
              <a:rPr lang="en-US" sz="1400" dirty="0"/>
              <a:t>Fuel tank: 6.5 gal (</a:t>
            </a:r>
            <a:r>
              <a:rPr lang="en-US" sz="1400" b="1" dirty="0">
                <a:solidFill>
                  <a:srgbClr val="FF0000"/>
                </a:solidFill>
              </a:rPr>
              <a:t>regular gasoline, no ethanol</a:t>
            </a:r>
            <a:r>
              <a:rPr lang="en-US" sz="1400" dirty="0"/>
              <a:t>)</a:t>
            </a:r>
          </a:p>
          <a:p>
            <a:r>
              <a:rPr lang="en-US" sz="1400" dirty="0"/>
              <a:t>Oil - 10W30</a:t>
            </a:r>
          </a:p>
          <a:p>
            <a:r>
              <a:rPr lang="en-US" sz="1400" dirty="0"/>
              <a:t>Transmission: hydrostatic</a:t>
            </a:r>
          </a:p>
          <a:p>
            <a:r>
              <a:rPr lang="en-US" sz="1400" dirty="0"/>
              <a:t>Two-wheel drive, differential lock (mechanical rear)</a:t>
            </a:r>
          </a:p>
          <a:p>
            <a:r>
              <a:rPr lang="en-US" sz="1400" dirty="0"/>
              <a:t>Power Steering</a:t>
            </a:r>
          </a:p>
          <a:p>
            <a:endParaRPr lang="en-US" sz="1400" dirty="0"/>
          </a:p>
          <a:p>
            <a:r>
              <a:rPr lang="en-US" sz="1400" dirty="0"/>
              <a:t>425 Serial Numbers </a:t>
            </a:r>
          </a:p>
          <a:p>
            <a:r>
              <a:rPr lang="en-US" sz="1400" dirty="0">
                <a:hlinkClick r:id="rId2"/>
              </a:rPr>
              <a:t>https://www.tractordata.com/lawn-tractors/000/0/4/43-john-deere-425.html</a:t>
            </a:r>
            <a:endParaRPr lang="en-US" sz="1400" dirty="0"/>
          </a:p>
          <a:p>
            <a:r>
              <a:rPr lang="en-US" sz="1400" dirty="0"/>
              <a:t>Year.     First tractor</a:t>
            </a:r>
          </a:p>
          <a:p>
            <a:r>
              <a:rPr lang="en-US" sz="1400" dirty="0"/>
              <a:t>1993    010001</a:t>
            </a:r>
          </a:p>
          <a:p>
            <a:r>
              <a:rPr lang="en-US" sz="1400" dirty="0"/>
              <a:t>1994    020001</a:t>
            </a:r>
          </a:p>
          <a:p>
            <a:r>
              <a:rPr lang="en-US" sz="1400" dirty="0"/>
              <a:t>1995    030001     M00425A-036065</a:t>
            </a:r>
          </a:p>
          <a:p>
            <a:r>
              <a:rPr lang="en-US" sz="1400" dirty="0"/>
              <a:t>1996    040001</a:t>
            </a:r>
          </a:p>
          <a:p>
            <a:r>
              <a:rPr lang="en-US" sz="1400" dirty="0"/>
              <a:t>1997    050001</a:t>
            </a:r>
          </a:p>
          <a:p>
            <a:r>
              <a:rPr lang="en-US" sz="1400" dirty="0"/>
              <a:t>1998    060001</a:t>
            </a:r>
          </a:p>
          <a:p>
            <a:r>
              <a:rPr lang="en-US" sz="1400" dirty="0"/>
              <a:t>1999    070001</a:t>
            </a:r>
          </a:p>
          <a:p>
            <a:r>
              <a:rPr lang="en-US" sz="1400" dirty="0"/>
              <a:t>2000    080001</a:t>
            </a:r>
          </a:p>
          <a:p>
            <a:r>
              <a:rPr lang="en-US" sz="1400" dirty="0"/>
              <a:t>2001    090001</a:t>
            </a:r>
          </a:p>
        </p:txBody>
      </p:sp>
      <p:pic>
        <p:nvPicPr>
          <p:cNvPr id="1028" name="Picture 4" descr="John Deere 425 with mower and three-point hitch.">
            <a:extLst>
              <a:ext uri="{FF2B5EF4-FFF2-40B4-BE49-F238E27FC236}">
                <a16:creationId xmlns:a16="http://schemas.microsoft.com/office/drawing/2014/main" id="{D4471E49-4A8A-A73F-2713-55E07C8109BB}"/>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157651" y="389947"/>
            <a:ext cx="3816431" cy="286232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John Deere 425 with chains and front blade, rear view.">
            <a:extLst>
              <a:ext uri="{FF2B5EF4-FFF2-40B4-BE49-F238E27FC236}">
                <a16:creationId xmlns:a16="http://schemas.microsoft.com/office/drawing/2014/main" id="{C46AE3F6-086C-2A64-62B8-063DB3036521}"/>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8157651" y="3360113"/>
            <a:ext cx="3816431" cy="286232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16223C9-3BD9-27E8-C425-8B56875572D8}"/>
              </a:ext>
            </a:extLst>
          </p:cNvPr>
          <p:cNvSpPr txBox="1"/>
          <p:nvPr/>
        </p:nvSpPr>
        <p:spPr>
          <a:xfrm>
            <a:off x="5399656" y="150505"/>
            <a:ext cx="2277979" cy="1477328"/>
          </a:xfrm>
          <a:prstGeom prst="rect">
            <a:avLst/>
          </a:prstGeom>
          <a:solidFill>
            <a:schemeClr val="accent4">
              <a:lumMod val="20000"/>
              <a:lumOff val="80000"/>
            </a:schemeClr>
          </a:solidFill>
          <a:ln>
            <a:solidFill>
              <a:srgbClr val="FF0000"/>
            </a:solidFill>
          </a:ln>
        </p:spPr>
        <p:txBody>
          <a:bodyPr wrap="square" rtlCol="0">
            <a:spAutoFit/>
          </a:bodyPr>
          <a:lstStyle/>
          <a:p>
            <a:r>
              <a:rPr lang="en-US"/>
              <a:t>Our JD 425 1995</a:t>
            </a:r>
          </a:p>
          <a:p>
            <a:r>
              <a:rPr lang="en-US"/>
              <a:t>Engine: </a:t>
            </a:r>
            <a:r>
              <a:rPr lang="en-US" b="1" i="0">
                <a:solidFill>
                  <a:srgbClr val="030303"/>
                </a:solidFill>
                <a:effectLst/>
                <a:latin typeface="YouTube Sans"/>
              </a:rPr>
              <a:t>Kawasaki</a:t>
            </a:r>
            <a:endParaRPr lang="en-US"/>
          </a:p>
          <a:p>
            <a:r>
              <a:rPr lang="en-US"/>
              <a:t>Liquid Cooled V-TWIN</a:t>
            </a:r>
            <a:br>
              <a:rPr lang="en-US"/>
            </a:br>
            <a:r>
              <a:rPr lang="en-US"/>
              <a:t>20 HP OHV FD620D</a:t>
            </a:r>
            <a:br>
              <a:rPr lang="en-US"/>
            </a:br>
            <a:r>
              <a:rPr lang="en-US"/>
              <a:t>John Deere K Series</a:t>
            </a:r>
          </a:p>
        </p:txBody>
      </p:sp>
      <p:sp>
        <p:nvSpPr>
          <p:cNvPr id="5" name="TextBox 4">
            <a:extLst>
              <a:ext uri="{FF2B5EF4-FFF2-40B4-BE49-F238E27FC236}">
                <a16:creationId xmlns:a16="http://schemas.microsoft.com/office/drawing/2014/main" id="{5CD8B424-CD83-FB23-58A1-7B5CBD32119C}"/>
              </a:ext>
            </a:extLst>
          </p:cNvPr>
          <p:cNvSpPr txBox="1"/>
          <p:nvPr/>
        </p:nvSpPr>
        <p:spPr>
          <a:xfrm>
            <a:off x="4513055" y="1778338"/>
            <a:ext cx="3337728" cy="615553"/>
          </a:xfrm>
          <a:prstGeom prst="rect">
            <a:avLst/>
          </a:prstGeom>
          <a:noFill/>
        </p:spPr>
        <p:txBody>
          <a:bodyPr wrap="square" rtlCol="0">
            <a:spAutoFit/>
          </a:bodyPr>
          <a:lstStyle/>
          <a:p>
            <a:r>
              <a:rPr lang="en-US" sz="1400">
                <a:latin typeface="Calibri" panose="020F0502020204030204" pitchFamily="34" charset="0"/>
                <a:cs typeface="Calibri" panose="020F0502020204030204" pitchFamily="34" charset="0"/>
              </a:rPr>
              <a:t>Spark Plugs AM101194  (short)</a:t>
            </a:r>
          </a:p>
          <a:p>
            <a:r>
              <a:rPr lang="en-US" sz="1000">
                <a:latin typeface="Calibri" panose="020F0502020204030204" pitchFamily="34" charset="0"/>
                <a:cs typeface="Calibri" panose="020F0502020204030204" pitchFamily="34" charset="0"/>
                <a:hlinkClick r:id="rId5"/>
              </a:rPr>
              <a:t>https://partscatalog.deere.com/jdrc/sidebyside/equipment/73515/referrer/navigation/pgId/2523090</a:t>
            </a:r>
            <a:endParaRPr lang="en-US" sz="1000">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F815BA12-475B-BB7C-D83A-A9CEECDFB074}"/>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433696" y="3493860"/>
            <a:ext cx="1097140" cy="1476008"/>
          </a:xfrm>
          <a:prstGeom prst="rect">
            <a:avLst/>
          </a:prstGeom>
        </p:spPr>
      </p:pic>
      <p:pic>
        <p:nvPicPr>
          <p:cNvPr id="9" name="Picture 8">
            <a:extLst>
              <a:ext uri="{FF2B5EF4-FFF2-40B4-BE49-F238E27FC236}">
                <a16:creationId xmlns:a16="http://schemas.microsoft.com/office/drawing/2014/main" id="{3F3FE4F9-7861-271A-1431-7971BCF58675}"/>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4693505" y="192141"/>
            <a:ext cx="549056" cy="1394056"/>
          </a:xfrm>
          <a:prstGeom prst="rect">
            <a:avLst/>
          </a:prstGeom>
        </p:spPr>
      </p:pic>
      <p:sp>
        <p:nvSpPr>
          <p:cNvPr id="10" name="TextBox 9">
            <a:extLst>
              <a:ext uri="{FF2B5EF4-FFF2-40B4-BE49-F238E27FC236}">
                <a16:creationId xmlns:a16="http://schemas.microsoft.com/office/drawing/2014/main" id="{CC9499FD-BA3B-0253-3FEB-CC78EF1799ED}"/>
              </a:ext>
            </a:extLst>
          </p:cNvPr>
          <p:cNvSpPr txBox="1"/>
          <p:nvPr/>
        </p:nvSpPr>
        <p:spPr>
          <a:xfrm>
            <a:off x="4513055" y="2521059"/>
            <a:ext cx="3515578" cy="1046440"/>
          </a:xfrm>
          <a:prstGeom prst="rect">
            <a:avLst/>
          </a:prstGeom>
          <a:noFill/>
        </p:spPr>
        <p:txBody>
          <a:bodyPr wrap="square" rtlCol="0">
            <a:spAutoFit/>
          </a:bodyPr>
          <a:lstStyle/>
          <a:p>
            <a:r>
              <a:rPr lang="en-US" sz="1400">
                <a:latin typeface="Calibri" panose="020F0502020204030204" pitchFamily="34" charset="0"/>
                <a:cs typeface="Calibri" panose="020F0502020204030204" pitchFamily="34" charset="0"/>
              </a:rPr>
              <a:t>Note: there are two models of spark plugs:</a:t>
            </a:r>
          </a:p>
          <a:p>
            <a:pPr marL="285750" indent="-285750">
              <a:buFont typeface="Arial" panose="020B0604020202020204" pitchFamily="34" charset="0"/>
              <a:buChar char="•"/>
            </a:pPr>
            <a:r>
              <a:rPr lang="en-US" sz="1400">
                <a:latin typeface="Calibri" panose="020F0502020204030204" pitchFamily="34" charset="0"/>
                <a:cs typeface="Calibri" panose="020F0502020204030204" pitchFamily="34" charset="0"/>
              </a:rPr>
              <a:t>AM101194 (short) </a:t>
            </a:r>
            <a:br>
              <a:rPr lang="en-US" sz="1400">
                <a:latin typeface="Calibri" panose="020F0502020204030204" pitchFamily="34" charset="0"/>
                <a:cs typeface="Calibri" panose="020F0502020204030204" pitchFamily="34" charset="0"/>
              </a:rPr>
            </a:br>
            <a:r>
              <a:rPr lang="en-US" sz="1000">
                <a:latin typeface="Calibri" panose="020F0502020204030204" pitchFamily="34" charset="0"/>
                <a:cs typeface="Calibri" panose="020F0502020204030204" pitchFamily="34" charset="0"/>
              </a:rPr>
              <a:t>for engine marked </a:t>
            </a:r>
            <a:r>
              <a:rPr lang="en-US" sz="1000" b="0" i="0">
                <a:effectLst/>
                <a:latin typeface="Calibri" panose="020F0502020204030204" pitchFamily="34" charset="0"/>
                <a:cs typeface="Calibri" panose="020F0502020204030204" pitchFamily="34" charset="0"/>
              </a:rPr>
              <a:t>ASO2, BSO2, CSO2, DSO2, ESO2, FSO2</a:t>
            </a:r>
            <a:endParaRPr lang="en-US" sz="140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a:latin typeface="Calibri" panose="020F0502020204030204" pitchFamily="34" charset="0"/>
                <a:cs typeface="Calibri" panose="020F0502020204030204" pitchFamily="34" charset="0"/>
              </a:rPr>
              <a:t>M805853 (long) </a:t>
            </a:r>
            <a:br>
              <a:rPr lang="en-US" sz="1400">
                <a:latin typeface="Calibri" panose="020F0502020204030204" pitchFamily="34" charset="0"/>
                <a:cs typeface="Calibri" panose="020F0502020204030204" pitchFamily="34" charset="0"/>
              </a:rPr>
            </a:br>
            <a:r>
              <a:rPr lang="en-US" sz="1000">
                <a:latin typeface="Calibri" panose="020F0502020204030204" pitchFamily="34" charset="0"/>
                <a:cs typeface="Calibri" panose="020F0502020204030204" pitchFamily="34" charset="0"/>
              </a:rPr>
              <a:t>for engine marked </a:t>
            </a:r>
            <a:r>
              <a:rPr lang="en-US" sz="1000" b="0" i="0">
                <a:effectLst/>
                <a:latin typeface="Calibri" panose="020F0502020204030204" pitchFamily="34" charset="0"/>
                <a:cs typeface="Calibri" panose="020F0502020204030204" pitchFamily="34" charset="0"/>
              </a:rPr>
              <a:t>GSO2</a:t>
            </a:r>
            <a:endParaRPr lang="en-US" sz="100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3B27A68F-6468-1263-C8B2-2E8C6DE18245}"/>
              </a:ext>
            </a:extLst>
          </p:cNvPr>
          <p:cNvSpPr txBox="1"/>
          <p:nvPr/>
        </p:nvSpPr>
        <p:spPr>
          <a:xfrm>
            <a:off x="4388471" y="5496308"/>
            <a:ext cx="3515578" cy="954107"/>
          </a:xfrm>
          <a:prstGeom prst="rect">
            <a:avLst/>
          </a:prstGeom>
          <a:noFill/>
        </p:spPr>
        <p:txBody>
          <a:bodyPr wrap="square" rtlCol="0">
            <a:spAutoFit/>
          </a:bodyPr>
          <a:lstStyle/>
          <a:p>
            <a:r>
              <a:rPr lang="en-US" sz="1400" dirty="0"/>
              <a:t>We have the short one</a:t>
            </a:r>
          </a:p>
          <a:p>
            <a:r>
              <a:rPr lang="en-US" sz="1400" dirty="0"/>
              <a:t>On Amazon:</a:t>
            </a:r>
          </a:p>
          <a:p>
            <a:r>
              <a:rPr lang="en-US" sz="1400" dirty="0"/>
              <a:t>NGK Spark Plugs BMR4A  #5728 (box of 10)</a:t>
            </a:r>
          </a:p>
          <a:p>
            <a:r>
              <a:rPr lang="en-US" sz="1400" dirty="0"/>
              <a:t>The spark plug wrench socket is 3/4"</a:t>
            </a:r>
          </a:p>
        </p:txBody>
      </p:sp>
      <p:sp>
        <p:nvSpPr>
          <p:cNvPr id="12" name="Right Arrow 11">
            <a:extLst>
              <a:ext uri="{FF2B5EF4-FFF2-40B4-BE49-F238E27FC236}">
                <a16:creationId xmlns:a16="http://schemas.microsoft.com/office/drawing/2014/main" id="{48A4B7C4-16C7-858C-4502-CCDA5AB241A4}"/>
              </a:ext>
            </a:extLst>
          </p:cNvPr>
          <p:cNvSpPr/>
          <p:nvPr/>
        </p:nvSpPr>
        <p:spPr>
          <a:xfrm rot="17948713">
            <a:off x="6352748" y="5156253"/>
            <a:ext cx="371789" cy="15367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972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F723A6-746F-9725-14BD-F67FA71999D9}"/>
              </a:ext>
            </a:extLst>
          </p:cNvPr>
          <p:cNvSpPr txBox="1"/>
          <p:nvPr/>
        </p:nvSpPr>
        <p:spPr>
          <a:xfrm>
            <a:off x="0" y="0"/>
            <a:ext cx="4234070" cy="523220"/>
          </a:xfrm>
          <a:prstGeom prst="rect">
            <a:avLst/>
          </a:prstGeom>
          <a:noFill/>
        </p:spPr>
        <p:txBody>
          <a:bodyPr wrap="square" rtlCol="0">
            <a:spAutoFit/>
          </a:bodyPr>
          <a:lstStyle/>
          <a:p>
            <a:r>
              <a:rPr lang="en-US" sz="2800" b="1"/>
              <a:t>Meg-Mo blades</a:t>
            </a:r>
          </a:p>
        </p:txBody>
      </p:sp>
      <p:pic>
        <p:nvPicPr>
          <p:cNvPr id="1028" name="Picture 4" descr="Meg-Mo Systems | High-Performance Rotary Mulching Blades">
            <a:extLst>
              <a:ext uri="{FF2B5EF4-FFF2-40B4-BE49-F238E27FC236}">
                <a16:creationId xmlns:a16="http://schemas.microsoft.com/office/drawing/2014/main" id="{731F5F83-859B-5910-413C-4CA835EE0C45}"/>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35037" y="1413622"/>
            <a:ext cx="3836276" cy="215790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5200BB3-D2A2-F174-B263-AF0A9720273B}"/>
              </a:ext>
            </a:extLst>
          </p:cNvPr>
          <p:cNvSpPr txBox="1"/>
          <p:nvPr/>
        </p:nvSpPr>
        <p:spPr>
          <a:xfrm>
            <a:off x="266416" y="599089"/>
            <a:ext cx="4645572" cy="738664"/>
          </a:xfrm>
          <a:prstGeom prst="rect">
            <a:avLst/>
          </a:prstGeom>
          <a:noFill/>
        </p:spPr>
        <p:txBody>
          <a:bodyPr wrap="square" rtlCol="0">
            <a:spAutoFit/>
          </a:bodyPr>
          <a:lstStyle/>
          <a:p>
            <a:r>
              <a:rPr lang="en-US" sz="1400">
                <a:hlinkClick r:id="rId3"/>
              </a:rPr>
              <a:t>https://meg-mo.com</a:t>
            </a:r>
            <a:endParaRPr lang="en-US" sz="1400"/>
          </a:p>
          <a:p>
            <a:endParaRPr lang="en-US" sz="1400"/>
          </a:p>
          <a:p>
            <a:r>
              <a:rPr lang="en-US" sz="1400"/>
              <a:t>The MEG-MO™ Rotary Mulching Blade System</a:t>
            </a:r>
          </a:p>
        </p:txBody>
      </p:sp>
      <p:sp>
        <p:nvSpPr>
          <p:cNvPr id="5" name="TextBox 4">
            <a:extLst>
              <a:ext uri="{FF2B5EF4-FFF2-40B4-BE49-F238E27FC236}">
                <a16:creationId xmlns:a16="http://schemas.microsoft.com/office/drawing/2014/main" id="{725A6AC1-660D-994D-CD24-175AA4B0405A}"/>
              </a:ext>
            </a:extLst>
          </p:cNvPr>
          <p:cNvSpPr txBox="1"/>
          <p:nvPr/>
        </p:nvSpPr>
        <p:spPr>
          <a:xfrm>
            <a:off x="6096000" y="368184"/>
            <a:ext cx="3100552" cy="523220"/>
          </a:xfrm>
          <a:prstGeom prst="rect">
            <a:avLst/>
          </a:prstGeom>
          <a:noFill/>
        </p:spPr>
        <p:txBody>
          <a:bodyPr wrap="square" rtlCol="0">
            <a:spAutoFit/>
          </a:bodyPr>
          <a:lstStyle/>
          <a:p>
            <a:r>
              <a:rPr lang="en-US" sz="1400"/>
              <a:t>Center hole - round</a:t>
            </a:r>
          </a:p>
          <a:p>
            <a:r>
              <a:rPr lang="en-US" sz="1400"/>
              <a:t>Current Blade OEM Part #      M115495</a:t>
            </a:r>
          </a:p>
        </p:txBody>
      </p:sp>
      <p:sp>
        <p:nvSpPr>
          <p:cNvPr id="6" name="TextBox 5">
            <a:extLst>
              <a:ext uri="{FF2B5EF4-FFF2-40B4-BE49-F238E27FC236}">
                <a16:creationId xmlns:a16="http://schemas.microsoft.com/office/drawing/2014/main" id="{0CC24E6A-2C6A-EAFB-9E70-6106D3606AEE}"/>
              </a:ext>
            </a:extLst>
          </p:cNvPr>
          <p:cNvSpPr txBox="1"/>
          <p:nvPr/>
        </p:nvSpPr>
        <p:spPr>
          <a:xfrm>
            <a:off x="5729738" y="105103"/>
            <a:ext cx="3552497" cy="369332"/>
          </a:xfrm>
          <a:prstGeom prst="rect">
            <a:avLst/>
          </a:prstGeom>
          <a:noFill/>
        </p:spPr>
        <p:txBody>
          <a:bodyPr wrap="square" rtlCol="0">
            <a:spAutoFit/>
          </a:bodyPr>
          <a:lstStyle/>
          <a:p>
            <a:r>
              <a:rPr lang="en-US"/>
              <a:t>To order I need to provide this info:</a:t>
            </a:r>
          </a:p>
        </p:txBody>
      </p:sp>
      <p:sp>
        <p:nvSpPr>
          <p:cNvPr id="3" name="TextBox 2">
            <a:extLst>
              <a:ext uri="{FF2B5EF4-FFF2-40B4-BE49-F238E27FC236}">
                <a16:creationId xmlns:a16="http://schemas.microsoft.com/office/drawing/2014/main" id="{8732D038-DE19-28BB-E573-D9A019DCD6BB}"/>
              </a:ext>
            </a:extLst>
          </p:cNvPr>
          <p:cNvSpPr txBox="1"/>
          <p:nvPr/>
        </p:nvSpPr>
        <p:spPr>
          <a:xfrm>
            <a:off x="6096000" y="891404"/>
            <a:ext cx="4456387" cy="1169551"/>
          </a:xfrm>
          <a:prstGeom prst="rect">
            <a:avLst/>
          </a:prstGeom>
          <a:solidFill>
            <a:schemeClr val="accent4">
              <a:lumMod val="20000"/>
              <a:lumOff val="80000"/>
            </a:schemeClr>
          </a:solidFill>
          <a:ln>
            <a:solidFill>
              <a:srgbClr val="FF0000"/>
            </a:solidFill>
          </a:ln>
        </p:spPr>
        <p:txBody>
          <a:bodyPr wrap="square" rtlCol="0">
            <a:spAutoFit/>
          </a:bodyPr>
          <a:lstStyle/>
          <a:p>
            <a:r>
              <a:rPr lang="en-US" sz="1400"/>
              <a:t>John Deere Standard Mower Blade for 48" deck</a:t>
            </a:r>
          </a:p>
          <a:p>
            <a:r>
              <a:rPr lang="en-US" sz="1400"/>
              <a:t>Part Number: M115495</a:t>
            </a:r>
          </a:p>
          <a:p>
            <a:r>
              <a:rPr lang="en-US" sz="1400"/>
              <a:t>Hole in the center – round, 13/16 inch</a:t>
            </a:r>
          </a:p>
          <a:p>
            <a:r>
              <a:rPr lang="en-US" sz="1400"/>
              <a:t>Length of the blade (rotating diameter) 16 5/8 inch</a:t>
            </a:r>
          </a:p>
          <a:p>
            <a:r>
              <a:rPr lang="en-US" sz="1400"/>
              <a:t>Nut M18</a:t>
            </a:r>
          </a:p>
        </p:txBody>
      </p:sp>
      <p:sp>
        <p:nvSpPr>
          <p:cNvPr id="7" name="TextBox 6">
            <a:extLst>
              <a:ext uri="{FF2B5EF4-FFF2-40B4-BE49-F238E27FC236}">
                <a16:creationId xmlns:a16="http://schemas.microsoft.com/office/drawing/2014/main" id="{C692F24B-073F-BCC7-CDC5-5BECC88B62E0}"/>
              </a:ext>
            </a:extLst>
          </p:cNvPr>
          <p:cNvSpPr txBox="1"/>
          <p:nvPr/>
        </p:nvSpPr>
        <p:spPr>
          <a:xfrm>
            <a:off x="439837" y="3762703"/>
            <a:ext cx="3406950" cy="738664"/>
          </a:xfrm>
          <a:prstGeom prst="rect">
            <a:avLst/>
          </a:prstGeom>
          <a:noFill/>
        </p:spPr>
        <p:txBody>
          <a:bodyPr wrap="square" rtlCol="0">
            <a:spAutoFit/>
          </a:bodyPr>
          <a:lstStyle/>
          <a:p>
            <a:r>
              <a:rPr lang="en-US" sz="1400"/>
              <a:t>E-Mail: sales@meg-mo.com</a:t>
            </a:r>
            <a:br>
              <a:rPr lang="en-US" sz="1400"/>
            </a:br>
            <a:r>
              <a:rPr lang="en-US" sz="1400"/>
              <a:t>Call (877) 625-0125</a:t>
            </a:r>
          </a:p>
          <a:p>
            <a:r>
              <a:rPr lang="en-US" sz="1400"/>
              <a:t>Received call from 815-625-0125</a:t>
            </a:r>
          </a:p>
        </p:txBody>
      </p:sp>
      <p:sp>
        <p:nvSpPr>
          <p:cNvPr id="8" name="TextBox 7">
            <a:extLst>
              <a:ext uri="{FF2B5EF4-FFF2-40B4-BE49-F238E27FC236}">
                <a16:creationId xmlns:a16="http://schemas.microsoft.com/office/drawing/2014/main" id="{C372FE5A-9BE8-486A-8867-5454E9BA3D7E}"/>
              </a:ext>
            </a:extLst>
          </p:cNvPr>
          <p:cNvSpPr txBox="1"/>
          <p:nvPr/>
        </p:nvSpPr>
        <p:spPr>
          <a:xfrm>
            <a:off x="4289821" y="2169062"/>
            <a:ext cx="7767142" cy="2031325"/>
          </a:xfrm>
          <a:prstGeom prst="rect">
            <a:avLst/>
          </a:prstGeom>
          <a:noFill/>
        </p:spPr>
        <p:txBody>
          <a:bodyPr wrap="square" rtlCol="0">
            <a:spAutoFit/>
          </a:bodyPr>
          <a:lstStyle/>
          <a:p>
            <a:r>
              <a:rPr lang="en-US" sz="1400"/>
              <a:t>Searching John Deere Parts:</a:t>
            </a:r>
          </a:p>
          <a:p>
            <a:r>
              <a:rPr lang="en-US" sz="1400"/>
              <a:t> .. </a:t>
            </a:r>
            <a:r>
              <a:rPr lang="en-US" sz="1400">
                <a:hlinkClick r:id="rId4"/>
              </a:rPr>
              <a:t>https://partscatalog.deere.com/jdrc/navigation/equipment/73515</a:t>
            </a:r>
            <a:endParaRPr lang="en-US" sz="1400"/>
          </a:p>
          <a:p>
            <a:r>
              <a:rPr lang="en-US" sz="1400"/>
              <a:t>Then go to mower deck attachment:</a:t>
            </a:r>
          </a:p>
          <a:p>
            <a:r>
              <a:rPr lang="en-US" sz="1400"/>
              <a:t> .. </a:t>
            </a:r>
            <a:r>
              <a:rPr lang="en-US" sz="1400">
                <a:hlinkClick r:id="rId5"/>
              </a:rPr>
              <a:t>https://partscatalog.deere.com/jdrc/navigation/equipment/78976</a:t>
            </a:r>
            <a:endParaRPr lang="en-US" sz="1400"/>
          </a:p>
          <a:p>
            <a:r>
              <a:rPr lang="en-US" sz="1400"/>
              <a:t>Then select "20 Mid-Mount Mower Decks 48-Inch and 54-Inch (For 425, 445 and 455 LGT)"</a:t>
            </a:r>
          </a:p>
          <a:p>
            <a:r>
              <a:rPr lang="en-US" sz="1400"/>
              <a:t>Then select "Belt Drive, Blades, Idlers and Spindles - ST561860"</a:t>
            </a:r>
          </a:p>
          <a:p>
            <a:r>
              <a:rPr lang="en-US" sz="1400"/>
              <a:t> .. </a:t>
            </a:r>
            <a:r>
              <a:rPr lang="en-US" sz="1400">
                <a:hlinkClick r:id="rId6"/>
              </a:rPr>
              <a:t>https://partscatalog.deere.com/jdrc/sidebyside/equipment/78976/referrer/navigation/pgId/2341197</a:t>
            </a:r>
            <a:endParaRPr lang="en-US" sz="1400"/>
          </a:p>
          <a:p>
            <a:r>
              <a:rPr lang="en-US" sz="1400"/>
              <a:t>The John Deere Blade Bolt - 19M7788 (requires M18 nut driver (18mm)): </a:t>
            </a:r>
          </a:p>
          <a:p>
            <a:r>
              <a:rPr lang="en-US" sz="1400"/>
              <a:t> .. </a:t>
            </a:r>
            <a:r>
              <a:rPr lang="en-US" sz="1400">
                <a:hlinkClick r:id="rId7"/>
              </a:rPr>
              <a:t>https://www.greenpartstore.com/John-Deere-Blade-Bolt-19M7788.html</a:t>
            </a:r>
            <a:endParaRPr lang="en-US" sz="1400"/>
          </a:p>
        </p:txBody>
      </p:sp>
      <p:pic>
        <p:nvPicPr>
          <p:cNvPr id="9" name="Picture 8">
            <a:extLst>
              <a:ext uri="{FF2B5EF4-FFF2-40B4-BE49-F238E27FC236}">
                <a16:creationId xmlns:a16="http://schemas.microsoft.com/office/drawing/2014/main" id="{84051A58-8260-44FA-BDA6-4B5FA463DE16}"/>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0236961" y="3898526"/>
            <a:ext cx="1136650" cy="1041400"/>
          </a:xfrm>
          <a:prstGeom prst="rect">
            <a:avLst/>
          </a:prstGeom>
        </p:spPr>
      </p:pic>
      <p:sp>
        <p:nvSpPr>
          <p:cNvPr id="10" name="TextBox 9">
            <a:extLst>
              <a:ext uri="{FF2B5EF4-FFF2-40B4-BE49-F238E27FC236}">
                <a16:creationId xmlns:a16="http://schemas.microsoft.com/office/drawing/2014/main" id="{A4088724-09EB-3EDC-61D5-E34A74BDA580}"/>
              </a:ext>
            </a:extLst>
          </p:cNvPr>
          <p:cNvSpPr txBox="1"/>
          <p:nvPr/>
        </p:nvSpPr>
        <p:spPr>
          <a:xfrm>
            <a:off x="4289820" y="5031696"/>
            <a:ext cx="2604965" cy="738664"/>
          </a:xfrm>
          <a:prstGeom prst="rect">
            <a:avLst/>
          </a:prstGeom>
          <a:noFill/>
        </p:spPr>
        <p:txBody>
          <a:bodyPr wrap="square" rtlCol="0">
            <a:spAutoFit/>
          </a:bodyPr>
          <a:lstStyle/>
          <a:p>
            <a:r>
              <a:rPr lang="en-US" sz="1400"/>
              <a:t>Riding mower blades should be installed between </a:t>
            </a:r>
          </a:p>
          <a:p>
            <a:r>
              <a:rPr lang="en-US" sz="1400"/>
              <a:t>70 and 90 foot pounds of torque</a:t>
            </a:r>
          </a:p>
        </p:txBody>
      </p:sp>
      <p:sp>
        <p:nvSpPr>
          <p:cNvPr id="11" name="TextBox 10">
            <a:extLst>
              <a:ext uri="{FF2B5EF4-FFF2-40B4-BE49-F238E27FC236}">
                <a16:creationId xmlns:a16="http://schemas.microsoft.com/office/drawing/2014/main" id="{CBAB542B-A1C7-5F98-F30A-6CD2F41E6E63}"/>
              </a:ext>
            </a:extLst>
          </p:cNvPr>
          <p:cNvSpPr txBox="1"/>
          <p:nvPr/>
        </p:nvSpPr>
        <p:spPr>
          <a:xfrm>
            <a:off x="4289821" y="6255136"/>
            <a:ext cx="5255172" cy="469359"/>
          </a:xfrm>
          <a:prstGeom prst="rect">
            <a:avLst/>
          </a:prstGeom>
          <a:noFill/>
        </p:spPr>
        <p:txBody>
          <a:bodyPr wrap="square" rtlCol="0">
            <a:spAutoFit/>
          </a:bodyPr>
          <a:lstStyle/>
          <a:p>
            <a:r>
              <a:rPr lang="en-US" sz="1400"/>
              <a:t>LEXIVON 1/2-Inch Drive LX-183 (10-150 Ft-lb)</a:t>
            </a:r>
          </a:p>
          <a:p>
            <a:r>
              <a:rPr lang="en-US" sz="1050">
                <a:hlinkClick r:id="rId9"/>
              </a:rPr>
              <a:t>https://www.amazon.com/LEXIVON-2-Inch-Torque-13-6-203-5-LX-183/dp/B07MP1Q3W8/</a:t>
            </a:r>
            <a:endParaRPr lang="en-US" sz="1050"/>
          </a:p>
        </p:txBody>
      </p:sp>
      <p:pic>
        <p:nvPicPr>
          <p:cNvPr id="12" name="Picture 11">
            <a:extLst>
              <a:ext uri="{FF2B5EF4-FFF2-40B4-BE49-F238E27FC236}">
                <a16:creationId xmlns:a16="http://schemas.microsoft.com/office/drawing/2014/main" id="{F2B5B537-9FEE-0ED2-5E80-E1576E95B5B6}"/>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7653130" y="4685163"/>
            <a:ext cx="1524429" cy="1450989"/>
          </a:xfrm>
          <a:prstGeom prst="rect">
            <a:avLst/>
          </a:prstGeom>
        </p:spPr>
      </p:pic>
    </p:spTree>
    <p:extLst>
      <p:ext uri="{BB962C8B-B14F-4D97-AF65-F5344CB8AC3E}">
        <p14:creationId xmlns:p14="http://schemas.microsoft.com/office/powerpoint/2010/main" val="1286506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D4F527-8FD9-2801-24F0-71FFECCC11E0}"/>
              </a:ext>
            </a:extLst>
          </p:cNvPr>
          <p:cNvSpPr txBox="1"/>
          <p:nvPr/>
        </p:nvSpPr>
        <p:spPr>
          <a:xfrm>
            <a:off x="-1" y="28159"/>
            <a:ext cx="3630459" cy="523220"/>
          </a:xfrm>
          <a:prstGeom prst="rect">
            <a:avLst/>
          </a:prstGeom>
          <a:noFill/>
        </p:spPr>
        <p:txBody>
          <a:bodyPr wrap="square" rtlCol="0">
            <a:spAutoFit/>
          </a:bodyPr>
          <a:lstStyle/>
          <a:p>
            <a:r>
              <a:rPr lang="en-US" sz="2800" b="1"/>
              <a:t>JohnDeere 425 Tires</a:t>
            </a:r>
          </a:p>
        </p:txBody>
      </p:sp>
      <p:sp>
        <p:nvSpPr>
          <p:cNvPr id="3" name="TextBox 2">
            <a:extLst>
              <a:ext uri="{FF2B5EF4-FFF2-40B4-BE49-F238E27FC236}">
                <a16:creationId xmlns:a16="http://schemas.microsoft.com/office/drawing/2014/main" id="{CD0CF8DA-D914-6193-DFDF-DBFD81204547}"/>
              </a:ext>
            </a:extLst>
          </p:cNvPr>
          <p:cNvSpPr txBox="1"/>
          <p:nvPr/>
        </p:nvSpPr>
        <p:spPr>
          <a:xfrm>
            <a:off x="8681545" y="5921109"/>
            <a:ext cx="3510455" cy="738664"/>
          </a:xfrm>
          <a:prstGeom prst="rect">
            <a:avLst/>
          </a:prstGeom>
          <a:noFill/>
        </p:spPr>
        <p:txBody>
          <a:bodyPr wrap="square" rtlCol="0">
            <a:spAutoFit/>
          </a:bodyPr>
          <a:lstStyle/>
          <a:p>
            <a:r>
              <a:rPr lang="en-US" sz="1400"/>
              <a:t>Otar Recommends </a:t>
            </a:r>
          </a:p>
          <a:p>
            <a:r>
              <a:rPr lang="en-US" sz="1400"/>
              <a:t>TireJect Tire Sealant &amp; Bead Sealer Kit:</a:t>
            </a:r>
          </a:p>
          <a:p>
            <a:r>
              <a:rPr lang="en-US" sz="1400">
                <a:hlinkClick r:id="rId2"/>
              </a:rPr>
              <a:t>https://www.amazon.com/dp/B08WKX95B9/</a:t>
            </a:r>
            <a:endParaRPr lang="en-US" sz="1400"/>
          </a:p>
        </p:txBody>
      </p:sp>
      <p:pic>
        <p:nvPicPr>
          <p:cNvPr id="4" name="Picture 3">
            <a:extLst>
              <a:ext uri="{FF2B5EF4-FFF2-40B4-BE49-F238E27FC236}">
                <a16:creationId xmlns:a16="http://schemas.microsoft.com/office/drawing/2014/main" id="{702CBE42-EF8C-6CFC-B754-0F6689262E5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309842" y="3429000"/>
            <a:ext cx="1586072" cy="2233448"/>
          </a:xfrm>
          <a:prstGeom prst="rect">
            <a:avLst/>
          </a:prstGeom>
        </p:spPr>
      </p:pic>
      <p:sp>
        <p:nvSpPr>
          <p:cNvPr id="5" name="TextBox 4">
            <a:extLst>
              <a:ext uri="{FF2B5EF4-FFF2-40B4-BE49-F238E27FC236}">
                <a16:creationId xmlns:a16="http://schemas.microsoft.com/office/drawing/2014/main" id="{3690532D-B04B-E61F-A964-FE2AE77C4356}"/>
              </a:ext>
            </a:extLst>
          </p:cNvPr>
          <p:cNvSpPr txBox="1"/>
          <p:nvPr/>
        </p:nvSpPr>
        <p:spPr>
          <a:xfrm>
            <a:off x="5697915" y="5921109"/>
            <a:ext cx="2207173" cy="523220"/>
          </a:xfrm>
          <a:prstGeom prst="rect">
            <a:avLst/>
          </a:prstGeom>
          <a:noFill/>
        </p:spPr>
        <p:txBody>
          <a:bodyPr wrap="square" rtlCol="0">
            <a:spAutoFit/>
          </a:bodyPr>
          <a:lstStyle/>
          <a:p>
            <a:r>
              <a:rPr lang="en-US" sz="1400"/>
              <a:t>Tim (dealer) recommends:</a:t>
            </a:r>
          </a:p>
          <a:p>
            <a:r>
              <a:rPr lang="en-US" sz="1400"/>
              <a:t>LiquiTube tire sealant </a:t>
            </a:r>
          </a:p>
        </p:txBody>
      </p:sp>
      <p:pic>
        <p:nvPicPr>
          <p:cNvPr id="1026" name="Picture 2" descr="Amazon.com : LiquiTube Tire Sealant 32oz : Patio, Lawn &amp; Garden">
            <a:extLst>
              <a:ext uri="{FF2B5EF4-FFF2-40B4-BE49-F238E27FC236}">
                <a16:creationId xmlns:a16="http://schemas.microsoft.com/office/drawing/2014/main" id="{002F732A-E035-8FD8-73F1-12EB0C5D6F47}"/>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6402106" y="3794234"/>
            <a:ext cx="522904" cy="178150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FCE0390-D4BF-9B10-8650-533ECF36463D}"/>
              </a:ext>
            </a:extLst>
          </p:cNvPr>
          <p:cNvSpPr txBox="1"/>
          <p:nvPr/>
        </p:nvSpPr>
        <p:spPr>
          <a:xfrm>
            <a:off x="168166" y="829188"/>
            <a:ext cx="3909848" cy="461665"/>
          </a:xfrm>
          <a:prstGeom prst="rect">
            <a:avLst/>
          </a:prstGeom>
          <a:noFill/>
        </p:spPr>
        <p:txBody>
          <a:bodyPr wrap="square" rtlCol="0">
            <a:spAutoFit/>
          </a:bodyPr>
          <a:lstStyle/>
          <a:p>
            <a:r>
              <a:rPr lang="en-US" sz="1200" b="1">
                <a:solidFill>
                  <a:srgbClr val="0070C0"/>
                </a:solidFill>
                <a:latin typeface="Menlo" panose="020B0609030804020204" pitchFamily="49" charset="0"/>
                <a:ea typeface="Menlo" panose="020B0609030804020204" pitchFamily="49" charset="0"/>
                <a:cs typeface="Menlo" panose="020B0609030804020204" pitchFamily="49" charset="0"/>
              </a:rPr>
              <a:t>front  16 x  7.50 -  8 (2-ply 8-12 PSI)</a:t>
            </a:r>
          </a:p>
          <a:p>
            <a:r>
              <a:rPr lang="en-US" sz="1200" b="1">
                <a:solidFill>
                  <a:srgbClr val="0070C0"/>
                </a:solidFill>
                <a:latin typeface="Menlo" panose="020B0609030804020204" pitchFamily="49" charset="0"/>
                <a:ea typeface="Menlo" panose="020B0609030804020204" pitchFamily="49" charset="0"/>
                <a:cs typeface="Menlo" panose="020B0609030804020204" pitchFamily="49" charset="0"/>
              </a:rPr>
              <a:t>rear   23 x 10.50 – 12 (2-ply 6-10 PSI)</a:t>
            </a:r>
          </a:p>
        </p:txBody>
      </p:sp>
      <p:sp>
        <p:nvSpPr>
          <p:cNvPr id="8" name="TextBox 7">
            <a:extLst>
              <a:ext uri="{FF2B5EF4-FFF2-40B4-BE49-F238E27FC236}">
                <a16:creationId xmlns:a16="http://schemas.microsoft.com/office/drawing/2014/main" id="{7E7BA300-C81F-58E5-D3CD-E7B447FB037A}"/>
              </a:ext>
            </a:extLst>
          </p:cNvPr>
          <p:cNvSpPr txBox="1"/>
          <p:nvPr/>
        </p:nvSpPr>
        <p:spPr>
          <a:xfrm>
            <a:off x="294290" y="3696420"/>
            <a:ext cx="3584028" cy="369332"/>
          </a:xfrm>
          <a:prstGeom prst="rect">
            <a:avLst/>
          </a:prstGeom>
          <a:noFill/>
        </p:spPr>
        <p:txBody>
          <a:bodyPr wrap="square" rtlCol="0">
            <a:spAutoFit/>
          </a:bodyPr>
          <a:lstStyle/>
          <a:p>
            <a:r>
              <a:rPr lang="en-US"/>
              <a:t>Tire Pressure from the manual:</a:t>
            </a:r>
          </a:p>
        </p:txBody>
      </p:sp>
      <p:graphicFrame>
        <p:nvGraphicFramePr>
          <p:cNvPr id="9" name="Table 9">
            <a:extLst>
              <a:ext uri="{FF2B5EF4-FFF2-40B4-BE49-F238E27FC236}">
                <a16:creationId xmlns:a16="http://schemas.microsoft.com/office/drawing/2014/main" id="{176D70B8-BAB5-659C-6340-B6C45295E199}"/>
              </a:ext>
            </a:extLst>
          </p:cNvPr>
          <p:cNvGraphicFramePr>
            <a:graphicFrameLocks noGrp="1"/>
          </p:cNvGraphicFramePr>
          <p:nvPr>
            <p:extLst>
              <p:ext uri="{D42A27DB-BD31-4B8C-83A1-F6EECF244321}">
                <p14:modId xmlns:p14="http://schemas.microsoft.com/office/powerpoint/2010/main" val="2663080389"/>
              </p:ext>
            </p:extLst>
          </p:nvPr>
        </p:nvGraphicFramePr>
        <p:xfrm>
          <a:off x="409904" y="4201832"/>
          <a:ext cx="3220555" cy="2366399"/>
        </p:xfrm>
        <a:graphic>
          <a:graphicData uri="http://schemas.openxmlformats.org/drawingml/2006/table">
            <a:tbl>
              <a:tblPr firstRow="1" bandRow="1">
                <a:tableStyleId>{616DA210-FB5B-4158-B5E0-FEB733F419BA}</a:tableStyleId>
              </a:tblPr>
              <a:tblGrid>
                <a:gridCol w="1150017">
                  <a:extLst>
                    <a:ext uri="{9D8B030D-6E8A-4147-A177-3AD203B41FA5}">
                      <a16:colId xmlns:a16="http://schemas.microsoft.com/office/drawing/2014/main" val="75087229"/>
                    </a:ext>
                  </a:extLst>
                </a:gridCol>
                <a:gridCol w="851338">
                  <a:extLst>
                    <a:ext uri="{9D8B030D-6E8A-4147-A177-3AD203B41FA5}">
                      <a16:colId xmlns:a16="http://schemas.microsoft.com/office/drawing/2014/main" val="3639041849"/>
                    </a:ext>
                  </a:extLst>
                </a:gridCol>
                <a:gridCol w="1219200">
                  <a:extLst>
                    <a:ext uri="{9D8B030D-6E8A-4147-A177-3AD203B41FA5}">
                      <a16:colId xmlns:a16="http://schemas.microsoft.com/office/drawing/2014/main" val="2604852135"/>
                    </a:ext>
                  </a:extLst>
                </a:gridCol>
              </a:tblGrid>
              <a:tr h="338057">
                <a:tc>
                  <a:txBody>
                    <a:bodyPr/>
                    <a:lstStyle/>
                    <a:p>
                      <a:r>
                        <a:rPr lang="en-US" sz="1200"/>
                        <a:t>Tire Size</a:t>
                      </a:r>
                    </a:p>
                  </a:txBody>
                  <a:tcPr/>
                </a:tc>
                <a:tc>
                  <a:txBody>
                    <a:bodyPr/>
                    <a:lstStyle/>
                    <a:p>
                      <a:r>
                        <a:rPr lang="en-US" sz="1200"/>
                        <a:t>Ply Rating</a:t>
                      </a:r>
                    </a:p>
                  </a:txBody>
                  <a:tcPr/>
                </a:tc>
                <a:tc>
                  <a:txBody>
                    <a:bodyPr/>
                    <a:lstStyle/>
                    <a:p>
                      <a:r>
                        <a:rPr lang="en-US" sz="1200"/>
                        <a:t>Pressure (PSI)</a:t>
                      </a:r>
                    </a:p>
                  </a:txBody>
                  <a:tcPr/>
                </a:tc>
                <a:extLst>
                  <a:ext uri="{0D108BD9-81ED-4DB2-BD59-A6C34878D82A}">
                    <a16:rowId xmlns:a16="http://schemas.microsoft.com/office/drawing/2014/main" val="572790368"/>
                  </a:ext>
                </a:extLst>
              </a:tr>
              <a:tr h="338057">
                <a:tc>
                  <a:txBody>
                    <a:bodyPr/>
                    <a:lstStyle/>
                    <a:p>
                      <a:r>
                        <a:rPr lang="en-US" sz="1200" b="0">
                          <a:solidFill>
                            <a:srgbClr val="FF0000"/>
                          </a:solidFill>
                        </a:rPr>
                        <a:t>16 x 7.50 – 8</a:t>
                      </a:r>
                    </a:p>
                  </a:txBody>
                  <a:tcPr/>
                </a:tc>
                <a:tc>
                  <a:txBody>
                    <a:bodyPr/>
                    <a:lstStyle/>
                    <a:p>
                      <a:r>
                        <a:rPr lang="en-US" sz="1200" b="0">
                          <a:solidFill>
                            <a:srgbClr val="FF0000"/>
                          </a:solidFill>
                        </a:rPr>
                        <a:t>2</a:t>
                      </a:r>
                    </a:p>
                  </a:txBody>
                  <a:tcPr/>
                </a:tc>
                <a:tc>
                  <a:txBody>
                    <a:bodyPr/>
                    <a:lstStyle/>
                    <a:p>
                      <a:r>
                        <a:rPr lang="en-US" sz="1200" b="0">
                          <a:solidFill>
                            <a:srgbClr val="FF0000"/>
                          </a:solidFill>
                        </a:rPr>
                        <a:t>8-12</a:t>
                      </a:r>
                    </a:p>
                  </a:txBody>
                  <a:tcPr/>
                </a:tc>
                <a:extLst>
                  <a:ext uri="{0D108BD9-81ED-4DB2-BD59-A6C34878D82A}">
                    <a16:rowId xmlns:a16="http://schemas.microsoft.com/office/drawing/2014/main" val="3855563662"/>
                  </a:ext>
                </a:extLst>
              </a:tr>
              <a:tr h="338057">
                <a:tc>
                  <a:txBody>
                    <a:bodyPr/>
                    <a:lstStyle/>
                    <a:p>
                      <a:r>
                        <a:rPr lang="en-US" sz="1200"/>
                        <a:t>18 x 8.50 – 8</a:t>
                      </a:r>
                    </a:p>
                  </a:txBody>
                  <a:tcPr/>
                </a:tc>
                <a:tc>
                  <a:txBody>
                    <a:bodyPr/>
                    <a:lstStyle/>
                    <a:p>
                      <a:r>
                        <a:rPr lang="en-US" sz="1200"/>
                        <a:t>4</a:t>
                      </a:r>
                    </a:p>
                  </a:txBody>
                  <a:tcPr/>
                </a:tc>
                <a:tc>
                  <a:txBody>
                    <a:bodyPr/>
                    <a:lstStyle/>
                    <a:p>
                      <a:r>
                        <a:rPr lang="en-US" sz="1200"/>
                        <a:t>6-22</a:t>
                      </a:r>
                    </a:p>
                  </a:txBody>
                  <a:tcPr/>
                </a:tc>
                <a:extLst>
                  <a:ext uri="{0D108BD9-81ED-4DB2-BD59-A6C34878D82A}">
                    <a16:rowId xmlns:a16="http://schemas.microsoft.com/office/drawing/2014/main" val="753128598"/>
                  </a:ext>
                </a:extLst>
              </a:tr>
              <a:tr h="338057">
                <a:tc>
                  <a:txBody>
                    <a:bodyPr/>
                    <a:lstStyle/>
                    <a:p>
                      <a:r>
                        <a:rPr lang="en-US" sz="1200"/>
                        <a:t>23 x 8.50 – 12</a:t>
                      </a:r>
                    </a:p>
                  </a:txBody>
                  <a:tcPr/>
                </a:tc>
                <a:tc>
                  <a:txBody>
                    <a:bodyPr/>
                    <a:lstStyle/>
                    <a:p>
                      <a:r>
                        <a:rPr lang="en-US" sz="1200"/>
                        <a:t>2</a:t>
                      </a:r>
                    </a:p>
                  </a:txBody>
                  <a:tcPr/>
                </a:tc>
                <a:tc>
                  <a:txBody>
                    <a:bodyPr/>
                    <a:lstStyle/>
                    <a:p>
                      <a:r>
                        <a:rPr lang="en-US" sz="1200"/>
                        <a:t>6-10</a:t>
                      </a:r>
                    </a:p>
                  </a:txBody>
                  <a:tcPr/>
                </a:tc>
                <a:extLst>
                  <a:ext uri="{0D108BD9-81ED-4DB2-BD59-A6C34878D82A}">
                    <a16:rowId xmlns:a16="http://schemas.microsoft.com/office/drawing/2014/main" val="308624905"/>
                  </a:ext>
                </a:extLst>
              </a:tr>
              <a:tr h="338057">
                <a:tc>
                  <a:txBody>
                    <a:bodyPr/>
                    <a:lstStyle/>
                    <a:p>
                      <a:r>
                        <a:rPr lang="en-US" sz="1200" b="1" dirty="0">
                          <a:solidFill>
                            <a:srgbClr val="FF0000"/>
                          </a:solidFill>
                        </a:rPr>
                        <a:t>23 x 10.5 - 12</a:t>
                      </a:r>
                    </a:p>
                  </a:txBody>
                  <a:tcPr/>
                </a:tc>
                <a:tc>
                  <a:txBody>
                    <a:bodyPr/>
                    <a:lstStyle/>
                    <a:p>
                      <a:r>
                        <a:rPr lang="en-US" sz="1200" b="1">
                          <a:solidFill>
                            <a:srgbClr val="FF0000"/>
                          </a:solidFill>
                        </a:rPr>
                        <a:t>2</a:t>
                      </a:r>
                    </a:p>
                  </a:txBody>
                  <a:tcPr/>
                </a:tc>
                <a:tc>
                  <a:txBody>
                    <a:bodyPr/>
                    <a:lstStyle/>
                    <a:p>
                      <a:r>
                        <a:rPr lang="en-US" sz="1200" b="1">
                          <a:solidFill>
                            <a:srgbClr val="FF0000"/>
                          </a:solidFill>
                        </a:rPr>
                        <a:t>6-10</a:t>
                      </a:r>
                    </a:p>
                  </a:txBody>
                  <a:tcPr/>
                </a:tc>
                <a:extLst>
                  <a:ext uri="{0D108BD9-81ED-4DB2-BD59-A6C34878D82A}">
                    <a16:rowId xmlns:a16="http://schemas.microsoft.com/office/drawing/2014/main" val="719218174"/>
                  </a:ext>
                </a:extLst>
              </a:tr>
              <a:tr h="338057">
                <a:tc>
                  <a:txBody>
                    <a:bodyPr/>
                    <a:lstStyle/>
                    <a:p>
                      <a:r>
                        <a:rPr lang="en-US" sz="1200"/>
                        <a:t>26 12.00 - 12</a:t>
                      </a:r>
                    </a:p>
                  </a:txBody>
                  <a:tcPr/>
                </a:tc>
                <a:tc>
                  <a:txBody>
                    <a:bodyPr/>
                    <a:lstStyle/>
                    <a:p>
                      <a:r>
                        <a:rPr lang="en-US" sz="1200"/>
                        <a:t>2</a:t>
                      </a:r>
                    </a:p>
                  </a:txBody>
                  <a:tcPr/>
                </a:tc>
                <a:tc>
                  <a:txBody>
                    <a:bodyPr/>
                    <a:lstStyle/>
                    <a:p>
                      <a:r>
                        <a:rPr lang="en-US" sz="1200"/>
                        <a:t>6-10</a:t>
                      </a:r>
                    </a:p>
                  </a:txBody>
                  <a:tcPr/>
                </a:tc>
                <a:extLst>
                  <a:ext uri="{0D108BD9-81ED-4DB2-BD59-A6C34878D82A}">
                    <a16:rowId xmlns:a16="http://schemas.microsoft.com/office/drawing/2014/main" val="2310491262"/>
                  </a:ext>
                </a:extLst>
              </a:tr>
              <a:tr h="338057">
                <a:tc>
                  <a:txBody>
                    <a:bodyPr/>
                    <a:lstStyle/>
                    <a:p>
                      <a:r>
                        <a:rPr lang="en-US" sz="1200"/>
                        <a:t>26 12.00 - 12</a:t>
                      </a:r>
                    </a:p>
                  </a:txBody>
                  <a:tcPr/>
                </a:tc>
                <a:tc>
                  <a:txBody>
                    <a:bodyPr/>
                    <a:lstStyle/>
                    <a:p>
                      <a:r>
                        <a:rPr lang="en-US" sz="1200"/>
                        <a:t>4</a:t>
                      </a:r>
                    </a:p>
                  </a:txBody>
                  <a:tcPr/>
                </a:tc>
                <a:tc>
                  <a:txBody>
                    <a:bodyPr/>
                    <a:lstStyle/>
                    <a:p>
                      <a:r>
                        <a:rPr lang="en-US" sz="1200" dirty="0"/>
                        <a:t>6-20</a:t>
                      </a:r>
                    </a:p>
                  </a:txBody>
                  <a:tcPr/>
                </a:tc>
                <a:extLst>
                  <a:ext uri="{0D108BD9-81ED-4DB2-BD59-A6C34878D82A}">
                    <a16:rowId xmlns:a16="http://schemas.microsoft.com/office/drawing/2014/main" val="2552545435"/>
                  </a:ext>
                </a:extLst>
              </a:tr>
            </a:tbl>
          </a:graphicData>
        </a:graphic>
      </p:graphicFrame>
      <p:pic>
        <p:nvPicPr>
          <p:cNvPr id="7" name="Picture 6">
            <a:extLst>
              <a:ext uri="{FF2B5EF4-FFF2-40B4-BE49-F238E27FC236}">
                <a16:creationId xmlns:a16="http://schemas.microsoft.com/office/drawing/2014/main" id="{13E56A26-82E0-994E-E219-798A22787F2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644923" y="289769"/>
            <a:ext cx="2111713" cy="2125279"/>
          </a:xfrm>
          <a:prstGeom prst="rect">
            <a:avLst/>
          </a:prstGeom>
        </p:spPr>
      </p:pic>
      <p:sp>
        <p:nvSpPr>
          <p:cNvPr id="10" name="TextBox 9">
            <a:extLst>
              <a:ext uri="{FF2B5EF4-FFF2-40B4-BE49-F238E27FC236}">
                <a16:creationId xmlns:a16="http://schemas.microsoft.com/office/drawing/2014/main" id="{1D06A49C-B1DE-2F91-F74D-94821CD2E4A9}"/>
              </a:ext>
            </a:extLst>
          </p:cNvPr>
          <p:cNvSpPr txBox="1"/>
          <p:nvPr/>
        </p:nvSpPr>
        <p:spPr>
          <a:xfrm>
            <a:off x="5644922" y="2498810"/>
            <a:ext cx="2111713" cy="523220"/>
          </a:xfrm>
          <a:prstGeom prst="rect">
            <a:avLst/>
          </a:prstGeom>
          <a:noFill/>
        </p:spPr>
        <p:txBody>
          <a:bodyPr wrap="square" rtlCol="0">
            <a:spAutoFit/>
          </a:bodyPr>
          <a:lstStyle/>
          <a:p>
            <a:r>
              <a:rPr lang="en-US" sz="1400"/>
              <a:t>We may need to install Tire Tubes (~$15 each)</a:t>
            </a:r>
          </a:p>
        </p:txBody>
      </p:sp>
      <p:sp>
        <p:nvSpPr>
          <p:cNvPr id="11" name="TextBox 10">
            <a:extLst>
              <a:ext uri="{FF2B5EF4-FFF2-40B4-BE49-F238E27FC236}">
                <a16:creationId xmlns:a16="http://schemas.microsoft.com/office/drawing/2014/main" id="{551FAAFC-A792-9C3E-9ECE-DB24A47CDCA6}"/>
              </a:ext>
            </a:extLst>
          </p:cNvPr>
          <p:cNvSpPr txBox="1"/>
          <p:nvPr/>
        </p:nvSpPr>
        <p:spPr>
          <a:xfrm>
            <a:off x="756745" y="2191033"/>
            <a:ext cx="3037489" cy="861774"/>
          </a:xfrm>
          <a:prstGeom prst="rect">
            <a:avLst/>
          </a:prstGeom>
          <a:noFill/>
        </p:spPr>
        <p:txBody>
          <a:bodyPr wrap="square" rtlCol="0">
            <a:spAutoFit/>
          </a:bodyPr>
          <a:lstStyle/>
          <a:p>
            <a:r>
              <a:rPr lang="en-US" sz="1400" b="1" dirty="0">
                <a:solidFill>
                  <a:srgbClr val="FF0000"/>
                </a:solidFill>
                <a:latin typeface="Calibri" panose="020F0502020204030204" pitchFamily="34" charset="0"/>
                <a:ea typeface="Menlo" panose="020B0609030804020204" pitchFamily="49" charset="0"/>
                <a:cs typeface="Calibri" panose="020F0502020204030204" pitchFamily="34" charset="0"/>
              </a:rPr>
              <a:t>Tire "23 x 10.5 – 12":</a:t>
            </a:r>
          </a:p>
          <a:p>
            <a:r>
              <a:rPr lang="en-US" sz="1200" dirty="0">
                <a:latin typeface="Menlo" panose="020B0609030804020204" pitchFamily="49" charset="0"/>
                <a:ea typeface="Menlo" panose="020B0609030804020204" pitchFamily="49" charset="0"/>
                <a:cs typeface="Menlo" panose="020B0609030804020204" pitchFamily="49" charset="0"/>
              </a:rPr>
              <a:t>  23"   = overall diameter</a:t>
            </a:r>
          </a:p>
          <a:p>
            <a:r>
              <a:rPr lang="en-US" sz="1200" dirty="0">
                <a:latin typeface="Menlo" panose="020B0609030804020204" pitchFamily="49" charset="0"/>
                <a:ea typeface="Menlo" panose="020B0609030804020204" pitchFamily="49" charset="0"/>
                <a:cs typeface="Menlo" panose="020B0609030804020204" pitchFamily="49" charset="0"/>
              </a:rPr>
              <a:t>  10.5" = width of the tire</a:t>
            </a:r>
            <a:br>
              <a:rPr lang="en-US" sz="1200" dirty="0">
                <a:latin typeface="Menlo" panose="020B0609030804020204" pitchFamily="49" charset="0"/>
                <a:ea typeface="Menlo" panose="020B0609030804020204" pitchFamily="49" charset="0"/>
                <a:cs typeface="Menlo" panose="020B0609030804020204" pitchFamily="49" charset="0"/>
              </a:rPr>
            </a:br>
            <a:r>
              <a:rPr lang="en-US" sz="1200" dirty="0">
                <a:latin typeface="Menlo" panose="020B0609030804020204" pitchFamily="49" charset="0"/>
                <a:ea typeface="Menlo" panose="020B0609030804020204" pitchFamily="49" charset="0"/>
                <a:cs typeface="Menlo" panose="020B0609030804020204" pitchFamily="49" charset="0"/>
              </a:rPr>
              <a:t>  12"   = rim diameter</a:t>
            </a:r>
          </a:p>
        </p:txBody>
      </p:sp>
    </p:spTree>
    <p:extLst>
      <p:ext uri="{BB962C8B-B14F-4D97-AF65-F5344CB8AC3E}">
        <p14:creationId xmlns:p14="http://schemas.microsoft.com/office/powerpoint/2010/main" val="2726419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C2E3CF2A-C4BA-5DFD-36CB-DAC810B0D3BB}"/>
              </a:ext>
            </a:extLst>
          </p:cNvPr>
          <p:cNvSpPr/>
          <p:nvPr/>
        </p:nvSpPr>
        <p:spPr>
          <a:xfrm>
            <a:off x="4737983" y="1900438"/>
            <a:ext cx="2315963" cy="27699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1D4F527-8FD9-2801-24F0-71FFECCC11E0}"/>
              </a:ext>
            </a:extLst>
          </p:cNvPr>
          <p:cNvSpPr txBox="1"/>
          <p:nvPr/>
        </p:nvSpPr>
        <p:spPr>
          <a:xfrm>
            <a:off x="168166" y="111093"/>
            <a:ext cx="4117119" cy="523220"/>
          </a:xfrm>
          <a:prstGeom prst="rect">
            <a:avLst/>
          </a:prstGeom>
          <a:noFill/>
        </p:spPr>
        <p:txBody>
          <a:bodyPr wrap="square" rtlCol="0">
            <a:spAutoFit/>
          </a:bodyPr>
          <a:lstStyle/>
          <a:p>
            <a:r>
              <a:rPr lang="en-US" sz="2800" b="1" dirty="0"/>
              <a:t>60" deck, spindles, pulley</a:t>
            </a:r>
          </a:p>
        </p:txBody>
      </p:sp>
      <p:pic>
        <p:nvPicPr>
          <p:cNvPr id="12" name="Picture 11">
            <a:extLst>
              <a:ext uri="{FF2B5EF4-FFF2-40B4-BE49-F238E27FC236}">
                <a16:creationId xmlns:a16="http://schemas.microsoft.com/office/drawing/2014/main" id="{C1479CE6-79CE-470A-00DF-D0DC3AB57C5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625831" y="111093"/>
            <a:ext cx="2507532" cy="2584450"/>
          </a:xfrm>
          <a:prstGeom prst="rect">
            <a:avLst/>
          </a:prstGeom>
        </p:spPr>
      </p:pic>
      <p:pic>
        <p:nvPicPr>
          <p:cNvPr id="14" name="Picture 13">
            <a:extLst>
              <a:ext uri="{FF2B5EF4-FFF2-40B4-BE49-F238E27FC236}">
                <a16:creationId xmlns:a16="http://schemas.microsoft.com/office/drawing/2014/main" id="{2F294491-F267-467A-5C27-39D573011A3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8166" y="1071507"/>
            <a:ext cx="1825964" cy="2357494"/>
          </a:xfrm>
          <a:prstGeom prst="rect">
            <a:avLst/>
          </a:prstGeom>
        </p:spPr>
      </p:pic>
      <p:pic>
        <p:nvPicPr>
          <p:cNvPr id="15" name="Picture 14">
            <a:extLst>
              <a:ext uri="{FF2B5EF4-FFF2-40B4-BE49-F238E27FC236}">
                <a16:creationId xmlns:a16="http://schemas.microsoft.com/office/drawing/2014/main" id="{77A4297F-2B7A-25DD-8F34-0CE6143B95A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436266" y="4463045"/>
            <a:ext cx="703281" cy="1777860"/>
          </a:xfrm>
          <a:prstGeom prst="rect">
            <a:avLst/>
          </a:prstGeom>
        </p:spPr>
      </p:pic>
      <p:sp>
        <p:nvSpPr>
          <p:cNvPr id="17" name="TextBox 16">
            <a:extLst>
              <a:ext uri="{FF2B5EF4-FFF2-40B4-BE49-F238E27FC236}">
                <a16:creationId xmlns:a16="http://schemas.microsoft.com/office/drawing/2014/main" id="{6492CF95-2AC8-AFDC-A4D0-B7CC74B71E15}"/>
              </a:ext>
            </a:extLst>
          </p:cNvPr>
          <p:cNvSpPr txBox="1"/>
          <p:nvPr/>
        </p:nvSpPr>
        <p:spPr>
          <a:xfrm>
            <a:off x="431548" y="3430811"/>
            <a:ext cx="1022350" cy="276999"/>
          </a:xfrm>
          <a:prstGeom prst="rect">
            <a:avLst/>
          </a:prstGeom>
          <a:noFill/>
        </p:spPr>
        <p:txBody>
          <a:bodyPr wrap="square" rtlCol="0">
            <a:spAutoFit/>
          </a:bodyPr>
          <a:lstStyle/>
          <a:p>
            <a:pPr algn="ctr"/>
            <a:r>
              <a:rPr lang="en-US" sz="1200" dirty="0"/>
              <a:t>deck</a:t>
            </a:r>
          </a:p>
        </p:txBody>
      </p:sp>
      <p:pic>
        <p:nvPicPr>
          <p:cNvPr id="18" name="Picture 17">
            <a:extLst>
              <a:ext uri="{FF2B5EF4-FFF2-40B4-BE49-F238E27FC236}">
                <a16:creationId xmlns:a16="http://schemas.microsoft.com/office/drawing/2014/main" id="{E303D0F3-578A-310B-426D-6CDE9F2CDD23}"/>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159280" y="1069920"/>
            <a:ext cx="1677934" cy="1704628"/>
          </a:xfrm>
          <a:prstGeom prst="rect">
            <a:avLst/>
          </a:prstGeom>
        </p:spPr>
      </p:pic>
      <p:sp>
        <p:nvSpPr>
          <p:cNvPr id="19" name="TextBox 18">
            <a:extLst>
              <a:ext uri="{FF2B5EF4-FFF2-40B4-BE49-F238E27FC236}">
                <a16:creationId xmlns:a16="http://schemas.microsoft.com/office/drawing/2014/main" id="{1867E133-035E-7D82-3455-0D83F0E76CB8}"/>
              </a:ext>
            </a:extLst>
          </p:cNvPr>
          <p:cNvSpPr txBox="1"/>
          <p:nvPr/>
        </p:nvSpPr>
        <p:spPr>
          <a:xfrm>
            <a:off x="2424455" y="2834042"/>
            <a:ext cx="1022350" cy="461665"/>
          </a:xfrm>
          <a:prstGeom prst="rect">
            <a:avLst/>
          </a:prstGeom>
          <a:noFill/>
        </p:spPr>
        <p:txBody>
          <a:bodyPr wrap="square" rtlCol="0">
            <a:spAutoFit/>
          </a:bodyPr>
          <a:lstStyle/>
          <a:p>
            <a:pPr algn="ctr"/>
            <a:r>
              <a:rPr lang="en-US" sz="1200" dirty="0"/>
              <a:t>spindle hub</a:t>
            </a:r>
          </a:p>
          <a:p>
            <a:pPr algn="ctr"/>
            <a:r>
              <a:rPr lang="en-US" sz="1200" dirty="0"/>
              <a:t>with pulley</a:t>
            </a:r>
          </a:p>
        </p:txBody>
      </p:sp>
      <p:pic>
        <p:nvPicPr>
          <p:cNvPr id="20" name="Picture 19">
            <a:extLst>
              <a:ext uri="{FF2B5EF4-FFF2-40B4-BE49-F238E27FC236}">
                <a16:creationId xmlns:a16="http://schemas.microsoft.com/office/drawing/2014/main" id="{8E2DAB17-A81B-70EB-9854-F59478032EFD}"/>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0128935" y="5654514"/>
            <a:ext cx="1971754" cy="1162193"/>
          </a:xfrm>
          <a:prstGeom prst="rect">
            <a:avLst/>
          </a:prstGeom>
        </p:spPr>
      </p:pic>
      <p:sp>
        <p:nvSpPr>
          <p:cNvPr id="21" name="TextBox 20">
            <a:extLst>
              <a:ext uri="{FF2B5EF4-FFF2-40B4-BE49-F238E27FC236}">
                <a16:creationId xmlns:a16="http://schemas.microsoft.com/office/drawing/2014/main" id="{81E3D317-D771-666D-55D6-D034003A33DC}"/>
              </a:ext>
            </a:extLst>
          </p:cNvPr>
          <p:cNvSpPr txBox="1"/>
          <p:nvPr/>
        </p:nvSpPr>
        <p:spPr>
          <a:xfrm>
            <a:off x="10368422" y="2695543"/>
            <a:ext cx="1022350" cy="276999"/>
          </a:xfrm>
          <a:prstGeom prst="rect">
            <a:avLst/>
          </a:prstGeom>
          <a:noFill/>
        </p:spPr>
        <p:txBody>
          <a:bodyPr wrap="square" rtlCol="0">
            <a:spAutoFit/>
          </a:bodyPr>
          <a:lstStyle/>
          <a:p>
            <a:pPr algn="ctr"/>
            <a:r>
              <a:rPr lang="en-US" sz="1200" dirty="0"/>
              <a:t>spindle shaft</a:t>
            </a:r>
          </a:p>
        </p:txBody>
      </p:sp>
      <p:sp>
        <p:nvSpPr>
          <p:cNvPr id="22" name="Rectangle 21">
            <a:extLst>
              <a:ext uri="{FF2B5EF4-FFF2-40B4-BE49-F238E27FC236}">
                <a16:creationId xmlns:a16="http://schemas.microsoft.com/office/drawing/2014/main" id="{BE6CE2D1-947C-418A-CBDC-AC5FACC5B62D}"/>
              </a:ext>
            </a:extLst>
          </p:cNvPr>
          <p:cNvSpPr/>
          <p:nvPr/>
        </p:nvSpPr>
        <p:spPr>
          <a:xfrm>
            <a:off x="5268689" y="2692078"/>
            <a:ext cx="1093076" cy="231379"/>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0DE2D15-4CE0-62E9-50F6-265C6ADECA33}"/>
              </a:ext>
            </a:extLst>
          </p:cNvPr>
          <p:cNvSpPr/>
          <p:nvPr/>
        </p:nvSpPr>
        <p:spPr>
          <a:xfrm>
            <a:off x="5268689" y="4109479"/>
            <a:ext cx="1093076" cy="279969"/>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04C9A0E-2E24-F432-26C9-3EF68C22B118}"/>
              </a:ext>
            </a:extLst>
          </p:cNvPr>
          <p:cNvSpPr/>
          <p:nvPr/>
        </p:nvSpPr>
        <p:spPr>
          <a:xfrm>
            <a:off x="5475519" y="2692074"/>
            <a:ext cx="141514" cy="231379"/>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7B6222B-362C-651B-F211-DD0D38047193}"/>
              </a:ext>
            </a:extLst>
          </p:cNvPr>
          <p:cNvSpPr/>
          <p:nvPr/>
        </p:nvSpPr>
        <p:spPr>
          <a:xfrm>
            <a:off x="5998033" y="2692072"/>
            <a:ext cx="141514" cy="231379"/>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1FF93C6-A6BE-89F8-126E-ABBCFD33F310}"/>
              </a:ext>
            </a:extLst>
          </p:cNvPr>
          <p:cNvSpPr/>
          <p:nvPr/>
        </p:nvSpPr>
        <p:spPr>
          <a:xfrm>
            <a:off x="5475519" y="2344072"/>
            <a:ext cx="664028" cy="170373"/>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6FD39C63-1EB5-761D-5983-7A07EC6CF263}"/>
              </a:ext>
            </a:extLst>
          </p:cNvPr>
          <p:cNvSpPr txBox="1"/>
          <p:nvPr/>
        </p:nvSpPr>
        <p:spPr>
          <a:xfrm>
            <a:off x="4457538" y="2743107"/>
            <a:ext cx="703336" cy="276999"/>
          </a:xfrm>
          <a:prstGeom prst="rect">
            <a:avLst/>
          </a:prstGeom>
          <a:noFill/>
        </p:spPr>
        <p:txBody>
          <a:bodyPr wrap="square" rtlCol="0">
            <a:spAutoFit/>
          </a:bodyPr>
          <a:lstStyle/>
          <a:p>
            <a:pPr algn="ctr"/>
            <a:r>
              <a:rPr lang="en-US" sz="1200" dirty="0"/>
              <a:t>bearing</a:t>
            </a:r>
          </a:p>
        </p:txBody>
      </p:sp>
      <p:sp>
        <p:nvSpPr>
          <p:cNvPr id="29" name="TextBox 28">
            <a:extLst>
              <a:ext uri="{FF2B5EF4-FFF2-40B4-BE49-F238E27FC236}">
                <a16:creationId xmlns:a16="http://schemas.microsoft.com/office/drawing/2014/main" id="{643779C3-2B68-3C5A-985B-0D08799055A1}"/>
              </a:ext>
            </a:extLst>
          </p:cNvPr>
          <p:cNvSpPr txBox="1"/>
          <p:nvPr/>
        </p:nvSpPr>
        <p:spPr>
          <a:xfrm>
            <a:off x="4485477" y="4127721"/>
            <a:ext cx="703336" cy="276999"/>
          </a:xfrm>
          <a:prstGeom prst="rect">
            <a:avLst/>
          </a:prstGeom>
          <a:noFill/>
        </p:spPr>
        <p:txBody>
          <a:bodyPr wrap="square" rtlCol="0">
            <a:spAutoFit/>
          </a:bodyPr>
          <a:lstStyle/>
          <a:p>
            <a:pPr algn="ctr"/>
            <a:r>
              <a:rPr lang="en-US" sz="1200" dirty="0"/>
              <a:t>bearing</a:t>
            </a:r>
          </a:p>
        </p:txBody>
      </p:sp>
      <p:sp>
        <p:nvSpPr>
          <p:cNvPr id="30" name="TextBox 29">
            <a:extLst>
              <a:ext uri="{FF2B5EF4-FFF2-40B4-BE49-F238E27FC236}">
                <a16:creationId xmlns:a16="http://schemas.microsoft.com/office/drawing/2014/main" id="{0F074E6E-B726-12A6-E956-1A7189378970}"/>
              </a:ext>
            </a:extLst>
          </p:cNvPr>
          <p:cNvSpPr txBox="1"/>
          <p:nvPr/>
        </p:nvSpPr>
        <p:spPr>
          <a:xfrm>
            <a:off x="5290461" y="1900438"/>
            <a:ext cx="1093076" cy="276999"/>
          </a:xfrm>
          <a:prstGeom prst="rect">
            <a:avLst/>
          </a:prstGeom>
          <a:solidFill>
            <a:schemeClr val="bg1">
              <a:lumMod val="85000"/>
            </a:schemeClr>
          </a:solidFill>
          <a:ln>
            <a:noFill/>
          </a:ln>
        </p:spPr>
        <p:txBody>
          <a:bodyPr wrap="square" rtlCol="0">
            <a:spAutoFit/>
          </a:bodyPr>
          <a:lstStyle/>
          <a:p>
            <a:pPr algn="ctr"/>
            <a:r>
              <a:rPr lang="en-US" sz="1200" dirty="0"/>
              <a:t>pulley</a:t>
            </a:r>
          </a:p>
        </p:txBody>
      </p:sp>
      <p:sp>
        <p:nvSpPr>
          <p:cNvPr id="31" name="TextBox 30">
            <a:extLst>
              <a:ext uri="{FF2B5EF4-FFF2-40B4-BE49-F238E27FC236}">
                <a16:creationId xmlns:a16="http://schemas.microsoft.com/office/drawing/2014/main" id="{CB5BF55F-B1A5-116F-3FC8-D902CA203453}"/>
              </a:ext>
            </a:extLst>
          </p:cNvPr>
          <p:cNvSpPr txBox="1"/>
          <p:nvPr/>
        </p:nvSpPr>
        <p:spPr>
          <a:xfrm>
            <a:off x="4876803" y="6281516"/>
            <a:ext cx="1667621" cy="461665"/>
          </a:xfrm>
          <a:prstGeom prst="rect">
            <a:avLst/>
          </a:prstGeom>
          <a:noFill/>
        </p:spPr>
        <p:txBody>
          <a:bodyPr wrap="square" rtlCol="0">
            <a:spAutoFit/>
          </a:bodyPr>
          <a:lstStyle/>
          <a:p>
            <a:pPr algn="ctr"/>
            <a:r>
              <a:rPr lang="en-US" sz="1200" dirty="0"/>
              <a:t>spindle shaft </a:t>
            </a:r>
          </a:p>
          <a:p>
            <a:pPr algn="ctr"/>
            <a:r>
              <a:rPr lang="en-US" sz="1200" dirty="0"/>
              <a:t>inserted from here</a:t>
            </a:r>
          </a:p>
        </p:txBody>
      </p:sp>
      <p:sp>
        <p:nvSpPr>
          <p:cNvPr id="37" name="Right Triangle 36">
            <a:extLst>
              <a:ext uri="{FF2B5EF4-FFF2-40B4-BE49-F238E27FC236}">
                <a16:creationId xmlns:a16="http://schemas.microsoft.com/office/drawing/2014/main" id="{6DF6BC8E-34EF-3787-57BB-7494DB4ACD5A}"/>
              </a:ext>
            </a:extLst>
          </p:cNvPr>
          <p:cNvSpPr/>
          <p:nvPr/>
        </p:nvSpPr>
        <p:spPr>
          <a:xfrm>
            <a:off x="7053947" y="1902197"/>
            <a:ext cx="315686" cy="275240"/>
          </a:xfrm>
          <a:prstGeom prst="r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ight Triangle 37">
            <a:extLst>
              <a:ext uri="{FF2B5EF4-FFF2-40B4-BE49-F238E27FC236}">
                <a16:creationId xmlns:a16="http://schemas.microsoft.com/office/drawing/2014/main" id="{5432BF53-9EFC-EF94-770C-76DFC0C8DA69}"/>
              </a:ext>
            </a:extLst>
          </p:cNvPr>
          <p:cNvSpPr/>
          <p:nvPr/>
        </p:nvSpPr>
        <p:spPr>
          <a:xfrm rot="10800000" flipH="1">
            <a:off x="7049313" y="1897411"/>
            <a:ext cx="306997" cy="275240"/>
          </a:xfrm>
          <a:prstGeom prst="r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ight Triangle 38">
            <a:extLst>
              <a:ext uri="{FF2B5EF4-FFF2-40B4-BE49-F238E27FC236}">
                <a16:creationId xmlns:a16="http://schemas.microsoft.com/office/drawing/2014/main" id="{0682520E-19FB-571F-742B-43916FB97130}"/>
              </a:ext>
            </a:extLst>
          </p:cNvPr>
          <p:cNvSpPr/>
          <p:nvPr/>
        </p:nvSpPr>
        <p:spPr>
          <a:xfrm rot="10800000">
            <a:off x="4419606" y="1902200"/>
            <a:ext cx="315686" cy="275240"/>
          </a:xfrm>
          <a:prstGeom prst="r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ight Triangle 39">
            <a:extLst>
              <a:ext uri="{FF2B5EF4-FFF2-40B4-BE49-F238E27FC236}">
                <a16:creationId xmlns:a16="http://schemas.microsoft.com/office/drawing/2014/main" id="{FD633371-B5A6-DBEE-3E61-9963A577F375}"/>
              </a:ext>
            </a:extLst>
          </p:cNvPr>
          <p:cNvSpPr/>
          <p:nvPr/>
        </p:nvSpPr>
        <p:spPr>
          <a:xfrm flipH="1">
            <a:off x="4414972" y="1897414"/>
            <a:ext cx="306997" cy="275240"/>
          </a:xfrm>
          <a:prstGeom prst="r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5660F785-45C5-13C0-C8D5-624025F86367}"/>
              </a:ext>
            </a:extLst>
          </p:cNvPr>
          <p:cNvSpPr/>
          <p:nvPr/>
        </p:nvSpPr>
        <p:spPr>
          <a:xfrm>
            <a:off x="5475520" y="3023953"/>
            <a:ext cx="664027" cy="1000259"/>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8B5C17A9-1E28-B17F-FD1A-BCC260B47CFC}"/>
              </a:ext>
            </a:extLst>
          </p:cNvPr>
          <p:cNvSpPr/>
          <p:nvPr/>
        </p:nvSpPr>
        <p:spPr>
          <a:xfrm>
            <a:off x="5617034" y="3023953"/>
            <a:ext cx="381000" cy="1000259"/>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FBAB446B-2EE6-3BB6-AA8F-FE650A372AAD}"/>
              </a:ext>
            </a:extLst>
          </p:cNvPr>
          <p:cNvSpPr txBox="1"/>
          <p:nvPr/>
        </p:nvSpPr>
        <p:spPr>
          <a:xfrm>
            <a:off x="4710015" y="3326346"/>
            <a:ext cx="703336" cy="461665"/>
          </a:xfrm>
          <a:prstGeom prst="rect">
            <a:avLst/>
          </a:prstGeom>
          <a:noFill/>
        </p:spPr>
        <p:txBody>
          <a:bodyPr wrap="square" rtlCol="0">
            <a:spAutoFit/>
          </a:bodyPr>
          <a:lstStyle/>
          <a:p>
            <a:pPr algn="ctr"/>
            <a:r>
              <a:rPr lang="en-US" sz="1200" dirty="0"/>
              <a:t>insert</a:t>
            </a:r>
          </a:p>
          <a:p>
            <a:pPr algn="ctr"/>
            <a:r>
              <a:rPr lang="en-US" sz="1200" dirty="0"/>
              <a:t>bushing</a:t>
            </a:r>
          </a:p>
        </p:txBody>
      </p:sp>
      <p:sp>
        <p:nvSpPr>
          <p:cNvPr id="44" name="Rectangle 43">
            <a:extLst>
              <a:ext uri="{FF2B5EF4-FFF2-40B4-BE49-F238E27FC236}">
                <a16:creationId xmlns:a16="http://schemas.microsoft.com/office/drawing/2014/main" id="{93CA4992-D4D1-0186-EE49-6A3F0AD3301B}"/>
              </a:ext>
            </a:extLst>
          </p:cNvPr>
          <p:cNvSpPr/>
          <p:nvPr/>
        </p:nvSpPr>
        <p:spPr>
          <a:xfrm>
            <a:off x="5475520" y="4104695"/>
            <a:ext cx="141514" cy="279969"/>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93A0B0CF-10DE-66AD-B6BB-F4D0334FA94E}"/>
              </a:ext>
            </a:extLst>
          </p:cNvPr>
          <p:cNvSpPr/>
          <p:nvPr/>
        </p:nvSpPr>
        <p:spPr>
          <a:xfrm>
            <a:off x="5998034" y="4104693"/>
            <a:ext cx="141514" cy="279969"/>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John Deere M153583 Pulley Spindle Nut">
            <a:extLst>
              <a:ext uri="{FF2B5EF4-FFF2-40B4-BE49-F238E27FC236}">
                <a16:creationId xmlns:a16="http://schemas.microsoft.com/office/drawing/2014/main" id="{97C7AD85-419F-4B4A-D347-C54567A7490F}"/>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5453749" y="1069920"/>
            <a:ext cx="715569" cy="715569"/>
          </a:xfrm>
          <a:prstGeom prst="rect">
            <a:avLst/>
          </a:prstGeom>
          <a:noFill/>
          <a:extLst>
            <a:ext uri="{909E8E84-426E-40DD-AFC4-6F175D3DCCD1}">
              <a14:hiddenFill xmlns:a14="http://schemas.microsoft.com/office/drawing/2010/main">
                <a:solidFill>
                  <a:srgbClr val="FFFFFF"/>
                </a:solidFill>
              </a14:hiddenFill>
            </a:ext>
          </a:extLst>
        </p:spPr>
      </p:pic>
      <p:sp>
        <p:nvSpPr>
          <p:cNvPr id="46" name="TextBox 45">
            <a:extLst>
              <a:ext uri="{FF2B5EF4-FFF2-40B4-BE49-F238E27FC236}">
                <a16:creationId xmlns:a16="http://schemas.microsoft.com/office/drawing/2014/main" id="{9DF9BB92-8DEF-3C11-F0EE-5E6771AB4CB8}"/>
              </a:ext>
            </a:extLst>
          </p:cNvPr>
          <p:cNvSpPr txBox="1"/>
          <p:nvPr/>
        </p:nvSpPr>
        <p:spPr>
          <a:xfrm>
            <a:off x="4809206" y="1331820"/>
            <a:ext cx="703336" cy="276999"/>
          </a:xfrm>
          <a:prstGeom prst="rect">
            <a:avLst/>
          </a:prstGeom>
          <a:noFill/>
        </p:spPr>
        <p:txBody>
          <a:bodyPr wrap="square" rtlCol="0">
            <a:spAutoFit/>
          </a:bodyPr>
          <a:lstStyle/>
          <a:p>
            <a:pPr algn="ctr"/>
            <a:r>
              <a:rPr lang="en-US" sz="1200" dirty="0"/>
              <a:t>nut</a:t>
            </a:r>
          </a:p>
        </p:txBody>
      </p:sp>
      <p:sp>
        <p:nvSpPr>
          <p:cNvPr id="47" name="TextBox 46">
            <a:extLst>
              <a:ext uri="{FF2B5EF4-FFF2-40B4-BE49-F238E27FC236}">
                <a16:creationId xmlns:a16="http://schemas.microsoft.com/office/drawing/2014/main" id="{4B12CDF8-84A5-F958-A6BA-14043B75845E}"/>
              </a:ext>
            </a:extLst>
          </p:cNvPr>
          <p:cNvSpPr txBox="1"/>
          <p:nvPr/>
        </p:nvSpPr>
        <p:spPr>
          <a:xfrm>
            <a:off x="4202826" y="2207634"/>
            <a:ext cx="1268637" cy="461665"/>
          </a:xfrm>
          <a:prstGeom prst="rect">
            <a:avLst/>
          </a:prstGeom>
          <a:noFill/>
        </p:spPr>
        <p:txBody>
          <a:bodyPr wrap="square" rtlCol="0">
            <a:spAutoFit/>
          </a:bodyPr>
          <a:lstStyle/>
          <a:p>
            <a:pPr algn="ctr"/>
            <a:r>
              <a:rPr lang="en-US" sz="1200" dirty="0"/>
              <a:t>bushing </a:t>
            </a:r>
          </a:p>
          <a:p>
            <a:pPr algn="ctr"/>
            <a:r>
              <a:rPr lang="en-US" sz="1200" dirty="0"/>
              <a:t>(spacer, washer)</a:t>
            </a:r>
          </a:p>
        </p:txBody>
      </p:sp>
      <p:pic>
        <p:nvPicPr>
          <p:cNvPr id="3" name="Picture 2">
            <a:extLst>
              <a:ext uri="{FF2B5EF4-FFF2-40B4-BE49-F238E27FC236}">
                <a16:creationId xmlns:a16="http://schemas.microsoft.com/office/drawing/2014/main" id="{81A4B17E-5CBA-0685-0D19-C28748ED9F45}"/>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86857" y="4586338"/>
            <a:ext cx="1971754" cy="1967382"/>
          </a:xfrm>
          <a:prstGeom prst="rect">
            <a:avLst/>
          </a:prstGeom>
        </p:spPr>
      </p:pic>
      <p:sp>
        <p:nvSpPr>
          <p:cNvPr id="4" name="TextBox 3">
            <a:extLst>
              <a:ext uri="{FF2B5EF4-FFF2-40B4-BE49-F238E27FC236}">
                <a16:creationId xmlns:a16="http://schemas.microsoft.com/office/drawing/2014/main" id="{2136CE1B-25DC-A85E-6601-2AF77025DD82}"/>
              </a:ext>
            </a:extLst>
          </p:cNvPr>
          <p:cNvSpPr txBox="1"/>
          <p:nvPr/>
        </p:nvSpPr>
        <p:spPr>
          <a:xfrm>
            <a:off x="748752" y="4275247"/>
            <a:ext cx="1022350" cy="276999"/>
          </a:xfrm>
          <a:prstGeom prst="rect">
            <a:avLst/>
          </a:prstGeom>
          <a:noFill/>
        </p:spPr>
        <p:txBody>
          <a:bodyPr wrap="square" rtlCol="0">
            <a:spAutoFit/>
          </a:bodyPr>
          <a:lstStyle/>
          <a:p>
            <a:pPr algn="ctr"/>
            <a:r>
              <a:rPr lang="en-US" sz="1200" dirty="0"/>
              <a:t>spindle hub</a:t>
            </a:r>
          </a:p>
        </p:txBody>
      </p:sp>
      <p:pic>
        <p:nvPicPr>
          <p:cNvPr id="5" name="Picture 4">
            <a:extLst>
              <a:ext uri="{FF2B5EF4-FFF2-40B4-BE49-F238E27FC236}">
                <a16:creationId xmlns:a16="http://schemas.microsoft.com/office/drawing/2014/main" id="{0E6397A7-59A1-342E-F7B6-1E0DEFED6931}"/>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9996055" y="3000161"/>
            <a:ext cx="2104634" cy="2464704"/>
          </a:xfrm>
          <a:prstGeom prst="rect">
            <a:avLst/>
          </a:prstGeom>
        </p:spPr>
      </p:pic>
      <p:pic>
        <p:nvPicPr>
          <p:cNvPr id="6" name="Picture 5">
            <a:extLst>
              <a:ext uri="{FF2B5EF4-FFF2-40B4-BE49-F238E27FC236}">
                <a16:creationId xmlns:a16="http://schemas.microsoft.com/office/drawing/2014/main" id="{11E098BF-90CF-94DE-AF1B-1B0E120DA42C}"/>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9116297" y="3065993"/>
            <a:ext cx="1742280" cy="1209254"/>
          </a:xfrm>
          <a:prstGeom prst="rect">
            <a:avLst/>
          </a:prstGeom>
          <a:ln>
            <a:solidFill>
              <a:srgbClr val="FF0000"/>
            </a:solidFill>
          </a:ln>
        </p:spPr>
      </p:pic>
      <p:sp>
        <p:nvSpPr>
          <p:cNvPr id="8" name="TextBox 7">
            <a:extLst>
              <a:ext uri="{FF2B5EF4-FFF2-40B4-BE49-F238E27FC236}">
                <a16:creationId xmlns:a16="http://schemas.microsoft.com/office/drawing/2014/main" id="{C3F81A96-5DF9-E7E3-1385-F0305F33DAC6}"/>
              </a:ext>
            </a:extLst>
          </p:cNvPr>
          <p:cNvSpPr txBox="1"/>
          <p:nvPr/>
        </p:nvSpPr>
        <p:spPr>
          <a:xfrm>
            <a:off x="8966703" y="5233313"/>
            <a:ext cx="1020734" cy="461665"/>
          </a:xfrm>
          <a:prstGeom prst="rect">
            <a:avLst/>
          </a:prstGeom>
          <a:noFill/>
        </p:spPr>
        <p:txBody>
          <a:bodyPr wrap="square" rtlCol="0">
            <a:spAutoFit/>
          </a:bodyPr>
          <a:lstStyle/>
          <a:p>
            <a:pPr algn="ctr"/>
            <a:r>
              <a:rPr lang="en-US" sz="1200" dirty="0"/>
              <a:t>spindle shaft woodruff key</a:t>
            </a:r>
          </a:p>
        </p:txBody>
      </p:sp>
      <p:pic>
        <p:nvPicPr>
          <p:cNvPr id="10" name="Picture 9">
            <a:extLst>
              <a:ext uri="{FF2B5EF4-FFF2-40B4-BE49-F238E27FC236}">
                <a16:creationId xmlns:a16="http://schemas.microsoft.com/office/drawing/2014/main" id="{E49846F6-439C-0000-A00D-E5D1BE1065CE}"/>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9028406" y="4392361"/>
            <a:ext cx="703281" cy="323321"/>
          </a:xfrm>
          <a:prstGeom prst="rect">
            <a:avLst/>
          </a:prstGeom>
        </p:spPr>
      </p:pic>
      <p:pic>
        <p:nvPicPr>
          <p:cNvPr id="11" name="Picture 10">
            <a:extLst>
              <a:ext uri="{FF2B5EF4-FFF2-40B4-BE49-F238E27FC236}">
                <a16:creationId xmlns:a16="http://schemas.microsoft.com/office/drawing/2014/main" id="{7FD5FEC5-7354-E076-481A-F4ACA9D8CD2B}"/>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9046625" y="4792878"/>
            <a:ext cx="699400" cy="450844"/>
          </a:xfrm>
          <a:prstGeom prst="rect">
            <a:avLst/>
          </a:prstGeom>
        </p:spPr>
      </p:pic>
      <p:sp>
        <p:nvSpPr>
          <p:cNvPr id="13" name="TextBox 12">
            <a:extLst>
              <a:ext uri="{FF2B5EF4-FFF2-40B4-BE49-F238E27FC236}">
                <a16:creationId xmlns:a16="http://schemas.microsoft.com/office/drawing/2014/main" id="{6FCA6B48-4739-76F1-047A-5D29C25C80AB}"/>
              </a:ext>
            </a:extLst>
          </p:cNvPr>
          <p:cNvSpPr txBox="1"/>
          <p:nvPr/>
        </p:nvSpPr>
        <p:spPr>
          <a:xfrm>
            <a:off x="7147980" y="4520978"/>
            <a:ext cx="1720674" cy="830997"/>
          </a:xfrm>
          <a:prstGeom prst="rect">
            <a:avLst/>
          </a:prstGeom>
          <a:noFill/>
        </p:spPr>
        <p:txBody>
          <a:bodyPr wrap="square" rtlCol="0">
            <a:spAutoFit/>
          </a:bodyPr>
          <a:lstStyle/>
          <a:p>
            <a:pPr algn="ctr"/>
            <a:r>
              <a:rPr lang="en-US" sz="1200" dirty="0"/>
              <a:t>Woodruff keys are semi-circular discs used to connect shaft and pulley to rotate together</a:t>
            </a:r>
          </a:p>
        </p:txBody>
      </p:sp>
      <p:pic>
        <p:nvPicPr>
          <p:cNvPr id="16" name="Picture 15">
            <a:extLst>
              <a:ext uri="{FF2B5EF4-FFF2-40B4-BE49-F238E27FC236}">
                <a16:creationId xmlns:a16="http://schemas.microsoft.com/office/drawing/2014/main" id="{6A334A0A-24D7-6C9F-E2E7-4322B416BF34}"/>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7507607" y="5923035"/>
            <a:ext cx="1742280" cy="625149"/>
          </a:xfrm>
          <a:prstGeom prst="rect">
            <a:avLst/>
          </a:prstGeom>
          <a:ln>
            <a:solidFill>
              <a:schemeClr val="accent1"/>
            </a:solidFill>
          </a:ln>
        </p:spPr>
      </p:pic>
    </p:spTree>
    <p:extLst>
      <p:ext uri="{BB962C8B-B14F-4D97-AF65-F5344CB8AC3E}">
        <p14:creationId xmlns:p14="http://schemas.microsoft.com/office/powerpoint/2010/main" val="3231152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B9B836-28F9-422A-F700-BCB256EF61BC}"/>
              </a:ext>
            </a:extLst>
          </p:cNvPr>
          <p:cNvSpPr txBox="1"/>
          <p:nvPr/>
        </p:nvSpPr>
        <p:spPr>
          <a:xfrm>
            <a:off x="-1" y="0"/>
            <a:ext cx="3470313" cy="523220"/>
          </a:xfrm>
          <a:prstGeom prst="rect">
            <a:avLst/>
          </a:prstGeom>
          <a:noFill/>
        </p:spPr>
        <p:txBody>
          <a:bodyPr wrap="square" rtlCol="0">
            <a:spAutoFit/>
          </a:bodyPr>
          <a:lstStyle/>
          <a:p>
            <a:r>
              <a:rPr lang="en-US" sz="2800" b="1" dirty="0"/>
              <a:t>Little Bull Loader</a:t>
            </a:r>
          </a:p>
        </p:txBody>
      </p:sp>
      <p:sp>
        <p:nvSpPr>
          <p:cNvPr id="4" name="TextBox 3">
            <a:extLst>
              <a:ext uri="{FF2B5EF4-FFF2-40B4-BE49-F238E27FC236}">
                <a16:creationId xmlns:a16="http://schemas.microsoft.com/office/drawing/2014/main" id="{07EFB1A7-51B9-A3EB-86E4-0C0F6337BDB9}"/>
              </a:ext>
            </a:extLst>
          </p:cNvPr>
          <p:cNvSpPr txBox="1"/>
          <p:nvPr/>
        </p:nvSpPr>
        <p:spPr>
          <a:xfrm>
            <a:off x="136078" y="658291"/>
            <a:ext cx="4204138" cy="954107"/>
          </a:xfrm>
          <a:prstGeom prst="rect">
            <a:avLst/>
          </a:prstGeom>
          <a:noFill/>
        </p:spPr>
        <p:txBody>
          <a:bodyPr wrap="square" rtlCol="0">
            <a:spAutoFit/>
          </a:bodyPr>
          <a:lstStyle/>
          <a:p>
            <a:pPr marL="119063" indent="-119063">
              <a:buFont typeface="Arial" panose="020B0604020202020204" pitchFamily="34" charset="0"/>
              <a:buChar char="•"/>
            </a:pPr>
            <a:r>
              <a:rPr lang="en-US" sz="1400" dirty="0">
                <a:hlinkClick r:id="rId2"/>
              </a:rPr>
              <a:t>https://www.youtube.com/watch?v=FwDi80FUzXU</a:t>
            </a:r>
            <a:endParaRPr lang="en-US" sz="1400" dirty="0"/>
          </a:p>
          <a:p>
            <a:pPr marL="119063" indent="-119063">
              <a:buFont typeface="Arial" panose="020B0604020202020204" pitchFamily="34" charset="0"/>
              <a:buChar char="•"/>
            </a:pPr>
            <a:r>
              <a:rPr lang="en-US" sz="1400" dirty="0">
                <a:hlinkClick r:id="rId3"/>
              </a:rPr>
              <a:t>https://</a:t>
            </a:r>
            <a:r>
              <a:rPr lang="en-US" sz="1400" dirty="0" err="1">
                <a:hlinkClick r:id="rId3"/>
              </a:rPr>
              <a:t>www.littlebuckloader.com</a:t>
            </a:r>
            <a:endParaRPr lang="en-US" sz="1400" dirty="0"/>
          </a:p>
          <a:p>
            <a:pPr marL="119063" indent="-119063">
              <a:buFont typeface="Arial" panose="020B0604020202020204" pitchFamily="34" charset="0"/>
              <a:buChar char="•"/>
            </a:pPr>
            <a:r>
              <a:rPr lang="en-US" sz="1400" dirty="0">
                <a:hlinkClick r:id="rId4"/>
              </a:rPr>
              <a:t>https://www.littlebuckloader.com/shop/p/little-bull-loader-front-end-loader-john-deere</a:t>
            </a:r>
            <a:endParaRPr lang="en-US" sz="1400" dirty="0"/>
          </a:p>
        </p:txBody>
      </p:sp>
      <p:pic>
        <p:nvPicPr>
          <p:cNvPr id="1026" name="Picture 2" descr="Profile for Little Buck Loader">
            <a:extLst>
              <a:ext uri="{FF2B5EF4-FFF2-40B4-BE49-F238E27FC236}">
                <a16:creationId xmlns:a16="http://schemas.microsoft.com/office/drawing/2014/main" id="{9D636D97-4788-D26B-1566-93F4940D3877}"/>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464988" y="636454"/>
            <a:ext cx="3492500" cy="2324100"/>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pic>
        <p:nvPicPr>
          <p:cNvPr id="1028" name="Picture 4" descr="Little Buck Loader - Little Buck Loader is fun for the whole family 😎  &quot;Another satisfied customer! We have already used it extensively. My wife  even commented on how nice it is">
            <a:extLst>
              <a:ext uri="{FF2B5EF4-FFF2-40B4-BE49-F238E27FC236}">
                <a16:creationId xmlns:a16="http://schemas.microsoft.com/office/drawing/2014/main" id="{66D70884-FABE-9F51-0FAA-30187CD62999}"/>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6464988" y="3122517"/>
            <a:ext cx="3289300" cy="2463800"/>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pic>
        <p:nvPicPr>
          <p:cNvPr id="1030" name="Picture 6" descr="Why use a shovel if you have a Little Buck Loader? - YouTube">
            <a:extLst>
              <a:ext uri="{FF2B5EF4-FFF2-40B4-BE49-F238E27FC236}">
                <a16:creationId xmlns:a16="http://schemas.microsoft.com/office/drawing/2014/main" id="{8AF60716-CCF5-5D8F-B664-7014B7AD5530}"/>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2459707" y="4688136"/>
            <a:ext cx="3797300" cy="2133600"/>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D62CC0B6-167D-C521-0401-BB5E046D217D}"/>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214399" y="1942411"/>
            <a:ext cx="4207099" cy="2133600"/>
          </a:xfrm>
          <a:prstGeom prst="rect">
            <a:avLst/>
          </a:prstGeom>
          <a:ln>
            <a:solidFill>
              <a:srgbClr val="FF0000"/>
            </a:solidFill>
          </a:ln>
        </p:spPr>
      </p:pic>
      <p:sp>
        <p:nvSpPr>
          <p:cNvPr id="9" name="TextBox 8">
            <a:extLst>
              <a:ext uri="{FF2B5EF4-FFF2-40B4-BE49-F238E27FC236}">
                <a16:creationId xmlns:a16="http://schemas.microsoft.com/office/drawing/2014/main" id="{B70A6CF7-8FFD-665B-3FBA-0A3C68ABF04D}"/>
              </a:ext>
            </a:extLst>
          </p:cNvPr>
          <p:cNvSpPr txBox="1"/>
          <p:nvPr/>
        </p:nvSpPr>
        <p:spPr>
          <a:xfrm>
            <a:off x="4723170" y="523220"/>
            <a:ext cx="1358864" cy="307777"/>
          </a:xfrm>
          <a:prstGeom prst="rect">
            <a:avLst/>
          </a:prstGeom>
          <a:noFill/>
        </p:spPr>
        <p:txBody>
          <a:bodyPr wrap="square" rtlCol="0">
            <a:spAutoFit/>
          </a:bodyPr>
          <a:lstStyle/>
          <a:p>
            <a:r>
              <a:rPr lang="en-US" sz="1400" dirty="0"/>
              <a:t>PRICE: $3,300</a:t>
            </a:r>
          </a:p>
        </p:txBody>
      </p:sp>
    </p:spTree>
    <p:extLst>
      <p:ext uri="{BB962C8B-B14F-4D97-AF65-F5344CB8AC3E}">
        <p14:creationId xmlns:p14="http://schemas.microsoft.com/office/powerpoint/2010/main" val="3901153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223367" y="204767"/>
            <a:ext cx="4262400" cy="475914"/>
          </a:xfrm>
          <a:prstGeom prst="rect">
            <a:avLst/>
          </a:prstGeom>
          <a:noFill/>
          <a:ln>
            <a:noFill/>
          </a:ln>
        </p:spPr>
        <p:txBody>
          <a:bodyPr spcFirstLastPara="1" wrap="square" lIns="12167" tIns="12167" rIns="12167" bIns="12167" anchor="t" anchorCtr="0">
            <a:spAutoFit/>
          </a:bodyPr>
          <a:lstStyle/>
          <a:p>
            <a:r>
              <a:rPr lang="en" sz="2933" b="1">
                <a:solidFill>
                  <a:schemeClr val="dk2"/>
                </a:solidFill>
                <a:latin typeface="Calibri"/>
                <a:ea typeface="Calibri"/>
                <a:cs typeface="Calibri"/>
                <a:sym typeface="Calibri"/>
              </a:rPr>
              <a:t>Tractor Not Starting</a:t>
            </a:r>
            <a:endParaRPr sz="2933" b="1">
              <a:solidFill>
                <a:schemeClr val="dk2"/>
              </a:solidFill>
              <a:latin typeface="Calibri"/>
              <a:ea typeface="Calibri"/>
              <a:cs typeface="Calibri"/>
              <a:sym typeface="Calibri"/>
            </a:endParaRPr>
          </a:p>
        </p:txBody>
      </p:sp>
      <p:sp>
        <p:nvSpPr>
          <p:cNvPr id="55" name="Google Shape;55;p13"/>
          <p:cNvSpPr txBox="1"/>
          <p:nvPr/>
        </p:nvSpPr>
        <p:spPr>
          <a:xfrm>
            <a:off x="83667" y="768033"/>
            <a:ext cx="5840000" cy="386261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2167" tIns="12167" rIns="12167" bIns="12167" anchor="t" anchorCtr="0">
            <a:spAutoFit/>
          </a:bodyPr>
          <a:lstStyle/>
          <a:p>
            <a:r>
              <a:rPr lang="en" sz="1467" b="1">
                <a:solidFill>
                  <a:srgbClr val="FF0000"/>
                </a:solidFill>
                <a:latin typeface="Calibri"/>
                <a:ea typeface="Calibri"/>
                <a:cs typeface="Calibri"/>
                <a:sym typeface="Calibri"/>
              </a:rPr>
              <a:t>Most common reasons a JD 425 won’t start after 8 months:</a:t>
            </a:r>
            <a:endParaRPr sz="1467" b="1">
              <a:solidFill>
                <a:srgbClr val="FF0000"/>
              </a:solidFill>
              <a:latin typeface="Calibri"/>
              <a:ea typeface="Calibri"/>
              <a:cs typeface="Calibri"/>
              <a:sym typeface="Calibri"/>
            </a:endParaRPr>
          </a:p>
          <a:p>
            <a:pPr marL="228594" indent="-169329">
              <a:buClr>
                <a:schemeClr val="dk2"/>
              </a:buClr>
              <a:buSzPts val="1100"/>
              <a:buFont typeface="Calibri"/>
              <a:buChar char="●"/>
            </a:pPr>
            <a:r>
              <a:rPr lang="en" sz="1467">
                <a:solidFill>
                  <a:schemeClr val="dk2"/>
                </a:solidFill>
                <a:latin typeface="Calibri"/>
                <a:ea typeface="Calibri"/>
                <a:cs typeface="Calibri"/>
                <a:sym typeface="Calibri"/>
              </a:rPr>
              <a:t>1. Old/stale gas - Drain tank and carb, refill with fresh fuel + stabilizer</a:t>
            </a:r>
            <a:endParaRPr sz="1467">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a:solidFill>
                  <a:schemeClr val="dk2"/>
                </a:solidFill>
                <a:latin typeface="Calibri"/>
                <a:ea typeface="Calibri"/>
                <a:cs typeface="Calibri"/>
                <a:sym typeface="Calibri"/>
              </a:rPr>
              <a:t>2. Gummed carburetor - remove carb, clean jets and passages with carb cleaner/compressed air</a:t>
            </a:r>
            <a:endParaRPr sz="1467">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a:solidFill>
                  <a:schemeClr val="dk2"/>
                </a:solidFill>
                <a:latin typeface="Calibri"/>
                <a:ea typeface="Calibri"/>
                <a:cs typeface="Calibri"/>
                <a:sym typeface="Calibri"/>
              </a:rPr>
              <a:t>3. Weak battery, sulfated contacts - cldan, charge, test</a:t>
            </a:r>
            <a:endParaRPr sz="1467">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a:solidFill>
                  <a:schemeClr val="dk2"/>
                </a:solidFill>
                <a:latin typeface="Calibri"/>
                <a:ea typeface="Calibri"/>
                <a:cs typeface="Calibri"/>
                <a:sym typeface="Calibri"/>
              </a:rPr>
              <a:t>4. Corroded/loose battery cables/grounds - wire‑brush clean, tighten</a:t>
            </a:r>
            <a:endParaRPr sz="1467">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a:solidFill>
                  <a:schemeClr val="dk2"/>
                </a:solidFill>
                <a:latin typeface="Calibri"/>
                <a:ea typeface="Calibri"/>
                <a:cs typeface="Calibri"/>
                <a:sym typeface="Calibri"/>
              </a:rPr>
              <a:t>5. Fuel shutoff/line/filter restriction - open shutoff, replace fuel filter,  inspect/replace cracked or collapsed lines,</a:t>
            </a:r>
            <a:br>
              <a:rPr lang="en" sz="1467">
                <a:solidFill>
                  <a:schemeClr val="dk2"/>
                </a:solidFill>
                <a:latin typeface="Calibri"/>
                <a:ea typeface="Calibri"/>
                <a:cs typeface="Calibri"/>
                <a:sym typeface="Calibri"/>
              </a:rPr>
            </a:br>
            <a:r>
              <a:rPr lang="en" sz="1467">
                <a:solidFill>
                  <a:schemeClr val="dk2"/>
                </a:solidFill>
                <a:latin typeface="Calibri"/>
                <a:ea typeface="Calibri"/>
                <a:cs typeface="Calibri"/>
                <a:sym typeface="Calibri"/>
              </a:rPr>
              <a:t>carburetor's fuel cut-off solenoid failing to retract properly</a:t>
            </a:r>
            <a:endParaRPr sz="1467">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a:solidFill>
                  <a:schemeClr val="dk2"/>
                </a:solidFill>
                <a:latin typeface="Calibri"/>
                <a:ea typeface="Calibri"/>
                <a:cs typeface="Calibri"/>
                <a:sym typeface="Calibri"/>
              </a:rPr>
              <a:t>6. Choke/throttle or linkage issue - verify correct positions, </a:t>
            </a:r>
            <a:br>
              <a:rPr lang="en" sz="1467">
                <a:solidFill>
                  <a:schemeClr val="dk2"/>
                </a:solidFill>
                <a:latin typeface="Calibri"/>
                <a:ea typeface="Calibri"/>
                <a:cs typeface="Calibri"/>
                <a:sym typeface="Calibri"/>
              </a:rPr>
            </a:br>
            <a:r>
              <a:rPr lang="en" sz="1467">
                <a:solidFill>
                  <a:schemeClr val="dk2"/>
                </a:solidFill>
                <a:latin typeface="Calibri"/>
                <a:ea typeface="Calibri"/>
                <a:cs typeface="Calibri"/>
                <a:sym typeface="Calibri"/>
              </a:rPr>
              <a:t>lube linkages, adjust/repair cables as needed</a:t>
            </a:r>
            <a:endParaRPr sz="1467">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a:solidFill>
                  <a:schemeClr val="dk2"/>
                </a:solidFill>
                <a:latin typeface="Calibri"/>
                <a:ea typeface="Calibri"/>
                <a:cs typeface="Calibri"/>
                <a:sym typeface="Calibri"/>
              </a:rPr>
              <a:t>7. Fouled/worn spark plugs - clean or install new</a:t>
            </a:r>
            <a:endParaRPr sz="1467">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a:solidFill>
                  <a:schemeClr val="dk2"/>
                </a:solidFill>
                <a:latin typeface="Calibri"/>
                <a:ea typeface="Calibri"/>
                <a:cs typeface="Calibri"/>
                <a:sym typeface="Calibri"/>
              </a:rPr>
              <a:t>8. Ignition or safety interlock issue - check fuses, test/bypass safety switches or wiring, time-delay module, ignitor (CDI/ignition module), Ignition switch module, ...</a:t>
            </a:r>
            <a:endParaRPr sz="1467">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a:solidFill>
                  <a:schemeClr val="dk2"/>
                </a:solidFill>
                <a:latin typeface="Calibri"/>
                <a:ea typeface="Calibri"/>
                <a:cs typeface="Calibri"/>
                <a:sym typeface="Calibri"/>
              </a:rPr>
              <a:t>9. Air intake or filter blocked - clean</a:t>
            </a:r>
            <a:endParaRPr sz="1467">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a:solidFill>
                  <a:schemeClr val="dk2"/>
                </a:solidFill>
                <a:latin typeface="Calibri"/>
                <a:ea typeface="Calibri"/>
                <a:cs typeface="Calibri"/>
                <a:sym typeface="Calibri"/>
              </a:rPr>
              <a:t>10. Rodent‑damaged wiring, fuse, or switch - inspect, check/replace</a:t>
            </a:r>
            <a:endParaRPr sz="1467">
              <a:solidFill>
                <a:schemeClr val="dk2"/>
              </a:solidFill>
              <a:latin typeface="Calibri"/>
              <a:ea typeface="Calibri"/>
              <a:cs typeface="Calibri"/>
              <a:sym typeface="Calibri"/>
            </a:endParaRPr>
          </a:p>
        </p:txBody>
      </p:sp>
      <p:sp>
        <p:nvSpPr>
          <p:cNvPr id="56" name="Google Shape;56;p13"/>
          <p:cNvSpPr txBox="1"/>
          <p:nvPr/>
        </p:nvSpPr>
        <p:spPr>
          <a:xfrm>
            <a:off x="7092033" y="133968"/>
            <a:ext cx="5021600" cy="1379173"/>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2167" tIns="12167" rIns="12167" bIns="12167" anchor="t" anchorCtr="0">
            <a:spAutoFit/>
          </a:bodyPr>
          <a:lstStyle/>
          <a:p>
            <a:pPr marL="228594" indent="-169329">
              <a:buClr>
                <a:srgbClr val="FF0000"/>
              </a:buClr>
              <a:buSzPts val="1100"/>
              <a:buFont typeface="Calibri"/>
              <a:buChar char="●"/>
            </a:pPr>
            <a:r>
              <a:rPr lang="en" sz="1467" b="1">
                <a:solidFill>
                  <a:srgbClr val="FF0000"/>
                </a:solidFill>
                <a:latin typeface="Calibri"/>
                <a:ea typeface="Calibri"/>
                <a:cs typeface="Calibri"/>
                <a:sym typeface="Calibri"/>
              </a:rPr>
              <a:t>Using starting fluid</a:t>
            </a:r>
            <a:endParaRPr sz="1467" b="1">
              <a:solidFill>
                <a:srgbClr val="FF0000"/>
              </a:solidFill>
              <a:latin typeface="Calibri"/>
              <a:ea typeface="Calibri"/>
              <a:cs typeface="Calibri"/>
              <a:sym typeface="Calibri"/>
            </a:endParaRPr>
          </a:p>
          <a:p>
            <a:pPr marL="228594" indent="-169329">
              <a:buClr>
                <a:schemeClr val="dk2"/>
              </a:buClr>
              <a:buSzPts val="1100"/>
              <a:buFont typeface="Calibri"/>
              <a:buChar char="●"/>
            </a:pPr>
            <a:r>
              <a:rPr lang="en" sz="1467">
                <a:solidFill>
                  <a:schemeClr val="dk2"/>
                </a:solidFill>
                <a:latin typeface="Calibri"/>
                <a:ea typeface="Calibri"/>
                <a:cs typeface="Calibri"/>
                <a:sym typeface="Calibri"/>
              </a:rPr>
              <a:t>Spray starting fluid for 2-3 sec into air intake (remove filter) - and then try to start. </a:t>
            </a:r>
            <a:endParaRPr sz="1467">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a:solidFill>
                  <a:schemeClr val="dk2"/>
                </a:solidFill>
                <a:latin typeface="Calibri"/>
                <a:ea typeface="Calibri"/>
                <a:cs typeface="Calibri"/>
                <a:sym typeface="Calibri"/>
              </a:rPr>
              <a:t>If it starts briefly and dies, that’s a strong sign you have a fuel delivery problem (carb, fuel line, filter, or stale gas) rather than an ignition problem</a:t>
            </a:r>
            <a:endParaRPr sz="1467">
              <a:solidFill>
                <a:schemeClr val="dk2"/>
              </a:solidFill>
              <a:latin typeface="Calibri"/>
              <a:ea typeface="Calibri"/>
              <a:cs typeface="Calibri"/>
              <a:sym typeface="Calibri"/>
            </a:endParaRPr>
          </a:p>
        </p:txBody>
      </p:sp>
      <p:sp>
        <p:nvSpPr>
          <p:cNvPr id="57" name="Google Shape;57;p13"/>
          <p:cNvSpPr txBox="1"/>
          <p:nvPr/>
        </p:nvSpPr>
        <p:spPr>
          <a:xfrm>
            <a:off x="7092033" y="1569068"/>
            <a:ext cx="5021600" cy="927639"/>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2167" tIns="12167" rIns="12167" bIns="12167" anchor="t" anchorCtr="0">
            <a:spAutoFit/>
          </a:bodyPr>
          <a:lstStyle/>
          <a:p>
            <a:pPr marL="228594" indent="-169329">
              <a:buClr>
                <a:schemeClr val="dk2"/>
              </a:buClr>
              <a:buSzPts val="1100"/>
              <a:buFont typeface="Calibri"/>
              <a:buChar char="●"/>
            </a:pPr>
            <a:r>
              <a:rPr lang="en" sz="1467">
                <a:solidFill>
                  <a:schemeClr val="dk2"/>
                </a:solidFill>
                <a:latin typeface="Calibri"/>
                <a:ea typeface="Calibri"/>
                <a:cs typeface="Calibri"/>
                <a:sym typeface="Calibri"/>
              </a:rPr>
              <a:t>No spark - change the "time-delay" module - provides buffer time delay to avoid shutting off from inconsistent contacts</a:t>
            </a:r>
            <a:endParaRPr sz="1467">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u="sng">
                <a:solidFill>
                  <a:schemeClr val="hlink"/>
                </a:solidFill>
                <a:latin typeface="Calibri"/>
                <a:ea typeface="Calibri"/>
                <a:cs typeface="Calibri"/>
                <a:sym typeface="Calibri"/>
                <a:hlinkClick r:id="rId3"/>
              </a:rPr>
              <a:t>https://www.youtube.com/watch?v=AzRyIVRD-zQ</a:t>
            </a:r>
            <a:r>
              <a:rPr lang="en" sz="1467">
                <a:solidFill>
                  <a:schemeClr val="dk2"/>
                </a:solidFill>
                <a:latin typeface="Calibri"/>
                <a:ea typeface="Calibri"/>
                <a:cs typeface="Calibri"/>
                <a:sym typeface="Calibri"/>
              </a:rPr>
              <a:t> </a:t>
            </a:r>
            <a:endParaRPr sz="1467">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u="sng">
                <a:solidFill>
                  <a:schemeClr val="hlink"/>
                </a:solidFill>
                <a:latin typeface="Calibri"/>
                <a:ea typeface="Calibri"/>
                <a:cs typeface="Calibri"/>
                <a:sym typeface="Calibri"/>
                <a:hlinkClick r:id="rId4"/>
              </a:rPr>
              <a:t>https://www.amazon.com/dp/B07VPC328F</a:t>
            </a:r>
            <a:r>
              <a:rPr lang="en" sz="1467">
                <a:solidFill>
                  <a:schemeClr val="dk2"/>
                </a:solidFill>
                <a:latin typeface="Calibri"/>
                <a:ea typeface="Calibri"/>
                <a:cs typeface="Calibri"/>
                <a:sym typeface="Calibri"/>
              </a:rPr>
              <a:t> - amazon $14</a:t>
            </a:r>
            <a:endParaRPr sz="1467">
              <a:solidFill>
                <a:schemeClr val="dk2"/>
              </a:solidFill>
              <a:latin typeface="Calibri"/>
              <a:ea typeface="Calibri"/>
              <a:cs typeface="Calibri"/>
              <a:sym typeface="Calibri"/>
            </a:endParaRPr>
          </a:p>
        </p:txBody>
      </p:sp>
      <p:sp>
        <p:nvSpPr>
          <p:cNvPr id="58" name="Google Shape;58;p13"/>
          <p:cNvSpPr txBox="1"/>
          <p:nvPr/>
        </p:nvSpPr>
        <p:spPr>
          <a:xfrm>
            <a:off x="7092033" y="2648099"/>
            <a:ext cx="5021600" cy="1153407"/>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2167" tIns="12167" rIns="12167" bIns="12167" anchor="t" anchorCtr="0">
            <a:spAutoFit/>
          </a:bodyPr>
          <a:lstStyle/>
          <a:p>
            <a:pPr marL="228594" indent="-169329">
              <a:buClr>
                <a:srgbClr val="FF0000"/>
              </a:buClr>
              <a:buSzPts val="1100"/>
              <a:buFont typeface="Calibri"/>
              <a:buChar char="●"/>
            </a:pPr>
            <a:r>
              <a:rPr lang="en" sz="1467" b="1">
                <a:solidFill>
                  <a:srgbClr val="FF0000"/>
                </a:solidFill>
                <a:latin typeface="Calibri"/>
                <a:ea typeface="Calibri"/>
                <a:cs typeface="Calibri"/>
                <a:sym typeface="Calibri"/>
              </a:rPr>
              <a:t>Bought on amazon:</a:t>
            </a:r>
            <a:endParaRPr sz="1467" b="1">
              <a:solidFill>
                <a:srgbClr val="FF0000"/>
              </a:solidFill>
              <a:latin typeface="Calibri"/>
              <a:ea typeface="Calibri"/>
              <a:cs typeface="Calibri"/>
              <a:sym typeface="Calibri"/>
            </a:endParaRPr>
          </a:p>
          <a:p>
            <a:pPr marL="228594" indent="-169329">
              <a:buClr>
                <a:schemeClr val="dk2"/>
              </a:buClr>
              <a:buSzPts val="1100"/>
              <a:buFont typeface="Calibri"/>
              <a:buChar char="●"/>
            </a:pPr>
            <a:r>
              <a:rPr lang="en" sz="1467">
                <a:solidFill>
                  <a:schemeClr val="dk2"/>
                </a:solidFill>
                <a:latin typeface="Calibri"/>
                <a:ea typeface="Calibri"/>
                <a:cs typeface="Calibri"/>
                <a:sym typeface="Calibri"/>
              </a:rPr>
              <a:t>Lisle 20580 InLine Spark Tester w/Coil On Plug Wire</a:t>
            </a:r>
            <a:endParaRPr sz="1467">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a:solidFill>
                  <a:schemeClr val="dk2"/>
                </a:solidFill>
                <a:latin typeface="Calibri"/>
                <a:ea typeface="Calibri"/>
                <a:cs typeface="Calibri"/>
                <a:sym typeface="Calibri"/>
              </a:rPr>
              <a:t>Carb and Choke Cleaner Jet Spray  (spray can)</a:t>
            </a:r>
            <a:endParaRPr sz="1467">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a:solidFill>
                  <a:schemeClr val="dk2"/>
                </a:solidFill>
                <a:latin typeface="Calibri"/>
                <a:ea typeface="Calibri"/>
                <a:cs typeface="Calibri"/>
                <a:sym typeface="Calibri"/>
              </a:rPr>
              <a:t>STA-BIL Starting Fluid (spray can)</a:t>
            </a:r>
            <a:endParaRPr sz="1467">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a:solidFill>
                  <a:schemeClr val="dk2"/>
                </a:solidFill>
                <a:latin typeface="Calibri"/>
                <a:ea typeface="Calibri"/>
                <a:cs typeface="Calibri"/>
                <a:sym typeface="Calibri"/>
              </a:rPr>
              <a:t>Ethanol Shield Fuel Stabilizer</a:t>
            </a:r>
            <a:endParaRPr sz="1467">
              <a:solidFill>
                <a:schemeClr val="dk2"/>
              </a:solidFill>
              <a:latin typeface="Calibri"/>
              <a:ea typeface="Calibri"/>
              <a:cs typeface="Calibri"/>
              <a:sym typeface="Calibri"/>
            </a:endParaRPr>
          </a:p>
        </p:txBody>
      </p:sp>
      <p:sp>
        <p:nvSpPr>
          <p:cNvPr id="59" name="Google Shape;59;p13"/>
          <p:cNvSpPr txBox="1"/>
          <p:nvPr/>
        </p:nvSpPr>
        <p:spPr>
          <a:xfrm>
            <a:off x="6891367" y="4219718"/>
            <a:ext cx="5222400" cy="2282241"/>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2167" tIns="12167" rIns="12167" bIns="12167" anchor="t" anchorCtr="0">
            <a:spAutoFit/>
          </a:bodyPr>
          <a:lstStyle/>
          <a:p>
            <a:pPr marL="228594" indent="-169329">
              <a:buClr>
                <a:srgbClr val="FF0000"/>
              </a:buClr>
              <a:buSzPts val="1100"/>
              <a:buFont typeface="Calibri"/>
              <a:buChar char="●"/>
            </a:pPr>
            <a:r>
              <a:rPr lang="en" sz="1467" b="1">
                <a:solidFill>
                  <a:srgbClr val="FF0000"/>
                </a:solidFill>
                <a:latin typeface="Calibri"/>
                <a:ea typeface="Calibri"/>
                <a:cs typeface="Calibri"/>
                <a:sym typeface="Calibri"/>
              </a:rPr>
              <a:t>How to prepare JD-425 for storage:</a:t>
            </a:r>
            <a:endParaRPr sz="1467" b="1">
              <a:solidFill>
                <a:srgbClr val="FF0000"/>
              </a:solidFill>
              <a:latin typeface="Calibri"/>
              <a:ea typeface="Calibri"/>
              <a:cs typeface="Calibri"/>
              <a:sym typeface="Calibri"/>
            </a:endParaRPr>
          </a:p>
          <a:p>
            <a:pPr marL="228594" indent="-169329">
              <a:buClr>
                <a:schemeClr val="dk2"/>
              </a:buClr>
              <a:buSzPts val="1100"/>
              <a:buFont typeface="Calibri"/>
              <a:buChar char="●"/>
            </a:pPr>
            <a:r>
              <a:rPr lang="en" sz="1467">
                <a:solidFill>
                  <a:schemeClr val="dk2"/>
                </a:solidFill>
                <a:latin typeface="Calibri"/>
                <a:ea typeface="Calibri"/>
                <a:cs typeface="Calibri"/>
                <a:sym typeface="Calibri"/>
              </a:rPr>
              <a:t>Add fuel stabilizer (</a:t>
            </a:r>
            <a:r>
              <a:rPr lang="en" sz="1467" b="1">
                <a:solidFill>
                  <a:srgbClr val="FF0000"/>
                </a:solidFill>
                <a:latin typeface="Calibri"/>
                <a:ea typeface="Calibri"/>
                <a:cs typeface="Calibri"/>
                <a:sym typeface="Calibri"/>
              </a:rPr>
              <a:t>"Ethanol Shield"</a:t>
            </a:r>
            <a:r>
              <a:rPr lang="en" sz="1467">
                <a:solidFill>
                  <a:schemeClr val="dk2"/>
                </a:solidFill>
                <a:latin typeface="Calibri"/>
                <a:ea typeface="Calibri"/>
                <a:cs typeface="Calibri"/>
                <a:sym typeface="Calibri"/>
              </a:rPr>
              <a:t>, 1oz/gal) to fresh gas before late‑season use - and run 5–10 min to pull treated fuel into carb.</a:t>
            </a:r>
            <a:endParaRPr sz="1467">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a:solidFill>
                  <a:schemeClr val="dk2"/>
                </a:solidFill>
                <a:latin typeface="Calibri"/>
                <a:ea typeface="Calibri"/>
                <a:cs typeface="Calibri"/>
                <a:sym typeface="Calibri"/>
              </a:rPr>
              <a:t>Store tractor with tank either full of stabilized fuel or completely empty (avoid half‑full)</a:t>
            </a:r>
            <a:endParaRPr sz="1467">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b="1">
                <a:solidFill>
                  <a:srgbClr val="FF0000"/>
                </a:solidFill>
                <a:latin typeface="Calibri"/>
                <a:ea typeface="Calibri"/>
                <a:cs typeface="Calibri"/>
                <a:sym typeface="Calibri"/>
              </a:rPr>
              <a:t>Close fuel shutoff valve (small manual valve next to the fuel filter on the right side of the engine)</a:t>
            </a:r>
            <a:r>
              <a:rPr lang="en" sz="1467">
                <a:solidFill>
                  <a:schemeClr val="dk2"/>
                </a:solidFill>
                <a:latin typeface="Calibri"/>
                <a:ea typeface="Calibri"/>
                <a:cs typeface="Calibri"/>
                <a:sym typeface="Calibri"/>
              </a:rPr>
              <a:t> - and run engine until it dies (carb runs dry)</a:t>
            </a:r>
            <a:endParaRPr sz="1467">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a:solidFill>
                  <a:schemeClr val="dk2"/>
                </a:solidFill>
                <a:latin typeface="Calibri"/>
                <a:ea typeface="Calibri"/>
                <a:cs typeface="Calibri"/>
                <a:sym typeface="Calibri"/>
              </a:rPr>
              <a:t>At spring startup, use fresh fuel again and crack the bowl drain or tap carb to ensure free float/needle.</a:t>
            </a:r>
            <a:endParaRPr sz="1467">
              <a:solidFill>
                <a:schemeClr val="dk2"/>
              </a:solidFill>
              <a:latin typeface="Calibri"/>
              <a:ea typeface="Calibri"/>
              <a:cs typeface="Calibri"/>
              <a:sym typeface="Calibri"/>
            </a:endParaRPr>
          </a:p>
        </p:txBody>
      </p:sp>
      <p:pic>
        <p:nvPicPr>
          <p:cNvPr id="60" name="Google Shape;60;p1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83667" y="4830733"/>
            <a:ext cx="2570755" cy="1928067"/>
          </a:xfrm>
          <a:prstGeom prst="rect">
            <a:avLst/>
          </a:prstGeom>
          <a:noFill/>
          <a:ln w="9525" cap="flat" cmpd="sng">
            <a:solidFill>
              <a:srgbClr val="FF0000"/>
            </a:solidFill>
            <a:prstDash val="solid"/>
            <a:round/>
            <a:headEnd type="none" w="sm" len="sm"/>
            <a:tailEnd type="none" w="sm" len="sm"/>
          </a:ln>
        </p:spPr>
      </p:pic>
      <p:pic>
        <p:nvPicPr>
          <p:cNvPr id="61" name="Google Shape;61;p1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3176434" y="4830725"/>
            <a:ext cx="2570765" cy="1928075"/>
          </a:xfrm>
          <a:prstGeom prst="rect">
            <a:avLst/>
          </a:prstGeom>
          <a:noFill/>
          <a:ln w="9525" cap="flat" cmpd="sng">
            <a:solidFill>
              <a:srgbClr val="FF0000"/>
            </a:solidFill>
            <a:prstDash val="solid"/>
            <a:round/>
            <a:headEnd type="none" w="sm" len="sm"/>
            <a:tailEnd type="none" w="sm" len="sm"/>
          </a:ln>
        </p:spPr>
      </p:pic>
      <p:pic>
        <p:nvPicPr>
          <p:cNvPr id="62" name="Google Shape;62;p13"/>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656108" y="2291669"/>
            <a:ext cx="1313585" cy="192806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p:nvPr/>
        </p:nvSpPr>
        <p:spPr>
          <a:xfrm>
            <a:off x="223367" y="204767"/>
            <a:ext cx="4262400" cy="475914"/>
          </a:xfrm>
          <a:prstGeom prst="rect">
            <a:avLst/>
          </a:prstGeom>
          <a:noFill/>
          <a:ln>
            <a:noFill/>
          </a:ln>
        </p:spPr>
        <p:txBody>
          <a:bodyPr spcFirstLastPara="1" wrap="square" lIns="12167" tIns="12167" rIns="12167" bIns="12167" anchor="t" anchorCtr="0">
            <a:spAutoFit/>
          </a:bodyPr>
          <a:lstStyle/>
          <a:p>
            <a:r>
              <a:rPr lang="en" sz="2933" b="1">
                <a:solidFill>
                  <a:schemeClr val="dk2"/>
                </a:solidFill>
                <a:latin typeface="Calibri"/>
                <a:ea typeface="Calibri"/>
                <a:cs typeface="Calibri"/>
                <a:sym typeface="Calibri"/>
              </a:rPr>
              <a:t>Which Stabilizer to use?</a:t>
            </a:r>
            <a:endParaRPr sz="2933" b="1">
              <a:solidFill>
                <a:schemeClr val="dk2"/>
              </a:solidFill>
              <a:latin typeface="Calibri"/>
              <a:ea typeface="Calibri"/>
              <a:cs typeface="Calibri"/>
              <a:sym typeface="Calibri"/>
            </a:endParaRPr>
          </a:p>
        </p:txBody>
      </p:sp>
      <p:sp>
        <p:nvSpPr>
          <p:cNvPr id="68" name="Google Shape;68;p14"/>
          <p:cNvSpPr txBox="1"/>
          <p:nvPr/>
        </p:nvSpPr>
        <p:spPr>
          <a:xfrm>
            <a:off x="135367" y="4369701"/>
            <a:ext cx="4262400" cy="2056475"/>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2167" tIns="12167" rIns="12167" bIns="12167" anchor="t" anchorCtr="0">
            <a:spAutoFit/>
          </a:bodyPr>
          <a:lstStyle/>
          <a:p>
            <a:r>
              <a:rPr lang="en" sz="1467" b="1">
                <a:solidFill>
                  <a:schemeClr val="dk2"/>
                </a:solidFill>
                <a:latin typeface="Calibri"/>
                <a:ea typeface="Calibri"/>
                <a:cs typeface="Calibri"/>
                <a:sym typeface="Calibri"/>
              </a:rPr>
              <a:t>Which Stabilizer to use?</a:t>
            </a:r>
            <a:endParaRPr sz="1467" b="1">
              <a:solidFill>
                <a:schemeClr val="dk2"/>
              </a:solidFill>
              <a:latin typeface="Calibri"/>
              <a:ea typeface="Calibri"/>
              <a:cs typeface="Calibri"/>
              <a:sym typeface="Calibri"/>
            </a:endParaRPr>
          </a:p>
          <a:p>
            <a:pPr marL="228594" indent="-169329">
              <a:buClr>
                <a:srgbClr val="FF0000"/>
              </a:buClr>
              <a:buSzPts val="1100"/>
              <a:buFont typeface="Calibri"/>
              <a:buChar char="●"/>
            </a:pPr>
            <a:r>
              <a:rPr lang="en" sz="1467" b="1">
                <a:solidFill>
                  <a:srgbClr val="FF0000"/>
                </a:solidFill>
                <a:latin typeface="Calibri"/>
                <a:ea typeface="Calibri"/>
                <a:cs typeface="Calibri"/>
                <a:sym typeface="Calibri"/>
              </a:rPr>
              <a:t>Ethanol Shield</a:t>
            </a:r>
            <a:endParaRPr sz="1467" b="1">
              <a:solidFill>
                <a:srgbClr val="FF0000"/>
              </a:solidFill>
              <a:latin typeface="Calibri"/>
              <a:ea typeface="Calibri"/>
              <a:cs typeface="Calibri"/>
              <a:sym typeface="Calibri"/>
            </a:endParaRPr>
          </a:p>
          <a:p>
            <a:pPr marL="228594" indent="-169329">
              <a:buClr>
                <a:schemeClr val="dk2"/>
              </a:buClr>
              <a:buSzPts val="1100"/>
              <a:buFont typeface="Calibri"/>
              <a:buChar char="●"/>
            </a:pPr>
            <a:r>
              <a:rPr lang="en" sz="1467" b="1">
                <a:solidFill>
                  <a:schemeClr val="dk2"/>
                </a:solidFill>
                <a:latin typeface="Calibri"/>
                <a:ea typeface="Calibri"/>
                <a:cs typeface="Calibri"/>
                <a:sym typeface="Calibri"/>
              </a:rPr>
              <a:t>STA‑BIL </a:t>
            </a:r>
            <a:r>
              <a:rPr lang="en" sz="1467">
                <a:solidFill>
                  <a:schemeClr val="dk2"/>
                </a:solidFill>
                <a:latin typeface="Calibri"/>
                <a:ea typeface="Calibri"/>
                <a:cs typeface="Calibri"/>
                <a:sym typeface="Calibri"/>
              </a:rPr>
              <a:t>Storage Fuel Stabilizer - not recommended</a:t>
            </a:r>
            <a:endParaRPr sz="1467">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b="1">
                <a:solidFill>
                  <a:schemeClr val="dk2"/>
                </a:solidFill>
                <a:latin typeface="Calibri"/>
                <a:ea typeface="Calibri"/>
                <a:cs typeface="Calibri"/>
                <a:sym typeface="Calibri"/>
              </a:rPr>
              <a:t>Star Tron Enzyme Fuel Treatment </a:t>
            </a:r>
            <a:r>
              <a:rPr lang="en" sz="1467">
                <a:solidFill>
                  <a:schemeClr val="dk2"/>
                </a:solidFill>
                <a:latin typeface="Calibri"/>
                <a:ea typeface="Calibri"/>
                <a:cs typeface="Calibri"/>
                <a:sym typeface="Calibri"/>
              </a:rPr>
              <a:t>- very popular with ethanol pump gas; many users report cleaner carbs and fewer problems over winter</a:t>
            </a:r>
            <a:endParaRPr sz="1467">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b="1">
                <a:solidFill>
                  <a:schemeClr val="dk2"/>
                </a:solidFill>
                <a:latin typeface="Calibri"/>
                <a:ea typeface="Calibri"/>
                <a:cs typeface="Calibri"/>
                <a:sym typeface="Calibri"/>
              </a:rPr>
              <a:t>PRI‑G</a:t>
            </a:r>
            <a:r>
              <a:rPr lang="en" sz="1467">
                <a:solidFill>
                  <a:schemeClr val="dk2"/>
                </a:solidFill>
                <a:latin typeface="Calibri"/>
                <a:ea typeface="Calibri"/>
                <a:cs typeface="Calibri"/>
                <a:sym typeface="Calibri"/>
              </a:rPr>
              <a:t> – often recommended where people want multi‑year storage (Note: you need "G" for Gasoline, "D" for Diesel)</a:t>
            </a:r>
            <a:endParaRPr sz="1467">
              <a:solidFill>
                <a:schemeClr val="dk2"/>
              </a:solidFill>
              <a:latin typeface="Calibri"/>
              <a:ea typeface="Calibri"/>
              <a:cs typeface="Calibri"/>
              <a:sym typeface="Calibri"/>
            </a:endParaRPr>
          </a:p>
        </p:txBody>
      </p:sp>
      <p:pic>
        <p:nvPicPr>
          <p:cNvPr id="69" name="Google Shape;69;p14"/>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6889643" y="3691963"/>
            <a:ext cx="1536207" cy="2997103"/>
          </a:xfrm>
          <a:prstGeom prst="rect">
            <a:avLst/>
          </a:prstGeom>
          <a:noFill/>
          <a:ln>
            <a:noFill/>
          </a:ln>
        </p:spPr>
      </p:pic>
      <p:pic>
        <p:nvPicPr>
          <p:cNvPr id="70" name="Google Shape;70;p1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8566329" y="3429000"/>
            <a:ext cx="1467032" cy="3260067"/>
          </a:xfrm>
          <a:prstGeom prst="rect">
            <a:avLst/>
          </a:prstGeom>
          <a:noFill/>
          <a:ln>
            <a:noFill/>
          </a:ln>
        </p:spPr>
      </p:pic>
      <p:pic>
        <p:nvPicPr>
          <p:cNvPr id="71" name="Google Shape;71;p1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10173842" y="3705526"/>
            <a:ext cx="1902959" cy="2969975"/>
          </a:xfrm>
          <a:prstGeom prst="rect">
            <a:avLst/>
          </a:prstGeom>
          <a:noFill/>
          <a:ln>
            <a:noFill/>
          </a:ln>
        </p:spPr>
      </p:pic>
      <p:sp>
        <p:nvSpPr>
          <p:cNvPr id="72" name="Google Shape;72;p14"/>
          <p:cNvSpPr txBox="1"/>
          <p:nvPr/>
        </p:nvSpPr>
        <p:spPr>
          <a:xfrm>
            <a:off x="135367" y="764701"/>
            <a:ext cx="4438400" cy="3411076"/>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2167" tIns="12167" rIns="12167" bIns="12167" anchor="t" anchorCtr="0">
            <a:spAutoFit/>
          </a:bodyPr>
          <a:lstStyle/>
          <a:p>
            <a:pPr marL="228594" indent="-169329">
              <a:buClr>
                <a:schemeClr val="dk2"/>
              </a:buClr>
              <a:buSzPts val="1100"/>
              <a:buFont typeface="Calibri"/>
              <a:buChar char="●"/>
            </a:pPr>
            <a:r>
              <a:rPr lang="en" sz="1467" b="1">
                <a:solidFill>
                  <a:srgbClr val="FF0000"/>
                </a:solidFill>
                <a:latin typeface="Calibri"/>
                <a:ea typeface="Calibri"/>
                <a:cs typeface="Calibri"/>
                <a:sym typeface="Calibri"/>
              </a:rPr>
              <a:t>Chickanic YouTube Channel </a:t>
            </a:r>
            <a:r>
              <a:rPr lang="en" sz="1467" b="1">
                <a:solidFill>
                  <a:schemeClr val="dk2"/>
                </a:solidFill>
                <a:latin typeface="Calibri"/>
                <a:ea typeface="Calibri"/>
                <a:cs typeface="Calibri"/>
                <a:sym typeface="Calibri"/>
              </a:rPr>
              <a:t>consistently recommends </a:t>
            </a:r>
            <a:r>
              <a:rPr lang="en" sz="1467" b="1">
                <a:solidFill>
                  <a:srgbClr val="FF0000"/>
                </a:solidFill>
                <a:latin typeface="Calibri"/>
                <a:ea typeface="Calibri"/>
                <a:cs typeface="Calibri"/>
                <a:sym typeface="Calibri"/>
              </a:rPr>
              <a:t>Ethanol Shield</a:t>
            </a:r>
            <a:r>
              <a:rPr lang="en" sz="1467" b="1">
                <a:solidFill>
                  <a:schemeClr val="dk2"/>
                </a:solidFill>
                <a:latin typeface="Calibri"/>
                <a:ea typeface="Calibri"/>
                <a:cs typeface="Calibri"/>
                <a:sym typeface="Calibri"/>
              </a:rPr>
              <a:t> for stabilizing fuel in small engine equipment.</a:t>
            </a:r>
            <a:endParaRPr sz="1467" b="1">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b="1">
                <a:solidFill>
                  <a:schemeClr val="dk2"/>
                </a:solidFill>
                <a:latin typeface="Calibri"/>
                <a:ea typeface="Calibri"/>
                <a:cs typeface="Calibri"/>
                <a:sym typeface="Calibri"/>
              </a:rPr>
              <a:t>It effectively combines with water to help it pass through the carburetor and be burned off in the engine. Additionally, it contains oils that help rejuvenate rubber components like fuel lines, grommets, and carburetor diaphragms.</a:t>
            </a:r>
            <a:endParaRPr sz="1467" b="1">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b="1">
                <a:solidFill>
                  <a:schemeClr val="dk2"/>
                </a:solidFill>
                <a:latin typeface="Calibri"/>
                <a:ea typeface="Calibri"/>
                <a:cs typeface="Calibri"/>
                <a:sym typeface="Calibri"/>
              </a:rPr>
              <a:t>Mix 1 ounce of Ethanol Shield per gallon of fuel for storage</a:t>
            </a:r>
            <a:endParaRPr sz="1467" b="1">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b="1">
                <a:solidFill>
                  <a:schemeClr val="dk2"/>
                </a:solidFill>
                <a:latin typeface="Calibri"/>
                <a:ea typeface="Calibri"/>
                <a:cs typeface="Calibri"/>
                <a:sym typeface="Calibri"/>
              </a:rPr>
              <a:t>Minimize Air Exposure - because air and the resulting condensation is the primary cause of water in fuel, so fill the tank full</a:t>
            </a:r>
            <a:endParaRPr sz="1467" b="1">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b="1" u="sng">
                <a:solidFill>
                  <a:schemeClr val="hlink"/>
                </a:solidFill>
                <a:latin typeface="Calibri"/>
                <a:ea typeface="Calibri"/>
                <a:cs typeface="Calibri"/>
                <a:sym typeface="Calibri"/>
                <a:hlinkClick r:id="rId6"/>
              </a:rPr>
              <a:t>http://www.youtube.com/watch?v=mRGRWwPC3lA</a:t>
            </a:r>
            <a:endParaRPr sz="1467" b="1">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b="1">
                <a:solidFill>
                  <a:schemeClr val="dk2"/>
                </a:solidFill>
                <a:latin typeface="Calibri"/>
                <a:ea typeface="Calibri"/>
                <a:cs typeface="Calibri"/>
                <a:sym typeface="Calibri"/>
              </a:rPr>
              <a:t>She explicitly advises against STA-BIL </a:t>
            </a:r>
            <a:endParaRPr sz="1467" b="1">
              <a:solidFill>
                <a:schemeClr val="dk2"/>
              </a:solidFill>
              <a:latin typeface="Calibri"/>
              <a:ea typeface="Calibri"/>
              <a:cs typeface="Calibri"/>
              <a:sym typeface="Calibri"/>
            </a:endParaRPr>
          </a:p>
        </p:txBody>
      </p:sp>
      <p:pic>
        <p:nvPicPr>
          <p:cNvPr id="73" name="Google Shape;73;p14"/>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4772236" y="827318"/>
            <a:ext cx="1168033" cy="3285567"/>
          </a:xfrm>
          <a:prstGeom prst="rect">
            <a:avLst/>
          </a:prstGeom>
          <a:noFill/>
          <a:ln>
            <a:noFill/>
          </a:ln>
        </p:spPr>
      </p:pic>
      <p:cxnSp>
        <p:nvCxnSpPr>
          <p:cNvPr id="74" name="Google Shape;74;p14"/>
          <p:cNvCxnSpPr/>
          <p:nvPr/>
        </p:nvCxnSpPr>
        <p:spPr>
          <a:xfrm>
            <a:off x="6574333" y="3554133"/>
            <a:ext cx="1902400" cy="2886800"/>
          </a:xfrm>
          <a:prstGeom prst="straightConnector1">
            <a:avLst/>
          </a:prstGeom>
          <a:noFill/>
          <a:ln w="19050" cap="flat" cmpd="sng">
            <a:solidFill>
              <a:srgbClr val="FF0000"/>
            </a:solidFill>
            <a:prstDash val="solid"/>
            <a:round/>
            <a:headEnd type="none" w="med" len="med"/>
            <a:tailEnd type="none" w="med" len="med"/>
          </a:ln>
        </p:spPr>
      </p:cxnSp>
      <p:cxnSp>
        <p:nvCxnSpPr>
          <p:cNvPr id="75" name="Google Shape;75;p14"/>
          <p:cNvCxnSpPr/>
          <p:nvPr/>
        </p:nvCxnSpPr>
        <p:spPr>
          <a:xfrm flipH="1">
            <a:off x="6972133" y="3555733"/>
            <a:ext cx="1371200" cy="2883600"/>
          </a:xfrm>
          <a:prstGeom prst="straightConnector1">
            <a:avLst/>
          </a:prstGeom>
          <a:noFill/>
          <a:ln w="19050" cap="flat" cmpd="sng">
            <a:solidFill>
              <a:srgbClr val="FF0000"/>
            </a:solidFill>
            <a:prstDash val="solid"/>
            <a:round/>
            <a:headEnd type="none" w="med" len="med"/>
            <a:tailEnd type="non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5"/>
          <p:cNvSpPr txBox="1"/>
          <p:nvPr/>
        </p:nvSpPr>
        <p:spPr>
          <a:xfrm>
            <a:off x="223367" y="204767"/>
            <a:ext cx="4262400" cy="475914"/>
          </a:xfrm>
          <a:prstGeom prst="rect">
            <a:avLst/>
          </a:prstGeom>
          <a:noFill/>
          <a:ln>
            <a:noFill/>
          </a:ln>
        </p:spPr>
        <p:txBody>
          <a:bodyPr spcFirstLastPara="1" wrap="square" lIns="12167" tIns="12167" rIns="12167" bIns="12167" anchor="t" anchorCtr="0">
            <a:spAutoFit/>
          </a:bodyPr>
          <a:lstStyle/>
          <a:p>
            <a:r>
              <a:rPr lang="en" sz="2933" b="1">
                <a:solidFill>
                  <a:schemeClr val="dk2"/>
                </a:solidFill>
                <a:latin typeface="Calibri"/>
                <a:ea typeface="Calibri"/>
                <a:cs typeface="Calibri"/>
                <a:sym typeface="Calibri"/>
              </a:rPr>
              <a:t>JD-425 Electronic Modules</a:t>
            </a:r>
            <a:endParaRPr sz="2933" b="1">
              <a:solidFill>
                <a:schemeClr val="dk2"/>
              </a:solidFill>
              <a:latin typeface="Calibri"/>
              <a:ea typeface="Calibri"/>
              <a:cs typeface="Calibri"/>
              <a:sym typeface="Calibri"/>
            </a:endParaRPr>
          </a:p>
        </p:txBody>
      </p:sp>
      <p:sp>
        <p:nvSpPr>
          <p:cNvPr id="81" name="Google Shape;81;p15"/>
          <p:cNvSpPr txBox="1"/>
          <p:nvPr/>
        </p:nvSpPr>
        <p:spPr>
          <a:xfrm>
            <a:off x="135367" y="764700"/>
            <a:ext cx="4438400" cy="701873"/>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2167" tIns="12167" rIns="12167" bIns="12167" anchor="t" anchorCtr="0">
            <a:spAutoFit/>
          </a:bodyPr>
          <a:lstStyle/>
          <a:p>
            <a:pPr marL="228594" indent="-169329">
              <a:buClr>
                <a:schemeClr val="dk2"/>
              </a:buClr>
              <a:buSzPts val="1100"/>
              <a:buFont typeface="Calibri"/>
              <a:buChar char="●"/>
            </a:pPr>
            <a:r>
              <a:rPr lang="en" sz="1467" b="1">
                <a:solidFill>
                  <a:schemeClr val="dk2"/>
                </a:solidFill>
                <a:latin typeface="Calibri"/>
                <a:ea typeface="Calibri"/>
                <a:cs typeface="Calibri"/>
                <a:sym typeface="Calibri"/>
              </a:rPr>
              <a:t>Ignition time‑delay module (TDM)</a:t>
            </a:r>
            <a:endParaRPr sz="1467" b="1">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b="1">
                <a:solidFill>
                  <a:schemeClr val="dk2"/>
                </a:solidFill>
                <a:latin typeface="Calibri"/>
                <a:ea typeface="Calibri"/>
                <a:cs typeface="Calibri"/>
                <a:sym typeface="Calibri"/>
              </a:rPr>
              <a:t>a.k.a. “CDI” or “time delay box.”</a:t>
            </a:r>
            <a:endParaRPr sz="1467" b="1">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b="1">
                <a:solidFill>
                  <a:schemeClr val="dk2"/>
                </a:solidFill>
                <a:latin typeface="Calibri"/>
                <a:ea typeface="Calibri"/>
                <a:cs typeface="Calibri"/>
                <a:sym typeface="Calibri"/>
              </a:rPr>
              <a:t>JD part number: AM128906 (Ignition Delay Module)</a:t>
            </a:r>
            <a:endParaRPr sz="1467" b="1">
              <a:solidFill>
                <a:schemeClr val="dk2"/>
              </a:solidFill>
              <a:latin typeface="Calibri"/>
              <a:ea typeface="Calibri"/>
              <a:cs typeface="Calibri"/>
              <a:sym typeface="Calibri"/>
            </a:endParaRPr>
          </a:p>
        </p:txBody>
      </p:sp>
      <p:pic>
        <p:nvPicPr>
          <p:cNvPr id="82" name="Google Shape;82;p15"/>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926900" y="680767"/>
            <a:ext cx="2757120" cy="1011533"/>
          </a:xfrm>
          <a:prstGeom prst="rect">
            <a:avLst/>
          </a:prstGeom>
          <a:noFill/>
          <a:ln>
            <a:noFill/>
          </a:ln>
        </p:spPr>
      </p:pic>
      <p:sp>
        <p:nvSpPr>
          <p:cNvPr id="83" name="Google Shape;83;p15"/>
          <p:cNvSpPr txBox="1"/>
          <p:nvPr/>
        </p:nvSpPr>
        <p:spPr>
          <a:xfrm>
            <a:off x="135367" y="2120301"/>
            <a:ext cx="4438400" cy="1379173"/>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2167" tIns="12167" rIns="12167" bIns="12167" anchor="t" anchorCtr="0">
            <a:spAutoFit/>
          </a:bodyPr>
          <a:lstStyle/>
          <a:p>
            <a:pPr marL="228594" indent="-169329">
              <a:buClr>
                <a:schemeClr val="dk2"/>
              </a:buClr>
              <a:buSzPts val="1100"/>
              <a:buFont typeface="Calibri"/>
              <a:buChar char="●"/>
            </a:pPr>
            <a:r>
              <a:rPr lang="en" sz="1467" b="1">
                <a:solidFill>
                  <a:schemeClr val="dk2"/>
                </a:solidFill>
                <a:latin typeface="Calibri"/>
                <a:ea typeface="Calibri"/>
                <a:cs typeface="Calibri"/>
                <a:sym typeface="Calibri"/>
              </a:rPr>
              <a:t>Ignitor / ignition module (engine CDI box)</a:t>
            </a:r>
            <a:endParaRPr sz="1467" b="1">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b="1">
                <a:solidFill>
                  <a:schemeClr val="dk2"/>
                </a:solidFill>
                <a:latin typeface="Calibri"/>
                <a:ea typeface="Calibri"/>
                <a:cs typeface="Calibri"/>
                <a:sym typeface="Calibri"/>
              </a:rPr>
              <a:t>Function: JD calls this “IGNITOR”; it actually drives the ignition coils based on signals from the engine (CDI/ignition module). Loss of spark on one bank when hot is a classic failure.</a:t>
            </a:r>
            <a:endParaRPr sz="1467" b="1">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b="1">
                <a:solidFill>
                  <a:schemeClr val="dk2"/>
                </a:solidFill>
                <a:latin typeface="Calibri"/>
                <a:ea typeface="Calibri"/>
                <a:cs typeface="Calibri"/>
                <a:sym typeface="Calibri"/>
              </a:rPr>
              <a:t>JD part number AM105574 ignition module</a:t>
            </a:r>
            <a:endParaRPr sz="1467" b="1">
              <a:solidFill>
                <a:schemeClr val="dk2"/>
              </a:solidFill>
              <a:latin typeface="Calibri"/>
              <a:ea typeface="Calibri"/>
              <a:cs typeface="Calibri"/>
              <a:sym typeface="Calibri"/>
            </a:endParaRPr>
          </a:p>
        </p:txBody>
      </p:sp>
      <p:pic>
        <p:nvPicPr>
          <p:cNvPr id="84" name="Google Shape;84;p15"/>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5052917" y="2125485"/>
            <a:ext cx="1852367" cy="1820433"/>
          </a:xfrm>
          <a:prstGeom prst="rect">
            <a:avLst/>
          </a:prstGeom>
          <a:noFill/>
          <a:ln>
            <a:noFill/>
          </a:ln>
        </p:spPr>
      </p:pic>
      <p:sp>
        <p:nvSpPr>
          <p:cNvPr id="85" name="Google Shape;85;p15"/>
          <p:cNvSpPr txBox="1"/>
          <p:nvPr/>
        </p:nvSpPr>
        <p:spPr>
          <a:xfrm>
            <a:off x="135367" y="4674901"/>
            <a:ext cx="4438400" cy="1604941"/>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2167" tIns="12167" rIns="12167" bIns="12167" anchor="t" anchorCtr="0">
            <a:spAutoFit/>
          </a:bodyPr>
          <a:lstStyle/>
          <a:p>
            <a:pPr marL="228594" indent="-169329">
              <a:buClr>
                <a:schemeClr val="dk2"/>
              </a:buClr>
              <a:buSzPts val="1100"/>
              <a:buFont typeface="Calibri"/>
              <a:buChar char="●"/>
            </a:pPr>
            <a:r>
              <a:rPr lang="en" sz="1467" b="1">
                <a:solidFill>
                  <a:schemeClr val="dk2"/>
                </a:solidFill>
                <a:latin typeface="Calibri"/>
                <a:ea typeface="Calibri"/>
                <a:cs typeface="Calibri"/>
                <a:sym typeface="Calibri"/>
              </a:rPr>
              <a:t>Ignition switch module / dash control board</a:t>
            </a:r>
            <a:endParaRPr sz="1467" b="1">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b="1">
                <a:solidFill>
                  <a:schemeClr val="dk2"/>
                </a:solidFill>
                <a:latin typeface="Calibri"/>
                <a:ea typeface="Calibri"/>
                <a:cs typeface="Calibri"/>
                <a:sym typeface="Calibri"/>
              </a:rPr>
              <a:t>Circuit‑board module behind the key switch that routes power to the time‑delay module, ignitor, and other circuits</a:t>
            </a:r>
            <a:endParaRPr sz="1467" b="1">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b="1">
                <a:solidFill>
                  <a:schemeClr val="dk2"/>
                </a:solidFill>
                <a:latin typeface="Calibri"/>
                <a:ea typeface="Calibri"/>
                <a:cs typeface="Calibri"/>
                <a:sym typeface="Calibri"/>
              </a:rPr>
              <a:t>JD part number AM128878 ignition switch module,</a:t>
            </a:r>
            <a:endParaRPr sz="1467" b="1">
              <a:solidFill>
                <a:schemeClr val="dk2"/>
              </a:solidFill>
              <a:latin typeface="Calibri"/>
              <a:ea typeface="Calibri"/>
              <a:cs typeface="Calibri"/>
              <a:sym typeface="Calibri"/>
            </a:endParaRPr>
          </a:p>
          <a:p>
            <a:pPr marL="228594" indent="-169329">
              <a:buClr>
                <a:schemeClr val="dk2"/>
              </a:buClr>
              <a:buSzPts val="1100"/>
              <a:buFont typeface="Calibri"/>
              <a:buChar char="●"/>
            </a:pPr>
            <a:r>
              <a:rPr lang="en" sz="1467" b="1">
                <a:solidFill>
                  <a:schemeClr val="dk2"/>
                </a:solidFill>
                <a:latin typeface="Calibri"/>
                <a:ea typeface="Calibri"/>
                <a:cs typeface="Calibri"/>
                <a:sym typeface="Calibri"/>
              </a:rPr>
              <a:t>often sold in kits and superseded/combined into kits like AM136681 (module + keys) </a:t>
            </a:r>
            <a:endParaRPr sz="1467" b="1">
              <a:solidFill>
                <a:schemeClr val="dk2"/>
              </a:solidFill>
              <a:latin typeface="Calibri"/>
              <a:ea typeface="Calibri"/>
              <a:cs typeface="Calibri"/>
              <a:sym typeface="Calibri"/>
            </a:endParaRPr>
          </a:p>
        </p:txBody>
      </p:sp>
      <p:pic>
        <p:nvPicPr>
          <p:cNvPr id="86" name="Google Shape;86;p15"/>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5151667" y="4527000"/>
            <a:ext cx="1888667" cy="1900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A737C-20D5-F760-3856-D01F951239D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26A6B55-E5D4-A338-B27E-5B92EE004809}"/>
              </a:ext>
            </a:extLst>
          </p:cNvPr>
          <p:cNvSpPr txBox="1"/>
          <p:nvPr/>
        </p:nvSpPr>
        <p:spPr>
          <a:xfrm>
            <a:off x="0" y="0"/>
            <a:ext cx="1996966" cy="523220"/>
          </a:xfrm>
          <a:prstGeom prst="rect">
            <a:avLst/>
          </a:prstGeom>
          <a:noFill/>
        </p:spPr>
        <p:txBody>
          <a:bodyPr wrap="square" rtlCol="0">
            <a:spAutoFit/>
          </a:bodyPr>
          <a:lstStyle/>
          <a:p>
            <a:r>
              <a:rPr lang="en-US" sz="2800" b="1"/>
              <a:t>Sweeper</a:t>
            </a:r>
          </a:p>
        </p:txBody>
      </p:sp>
      <p:pic>
        <p:nvPicPr>
          <p:cNvPr id="3" name="Picture 2">
            <a:extLst>
              <a:ext uri="{FF2B5EF4-FFF2-40B4-BE49-F238E27FC236}">
                <a16:creationId xmlns:a16="http://schemas.microsoft.com/office/drawing/2014/main" id="{BE0174D4-4758-BD8E-81BD-C0D276C813F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15309" y="2265382"/>
            <a:ext cx="4672944" cy="2836798"/>
          </a:xfrm>
          <a:prstGeom prst="rect">
            <a:avLst/>
          </a:prstGeom>
        </p:spPr>
      </p:pic>
      <p:sp>
        <p:nvSpPr>
          <p:cNvPr id="4" name="TextBox 3">
            <a:extLst>
              <a:ext uri="{FF2B5EF4-FFF2-40B4-BE49-F238E27FC236}">
                <a16:creationId xmlns:a16="http://schemas.microsoft.com/office/drawing/2014/main" id="{6645184E-C295-CF34-B6AB-CC68E2909565}"/>
              </a:ext>
            </a:extLst>
          </p:cNvPr>
          <p:cNvSpPr txBox="1"/>
          <p:nvPr/>
        </p:nvSpPr>
        <p:spPr>
          <a:xfrm>
            <a:off x="315309" y="5244257"/>
            <a:ext cx="4204138" cy="738664"/>
          </a:xfrm>
          <a:prstGeom prst="rect">
            <a:avLst/>
          </a:prstGeom>
          <a:noFill/>
        </p:spPr>
        <p:txBody>
          <a:bodyPr wrap="square" rtlCol="0">
            <a:spAutoFit/>
          </a:bodyPr>
          <a:lstStyle/>
          <a:p>
            <a:r>
              <a:rPr lang="en-US" sz="1400" dirty="0"/>
              <a:t>Agri-Fab Inc 45-0546 52" Lawn Sweeper, Black</a:t>
            </a:r>
          </a:p>
          <a:p>
            <a:endParaRPr lang="en-US" sz="1400" dirty="0"/>
          </a:p>
          <a:p>
            <a:r>
              <a:rPr lang="en-US" sz="1400" dirty="0">
                <a:hlinkClick r:id="rId3"/>
              </a:rPr>
              <a:t>https://www.amazon.com/gp/product/B07KMX858N/</a:t>
            </a:r>
            <a:endParaRPr lang="en-US" sz="1400" dirty="0"/>
          </a:p>
        </p:txBody>
      </p:sp>
      <p:sp>
        <p:nvSpPr>
          <p:cNvPr id="5" name="TextBox 4">
            <a:extLst>
              <a:ext uri="{FF2B5EF4-FFF2-40B4-BE49-F238E27FC236}">
                <a16:creationId xmlns:a16="http://schemas.microsoft.com/office/drawing/2014/main" id="{7284FF34-5A4E-5788-22ED-328788FF04BD}"/>
              </a:ext>
            </a:extLst>
          </p:cNvPr>
          <p:cNvSpPr txBox="1"/>
          <p:nvPr/>
        </p:nvSpPr>
        <p:spPr>
          <a:xfrm>
            <a:off x="6537434" y="5244257"/>
            <a:ext cx="4939863" cy="738664"/>
          </a:xfrm>
          <a:prstGeom prst="rect">
            <a:avLst/>
          </a:prstGeom>
          <a:noFill/>
        </p:spPr>
        <p:txBody>
          <a:bodyPr wrap="square" rtlCol="0">
            <a:spAutoFit/>
          </a:bodyPr>
          <a:lstStyle/>
          <a:p>
            <a:r>
              <a:rPr lang="en-US" sz="1400"/>
              <a:t>10 Cubic Feet Steel Dump Cart</a:t>
            </a:r>
          </a:p>
          <a:p>
            <a:endParaRPr lang="en-US" sz="1400"/>
          </a:p>
          <a:p>
            <a:r>
              <a:rPr lang="en-US" sz="1400">
                <a:hlinkClick r:id="rId4"/>
              </a:rPr>
              <a:t>https://www.amazon.com/dp/B08R95SSTJ</a:t>
            </a:r>
            <a:endParaRPr lang="en-US" sz="1400"/>
          </a:p>
        </p:txBody>
      </p:sp>
      <p:pic>
        <p:nvPicPr>
          <p:cNvPr id="6" name="Picture 5">
            <a:extLst>
              <a:ext uri="{FF2B5EF4-FFF2-40B4-BE49-F238E27FC236}">
                <a16:creationId xmlns:a16="http://schemas.microsoft.com/office/drawing/2014/main" id="{7690790C-E0CA-0E71-E44E-2771DC106C24}"/>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281438" y="2243754"/>
            <a:ext cx="4567865" cy="2880053"/>
          </a:xfrm>
          <a:prstGeom prst="rect">
            <a:avLst/>
          </a:prstGeom>
        </p:spPr>
      </p:pic>
      <p:sp>
        <p:nvSpPr>
          <p:cNvPr id="7" name="TextBox 6">
            <a:extLst>
              <a:ext uri="{FF2B5EF4-FFF2-40B4-BE49-F238E27FC236}">
                <a16:creationId xmlns:a16="http://schemas.microsoft.com/office/drawing/2014/main" id="{60300599-ED73-9513-8926-703810135577}"/>
              </a:ext>
            </a:extLst>
          </p:cNvPr>
          <p:cNvSpPr txBox="1"/>
          <p:nvPr/>
        </p:nvSpPr>
        <p:spPr>
          <a:xfrm>
            <a:off x="6281438" y="93444"/>
            <a:ext cx="3020217" cy="523220"/>
          </a:xfrm>
          <a:prstGeom prst="rect">
            <a:avLst/>
          </a:prstGeom>
          <a:noFill/>
        </p:spPr>
        <p:txBody>
          <a:bodyPr wrap="square" rtlCol="0">
            <a:spAutoFit/>
          </a:bodyPr>
          <a:lstStyle/>
          <a:p>
            <a:r>
              <a:rPr lang="en-US" sz="2800" b="1"/>
              <a:t>Dump Cart</a:t>
            </a:r>
          </a:p>
        </p:txBody>
      </p:sp>
    </p:spTree>
    <p:extLst>
      <p:ext uri="{BB962C8B-B14F-4D97-AF65-F5344CB8AC3E}">
        <p14:creationId xmlns:p14="http://schemas.microsoft.com/office/powerpoint/2010/main" val="27533447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DFF58-FBBF-53F0-A28B-B37995B4784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EB671DF-9B83-58E4-1589-582DFF8EC478}"/>
              </a:ext>
            </a:extLst>
          </p:cNvPr>
          <p:cNvSpPr txBox="1"/>
          <p:nvPr/>
        </p:nvSpPr>
        <p:spPr>
          <a:xfrm>
            <a:off x="168166" y="111093"/>
            <a:ext cx="4117119" cy="523220"/>
          </a:xfrm>
          <a:prstGeom prst="rect">
            <a:avLst/>
          </a:prstGeom>
          <a:noFill/>
        </p:spPr>
        <p:txBody>
          <a:bodyPr wrap="square" rtlCol="0">
            <a:spAutoFit/>
          </a:bodyPr>
          <a:lstStyle/>
          <a:p>
            <a:r>
              <a:rPr lang="en-US" sz="2800" b="1" dirty="0"/>
              <a:t>Modern JD Loan Tractors</a:t>
            </a:r>
          </a:p>
        </p:txBody>
      </p:sp>
      <p:sp>
        <p:nvSpPr>
          <p:cNvPr id="31" name="TextBox 30">
            <a:extLst>
              <a:ext uri="{FF2B5EF4-FFF2-40B4-BE49-F238E27FC236}">
                <a16:creationId xmlns:a16="http://schemas.microsoft.com/office/drawing/2014/main" id="{2BA9A503-459B-12FC-6EA2-5A8EA16297E2}"/>
              </a:ext>
            </a:extLst>
          </p:cNvPr>
          <p:cNvSpPr txBox="1"/>
          <p:nvPr/>
        </p:nvSpPr>
        <p:spPr>
          <a:xfrm>
            <a:off x="241741" y="634313"/>
            <a:ext cx="3741680" cy="276999"/>
          </a:xfrm>
          <a:prstGeom prst="rect">
            <a:avLst/>
          </a:prstGeom>
          <a:noFill/>
        </p:spPr>
        <p:txBody>
          <a:bodyPr wrap="square" rtlCol="0">
            <a:spAutoFit/>
          </a:bodyPr>
          <a:lstStyle/>
          <a:p>
            <a:pPr algn="ctr"/>
            <a:r>
              <a:rPr lang="en-US" sz="1200" dirty="0">
                <a:hlinkClick r:id="rId2"/>
              </a:rPr>
              <a:t>https://</a:t>
            </a:r>
            <a:r>
              <a:rPr lang="en-US" sz="1200" dirty="0" err="1">
                <a:hlinkClick r:id="rId2"/>
              </a:rPr>
              <a:t>www.deere.com</a:t>
            </a:r>
            <a:r>
              <a:rPr lang="en-US" sz="1200" dirty="0">
                <a:hlinkClick r:id="rId2"/>
              </a:rPr>
              <a:t>/</a:t>
            </a:r>
            <a:r>
              <a:rPr lang="en-US" sz="1200" dirty="0" err="1">
                <a:hlinkClick r:id="rId2"/>
              </a:rPr>
              <a:t>en</a:t>
            </a:r>
            <a:r>
              <a:rPr lang="en-US" sz="1200" dirty="0">
                <a:hlinkClick r:id="rId2"/>
              </a:rPr>
              <a:t>/mowers/lawn-tractors/</a:t>
            </a:r>
            <a:endParaRPr lang="en-US" sz="1200" dirty="0"/>
          </a:p>
        </p:txBody>
      </p:sp>
      <p:pic>
        <p:nvPicPr>
          <p:cNvPr id="1026" name="Picture 2" descr="studio image of the S100 Series lawn mower">
            <a:extLst>
              <a:ext uri="{FF2B5EF4-FFF2-40B4-BE49-F238E27FC236}">
                <a16:creationId xmlns:a16="http://schemas.microsoft.com/office/drawing/2014/main" id="{A4E09826-02EB-A97D-A609-B18C5511BF4C}"/>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2037732" y="1444030"/>
            <a:ext cx="1407217" cy="115297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F534CAE-D169-9E26-0F8D-601355DD9B78}"/>
              </a:ext>
            </a:extLst>
          </p:cNvPr>
          <p:cNvSpPr txBox="1"/>
          <p:nvPr/>
        </p:nvSpPr>
        <p:spPr>
          <a:xfrm>
            <a:off x="415160" y="1713620"/>
            <a:ext cx="1329558" cy="646331"/>
          </a:xfrm>
          <a:prstGeom prst="rect">
            <a:avLst/>
          </a:prstGeom>
          <a:noFill/>
        </p:spPr>
        <p:txBody>
          <a:bodyPr wrap="square" rtlCol="0">
            <a:spAutoFit/>
          </a:bodyPr>
          <a:lstStyle/>
          <a:p>
            <a:r>
              <a:rPr lang="en-US" sz="1200" b="1" dirty="0"/>
              <a:t>Series S100</a:t>
            </a:r>
          </a:p>
          <a:p>
            <a:r>
              <a:rPr lang="en-US" sz="1200" b="1" dirty="0"/>
              <a:t>42,48,54" wide</a:t>
            </a:r>
            <a:endParaRPr lang="en-US" sz="1200" b="1" dirty="0">
              <a:solidFill>
                <a:srgbClr val="FF0000"/>
              </a:solidFill>
            </a:endParaRPr>
          </a:p>
          <a:p>
            <a:r>
              <a:rPr lang="en-US" sz="1200" b="1" dirty="0">
                <a:solidFill>
                  <a:srgbClr val="FF0000"/>
                </a:solidFill>
              </a:rPr>
              <a:t>$2.4 - $3.6K</a:t>
            </a:r>
          </a:p>
        </p:txBody>
      </p:sp>
      <p:sp>
        <p:nvSpPr>
          <p:cNvPr id="9" name="TextBox 8">
            <a:extLst>
              <a:ext uri="{FF2B5EF4-FFF2-40B4-BE49-F238E27FC236}">
                <a16:creationId xmlns:a16="http://schemas.microsoft.com/office/drawing/2014/main" id="{42C34B3C-8F87-D0A7-0EE5-06FBF377BD4D}"/>
              </a:ext>
            </a:extLst>
          </p:cNvPr>
          <p:cNvSpPr txBox="1"/>
          <p:nvPr/>
        </p:nvSpPr>
        <p:spPr>
          <a:xfrm>
            <a:off x="415160" y="3333580"/>
            <a:ext cx="1030868" cy="646331"/>
          </a:xfrm>
          <a:prstGeom prst="rect">
            <a:avLst/>
          </a:prstGeom>
          <a:noFill/>
        </p:spPr>
        <p:txBody>
          <a:bodyPr wrap="square" rtlCol="0">
            <a:spAutoFit/>
          </a:bodyPr>
          <a:lstStyle/>
          <a:p>
            <a:r>
              <a:rPr lang="en-US" sz="1200" b="1" dirty="0"/>
              <a:t>Series S200</a:t>
            </a:r>
          </a:p>
          <a:p>
            <a:r>
              <a:rPr lang="en-US" sz="1200" b="1" dirty="0"/>
              <a:t>42,48 wide</a:t>
            </a:r>
            <a:endParaRPr lang="en-US" sz="1200" b="1" dirty="0">
              <a:solidFill>
                <a:srgbClr val="FF0000"/>
              </a:solidFill>
            </a:endParaRPr>
          </a:p>
          <a:p>
            <a:r>
              <a:rPr lang="en-US" sz="1200" b="1" dirty="0">
                <a:solidFill>
                  <a:srgbClr val="FF0000"/>
                </a:solidFill>
              </a:rPr>
              <a:t>$3.3-3.7K</a:t>
            </a:r>
          </a:p>
        </p:txBody>
      </p:sp>
      <p:sp>
        <p:nvSpPr>
          <p:cNvPr id="26" name="TextBox 25">
            <a:extLst>
              <a:ext uri="{FF2B5EF4-FFF2-40B4-BE49-F238E27FC236}">
                <a16:creationId xmlns:a16="http://schemas.microsoft.com/office/drawing/2014/main" id="{11F18853-6F05-460E-4BFE-3121530005FE}"/>
              </a:ext>
            </a:extLst>
          </p:cNvPr>
          <p:cNvSpPr txBox="1"/>
          <p:nvPr/>
        </p:nvSpPr>
        <p:spPr>
          <a:xfrm>
            <a:off x="394139" y="5100718"/>
            <a:ext cx="1329558" cy="646331"/>
          </a:xfrm>
          <a:prstGeom prst="rect">
            <a:avLst/>
          </a:prstGeom>
          <a:noFill/>
        </p:spPr>
        <p:txBody>
          <a:bodyPr wrap="square" rtlCol="0">
            <a:spAutoFit/>
          </a:bodyPr>
          <a:lstStyle/>
          <a:p>
            <a:r>
              <a:rPr lang="en-US" sz="1200" b="1" dirty="0"/>
              <a:t>Series X300</a:t>
            </a:r>
          </a:p>
          <a:p>
            <a:r>
              <a:rPr lang="en-US" sz="1200" b="1" dirty="0"/>
              <a:t>42,48" wide</a:t>
            </a:r>
            <a:endParaRPr lang="en-US" sz="1200" b="1" dirty="0">
              <a:solidFill>
                <a:srgbClr val="FF0000"/>
              </a:solidFill>
            </a:endParaRPr>
          </a:p>
          <a:p>
            <a:r>
              <a:rPr lang="en-US" sz="1200" b="1" dirty="0">
                <a:solidFill>
                  <a:srgbClr val="FF0000"/>
                </a:solidFill>
              </a:rPr>
              <a:t>$3.6K - $7.3K</a:t>
            </a:r>
          </a:p>
        </p:txBody>
      </p:sp>
      <p:sp>
        <p:nvSpPr>
          <p:cNvPr id="32" name="TextBox 31">
            <a:extLst>
              <a:ext uri="{FF2B5EF4-FFF2-40B4-BE49-F238E27FC236}">
                <a16:creationId xmlns:a16="http://schemas.microsoft.com/office/drawing/2014/main" id="{10975E79-6DE1-02AC-0D61-FC672484C923}"/>
              </a:ext>
            </a:extLst>
          </p:cNvPr>
          <p:cNvSpPr txBox="1"/>
          <p:nvPr/>
        </p:nvSpPr>
        <p:spPr>
          <a:xfrm>
            <a:off x="8525354" y="1741183"/>
            <a:ext cx="1075846" cy="646331"/>
          </a:xfrm>
          <a:prstGeom prst="rect">
            <a:avLst/>
          </a:prstGeom>
          <a:noFill/>
        </p:spPr>
        <p:txBody>
          <a:bodyPr wrap="square" rtlCol="0">
            <a:spAutoFit/>
          </a:bodyPr>
          <a:lstStyle/>
          <a:p>
            <a:r>
              <a:rPr lang="en-US" sz="1200" b="1" dirty="0"/>
              <a:t>Series X500</a:t>
            </a:r>
          </a:p>
          <a:p>
            <a:r>
              <a:rPr lang="en-US" sz="1200" b="1" dirty="0"/>
              <a:t>48,54" wide</a:t>
            </a:r>
            <a:endParaRPr lang="en-US" sz="1200" b="1" dirty="0">
              <a:solidFill>
                <a:srgbClr val="FF0000"/>
              </a:solidFill>
            </a:endParaRPr>
          </a:p>
          <a:p>
            <a:r>
              <a:rPr lang="en-US" sz="1200" b="1" dirty="0">
                <a:solidFill>
                  <a:srgbClr val="FF0000"/>
                </a:solidFill>
              </a:rPr>
              <a:t>$7.5K - $10K</a:t>
            </a:r>
          </a:p>
        </p:txBody>
      </p:sp>
      <p:sp>
        <p:nvSpPr>
          <p:cNvPr id="33" name="TextBox 32">
            <a:extLst>
              <a:ext uri="{FF2B5EF4-FFF2-40B4-BE49-F238E27FC236}">
                <a16:creationId xmlns:a16="http://schemas.microsoft.com/office/drawing/2014/main" id="{9596110B-1807-2D74-947E-F0BDFACFC94E}"/>
              </a:ext>
            </a:extLst>
          </p:cNvPr>
          <p:cNvSpPr txBox="1"/>
          <p:nvPr/>
        </p:nvSpPr>
        <p:spPr>
          <a:xfrm>
            <a:off x="8193576" y="3656745"/>
            <a:ext cx="1739402" cy="1384995"/>
          </a:xfrm>
          <a:prstGeom prst="rect">
            <a:avLst/>
          </a:prstGeom>
          <a:noFill/>
        </p:spPr>
        <p:txBody>
          <a:bodyPr wrap="square" rtlCol="0">
            <a:spAutoFit/>
          </a:bodyPr>
          <a:lstStyle/>
          <a:p>
            <a:pPr algn="l"/>
            <a:r>
              <a:rPr lang="en-US" sz="1200" b="1" i="0" dirty="0">
                <a:effectLst/>
                <a:latin typeface="jd_sans_probold"/>
              </a:rPr>
              <a:t>X700 Signature Series</a:t>
            </a:r>
          </a:p>
          <a:p>
            <a:r>
              <a:rPr lang="en-US" sz="1200" b="1" dirty="0"/>
              <a:t>48,54, 60" wide</a:t>
            </a:r>
          </a:p>
          <a:p>
            <a:r>
              <a:rPr lang="en-US" sz="1200" b="1" dirty="0"/>
              <a:t>gas or diesel</a:t>
            </a:r>
          </a:p>
          <a:p>
            <a:r>
              <a:rPr lang="en-US" sz="1200" b="1" dirty="0"/>
              <a:t>2 or 4-wheel drive</a:t>
            </a:r>
          </a:p>
          <a:p>
            <a:r>
              <a:rPr lang="en-US" sz="1200" b="1" dirty="0">
                <a:solidFill>
                  <a:srgbClr val="FF0000"/>
                </a:solidFill>
              </a:rPr>
              <a:t>$14K - $17K</a:t>
            </a:r>
            <a:endParaRPr lang="en-US" sz="1200" b="1" dirty="0"/>
          </a:p>
          <a:p>
            <a:r>
              <a:rPr lang="en-US" sz="1200" b="1" dirty="0"/>
              <a:t>Best: X758, $17K </a:t>
            </a:r>
          </a:p>
          <a:p>
            <a:r>
              <a:rPr lang="en-US" sz="1200" b="1" i="0" dirty="0">
                <a:solidFill>
                  <a:srgbClr val="1F1F1F"/>
                </a:solidFill>
                <a:effectLst/>
                <a:latin typeface="Google Sans"/>
              </a:rPr>
              <a:t>weight 1,032 </a:t>
            </a:r>
            <a:r>
              <a:rPr lang="en-US" sz="1200" b="1" i="0" dirty="0" err="1">
                <a:solidFill>
                  <a:srgbClr val="1F1F1F"/>
                </a:solidFill>
                <a:effectLst/>
                <a:latin typeface="Google Sans"/>
              </a:rPr>
              <a:t>lbs</a:t>
            </a:r>
            <a:r>
              <a:rPr lang="en-US" sz="1200" b="1" i="0" dirty="0">
                <a:solidFill>
                  <a:srgbClr val="1F1F1F"/>
                </a:solidFill>
                <a:effectLst/>
                <a:latin typeface="Google Sans"/>
              </a:rPr>
              <a:t> (470kg)</a:t>
            </a:r>
            <a:endParaRPr lang="en-US" sz="1200" b="1" dirty="0"/>
          </a:p>
        </p:txBody>
      </p:sp>
      <p:pic>
        <p:nvPicPr>
          <p:cNvPr id="34" name="Picture 4" descr="studio rendering of a Z730">
            <a:extLst>
              <a:ext uri="{FF2B5EF4-FFF2-40B4-BE49-F238E27FC236}">
                <a16:creationId xmlns:a16="http://schemas.microsoft.com/office/drawing/2014/main" id="{6D1404CB-EFA6-7EF7-66C7-8DF2F1AB786C}"/>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10264756" y="3600147"/>
            <a:ext cx="1739402" cy="138504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X590 Multi-Terrain Tractor, 54-inch deck">
            <a:extLst>
              <a:ext uri="{FF2B5EF4-FFF2-40B4-BE49-F238E27FC236}">
                <a16:creationId xmlns:a16="http://schemas.microsoft.com/office/drawing/2014/main" id="{BAEA44D2-FDA6-2AB1-4EE0-5AE054D153ED}"/>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0469678" y="1444030"/>
            <a:ext cx="1329558" cy="110796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X394 Tractor, 48-inch deck">
            <a:extLst>
              <a:ext uri="{FF2B5EF4-FFF2-40B4-BE49-F238E27FC236}">
                <a16:creationId xmlns:a16="http://schemas.microsoft.com/office/drawing/2014/main" id="{FAF03351-F41D-4B23-AF1B-814459C202A0}"/>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989370" y="4815146"/>
            <a:ext cx="1503939" cy="121747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Studio image of a S240 with 48-in. Deck">
            <a:extLst>
              <a:ext uri="{FF2B5EF4-FFF2-40B4-BE49-F238E27FC236}">
                <a16:creationId xmlns:a16="http://schemas.microsoft.com/office/drawing/2014/main" id="{E0531D71-6031-F709-1C0E-C99B6B672577}"/>
              </a:ext>
            </a:extLst>
          </p:cNvPr>
          <p:cNvPicPr>
            <a:picLocks noChangeAspect="1" noChangeArrowheads="1"/>
          </p:cNvPicPr>
          <p:nvPr/>
        </p:nvPicPr>
        <p:blipFill rotWithShape="1">
          <a:blip r:embed="rId7" cstate="email">
            <a:extLst>
              <a:ext uri="{28A0092B-C50C-407E-A947-70E740481C1C}">
                <a14:useLocalDpi xmlns:a14="http://schemas.microsoft.com/office/drawing/2010/main"/>
              </a:ext>
            </a:extLst>
          </a:blip>
          <a:srcRect/>
          <a:stretch/>
        </p:blipFill>
        <p:spPr bwMode="auto">
          <a:xfrm>
            <a:off x="1927243" y="2999982"/>
            <a:ext cx="1614429" cy="1200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61895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1360</TotalTime>
  <Words>1647</Words>
  <Application>Microsoft Macintosh PowerPoint</Application>
  <PresentationFormat>Widescreen</PresentationFormat>
  <Paragraphs>202</Paragraphs>
  <Slides>10</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Aptos</vt:lpstr>
      <vt:lpstr>Arial</vt:lpstr>
      <vt:lpstr>Calibri</vt:lpstr>
      <vt:lpstr>Calibri Light</vt:lpstr>
      <vt:lpstr>Google Sans</vt:lpstr>
      <vt:lpstr>jd_sans_probold</vt:lpstr>
      <vt:lpstr>Menlo</vt:lpstr>
      <vt:lpstr>YouTube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 Selector</dc:creator>
  <cp:lastModifiedBy>Lev Selector</cp:lastModifiedBy>
  <cp:revision>103</cp:revision>
  <dcterms:created xsi:type="dcterms:W3CDTF">2022-05-02T00:38:22Z</dcterms:created>
  <dcterms:modified xsi:type="dcterms:W3CDTF">2026-06-28T17:51:26Z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f518368-b969-4042-91d9-8939bd921da2_Enabled">
    <vt:lpwstr>true</vt:lpwstr>
  </property>
  <property fmtid="{D5CDD505-2E9C-101B-9397-08002B2CF9AE}" pid="3" name="MSIP_Label_4f518368-b969-4042-91d9-8939bd921da2_SetDate">
    <vt:lpwstr>2022-05-02T00:38:23Z</vt:lpwstr>
  </property>
  <property fmtid="{D5CDD505-2E9C-101B-9397-08002B2CF9AE}" pid="4" name="MSIP_Label_4f518368-b969-4042-91d9-8939bd921da2_Method">
    <vt:lpwstr>Standard</vt:lpwstr>
  </property>
  <property fmtid="{D5CDD505-2E9C-101B-9397-08002B2CF9AE}" pid="5" name="MSIP_Label_4f518368-b969-4042-91d9-8939bd921da2_Name">
    <vt:lpwstr>General</vt:lpwstr>
  </property>
  <property fmtid="{D5CDD505-2E9C-101B-9397-08002B2CF9AE}" pid="6" name="MSIP_Label_4f518368-b969-4042-91d9-8939bd921da2_SiteId">
    <vt:lpwstr>116e9905-19fc-428e-93d4-bcaffb833597</vt:lpwstr>
  </property>
  <property fmtid="{D5CDD505-2E9C-101B-9397-08002B2CF9AE}" pid="7" name="MSIP_Label_4f518368-b969-4042-91d9-8939bd921da2_ActionId">
    <vt:lpwstr>24169d7b-7067-4cc0-93f0-4d109a136a7c</vt:lpwstr>
  </property>
  <property fmtid="{D5CDD505-2E9C-101B-9397-08002B2CF9AE}" pid="8" name="MSIP_Label_4f518368-b969-4042-91d9-8939bd921da2_ContentBits">
    <vt:lpwstr>0</vt:lpwstr>
  </property>
</Properties>
</file>