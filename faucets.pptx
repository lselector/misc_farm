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61" r:id="rId2"/>
    <p:sldId id="262" r:id="rId3"/>
    <p:sldId id="26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297"/>
    <p:restoredTop sz="91333"/>
  </p:normalViewPr>
  <p:slideViewPr>
    <p:cSldViewPr snapToGrid="0" snapToObjects="1">
      <p:cViewPr varScale="1">
        <p:scale>
          <a:sx n="89" d="100"/>
          <a:sy n="89" d="100"/>
        </p:scale>
        <p:origin x="2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843BDE-B8C0-934E-9704-CBA3B88C1FB8}" type="datetimeFigureOut">
              <a:rPr lang="en-US" smtClean="0"/>
              <a:t>7/16/26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8B91EE-EA77-074C-ABDE-BAE6359B4E98}" type="slidenum">
              <a:rPr lang="en-US" smtClean="0"/>
              <a:t>‹#›</a:t>
            </a:fld>
            <a:endParaRPr lang="en-US"/>
          </a:p>
        </p:txBody>
      </p:sp>
    </p:spTree>
    <p:extLst>
      <p:ext uri="{BB962C8B-B14F-4D97-AF65-F5344CB8AC3E}">
        <p14:creationId xmlns:p14="http://schemas.microsoft.com/office/powerpoint/2010/main" val="4039519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8B91EE-EA77-074C-ABDE-BAE6359B4E98}" type="slidenum">
              <a:rPr lang="en-US" smtClean="0"/>
              <a:t>1</a:t>
            </a:fld>
            <a:endParaRPr lang="en-US"/>
          </a:p>
        </p:txBody>
      </p:sp>
    </p:spTree>
    <p:extLst>
      <p:ext uri="{BB962C8B-B14F-4D97-AF65-F5344CB8AC3E}">
        <p14:creationId xmlns:p14="http://schemas.microsoft.com/office/powerpoint/2010/main" val="385338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47F6B-AB2B-AEBE-771D-CE8528D86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E0912-5BBA-6C2C-745A-A784E53759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F4150-082E-79C4-1F3A-2BD8324AD4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854A81-3A6D-D606-BC83-946B2A91A259}"/>
              </a:ext>
            </a:extLst>
          </p:cNvPr>
          <p:cNvSpPr>
            <a:spLocks noGrp="1"/>
          </p:cNvSpPr>
          <p:nvPr>
            <p:ph type="sldNum" sz="quarter" idx="5"/>
          </p:nvPr>
        </p:nvSpPr>
        <p:spPr/>
        <p:txBody>
          <a:bodyPr/>
          <a:lstStyle/>
          <a:p>
            <a:fld id="{BA8B91EE-EA77-074C-ABDE-BAE6359B4E98}" type="slidenum">
              <a:rPr lang="en-US" smtClean="0"/>
              <a:t>2</a:t>
            </a:fld>
            <a:endParaRPr lang="en-US"/>
          </a:p>
        </p:txBody>
      </p:sp>
    </p:spTree>
    <p:extLst>
      <p:ext uri="{BB962C8B-B14F-4D97-AF65-F5344CB8AC3E}">
        <p14:creationId xmlns:p14="http://schemas.microsoft.com/office/powerpoint/2010/main" val="3071073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47F6B-AB2B-AEBE-771D-CE8528D86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E0912-5BBA-6C2C-745A-A784E53759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F4150-082E-79C4-1F3A-2BD8324AD4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854A81-3A6D-D606-BC83-946B2A91A259}"/>
              </a:ext>
            </a:extLst>
          </p:cNvPr>
          <p:cNvSpPr>
            <a:spLocks noGrp="1"/>
          </p:cNvSpPr>
          <p:nvPr>
            <p:ph type="sldNum" sz="quarter" idx="5"/>
          </p:nvPr>
        </p:nvSpPr>
        <p:spPr/>
        <p:txBody>
          <a:bodyPr/>
          <a:lstStyle/>
          <a:p>
            <a:fld id="{BA8B91EE-EA77-074C-ABDE-BAE6359B4E98}" type="slidenum">
              <a:rPr lang="en-US" smtClean="0"/>
              <a:t>3</a:t>
            </a:fld>
            <a:endParaRPr lang="en-US"/>
          </a:p>
        </p:txBody>
      </p:sp>
    </p:spTree>
    <p:extLst>
      <p:ext uri="{BB962C8B-B14F-4D97-AF65-F5344CB8AC3E}">
        <p14:creationId xmlns:p14="http://schemas.microsoft.com/office/powerpoint/2010/main" val="669859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A7E78-4330-193B-B423-8314C67628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080FDA-9F58-7E15-C3A0-BCA67A1B6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FD1846-5607-2F80-FE77-B45D1134D8BD}"/>
              </a:ext>
            </a:extLst>
          </p:cNvPr>
          <p:cNvSpPr>
            <a:spLocks noGrp="1"/>
          </p:cNvSpPr>
          <p:nvPr>
            <p:ph type="dt" sz="half" idx="10"/>
          </p:nvPr>
        </p:nvSpPr>
        <p:spPr/>
        <p:txBody>
          <a:bodyPr/>
          <a:lstStyle/>
          <a:p>
            <a:fld id="{5F491023-0B0A-7041-9F06-D25A50EF063B}" type="datetimeFigureOut">
              <a:t>7/16/26</a:t>
            </a:fld>
            <a:endParaRPr lang="en-US"/>
          </a:p>
        </p:txBody>
      </p:sp>
      <p:sp>
        <p:nvSpPr>
          <p:cNvPr id="5" name="Footer Placeholder 4">
            <a:extLst>
              <a:ext uri="{FF2B5EF4-FFF2-40B4-BE49-F238E27FC236}">
                <a16:creationId xmlns:a16="http://schemas.microsoft.com/office/drawing/2014/main" id="{F859EC29-87F8-BE2D-794A-6DA472257B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340454-B433-410E-0FF8-FC3528287FB9}"/>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3610508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6760B-86A2-A753-7B95-0F58C129DD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26CB2F-877F-D8BF-FD37-54A9FCD98E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7B5966-DCE9-9278-FC75-7505EFC8263A}"/>
              </a:ext>
            </a:extLst>
          </p:cNvPr>
          <p:cNvSpPr>
            <a:spLocks noGrp="1"/>
          </p:cNvSpPr>
          <p:nvPr>
            <p:ph type="dt" sz="half" idx="10"/>
          </p:nvPr>
        </p:nvSpPr>
        <p:spPr/>
        <p:txBody>
          <a:bodyPr/>
          <a:lstStyle/>
          <a:p>
            <a:fld id="{5F491023-0B0A-7041-9F06-D25A50EF063B}" type="datetimeFigureOut">
              <a:t>7/16/26</a:t>
            </a:fld>
            <a:endParaRPr lang="en-US"/>
          </a:p>
        </p:txBody>
      </p:sp>
      <p:sp>
        <p:nvSpPr>
          <p:cNvPr id="5" name="Footer Placeholder 4">
            <a:extLst>
              <a:ext uri="{FF2B5EF4-FFF2-40B4-BE49-F238E27FC236}">
                <a16:creationId xmlns:a16="http://schemas.microsoft.com/office/drawing/2014/main" id="{C78C6C7F-3558-A2B7-B9CB-C865542E09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53B692-9BC3-C542-CF13-B75CF4818CDB}"/>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2247929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201A7-590C-E867-7D0C-AE29A5E7C7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89C844-B762-199D-E840-4432CFA9EC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8F83D9-6582-F301-0C23-DFC25549446F}"/>
              </a:ext>
            </a:extLst>
          </p:cNvPr>
          <p:cNvSpPr>
            <a:spLocks noGrp="1"/>
          </p:cNvSpPr>
          <p:nvPr>
            <p:ph type="dt" sz="half" idx="10"/>
          </p:nvPr>
        </p:nvSpPr>
        <p:spPr/>
        <p:txBody>
          <a:bodyPr/>
          <a:lstStyle/>
          <a:p>
            <a:fld id="{5F491023-0B0A-7041-9F06-D25A50EF063B}" type="datetimeFigureOut">
              <a:t>7/16/26</a:t>
            </a:fld>
            <a:endParaRPr lang="en-US"/>
          </a:p>
        </p:txBody>
      </p:sp>
      <p:sp>
        <p:nvSpPr>
          <p:cNvPr id="5" name="Footer Placeholder 4">
            <a:extLst>
              <a:ext uri="{FF2B5EF4-FFF2-40B4-BE49-F238E27FC236}">
                <a16:creationId xmlns:a16="http://schemas.microsoft.com/office/drawing/2014/main" id="{5552132C-12F6-FB49-15E9-71DC67F2F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D5F5A6-E475-572D-EB19-BDCB29C26D43}"/>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458941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7E54A-D232-E13B-03B8-197985E469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95FE80-6415-A129-A133-13F4E69631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F34163-2BC5-67B8-C044-B2B91150F7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E24A9F-6EBE-F2FD-B790-457A880F4FE5}"/>
              </a:ext>
            </a:extLst>
          </p:cNvPr>
          <p:cNvSpPr>
            <a:spLocks noGrp="1"/>
          </p:cNvSpPr>
          <p:nvPr>
            <p:ph type="dt" sz="half" idx="10"/>
          </p:nvPr>
        </p:nvSpPr>
        <p:spPr/>
        <p:txBody>
          <a:bodyPr/>
          <a:lstStyle/>
          <a:p>
            <a:fld id="{5F491023-0B0A-7041-9F06-D25A50EF063B}" type="datetimeFigureOut">
              <a:t>7/16/26</a:t>
            </a:fld>
            <a:endParaRPr lang="en-US"/>
          </a:p>
        </p:txBody>
      </p:sp>
      <p:sp>
        <p:nvSpPr>
          <p:cNvPr id="6" name="Footer Placeholder 5">
            <a:extLst>
              <a:ext uri="{FF2B5EF4-FFF2-40B4-BE49-F238E27FC236}">
                <a16:creationId xmlns:a16="http://schemas.microsoft.com/office/drawing/2014/main" id="{33165A11-D3B2-DAF0-6C96-3A013B4B66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148667-6987-698C-D3F8-33E4C2F455D5}"/>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1646234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9EB9B-3B5A-BAA4-1104-35CFEE511D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A6AF77-D30B-078E-7377-864E200417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D3BB66-8448-BDCE-8885-0DCCD1D2FD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C4BBBE-287A-8A3C-D9AC-73777D133F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EC8599-617C-397F-DC3D-826467ADF3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F5D750-7437-B1AA-EDBA-8CE16147AE93}"/>
              </a:ext>
            </a:extLst>
          </p:cNvPr>
          <p:cNvSpPr>
            <a:spLocks noGrp="1"/>
          </p:cNvSpPr>
          <p:nvPr>
            <p:ph type="dt" sz="half" idx="10"/>
          </p:nvPr>
        </p:nvSpPr>
        <p:spPr/>
        <p:txBody>
          <a:bodyPr/>
          <a:lstStyle/>
          <a:p>
            <a:fld id="{5F491023-0B0A-7041-9F06-D25A50EF063B}" type="datetimeFigureOut">
              <a:t>7/16/26</a:t>
            </a:fld>
            <a:endParaRPr lang="en-US"/>
          </a:p>
        </p:txBody>
      </p:sp>
      <p:sp>
        <p:nvSpPr>
          <p:cNvPr id="8" name="Footer Placeholder 7">
            <a:extLst>
              <a:ext uri="{FF2B5EF4-FFF2-40B4-BE49-F238E27FC236}">
                <a16:creationId xmlns:a16="http://schemas.microsoft.com/office/drawing/2014/main" id="{F61E2CB5-60FB-BFE3-7C57-6D71206F09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2E5366-9BBC-DD63-6667-F2ABAD0CF72B}"/>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2566103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502E0-2360-8A3B-C660-0EEE2283AC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761752-B6B9-B0D3-79D0-BA63B329CC71}"/>
              </a:ext>
            </a:extLst>
          </p:cNvPr>
          <p:cNvSpPr>
            <a:spLocks noGrp="1"/>
          </p:cNvSpPr>
          <p:nvPr>
            <p:ph type="dt" sz="half" idx="10"/>
          </p:nvPr>
        </p:nvSpPr>
        <p:spPr/>
        <p:txBody>
          <a:bodyPr/>
          <a:lstStyle/>
          <a:p>
            <a:fld id="{5F491023-0B0A-7041-9F06-D25A50EF063B}" type="datetimeFigureOut">
              <a:t>7/16/26</a:t>
            </a:fld>
            <a:endParaRPr lang="en-US"/>
          </a:p>
        </p:txBody>
      </p:sp>
      <p:sp>
        <p:nvSpPr>
          <p:cNvPr id="4" name="Footer Placeholder 3">
            <a:extLst>
              <a:ext uri="{FF2B5EF4-FFF2-40B4-BE49-F238E27FC236}">
                <a16:creationId xmlns:a16="http://schemas.microsoft.com/office/drawing/2014/main" id="{E549FDB9-28AA-E5EE-0E6F-1C87098343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1A72C3-CCD3-E994-0553-1649E7C05A91}"/>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804306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27FBEF-93F3-4398-ABDE-E19A2BE6EE20}"/>
              </a:ext>
            </a:extLst>
          </p:cNvPr>
          <p:cNvSpPr>
            <a:spLocks noGrp="1"/>
          </p:cNvSpPr>
          <p:nvPr>
            <p:ph type="dt" sz="half" idx="10"/>
          </p:nvPr>
        </p:nvSpPr>
        <p:spPr/>
        <p:txBody>
          <a:bodyPr/>
          <a:lstStyle/>
          <a:p>
            <a:fld id="{5F491023-0B0A-7041-9F06-D25A50EF063B}" type="datetimeFigureOut">
              <a:t>7/16/26</a:t>
            </a:fld>
            <a:endParaRPr lang="en-US"/>
          </a:p>
        </p:txBody>
      </p:sp>
      <p:sp>
        <p:nvSpPr>
          <p:cNvPr id="3" name="Footer Placeholder 2">
            <a:extLst>
              <a:ext uri="{FF2B5EF4-FFF2-40B4-BE49-F238E27FC236}">
                <a16:creationId xmlns:a16="http://schemas.microsoft.com/office/drawing/2014/main" id="{4224BDFD-B5CF-6FE3-E5D7-46013C29E0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995C03-7815-0295-8D6D-6E94DCC40D75}"/>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3806529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60438-A2C9-EC42-359F-79480BBFBC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BAC04E-128D-0581-C7DA-E12F971BB4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57F62C-C89B-1A1C-EE71-DFB3CCC880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E8FE63-1511-35E5-E243-54A541D5317B}"/>
              </a:ext>
            </a:extLst>
          </p:cNvPr>
          <p:cNvSpPr>
            <a:spLocks noGrp="1"/>
          </p:cNvSpPr>
          <p:nvPr>
            <p:ph type="dt" sz="half" idx="10"/>
          </p:nvPr>
        </p:nvSpPr>
        <p:spPr/>
        <p:txBody>
          <a:bodyPr/>
          <a:lstStyle/>
          <a:p>
            <a:fld id="{5F491023-0B0A-7041-9F06-D25A50EF063B}" type="datetimeFigureOut">
              <a:t>7/16/26</a:t>
            </a:fld>
            <a:endParaRPr lang="en-US"/>
          </a:p>
        </p:txBody>
      </p:sp>
      <p:sp>
        <p:nvSpPr>
          <p:cNvPr id="6" name="Footer Placeholder 5">
            <a:extLst>
              <a:ext uri="{FF2B5EF4-FFF2-40B4-BE49-F238E27FC236}">
                <a16:creationId xmlns:a16="http://schemas.microsoft.com/office/drawing/2014/main" id="{E388C57B-944F-63EC-027D-0775FFD317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0B95C2-F629-DCC1-1A34-EFD210A359EF}"/>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706187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1C171-16B5-30EF-DF6B-EA8297BFE4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EC62FB-CB34-C301-34F2-0BC3B063A2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14D87E-859D-4374-028E-34A7E0967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A0E7CC-E810-603C-A310-365D6E2E7624}"/>
              </a:ext>
            </a:extLst>
          </p:cNvPr>
          <p:cNvSpPr>
            <a:spLocks noGrp="1"/>
          </p:cNvSpPr>
          <p:nvPr>
            <p:ph type="dt" sz="half" idx="10"/>
          </p:nvPr>
        </p:nvSpPr>
        <p:spPr/>
        <p:txBody>
          <a:bodyPr/>
          <a:lstStyle/>
          <a:p>
            <a:fld id="{5F491023-0B0A-7041-9F06-D25A50EF063B}" type="datetimeFigureOut">
              <a:t>7/16/26</a:t>
            </a:fld>
            <a:endParaRPr lang="en-US"/>
          </a:p>
        </p:txBody>
      </p:sp>
      <p:sp>
        <p:nvSpPr>
          <p:cNvPr id="6" name="Footer Placeholder 5">
            <a:extLst>
              <a:ext uri="{FF2B5EF4-FFF2-40B4-BE49-F238E27FC236}">
                <a16:creationId xmlns:a16="http://schemas.microsoft.com/office/drawing/2014/main" id="{14811FA3-03C6-243F-1B00-D8C263B8A5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7B7296-43FF-9B1B-273A-D8A59A1AF525}"/>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3606987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B347D-D077-DA5B-BCBF-255D910F83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D969ED-67C2-311E-252D-6A110850A0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D0FBA1-3C89-EC11-74D4-20B92AAFDA09}"/>
              </a:ext>
            </a:extLst>
          </p:cNvPr>
          <p:cNvSpPr>
            <a:spLocks noGrp="1"/>
          </p:cNvSpPr>
          <p:nvPr>
            <p:ph type="dt" sz="half" idx="10"/>
          </p:nvPr>
        </p:nvSpPr>
        <p:spPr/>
        <p:txBody>
          <a:bodyPr/>
          <a:lstStyle/>
          <a:p>
            <a:fld id="{5F491023-0B0A-7041-9F06-D25A50EF063B}" type="datetimeFigureOut">
              <a:t>7/16/26</a:t>
            </a:fld>
            <a:endParaRPr lang="en-US"/>
          </a:p>
        </p:txBody>
      </p:sp>
      <p:sp>
        <p:nvSpPr>
          <p:cNvPr id="5" name="Footer Placeholder 4">
            <a:extLst>
              <a:ext uri="{FF2B5EF4-FFF2-40B4-BE49-F238E27FC236}">
                <a16:creationId xmlns:a16="http://schemas.microsoft.com/office/drawing/2014/main" id="{9CA7745B-5BAE-F9D3-47E4-0138D1CEA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730326-C5CD-0886-9BE9-A7F7DB749C98}"/>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774503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D2BAD8-9CAB-A380-AAC3-A59F3A3256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D29A6E-D831-F47F-A2AE-F6E1AFD2D0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7F4713-8CBC-B5EB-3BDB-7F46E4C81A2E}"/>
              </a:ext>
            </a:extLst>
          </p:cNvPr>
          <p:cNvSpPr>
            <a:spLocks noGrp="1"/>
          </p:cNvSpPr>
          <p:nvPr>
            <p:ph type="dt" sz="half" idx="10"/>
          </p:nvPr>
        </p:nvSpPr>
        <p:spPr/>
        <p:txBody>
          <a:bodyPr/>
          <a:lstStyle/>
          <a:p>
            <a:fld id="{5F491023-0B0A-7041-9F06-D25A50EF063B}" type="datetimeFigureOut">
              <a:t>7/16/26</a:t>
            </a:fld>
            <a:endParaRPr lang="en-US"/>
          </a:p>
        </p:txBody>
      </p:sp>
      <p:sp>
        <p:nvSpPr>
          <p:cNvPr id="5" name="Footer Placeholder 4">
            <a:extLst>
              <a:ext uri="{FF2B5EF4-FFF2-40B4-BE49-F238E27FC236}">
                <a16:creationId xmlns:a16="http://schemas.microsoft.com/office/drawing/2014/main" id="{6AB814CE-5D3F-6AF3-1B95-C1BCD7CEF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44F38C-1773-F5A8-9806-A23E993F747F}"/>
              </a:ext>
            </a:extLst>
          </p:cNvPr>
          <p:cNvSpPr>
            <a:spLocks noGrp="1"/>
          </p:cNvSpPr>
          <p:nvPr>
            <p:ph type="sldNum" sz="quarter" idx="12"/>
          </p:nvPr>
        </p:nvSpPr>
        <p:spPr/>
        <p:txBody>
          <a:bodyPr/>
          <a:lstStyle/>
          <a:p>
            <a:fld id="{B43E528E-3295-EB44-B5E3-209426A0E5EC}" type="slidenum">
              <a:t>‹#›</a:t>
            </a:fld>
            <a:endParaRPr lang="en-US"/>
          </a:p>
        </p:txBody>
      </p:sp>
    </p:spTree>
    <p:extLst>
      <p:ext uri="{BB962C8B-B14F-4D97-AF65-F5344CB8AC3E}">
        <p14:creationId xmlns:p14="http://schemas.microsoft.com/office/powerpoint/2010/main" val="1657299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D680EF-BCA9-239E-5CBB-C870C41B48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0FCFB0-9A1E-EE20-9776-1EF4CAC7D5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1C2FEA-8E7F-70CC-474B-CC138894A0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491023-0B0A-7041-9F06-D25A50EF063B}" type="datetimeFigureOut">
              <a:t>7/16/26</a:t>
            </a:fld>
            <a:endParaRPr lang="en-US"/>
          </a:p>
        </p:txBody>
      </p:sp>
      <p:sp>
        <p:nvSpPr>
          <p:cNvPr id="5" name="Footer Placeholder 4">
            <a:extLst>
              <a:ext uri="{FF2B5EF4-FFF2-40B4-BE49-F238E27FC236}">
                <a16:creationId xmlns:a16="http://schemas.microsoft.com/office/drawing/2014/main" id="{97568BAB-55F6-6894-580A-32AFD5780B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8BF367-BF67-C7BE-7EC4-9DB85C434E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3E528E-3295-EB44-B5E3-209426A0E5EC}" type="slidenum">
              <a:t>‹#›</a:t>
            </a:fld>
            <a:endParaRPr lang="en-US"/>
          </a:p>
        </p:txBody>
      </p:sp>
    </p:spTree>
    <p:extLst>
      <p:ext uri="{BB962C8B-B14F-4D97-AF65-F5344CB8AC3E}">
        <p14:creationId xmlns:p14="http://schemas.microsoft.com/office/powerpoint/2010/main" val="1160560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https://www.deltafaucet.com/service-parts/contact-us" TargetMode="External"/><Relationship Id="rId13" Type="http://schemas.openxmlformats.org/officeDocument/2006/relationships/image" Target="../media/image9.png"/><Relationship Id="rId18" Type="http://schemas.openxmlformats.org/officeDocument/2006/relationships/image" Target="../media/image12.png"/><Relationship Id="rId3" Type="http://schemas.openxmlformats.org/officeDocument/2006/relationships/hyperlink" Target="https://www.youtube.com/watch?v=PrzEz4_SJL8" TargetMode="External"/><Relationship Id="rId7" Type="http://schemas.openxmlformats.org/officeDocument/2006/relationships/hyperlink" Target="https://www.youtube.com/watch?v=mVLKFwymZL4" TargetMode="External"/><Relationship Id="rId12" Type="http://schemas.openxmlformats.org/officeDocument/2006/relationships/image" Target="../media/image8.png"/><Relationship Id="rId17" Type="http://schemas.openxmlformats.org/officeDocument/2006/relationships/image" Target="../media/image11.png"/><Relationship Id="rId2" Type="http://schemas.openxmlformats.org/officeDocument/2006/relationships/notesSlide" Target="../notesSlides/notesSlide2.xml"/><Relationship Id="rId16" Type="http://schemas.openxmlformats.org/officeDocument/2006/relationships/hyperlink" Target="https://www.youtube.com/shorts/sH63hY-eUzg" TargetMode="External"/><Relationship Id="rId1" Type="http://schemas.openxmlformats.org/officeDocument/2006/relationships/slideLayout" Target="../slideLayouts/slideLayout7.xml"/><Relationship Id="rId6" Type="http://schemas.openxmlformats.org/officeDocument/2006/relationships/hyperlink" Target="https://www.youtube.com/watch?v=meRdEynmPVo" TargetMode="External"/><Relationship Id="rId11" Type="http://schemas.openxmlformats.org/officeDocument/2006/relationships/hyperlink" Target="https://www.amazon.com/dp/B001DU0GLY" TargetMode="External"/><Relationship Id="rId5" Type="http://schemas.openxmlformats.org/officeDocument/2006/relationships/hyperlink" Target="https://www.youtube.com/watch?v=32SHxO1NNSA" TargetMode="External"/><Relationship Id="rId15" Type="http://schemas.openxmlformats.org/officeDocument/2006/relationships/hyperlink" Target="https://www.youtube.com/watch?v=qD6j2vWpP4A" TargetMode="External"/><Relationship Id="rId10" Type="http://schemas.openxmlformats.org/officeDocument/2006/relationships/hyperlink" Target="https://www.amazon.com/dp/B07G2TCSKF" TargetMode="External"/><Relationship Id="rId19" Type="http://schemas.openxmlformats.org/officeDocument/2006/relationships/image" Target="../media/image13.png"/><Relationship Id="rId4" Type="http://schemas.openxmlformats.org/officeDocument/2006/relationships/hyperlink" Target="https://www.youtube.com/watch?v=nF9jWuetjYA" TargetMode="External"/><Relationship Id="rId9" Type="http://schemas.openxmlformats.org/officeDocument/2006/relationships/image" Target="../media/image7.png"/><Relationship Id="rId1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163547-3461-AE07-C75E-7594C61EA810}"/>
              </a:ext>
            </a:extLst>
          </p:cNvPr>
          <p:cNvSpPr txBox="1"/>
          <p:nvPr/>
        </p:nvSpPr>
        <p:spPr>
          <a:xfrm>
            <a:off x="0" y="9719"/>
            <a:ext cx="3570514" cy="523220"/>
          </a:xfrm>
          <a:prstGeom prst="rect">
            <a:avLst/>
          </a:prstGeom>
          <a:noFill/>
        </p:spPr>
        <p:txBody>
          <a:bodyPr wrap="square" rtlCol="0">
            <a:spAutoFit/>
          </a:bodyPr>
          <a:lstStyle/>
          <a:p>
            <a:r>
              <a:rPr lang="en-US" sz="2800" b="1" i="0" dirty="0">
                <a:solidFill>
                  <a:srgbClr val="0F1111"/>
                </a:solidFill>
                <a:effectLst/>
              </a:rPr>
              <a:t>Bathroom Faucets</a:t>
            </a:r>
            <a:endParaRPr lang="en-US" sz="2800" b="1" dirty="0">
              <a:solidFill>
                <a:srgbClr val="00B0F0"/>
              </a:solidFill>
            </a:endParaRPr>
          </a:p>
        </p:txBody>
      </p:sp>
      <p:sp>
        <p:nvSpPr>
          <p:cNvPr id="4" name="TextBox 3">
            <a:extLst>
              <a:ext uri="{FF2B5EF4-FFF2-40B4-BE49-F238E27FC236}">
                <a16:creationId xmlns:a16="http://schemas.microsoft.com/office/drawing/2014/main" id="{4A0457ED-367C-2519-205E-C2C78848F565}"/>
              </a:ext>
            </a:extLst>
          </p:cNvPr>
          <p:cNvSpPr txBox="1"/>
          <p:nvPr/>
        </p:nvSpPr>
        <p:spPr>
          <a:xfrm>
            <a:off x="655064" y="2223407"/>
            <a:ext cx="1676400" cy="307777"/>
          </a:xfrm>
          <a:prstGeom prst="rect">
            <a:avLst/>
          </a:prstGeom>
          <a:noFill/>
        </p:spPr>
        <p:txBody>
          <a:bodyPr wrap="square" rtlCol="0">
            <a:spAutoFit/>
          </a:bodyPr>
          <a:lstStyle/>
          <a:p>
            <a:r>
              <a:rPr lang="en-US" sz="1400" dirty="0"/>
              <a:t>Cross Handle</a:t>
            </a:r>
          </a:p>
        </p:txBody>
      </p:sp>
      <p:pic>
        <p:nvPicPr>
          <p:cNvPr id="16" name="Picture 15">
            <a:extLst>
              <a:ext uri="{FF2B5EF4-FFF2-40B4-BE49-F238E27FC236}">
                <a16:creationId xmlns:a16="http://schemas.microsoft.com/office/drawing/2014/main" id="{3ED4BA7B-7061-5CF7-31D9-859FAA38573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565" y="865414"/>
            <a:ext cx="2665399" cy="1224643"/>
          </a:xfrm>
          <a:prstGeom prst="rect">
            <a:avLst/>
          </a:prstGeom>
        </p:spPr>
      </p:pic>
      <p:pic>
        <p:nvPicPr>
          <p:cNvPr id="17" name="Picture 16">
            <a:extLst>
              <a:ext uri="{FF2B5EF4-FFF2-40B4-BE49-F238E27FC236}">
                <a16:creationId xmlns:a16="http://schemas.microsoft.com/office/drawing/2014/main" id="{F98332DC-A3D1-2F7F-7F94-BFC7E554671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07389" y="3429000"/>
            <a:ext cx="2571750" cy="1771650"/>
          </a:xfrm>
          <a:prstGeom prst="rect">
            <a:avLst/>
          </a:prstGeom>
        </p:spPr>
      </p:pic>
      <p:sp>
        <p:nvSpPr>
          <p:cNvPr id="18" name="TextBox 17">
            <a:extLst>
              <a:ext uri="{FF2B5EF4-FFF2-40B4-BE49-F238E27FC236}">
                <a16:creationId xmlns:a16="http://schemas.microsoft.com/office/drawing/2014/main" id="{C87F3AFF-9913-1172-2528-5F3B156BD670}"/>
              </a:ext>
            </a:extLst>
          </p:cNvPr>
          <p:cNvSpPr txBox="1"/>
          <p:nvPr/>
        </p:nvSpPr>
        <p:spPr>
          <a:xfrm>
            <a:off x="0" y="3716238"/>
            <a:ext cx="1300879" cy="307777"/>
          </a:xfrm>
          <a:prstGeom prst="rect">
            <a:avLst/>
          </a:prstGeom>
          <a:noFill/>
        </p:spPr>
        <p:txBody>
          <a:bodyPr wrap="square" rtlCol="0">
            <a:spAutoFit/>
          </a:bodyPr>
          <a:lstStyle/>
          <a:p>
            <a:r>
              <a:rPr lang="en-US" sz="1400" dirty="0"/>
              <a:t>Lever Handle</a:t>
            </a:r>
          </a:p>
        </p:txBody>
      </p:sp>
      <p:pic>
        <p:nvPicPr>
          <p:cNvPr id="19" name="Picture 18">
            <a:extLst>
              <a:ext uri="{FF2B5EF4-FFF2-40B4-BE49-F238E27FC236}">
                <a16:creationId xmlns:a16="http://schemas.microsoft.com/office/drawing/2014/main" id="{FF57C4FD-A26F-C69A-3792-61961DC5F8F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570514" y="3671639"/>
            <a:ext cx="3210379" cy="1662361"/>
          </a:xfrm>
          <a:prstGeom prst="rect">
            <a:avLst/>
          </a:prstGeom>
        </p:spPr>
      </p:pic>
      <p:sp>
        <p:nvSpPr>
          <p:cNvPr id="20" name="TextBox 19">
            <a:extLst>
              <a:ext uri="{FF2B5EF4-FFF2-40B4-BE49-F238E27FC236}">
                <a16:creationId xmlns:a16="http://schemas.microsoft.com/office/drawing/2014/main" id="{74012B31-4528-BF38-8CFC-F6101DDF82D0}"/>
              </a:ext>
            </a:extLst>
          </p:cNvPr>
          <p:cNvSpPr txBox="1"/>
          <p:nvPr/>
        </p:nvSpPr>
        <p:spPr>
          <a:xfrm>
            <a:off x="795346" y="5285664"/>
            <a:ext cx="1676400" cy="738664"/>
          </a:xfrm>
          <a:prstGeom prst="rect">
            <a:avLst/>
          </a:prstGeom>
          <a:noFill/>
        </p:spPr>
        <p:txBody>
          <a:bodyPr wrap="square" rtlCol="0">
            <a:spAutoFit/>
          </a:bodyPr>
          <a:lstStyle/>
          <a:p>
            <a:r>
              <a:rPr lang="en-US" sz="1400" dirty="0"/>
              <a:t>Central piece</a:t>
            </a:r>
          </a:p>
          <a:p>
            <a:r>
              <a:rPr lang="en-US" sz="1400" dirty="0"/>
              <a:t>4", 3-hole</a:t>
            </a:r>
          </a:p>
          <a:p>
            <a:r>
              <a:rPr lang="en-US" sz="1400" b="0" i="0" dirty="0">
                <a:solidFill>
                  <a:srgbClr val="0F1111"/>
                </a:solidFill>
                <a:effectLst/>
              </a:rPr>
              <a:t>Swivel Spout</a:t>
            </a:r>
            <a:r>
              <a:rPr lang="en-US" sz="1400" dirty="0"/>
              <a:t> </a:t>
            </a:r>
          </a:p>
        </p:txBody>
      </p:sp>
      <p:sp>
        <p:nvSpPr>
          <p:cNvPr id="21" name="TextBox 20">
            <a:extLst>
              <a:ext uri="{FF2B5EF4-FFF2-40B4-BE49-F238E27FC236}">
                <a16:creationId xmlns:a16="http://schemas.microsoft.com/office/drawing/2014/main" id="{A9807E19-F0A0-7833-E6FD-C5C6946DBDC0}"/>
              </a:ext>
            </a:extLst>
          </p:cNvPr>
          <p:cNvSpPr txBox="1"/>
          <p:nvPr/>
        </p:nvSpPr>
        <p:spPr>
          <a:xfrm>
            <a:off x="4620013" y="5450765"/>
            <a:ext cx="1338025" cy="307777"/>
          </a:xfrm>
          <a:prstGeom prst="rect">
            <a:avLst/>
          </a:prstGeom>
          <a:noFill/>
        </p:spPr>
        <p:txBody>
          <a:bodyPr wrap="square" rtlCol="0">
            <a:spAutoFit/>
          </a:bodyPr>
          <a:lstStyle/>
          <a:p>
            <a:r>
              <a:rPr lang="en-US" sz="1400" dirty="0"/>
              <a:t>Wide Spread</a:t>
            </a:r>
          </a:p>
        </p:txBody>
      </p:sp>
      <p:pic>
        <p:nvPicPr>
          <p:cNvPr id="22" name="Picture 21">
            <a:extLst>
              <a:ext uri="{FF2B5EF4-FFF2-40B4-BE49-F238E27FC236}">
                <a16:creationId xmlns:a16="http://schemas.microsoft.com/office/drawing/2014/main" id="{8A6EBBF4-524F-D63E-CD0E-43E9151A45E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631939" y="521563"/>
            <a:ext cx="714826" cy="2029595"/>
          </a:xfrm>
          <a:prstGeom prst="rect">
            <a:avLst/>
          </a:prstGeom>
        </p:spPr>
      </p:pic>
      <p:sp>
        <p:nvSpPr>
          <p:cNvPr id="23" name="TextBox 22">
            <a:extLst>
              <a:ext uri="{FF2B5EF4-FFF2-40B4-BE49-F238E27FC236}">
                <a16:creationId xmlns:a16="http://schemas.microsoft.com/office/drawing/2014/main" id="{21A7E65C-3609-C38A-8FC3-3097E31D8820}"/>
              </a:ext>
            </a:extLst>
          </p:cNvPr>
          <p:cNvSpPr txBox="1"/>
          <p:nvPr/>
        </p:nvSpPr>
        <p:spPr>
          <a:xfrm>
            <a:off x="8446117" y="2575035"/>
            <a:ext cx="1254835" cy="523220"/>
          </a:xfrm>
          <a:prstGeom prst="rect">
            <a:avLst/>
          </a:prstGeom>
          <a:noFill/>
        </p:spPr>
        <p:txBody>
          <a:bodyPr wrap="square" rtlCol="0">
            <a:spAutoFit/>
          </a:bodyPr>
          <a:lstStyle/>
          <a:p>
            <a:r>
              <a:rPr lang="en-US" sz="1400" dirty="0"/>
              <a:t>Drain Stopper</a:t>
            </a:r>
          </a:p>
          <a:p>
            <a:r>
              <a:rPr lang="en-US" sz="1400" dirty="0"/>
              <a:t>with overflow</a:t>
            </a:r>
          </a:p>
        </p:txBody>
      </p:sp>
      <p:pic>
        <p:nvPicPr>
          <p:cNvPr id="25" name="Picture 24">
            <a:extLst>
              <a:ext uri="{FF2B5EF4-FFF2-40B4-BE49-F238E27FC236}">
                <a16:creationId xmlns:a16="http://schemas.microsoft.com/office/drawing/2014/main" id="{48DDD83A-8612-D09E-6F06-C989BF64FD56}"/>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085344" y="680860"/>
            <a:ext cx="888667" cy="1761408"/>
          </a:xfrm>
          <a:prstGeom prst="rect">
            <a:avLst/>
          </a:prstGeom>
        </p:spPr>
      </p:pic>
      <p:sp>
        <p:nvSpPr>
          <p:cNvPr id="26" name="TextBox 25">
            <a:extLst>
              <a:ext uri="{FF2B5EF4-FFF2-40B4-BE49-F238E27FC236}">
                <a16:creationId xmlns:a16="http://schemas.microsoft.com/office/drawing/2014/main" id="{F9FF40F0-3BBE-1BF8-8511-947AA75D9402}"/>
              </a:ext>
            </a:extLst>
          </p:cNvPr>
          <p:cNvSpPr txBox="1"/>
          <p:nvPr/>
        </p:nvSpPr>
        <p:spPr>
          <a:xfrm>
            <a:off x="10332669" y="2623161"/>
            <a:ext cx="1254835" cy="738664"/>
          </a:xfrm>
          <a:prstGeom prst="rect">
            <a:avLst/>
          </a:prstGeom>
          <a:noFill/>
        </p:spPr>
        <p:txBody>
          <a:bodyPr wrap="square" rtlCol="0">
            <a:spAutoFit/>
          </a:bodyPr>
          <a:lstStyle/>
          <a:p>
            <a:r>
              <a:rPr lang="en-US" sz="1400" dirty="0"/>
              <a:t>pop-up drain stopper</a:t>
            </a:r>
          </a:p>
          <a:p>
            <a:r>
              <a:rPr lang="en-US" sz="1400" dirty="0"/>
              <a:t>with overflow</a:t>
            </a:r>
          </a:p>
        </p:txBody>
      </p:sp>
      <p:pic>
        <p:nvPicPr>
          <p:cNvPr id="27" name="Picture 26">
            <a:extLst>
              <a:ext uri="{FF2B5EF4-FFF2-40B4-BE49-F238E27FC236}">
                <a16:creationId xmlns:a16="http://schemas.microsoft.com/office/drawing/2014/main" id="{7E4BE17A-97E0-8D13-C2A4-F1710C070130}"/>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929565" y="3429000"/>
            <a:ext cx="2022961" cy="1502490"/>
          </a:xfrm>
          <a:prstGeom prst="rect">
            <a:avLst/>
          </a:prstGeom>
        </p:spPr>
      </p:pic>
      <p:sp>
        <p:nvSpPr>
          <p:cNvPr id="28" name="Down Arrow 27">
            <a:extLst>
              <a:ext uri="{FF2B5EF4-FFF2-40B4-BE49-F238E27FC236}">
                <a16:creationId xmlns:a16="http://schemas.microsoft.com/office/drawing/2014/main" id="{37617247-FEB9-5F12-C46B-E1E784E9A300}"/>
              </a:ext>
            </a:extLst>
          </p:cNvPr>
          <p:cNvSpPr/>
          <p:nvPr/>
        </p:nvSpPr>
        <p:spPr>
          <a:xfrm>
            <a:off x="10680000" y="3356559"/>
            <a:ext cx="211121" cy="6475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own Arrow 28">
            <a:extLst>
              <a:ext uri="{FF2B5EF4-FFF2-40B4-BE49-F238E27FC236}">
                <a16:creationId xmlns:a16="http://schemas.microsoft.com/office/drawing/2014/main" id="{E8B42205-0D88-B839-14F2-91B2D3825DC0}"/>
              </a:ext>
            </a:extLst>
          </p:cNvPr>
          <p:cNvSpPr/>
          <p:nvPr/>
        </p:nvSpPr>
        <p:spPr>
          <a:xfrm rot="10800000" flipH="1">
            <a:off x="10704505" y="2233062"/>
            <a:ext cx="186616" cy="4093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8619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0809D-1B09-8242-592D-24742DD77A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FE95FF-0821-2718-3793-905BE80019BF}"/>
              </a:ext>
            </a:extLst>
          </p:cNvPr>
          <p:cNvSpPr txBox="1"/>
          <p:nvPr/>
        </p:nvSpPr>
        <p:spPr>
          <a:xfrm>
            <a:off x="0" y="9719"/>
            <a:ext cx="3493972" cy="400110"/>
          </a:xfrm>
          <a:prstGeom prst="rect">
            <a:avLst/>
          </a:prstGeom>
          <a:noFill/>
        </p:spPr>
        <p:txBody>
          <a:bodyPr wrap="square" rtlCol="0">
            <a:spAutoFit/>
          </a:bodyPr>
          <a:lstStyle/>
          <a:p>
            <a:r>
              <a:rPr lang="en-US" sz="2000" b="1" i="0" dirty="0">
                <a:solidFill>
                  <a:srgbClr val="0F1111"/>
                </a:solidFill>
                <a:effectLst/>
                <a:latin typeface="Calibri" panose="020F0502020204030204" pitchFamily="34" charset="0"/>
                <a:cs typeface="Calibri" panose="020F0502020204030204" pitchFamily="34" charset="0"/>
              </a:rPr>
              <a:t>Delta Monitor </a:t>
            </a:r>
            <a:r>
              <a:rPr lang="en-US" sz="2000" b="1" i="0" dirty="0">
                <a:solidFill>
                  <a:srgbClr val="131313"/>
                </a:solidFill>
                <a:effectLst/>
                <a:latin typeface="Calibri" panose="020F0502020204030204" pitchFamily="34" charset="0"/>
                <a:cs typeface="Calibri" panose="020F0502020204030204" pitchFamily="34" charset="0"/>
              </a:rPr>
              <a:t>shower faucet</a:t>
            </a:r>
            <a:r>
              <a:rPr lang="en-US" sz="2000" b="1" i="0" dirty="0">
                <a:solidFill>
                  <a:srgbClr val="0F1111"/>
                </a:solidFill>
                <a:effectLst/>
                <a:latin typeface="Calibri" panose="020F0502020204030204" pitchFamily="34" charset="0"/>
                <a:cs typeface="Calibri" panose="020F0502020204030204" pitchFamily="34" charset="0"/>
              </a:rPr>
              <a:t> </a:t>
            </a:r>
            <a:endParaRPr lang="en-US" sz="2000" b="1" dirty="0">
              <a:solidFill>
                <a:srgbClr val="00B0F0"/>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57A79DF-66E7-4FBC-D5AB-2179CDE7AC77}"/>
              </a:ext>
            </a:extLst>
          </p:cNvPr>
          <p:cNvSpPr txBox="1"/>
          <p:nvPr/>
        </p:nvSpPr>
        <p:spPr>
          <a:xfrm>
            <a:off x="46839" y="479179"/>
            <a:ext cx="4425123" cy="5447645"/>
          </a:xfrm>
          <a:prstGeom prst="rect">
            <a:avLst/>
          </a:prstGeom>
          <a:noFill/>
        </p:spPr>
        <p:txBody>
          <a:bodyPr wrap="square" rtlCol="0">
            <a:spAutoFit/>
          </a:bodyPr>
          <a:lstStyle/>
          <a:p>
            <a:r>
              <a:rPr lang="en-US" sz="1200" b="0" i="0" dirty="0">
                <a:solidFill>
                  <a:srgbClr val="131313"/>
                </a:solidFill>
                <a:effectLst/>
                <a:latin typeface="Calibri" panose="020F0502020204030204" pitchFamily="34" charset="0"/>
                <a:cs typeface="Calibri" panose="020F0502020204030204" pitchFamily="34" charset="0"/>
              </a:rPr>
              <a:t>Delta Monitor 1700 series shower faucet </a:t>
            </a:r>
          </a:p>
          <a:p>
            <a:r>
              <a:rPr lang="en-US" sz="1200" dirty="0">
                <a:solidFill>
                  <a:srgbClr val="131313"/>
                </a:solidFill>
                <a:latin typeface="Calibri" panose="020F0502020204030204" pitchFamily="34" charset="0"/>
                <a:cs typeface="Calibri" panose="020F0502020204030204" pitchFamily="34" charset="0"/>
              </a:rPr>
              <a:t>with RP46463 cartridge – made after 2006.</a:t>
            </a:r>
          </a:p>
          <a:p>
            <a:endParaRPr lang="en-US" sz="1200" b="0" i="0" dirty="0">
              <a:solidFill>
                <a:srgbClr val="131313"/>
              </a:solidFill>
              <a:effectLst/>
              <a:latin typeface="Calibri" panose="020F0502020204030204" pitchFamily="34" charset="0"/>
              <a:cs typeface="Calibri" panose="020F0502020204030204" pitchFamily="34" charset="0"/>
            </a:endParaRPr>
          </a:p>
          <a:p>
            <a:r>
              <a:rPr lang="en-US" sz="1200" b="0" i="0" dirty="0">
                <a:solidFill>
                  <a:srgbClr val="131313"/>
                </a:solidFill>
                <a:effectLst/>
                <a:latin typeface="Calibri" panose="020F0502020204030204" pitchFamily="34" charset="0"/>
                <a:cs typeface="Calibri" panose="020F0502020204030204" pitchFamily="34" charset="0"/>
              </a:rPr>
              <a:t>Delta faucets have lifetime warranty. </a:t>
            </a:r>
          </a:p>
          <a:p>
            <a:r>
              <a:rPr lang="en-US" sz="1200" b="0" i="0" dirty="0">
                <a:solidFill>
                  <a:srgbClr val="131313"/>
                </a:solidFill>
                <a:effectLst/>
                <a:latin typeface="Calibri" panose="020F0502020204030204" pitchFamily="34" charset="0"/>
                <a:cs typeface="Calibri" panose="020F0502020204030204" pitchFamily="34" charset="0"/>
              </a:rPr>
              <a:t>Just contact Delta at the email </a:t>
            </a:r>
          </a:p>
          <a:p>
            <a:r>
              <a:rPr lang="en-US" sz="1200" dirty="0">
                <a:solidFill>
                  <a:srgbClr val="131313"/>
                </a:solidFill>
                <a:latin typeface="Calibri" panose="020F0502020204030204" pitchFamily="34" charset="0"/>
                <a:cs typeface="Calibri" panose="020F0502020204030204" pitchFamily="34" charset="0"/>
              </a:rPr>
              <a:t>     </a:t>
            </a:r>
            <a:r>
              <a:rPr lang="en-US" sz="1200" b="0" i="0" dirty="0" err="1">
                <a:solidFill>
                  <a:srgbClr val="131313"/>
                </a:solidFill>
                <a:effectLst/>
                <a:latin typeface="Calibri" panose="020F0502020204030204" pitchFamily="34" charset="0"/>
                <a:cs typeface="Calibri" panose="020F0502020204030204" pitchFamily="34" charset="0"/>
              </a:rPr>
              <a:t>customerservice@deltafaucet.com</a:t>
            </a:r>
            <a:endParaRPr lang="en-US" sz="1200" b="0" i="0" dirty="0">
              <a:solidFill>
                <a:srgbClr val="131313"/>
              </a:solidFill>
              <a:effectLst/>
              <a:latin typeface="Calibri" panose="020F0502020204030204" pitchFamily="34" charset="0"/>
              <a:cs typeface="Calibri" panose="020F0502020204030204" pitchFamily="34" charset="0"/>
            </a:endParaRPr>
          </a:p>
          <a:p>
            <a:r>
              <a:rPr lang="en-US" sz="1200" dirty="0">
                <a:solidFill>
                  <a:srgbClr val="131313"/>
                </a:solidFill>
                <a:latin typeface="Calibri" panose="020F0502020204030204" pitchFamily="34" charset="0"/>
                <a:cs typeface="Calibri" panose="020F0502020204030204" pitchFamily="34" charset="0"/>
              </a:rPr>
              <a:t>Send them the picture of the faucet.</a:t>
            </a:r>
          </a:p>
          <a:p>
            <a:r>
              <a:rPr lang="en-US" sz="1200" b="0" i="0" dirty="0">
                <a:solidFill>
                  <a:srgbClr val="131313"/>
                </a:solidFill>
                <a:effectLst/>
                <a:latin typeface="Calibri" panose="020F0502020204030204" pitchFamily="34" charset="0"/>
                <a:cs typeface="Calibri" panose="020F0502020204030204" pitchFamily="34" charset="0"/>
              </a:rPr>
              <a:t>They will send the repair parts FREE!!</a:t>
            </a:r>
          </a:p>
          <a:p>
            <a:endParaRPr lang="en-US" sz="1200" dirty="0">
              <a:latin typeface="Calibri" panose="020F0502020204030204" pitchFamily="34" charset="0"/>
              <a:cs typeface="Calibri" panose="020F0502020204030204" pitchFamily="34" charset="0"/>
            </a:endParaRPr>
          </a:p>
          <a:p>
            <a:r>
              <a:rPr lang="en-US" sz="1200" b="0" i="0" dirty="0">
                <a:solidFill>
                  <a:srgbClr val="131313"/>
                </a:solidFill>
                <a:effectLst/>
                <a:latin typeface="Calibri" panose="020F0502020204030204" pitchFamily="34" charset="0"/>
                <a:cs typeface="Calibri" panose="020F0502020204030204" pitchFamily="34" charset="0"/>
              </a:rPr>
              <a:t>RP28603 seal kit sent to me directly from Delta.</a:t>
            </a:r>
          </a:p>
          <a:p>
            <a:r>
              <a:rPr lang="en-US" sz="1200" dirty="0">
                <a:latin typeface="Calibri" panose="020F0502020204030204" pitchFamily="34" charset="0"/>
                <a:cs typeface="Calibri" panose="020F0502020204030204" pitchFamily="34" charset="0"/>
                <a:hlinkClick r:id="rId3"/>
              </a:rPr>
              <a:t>https://www.youtube.com/</a:t>
            </a:r>
            <a:r>
              <a:rPr lang="en-US" sz="1200" dirty="0" err="1">
                <a:latin typeface="Calibri" panose="020F0502020204030204" pitchFamily="34" charset="0"/>
                <a:cs typeface="Calibri" panose="020F0502020204030204" pitchFamily="34" charset="0"/>
                <a:hlinkClick r:id="rId3"/>
              </a:rPr>
              <a:t>watch?v</a:t>
            </a:r>
            <a:r>
              <a:rPr lang="en-US" sz="1200" dirty="0">
                <a:latin typeface="Calibri" panose="020F0502020204030204" pitchFamily="34" charset="0"/>
                <a:cs typeface="Calibri" panose="020F0502020204030204" pitchFamily="34" charset="0"/>
                <a:hlinkClick r:id="rId3"/>
              </a:rPr>
              <a:t>=PrzEz4_SJL8</a:t>
            </a:r>
            <a:endParaRPr lang="en-US" sz="1200" dirty="0">
              <a:latin typeface="Calibri" panose="020F0502020204030204" pitchFamily="34" charset="0"/>
              <a:cs typeface="Calibri" panose="020F0502020204030204" pitchFamily="34" charset="0"/>
            </a:endParaRP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Search </a:t>
            </a:r>
            <a:r>
              <a:rPr lang="en-US" sz="1200" dirty="0" err="1">
                <a:latin typeface="Calibri" panose="020F0502020204030204" pitchFamily="34" charset="0"/>
                <a:cs typeface="Calibri" panose="020F0502020204030204" pitchFamily="34" charset="0"/>
              </a:rPr>
              <a:t>youtube</a:t>
            </a:r>
            <a:r>
              <a:rPr lang="en-US" sz="1200" dirty="0">
                <a:latin typeface="Calibri" panose="020F0502020204030204" pitchFamily="34" charset="0"/>
                <a:cs typeface="Calibri" panose="020F0502020204030204" pitchFamily="34" charset="0"/>
              </a:rPr>
              <a:t> for "</a:t>
            </a:r>
            <a:r>
              <a:rPr lang="en-US" sz="1200" dirty="0">
                <a:solidFill>
                  <a:srgbClr val="131313"/>
                </a:solidFill>
                <a:latin typeface="Calibri" panose="020F0502020204030204" pitchFamily="34" charset="0"/>
                <a:cs typeface="Calibri" panose="020F0502020204030204" pitchFamily="34" charset="0"/>
              </a:rPr>
              <a:t>RP46463" to find videos explaining</a:t>
            </a:r>
          </a:p>
          <a:p>
            <a:r>
              <a:rPr lang="en-US" sz="1200" dirty="0">
                <a:solidFill>
                  <a:srgbClr val="131313"/>
                </a:solidFill>
                <a:latin typeface="Calibri" panose="020F0502020204030204" pitchFamily="34" charset="0"/>
                <a:cs typeface="Calibri" panose="020F0502020204030204" pitchFamily="34" charset="0"/>
              </a:rPr>
              <a:t>how to replace, for example:</a:t>
            </a:r>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hlinkClick r:id="rId4"/>
              </a:rPr>
              <a:t>https://www.youtube.com/watch?v=nF9jWuetjYA</a:t>
            </a:r>
            <a:endParaRPr lang="en-US" sz="1200" dirty="0">
              <a:latin typeface="Calibri" panose="020F0502020204030204" pitchFamily="34" charset="0"/>
              <a:cs typeface="Calibri" panose="020F0502020204030204" pitchFamily="34" charset="0"/>
            </a:endParaRPr>
          </a:p>
          <a:p>
            <a:endParaRPr lang="en-US" sz="1200" dirty="0">
              <a:latin typeface="Calibri" panose="020F0502020204030204" pitchFamily="34" charset="0"/>
              <a:cs typeface="Calibri" panose="020F0502020204030204" pitchFamily="34" charset="0"/>
            </a:endParaRPr>
          </a:p>
          <a:p>
            <a:r>
              <a:rPr lang="en-US" sz="1200" b="0" i="0" dirty="0">
                <a:solidFill>
                  <a:srgbClr val="131313"/>
                </a:solidFill>
                <a:effectLst/>
                <a:latin typeface="Calibri" panose="020F0502020204030204" pitchFamily="34" charset="0"/>
                <a:cs typeface="Calibri" panose="020F0502020204030204" pitchFamily="34" charset="0"/>
              </a:rPr>
              <a:t>Used </a:t>
            </a:r>
            <a:r>
              <a:rPr lang="en-US" sz="1200" dirty="0">
                <a:solidFill>
                  <a:srgbClr val="131313"/>
                </a:solidFill>
                <a:latin typeface="Calibri" panose="020F0502020204030204" pitchFamily="34" charset="0"/>
                <a:cs typeface="Calibri" panose="020F0502020204030204" pitchFamily="34" charset="0"/>
              </a:rPr>
              <a:t>Delta RP32104 Cartridge Kit (white, for models before 2006)</a:t>
            </a:r>
          </a:p>
          <a:p>
            <a:r>
              <a:rPr lang="en-US" sz="1200" dirty="0">
                <a:latin typeface="Calibri" panose="020F0502020204030204" pitchFamily="34" charset="0"/>
                <a:cs typeface="Calibri" panose="020F0502020204030204" pitchFamily="34" charset="0"/>
                <a:hlinkClick r:id="rId5"/>
              </a:rPr>
              <a:t>https://www.youtube.com/watch?v=32SHxO1NNSA</a:t>
            </a:r>
            <a:r>
              <a:rPr lang="en-US" sz="1200" dirty="0">
                <a:latin typeface="Calibri" panose="020F0502020204030204" pitchFamily="34" charset="0"/>
                <a:cs typeface="Calibri" panose="020F0502020204030204" pitchFamily="34" charset="0"/>
              </a:rPr>
              <a:t> </a:t>
            </a:r>
          </a:p>
          <a:p>
            <a:endParaRPr lang="en-US" sz="1200" dirty="0">
              <a:solidFill>
                <a:srgbClr val="131313"/>
              </a:solidFill>
              <a:latin typeface="Calibri" panose="020F0502020204030204" pitchFamily="34" charset="0"/>
              <a:cs typeface="Calibri" panose="020F0502020204030204" pitchFamily="34" charset="0"/>
            </a:endParaRPr>
          </a:p>
          <a:p>
            <a:r>
              <a:rPr lang="en-US" sz="1200" dirty="0">
                <a:solidFill>
                  <a:srgbClr val="131313"/>
                </a:solidFill>
                <a:latin typeface="Calibri" panose="020F0502020204030204" pitchFamily="34" charset="0"/>
                <a:cs typeface="Calibri" panose="020F0502020204030204" pitchFamily="34" charset="0"/>
              </a:rPr>
              <a:t>STOP!!! Don't damage your DELTA Shower valve!</a:t>
            </a:r>
          </a:p>
          <a:p>
            <a:r>
              <a:rPr lang="en-US" sz="1200" dirty="0">
                <a:solidFill>
                  <a:srgbClr val="131313"/>
                </a:solidFill>
                <a:latin typeface="Calibri" panose="020F0502020204030204" pitchFamily="34" charset="0"/>
                <a:cs typeface="Calibri" panose="020F0502020204030204" pitchFamily="34" charset="0"/>
                <a:hlinkClick r:id="rId6"/>
              </a:rPr>
              <a:t>https://www.youtube.com/watch?v=meRdEynmPVo</a:t>
            </a:r>
            <a:endParaRPr lang="en-US" sz="1200" dirty="0">
              <a:solidFill>
                <a:srgbClr val="131313"/>
              </a:solidFill>
              <a:latin typeface="Calibri" panose="020F0502020204030204" pitchFamily="34" charset="0"/>
              <a:cs typeface="Calibri" panose="020F0502020204030204" pitchFamily="34" charset="0"/>
            </a:endParaRPr>
          </a:p>
          <a:p>
            <a:endParaRPr lang="en-US" sz="1200" dirty="0">
              <a:solidFill>
                <a:srgbClr val="131313"/>
              </a:solidFill>
              <a:latin typeface="Calibri" panose="020F0502020204030204" pitchFamily="34" charset="0"/>
              <a:cs typeface="Calibri" panose="020F0502020204030204" pitchFamily="34" charset="0"/>
            </a:endParaRPr>
          </a:p>
          <a:p>
            <a:r>
              <a:rPr lang="en-US" sz="1200" dirty="0">
                <a:solidFill>
                  <a:srgbClr val="131313"/>
                </a:solidFill>
                <a:latin typeface="Calibri" panose="020F0502020204030204" pitchFamily="34" charset="0"/>
                <a:cs typeface="Calibri" panose="020F0502020204030204" pitchFamily="34" charset="0"/>
              </a:rPr>
              <a:t>Which delta cartridge do you have how to replace a delta cartridge</a:t>
            </a:r>
          </a:p>
          <a:p>
            <a:r>
              <a:rPr lang="en-US" sz="1200" dirty="0">
                <a:solidFill>
                  <a:srgbClr val="131313"/>
                </a:solidFill>
                <a:latin typeface="Calibri" panose="020F0502020204030204" pitchFamily="34" charset="0"/>
                <a:cs typeface="Calibri" panose="020F0502020204030204" pitchFamily="34" charset="0"/>
                <a:hlinkClick r:id="rId7"/>
              </a:rPr>
              <a:t>https://www.youtube.com/watch?v=mVLKFwymZL4</a:t>
            </a:r>
            <a:endParaRPr lang="en-US" sz="1200" dirty="0">
              <a:solidFill>
                <a:srgbClr val="131313"/>
              </a:solidFill>
              <a:latin typeface="Calibri" panose="020F0502020204030204" pitchFamily="34" charset="0"/>
              <a:cs typeface="Calibri" panose="020F0502020204030204" pitchFamily="34" charset="0"/>
            </a:endParaRPr>
          </a:p>
          <a:p>
            <a:endParaRPr lang="en-US" sz="1200" dirty="0">
              <a:solidFill>
                <a:srgbClr val="131313"/>
              </a:solidFill>
              <a:latin typeface="Calibri" panose="020F0502020204030204" pitchFamily="34" charset="0"/>
              <a:cs typeface="Calibri" panose="020F0502020204030204" pitchFamily="34" charset="0"/>
            </a:endParaRPr>
          </a:p>
          <a:p>
            <a:r>
              <a:rPr lang="en-US" sz="1200" dirty="0">
                <a:solidFill>
                  <a:srgbClr val="131313"/>
                </a:solidFill>
                <a:latin typeface="Calibri" panose="020F0502020204030204" pitchFamily="34" charset="0"/>
                <a:cs typeface="Calibri" panose="020F0502020204030204" pitchFamily="34" charset="0"/>
              </a:rPr>
              <a:t>Delta:</a:t>
            </a:r>
          </a:p>
          <a:p>
            <a:r>
              <a:rPr lang="en-US" sz="1200" dirty="0">
                <a:solidFill>
                  <a:srgbClr val="131313"/>
                </a:solidFill>
                <a:latin typeface="Calibri" panose="020F0502020204030204" pitchFamily="34" charset="0"/>
                <a:cs typeface="Calibri" panose="020F0502020204030204" pitchFamily="34" charset="0"/>
                <a:hlinkClick r:id="rId8"/>
              </a:rPr>
              <a:t>https://www.deltafaucet.com/service-parts/contact-us</a:t>
            </a:r>
            <a:endParaRPr lang="en-US" sz="1200" dirty="0">
              <a:solidFill>
                <a:srgbClr val="131313"/>
              </a:solidFill>
              <a:latin typeface="Calibri" panose="020F0502020204030204" pitchFamily="34" charset="0"/>
              <a:cs typeface="Calibri" panose="020F0502020204030204" pitchFamily="34" charset="0"/>
            </a:endParaRPr>
          </a:p>
          <a:p>
            <a:r>
              <a:rPr lang="en-US" sz="1200" b="0" i="0" dirty="0">
                <a:solidFill>
                  <a:srgbClr val="000000"/>
                </a:solidFill>
                <a:effectLst/>
                <a:latin typeface="Calibri" panose="020F0502020204030204" pitchFamily="34" charset="0"/>
                <a:cs typeface="Calibri" panose="020F0502020204030204" pitchFamily="34" charset="0"/>
              </a:rPr>
              <a:t>1-800-345-DELTA (3358)</a:t>
            </a:r>
            <a:endParaRPr lang="en-US" sz="1200" b="0" i="0" dirty="0">
              <a:solidFill>
                <a:srgbClr val="131313"/>
              </a:solidFill>
              <a:effectLst/>
              <a:latin typeface="Calibri" panose="020F0502020204030204" pitchFamily="34" charset="0"/>
              <a:cs typeface="Calibri" panose="020F0502020204030204" pitchFamily="34" charset="0"/>
            </a:endParaRPr>
          </a:p>
          <a:p>
            <a:r>
              <a:rPr lang="en-US" sz="1200" b="0" i="0" dirty="0">
                <a:solidFill>
                  <a:srgbClr val="18191D"/>
                </a:solidFill>
                <a:effectLst/>
                <a:latin typeface="Calibri" panose="020F0502020204030204" pitchFamily="34" charset="0"/>
                <a:cs typeface="Calibri" panose="020F0502020204030204" pitchFamily="34" charset="0"/>
              </a:rPr>
              <a:t>M-F. 8am-6pm EST, Sat 9am-6pm EST</a:t>
            </a:r>
          </a:p>
        </p:txBody>
      </p:sp>
      <p:pic>
        <p:nvPicPr>
          <p:cNvPr id="5" name="Picture 4">
            <a:extLst>
              <a:ext uri="{FF2B5EF4-FFF2-40B4-BE49-F238E27FC236}">
                <a16:creationId xmlns:a16="http://schemas.microsoft.com/office/drawing/2014/main" id="{82F262B3-1890-FF24-C0E2-898A7BD9AF6E}"/>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520732" y="635238"/>
            <a:ext cx="2574470" cy="2271591"/>
          </a:xfrm>
          <a:prstGeom prst="rect">
            <a:avLst/>
          </a:prstGeom>
        </p:spPr>
      </p:pic>
      <p:sp>
        <p:nvSpPr>
          <p:cNvPr id="10" name="TextBox 9">
            <a:extLst>
              <a:ext uri="{FF2B5EF4-FFF2-40B4-BE49-F238E27FC236}">
                <a16:creationId xmlns:a16="http://schemas.microsoft.com/office/drawing/2014/main" id="{6FC3645F-45E1-248C-E342-4B75B0A8F112}"/>
              </a:ext>
            </a:extLst>
          </p:cNvPr>
          <p:cNvSpPr txBox="1"/>
          <p:nvPr/>
        </p:nvSpPr>
        <p:spPr>
          <a:xfrm>
            <a:off x="5628378" y="3496684"/>
            <a:ext cx="3649342" cy="276999"/>
          </a:xfrm>
          <a:prstGeom prst="rect">
            <a:avLst/>
          </a:prstGeom>
          <a:noFill/>
        </p:spPr>
        <p:txBody>
          <a:bodyPr wrap="square">
            <a:spAutoFit/>
          </a:bodyPr>
          <a:lstStyle/>
          <a:p>
            <a:r>
              <a:rPr lang="en-US" sz="1200" dirty="0">
                <a:latin typeface="Calibri" panose="020F0502020204030204" pitchFamily="34" charset="0"/>
                <a:cs typeface="Calibri" panose="020F0502020204030204" pitchFamily="34" charset="0"/>
                <a:hlinkClick r:id="rId10"/>
              </a:rPr>
              <a:t>https://www.amazon.com/</a:t>
            </a:r>
            <a:r>
              <a:rPr lang="en-US" sz="1200" dirty="0" err="1">
                <a:latin typeface="Calibri" panose="020F0502020204030204" pitchFamily="34" charset="0"/>
                <a:cs typeface="Calibri" panose="020F0502020204030204" pitchFamily="34" charset="0"/>
                <a:hlinkClick r:id="rId10"/>
              </a:rPr>
              <a:t>dp</a:t>
            </a:r>
            <a:r>
              <a:rPr lang="en-US" sz="1200" dirty="0">
                <a:latin typeface="Calibri" panose="020F0502020204030204" pitchFamily="34" charset="0"/>
                <a:cs typeface="Calibri" panose="020F0502020204030204" pitchFamily="34" charset="0"/>
                <a:hlinkClick r:id="rId10"/>
              </a:rPr>
              <a:t>/B07G2TCSKF</a:t>
            </a:r>
            <a:endParaRPr lang="en-US" sz="1200"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72F6280A-34CD-5B3D-3021-C896E46A2089}"/>
              </a:ext>
            </a:extLst>
          </p:cNvPr>
          <p:cNvSpPr txBox="1"/>
          <p:nvPr/>
        </p:nvSpPr>
        <p:spPr>
          <a:xfrm>
            <a:off x="9850421" y="4363536"/>
            <a:ext cx="2341579" cy="415498"/>
          </a:xfrm>
          <a:prstGeom prst="rect">
            <a:avLst/>
          </a:prstGeom>
          <a:noFill/>
        </p:spPr>
        <p:txBody>
          <a:bodyPr wrap="square">
            <a:spAutoFit/>
          </a:bodyPr>
          <a:lstStyle/>
          <a:p>
            <a:r>
              <a:rPr lang="en-US" sz="1200" b="0" i="0" dirty="0">
                <a:solidFill>
                  <a:srgbClr val="0F1111"/>
                </a:solidFill>
                <a:effectLst/>
                <a:latin typeface="Amazon Ember"/>
              </a:rPr>
              <a:t>Delta rp22734 bonnet nut</a:t>
            </a:r>
          </a:p>
          <a:p>
            <a:r>
              <a:rPr lang="en-US" sz="900" b="0" i="0" dirty="0">
                <a:solidFill>
                  <a:srgbClr val="0F1111"/>
                </a:solidFill>
                <a:effectLst/>
                <a:latin typeface="Amazon Ember"/>
                <a:hlinkClick r:id="rId11"/>
              </a:rPr>
              <a:t>https://www.amazon.com/</a:t>
            </a:r>
            <a:r>
              <a:rPr lang="en-US" sz="900" b="0" i="0" dirty="0" err="1">
                <a:solidFill>
                  <a:srgbClr val="0F1111"/>
                </a:solidFill>
                <a:effectLst/>
                <a:latin typeface="Amazon Ember"/>
                <a:hlinkClick r:id="rId11"/>
              </a:rPr>
              <a:t>dp</a:t>
            </a:r>
            <a:r>
              <a:rPr lang="en-US" sz="900" b="0" i="0" dirty="0">
                <a:solidFill>
                  <a:srgbClr val="0F1111"/>
                </a:solidFill>
                <a:effectLst/>
                <a:latin typeface="Amazon Ember"/>
                <a:hlinkClick r:id="rId11"/>
              </a:rPr>
              <a:t>/B001DU0GLY</a:t>
            </a:r>
            <a:r>
              <a:rPr lang="en-US" sz="900" b="0" i="0" dirty="0">
                <a:solidFill>
                  <a:srgbClr val="0F1111"/>
                </a:solidFill>
                <a:effectLst/>
                <a:latin typeface="Amazon Ember"/>
              </a:rPr>
              <a:t> </a:t>
            </a:r>
            <a:endParaRPr lang="en-US" sz="900" dirty="0"/>
          </a:p>
        </p:txBody>
      </p:sp>
      <p:pic>
        <p:nvPicPr>
          <p:cNvPr id="13" name="Picture 12">
            <a:extLst>
              <a:ext uri="{FF2B5EF4-FFF2-40B4-BE49-F238E27FC236}">
                <a16:creationId xmlns:a16="http://schemas.microsoft.com/office/drawing/2014/main" id="{BBBE2146-3BEC-E235-4CE8-63FE3256C5CF}"/>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0405193" y="3002209"/>
            <a:ext cx="1672959" cy="1265947"/>
          </a:xfrm>
          <a:prstGeom prst="rect">
            <a:avLst/>
          </a:prstGeom>
        </p:spPr>
      </p:pic>
      <p:pic>
        <p:nvPicPr>
          <p:cNvPr id="14" name="Picture 13">
            <a:extLst>
              <a:ext uri="{FF2B5EF4-FFF2-40B4-BE49-F238E27FC236}">
                <a16:creationId xmlns:a16="http://schemas.microsoft.com/office/drawing/2014/main" id="{233E1572-0D68-80C2-9E7E-F8D3AAD14B47}"/>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5661943" y="388193"/>
            <a:ext cx="1438421" cy="3036667"/>
          </a:xfrm>
          <a:prstGeom prst="rect">
            <a:avLst/>
          </a:prstGeom>
        </p:spPr>
      </p:pic>
      <p:pic>
        <p:nvPicPr>
          <p:cNvPr id="16" name="Picture 15">
            <a:extLst>
              <a:ext uri="{FF2B5EF4-FFF2-40B4-BE49-F238E27FC236}">
                <a16:creationId xmlns:a16="http://schemas.microsoft.com/office/drawing/2014/main" id="{E418555C-4030-E152-26E2-CE3B343EA7F3}"/>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439950" y="4376374"/>
            <a:ext cx="1013454" cy="1583521"/>
          </a:xfrm>
          <a:prstGeom prst="rect">
            <a:avLst/>
          </a:prstGeom>
        </p:spPr>
      </p:pic>
      <p:sp>
        <p:nvSpPr>
          <p:cNvPr id="18" name="TextBox 17">
            <a:extLst>
              <a:ext uri="{FF2B5EF4-FFF2-40B4-BE49-F238E27FC236}">
                <a16:creationId xmlns:a16="http://schemas.microsoft.com/office/drawing/2014/main" id="{215379D1-D3BB-2FFC-3FC0-0C7323EE33AA}"/>
              </a:ext>
            </a:extLst>
          </p:cNvPr>
          <p:cNvSpPr txBox="1"/>
          <p:nvPr/>
        </p:nvSpPr>
        <p:spPr>
          <a:xfrm>
            <a:off x="7004545" y="6033193"/>
            <a:ext cx="2766242" cy="738664"/>
          </a:xfrm>
          <a:prstGeom prst="rect">
            <a:avLst/>
          </a:prstGeom>
          <a:noFill/>
        </p:spPr>
        <p:txBody>
          <a:bodyPr wrap="square">
            <a:spAutoFit/>
          </a:bodyPr>
          <a:lstStyle/>
          <a:p>
            <a:r>
              <a:rPr lang="en-US" sz="1200" dirty="0">
                <a:latin typeface="Calibri" panose="020F0502020204030204" pitchFamily="34" charset="0"/>
                <a:cs typeface="Calibri" panose="020F0502020204030204" pitchFamily="34" charset="0"/>
              </a:rPr>
              <a:t>Taking off the bonnet nut – cut with a file, then use screwdriver and hammer:</a:t>
            </a:r>
          </a:p>
          <a:p>
            <a:r>
              <a:rPr lang="en-US" sz="900" dirty="0">
                <a:latin typeface="Calibri" panose="020F0502020204030204" pitchFamily="34" charset="0"/>
                <a:cs typeface="Calibri" panose="020F0502020204030204" pitchFamily="34" charset="0"/>
                <a:hlinkClick r:id="rId15"/>
              </a:rPr>
              <a:t>https://www.youtube.com/watch?v=qD6j2vWpP4A</a:t>
            </a:r>
            <a:r>
              <a:rPr lang="en-US" sz="900" dirty="0">
                <a:latin typeface="Calibri" panose="020F0502020204030204" pitchFamily="34" charset="0"/>
                <a:cs typeface="Calibri" panose="020F0502020204030204" pitchFamily="34" charset="0"/>
              </a:rPr>
              <a:t> </a:t>
            </a:r>
          </a:p>
          <a:p>
            <a:r>
              <a:rPr lang="en-US" sz="900" dirty="0">
                <a:latin typeface="Calibri" panose="020F0502020204030204" pitchFamily="34" charset="0"/>
                <a:cs typeface="Calibri" panose="020F0502020204030204" pitchFamily="34" charset="0"/>
                <a:hlinkClick r:id="rId16"/>
              </a:rPr>
              <a:t>https://</a:t>
            </a:r>
            <a:r>
              <a:rPr lang="en-US" sz="900" dirty="0" err="1">
                <a:latin typeface="Calibri" panose="020F0502020204030204" pitchFamily="34" charset="0"/>
                <a:cs typeface="Calibri" panose="020F0502020204030204" pitchFamily="34" charset="0"/>
                <a:hlinkClick r:id="rId16"/>
              </a:rPr>
              <a:t>www.youtube.com</a:t>
            </a:r>
            <a:r>
              <a:rPr lang="en-US" sz="900" dirty="0">
                <a:latin typeface="Calibri" panose="020F0502020204030204" pitchFamily="34" charset="0"/>
                <a:cs typeface="Calibri" panose="020F0502020204030204" pitchFamily="34" charset="0"/>
                <a:hlinkClick r:id="rId16"/>
              </a:rPr>
              <a:t>/shorts/sH63hY-eUzg</a:t>
            </a:r>
            <a:endParaRPr lang="en-US" sz="900" dirty="0">
              <a:latin typeface="Calibri" panose="020F0502020204030204" pitchFamily="34" charset="0"/>
              <a:cs typeface="Calibri" panose="020F0502020204030204" pitchFamily="34" charset="0"/>
            </a:endParaRPr>
          </a:p>
        </p:txBody>
      </p:sp>
      <p:pic>
        <p:nvPicPr>
          <p:cNvPr id="19" name="Picture 18">
            <a:extLst>
              <a:ext uri="{FF2B5EF4-FFF2-40B4-BE49-F238E27FC236}">
                <a16:creationId xmlns:a16="http://schemas.microsoft.com/office/drawing/2014/main" id="{FED9F91B-3123-E8EF-05CA-F0018DA3945E}"/>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957112" y="4373802"/>
            <a:ext cx="2035552" cy="1586096"/>
          </a:xfrm>
          <a:prstGeom prst="rect">
            <a:avLst/>
          </a:prstGeom>
        </p:spPr>
      </p:pic>
      <p:pic>
        <p:nvPicPr>
          <p:cNvPr id="20" name="Picture 19">
            <a:extLst>
              <a:ext uri="{FF2B5EF4-FFF2-40B4-BE49-F238E27FC236}">
                <a16:creationId xmlns:a16="http://schemas.microsoft.com/office/drawing/2014/main" id="{1C491B69-E2A2-9702-FA73-44C0DC6F3C59}"/>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7174921" y="635238"/>
            <a:ext cx="2249355" cy="2611409"/>
          </a:xfrm>
          <a:prstGeom prst="rect">
            <a:avLst/>
          </a:prstGeom>
        </p:spPr>
      </p:pic>
      <p:sp>
        <p:nvSpPr>
          <p:cNvPr id="6" name="TextBox 5">
            <a:extLst>
              <a:ext uri="{FF2B5EF4-FFF2-40B4-BE49-F238E27FC236}">
                <a16:creationId xmlns:a16="http://schemas.microsoft.com/office/drawing/2014/main" id="{FD24696C-6E30-F435-2F82-C091A18CD0A3}"/>
              </a:ext>
            </a:extLst>
          </p:cNvPr>
          <p:cNvSpPr txBox="1"/>
          <p:nvPr/>
        </p:nvSpPr>
        <p:spPr>
          <a:xfrm>
            <a:off x="5611525" y="38023"/>
            <a:ext cx="1565839" cy="307777"/>
          </a:xfrm>
          <a:prstGeom prst="rect">
            <a:avLst/>
          </a:prstGeom>
          <a:noFill/>
        </p:spPr>
        <p:txBody>
          <a:bodyPr wrap="square">
            <a:spAutoFit/>
          </a:bodyPr>
          <a:lstStyle/>
          <a:p>
            <a:r>
              <a:rPr lang="en-US" sz="1400" dirty="0">
                <a:solidFill>
                  <a:srgbClr val="131313"/>
                </a:solidFill>
                <a:latin typeface="Calibri" panose="020F0502020204030204" pitchFamily="34" charset="0"/>
                <a:cs typeface="Calibri" panose="020F0502020204030204" pitchFamily="34" charset="0"/>
              </a:rPr>
              <a:t>RP46463 cartridge</a:t>
            </a:r>
            <a:endParaRPr lang="en-US" sz="1400" dirty="0"/>
          </a:p>
        </p:txBody>
      </p:sp>
      <p:pic>
        <p:nvPicPr>
          <p:cNvPr id="3" name="Picture 2">
            <a:extLst>
              <a:ext uri="{FF2B5EF4-FFF2-40B4-BE49-F238E27FC236}">
                <a16:creationId xmlns:a16="http://schemas.microsoft.com/office/drawing/2014/main" id="{E4C7EE3C-4F67-E409-4606-517FABBDFAEF}"/>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7050672" y="4376376"/>
            <a:ext cx="1303589" cy="1583521"/>
          </a:xfrm>
          <a:prstGeom prst="rect">
            <a:avLst/>
          </a:prstGeom>
        </p:spPr>
      </p:pic>
      <p:sp>
        <p:nvSpPr>
          <p:cNvPr id="7" name="TextBox 6">
            <a:extLst>
              <a:ext uri="{FF2B5EF4-FFF2-40B4-BE49-F238E27FC236}">
                <a16:creationId xmlns:a16="http://schemas.microsoft.com/office/drawing/2014/main" id="{09B51A53-4F50-2E96-2903-BBD76CC92980}"/>
              </a:ext>
            </a:extLst>
          </p:cNvPr>
          <p:cNvSpPr txBox="1"/>
          <p:nvPr/>
        </p:nvSpPr>
        <p:spPr>
          <a:xfrm>
            <a:off x="4925089" y="6090803"/>
            <a:ext cx="1838324" cy="461665"/>
          </a:xfrm>
          <a:prstGeom prst="rect">
            <a:avLst/>
          </a:prstGeom>
          <a:noFill/>
        </p:spPr>
        <p:txBody>
          <a:bodyPr wrap="square">
            <a:spAutoFit/>
          </a:bodyPr>
          <a:lstStyle/>
          <a:p>
            <a:r>
              <a:rPr lang="en-US" sz="1200" dirty="0">
                <a:latin typeface="Calibri" panose="020F0502020204030204" pitchFamily="34" charset="0"/>
                <a:cs typeface="Calibri" panose="020F0502020204030204" pitchFamily="34" charset="0"/>
              </a:rPr>
              <a:t>Taking off the bonnet nut using jar opener</a:t>
            </a:r>
          </a:p>
        </p:txBody>
      </p:sp>
    </p:spTree>
    <p:extLst>
      <p:ext uri="{BB962C8B-B14F-4D97-AF65-F5344CB8AC3E}">
        <p14:creationId xmlns:p14="http://schemas.microsoft.com/office/powerpoint/2010/main" val="4062696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0809D-1B09-8242-592D-24742DD77A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FE95FF-0821-2718-3793-905BE80019BF}"/>
              </a:ext>
            </a:extLst>
          </p:cNvPr>
          <p:cNvSpPr txBox="1"/>
          <p:nvPr/>
        </p:nvSpPr>
        <p:spPr>
          <a:xfrm>
            <a:off x="0" y="9719"/>
            <a:ext cx="3493972" cy="400110"/>
          </a:xfrm>
          <a:prstGeom prst="rect">
            <a:avLst/>
          </a:prstGeom>
          <a:noFill/>
        </p:spPr>
        <p:txBody>
          <a:bodyPr wrap="square" rtlCol="0">
            <a:spAutoFit/>
          </a:bodyPr>
          <a:lstStyle/>
          <a:p>
            <a:r>
              <a:rPr lang="en-US" sz="2000" b="1" i="0" dirty="0">
                <a:solidFill>
                  <a:srgbClr val="0F1111"/>
                </a:solidFill>
                <a:effectLst/>
                <a:latin typeface="Calibri" panose="020F0502020204030204" pitchFamily="34" charset="0"/>
                <a:cs typeface="Calibri" panose="020F0502020204030204" pitchFamily="34" charset="0"/>
              </a:rPr>
              <a:t>Second Faucet</a:t>
            </a:r>
            <a:endParaRPr lang="en-US" sz="2000" b="1" dirty="0">
              <a:solidFill>
                <a:srgbClr val="00B0F0"/>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57A79DF-66E7-4FBC-D5AB-2179CDE7AC77}"/>
              </a:ext>
            </a:extLst>
          </p:cNvPr>
          <p:cNvSpPr txBox="1"/>
          <p:nvPr/>
        </p:nvSpPr>
        <p:spPr>
          <a:xfrm>
            <a:off x="4792432" y="3121223"/>
            <a:ext cx="3048859" cy="400110"/>
          </a:xfrm>
          <a:prstGeom prst="rect">
            <a:avLst/>
          </a:prstGeom>
          <a:noFill/>
        </p:spPr>
        <p:txBody>
          <a:bodyPr wrap="square" rtlCol="0">
            <a:spAutoFit/>
          </a:bodyPr>
          <a:lstStyle/>
          <a:p>
            <a:r>
              <a:rPr lang="en-US" sz="2000" b="1" i="0" dirty="0">
                <a:solidFill>
                  <a:srgbClr val="131313"/>
                </a:solidFill>
                <a:effectLst/>
                <a:latin typeface="Calibri" panose="020F0502020204030204" pitchFamily="34" charset="0"/>
                <a:cs typeface="Calibri" panose="020F0502020204030204" pitchFamily="34" charset="0"/>
              </a:rPr>
              <a:t>Thread  M26 x 1.0</a:t>
            </a:r>
          </a:p>
        </p:txBody>
      </p:sp>
      <p:pic>
        <p:nvPicPr>
          <p:cNvPr id="8" name="Picture 7">
            <a:extLst>
              <a:ext uri="{FF2B5EF4-FFF2-40B4-BE49-F238E27FC236}">
                <a16:creationId xmlns:a16="http://schemas.microsoft.com/office/drawing/2014/main" id="{03516384-FF00-91B7-4A75-28D01EF01AC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64500" y="209774"/>
            <a:ext cx="3949700" cy="4229100"/>
          </a:xfrm>
          <a:prstGeom prst="rect">
            <a:avLst/>
          </a:prstGeom>
          <a:ln>
            <a:solidFill>
              <a:srgbClr val="FF0000"/>
            </a:solidFill>
          </a:ln>
        </p:spPr>
      </p:pic>
      <p:pic>
        <p:nvPicPr>
          <p:cNvPr id="9" name="Picture 8">
            <a:extLst>
              <a:ext uri="{FF2B5EF4-FFF2-40B4-BE49-F238E27FC236}">
                <a16:creationId xmlns:a16="http://schemas.microsoft.com/office/drawing/2014/main" id="{3D2B8267-6662-9917-C4B5-C69F9561DD1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864228" y="209774"/>
            <a:ext cx="3048859" cy="2773962"/>
          </a:xfrm>
          <a:prstGeom prst="rect">
            <a:avLst/>
          </a:prstGeom>
          <a:ln>
            <a:solidFill>
              <a:srgbClr val="FF0000"/>
            </a:solidFill>
          </a:ln>
        </p:spPr>
      </p:pic>
      <p:pic>
        <p:nvPicPr>
          <p:cNvPr id="11" name="Picture 10">
            <a:extLst>
              <a:ext uri="{FF2B5EF4-FFF2-40B4-BE49-F238E27FC236}">
                <a16:creationId xmlns:a16="http://schemas.microsoft.com/office/drawing/2014/main" id="{95B2474F-BA36-4A86-A8A0-CEC3BDC1B5B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864228" y="3635375"/>
            <a:ext cx="3048859" cy="2428876"/>
          </a:xfrm>
          <a:prstGeom prst="rect">
            <a:avLst/>
          </a:prstGeom>
          <a:ln>
            <a:solidFill>
              <a:srgbClr val="FF0000"/>
            </a:solidFill>
          </a:ln>
        </p:spPr>
      </p:pic>
      <p:sp>
        <p:nvSpPr>
          <p:cNvPr id="15" name="TextBox 14">
            <a:extLst>
              <a:ext uri="{FF2B5EF4-FFF2-40B4-BE49-F238E27FC236}">
                <a16:creationId xmlns:a16="http://schemas.microsoft.com/office/drawing/2014/main" id="{3528D992-C116-7B09-0511-BD5FBFBD637A}"/>
              </a:ext>
            </a:extLst>
          </p:cNvPr>
          <p:cNvSpPr txBox="1"/>
          <p:nvPr/>
        </p:nvSpPr>
        <p:spPr>
          <a:xfrm>
            <a:off x="35508" y="409829"/>
            <a:ext cx="4590220" cy="3323987"/>
          </a:xfrm>
          <a:prstGeom prst="rect">
            <a:avLst/>
          </a:prstGeom>
          <a:noFill/>
        </p:spPr>
        <p:txBody>
          <a:bodyPr wrap="square" rtlCol="0">
            <a:spAutoFit/>
          </a:bodyPr>
          <a:lstStyle/>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"T2755RB" - Delta Tub Filler Faucet Victorian Venetian Bronze</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 RP34348RB " - Spout Tip for Delta Faucet Victorian for Roman Tub, Venetian Bronze</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Manual measurement: </a:t>
            </a:r>
            <a:r>
              <a:rPr lang="en-US" sz="1400" dirty="0">
                <a:solidFill>
                  <a:srgbClr val="131313"/>
                </a:solidFill>
                <a:latin typeface="Calibri" panose="020F0502020204030204" pitchFamily="34" charset="0"/>
                <a:cs typeface="Calibri" panose="020F0502020204030204" pitchFamily="34" charset="0"/>
              </a:rPr>
              <a:t>M26 x 1.0 thread</a:t>
            </a:r>
          </a:p>
          <a:p>
            <a:r>
              <a:rPr lang="en-US" sz="1400" dirty="0">
                <a:solidFill>
                  <a:srgbClr val="131313"/>
                </a:solidFill>
                <a:latin typeface="Calibri" panose="020F0502020204030204" pitchFamily="34" charset="0"/>
                <a:cs typeface="Calibri" panose="020F0502020204030204" pitchFamily="34" charset="0"/>
              </a:rPr>
              <a:t>(26mm diameter, 1mm thread pitch).</a:t>
            </a:r>
            <a:endParaRPr lang="en-US" sz="1400" dirty="0">
              <a:latin typeface="Calibri" panose="020F0502020204030204" pitchFamily="34" charset="0"/>
              <a:cs typeface="Calibri" panose="020F0502020204030204" pitchFamily="34" charset="0"/>
            </a:endParaRP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We need adapter: </a:t>
            </a:r>
            <a:r>
              <a:rPr lang="en-US" sz="1400" b="1" dirty="0">
                <a:solidFill>
                  <a:srgbClr val="FF0000"/>
                </a:solidFill>
                <a:latin typeface="Calibri" panose="020F0502020204030204" pitchFamily="34" charset="0"/>
                <a:cs typeface="Calibri" panose="020F0502020204030204" pitchFamily="34" charset="0"/>
              </a:rPr>
              <a:t>M26 female to G1/2" male</a:t>
            </a:r>
          </a:p>
          <a:p>
            <a:r>
              <a:rPr lang="en-US" sz="1400" dirty="0">
                <a:latin typeface="Calibri" panose="020F0502020204030204" pitchFamily="34" charset="0"/>
                <a:cs typeface="Calibri" panose="020F0502020204030204" pitchFamily="34" charset="0"/>
              </a:rPr>
              <a:t>G1/2" male is a universal standard straight-threaded fitting for shower hoses and handheld showerheads worldwide. 20.9 mm outer diameter, 14 threads per inch. It follows the BSPP (British Standard Pipe Parallel) standard, also called ISO 228. Unlike tapered pipe threads, it seals via a rubber washer or O-ring, not thread compression</a:t>
            </a:r>
          </a:p>
        </p:txBody>
      </p:sp>
      <p:pic>
        <p:nvPicPr>
          <p:cNvPr id="17" name="Picture 16">
            <a:extLst>
              <a:ext uri="{FF2B5EF4-FFF2-40B4-BE49-F238E27FC236}">
                <a16:creationId xmlns:a16="http://schemas.microsoft.com/office/drawing/2014/main" id="{02F617CC-5267-6576-33D1-836696956371}"/>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978019" y="3835401"/>
            <a:ext cx="2166823" cy="1514475"/>
          </a:xfrm>
          <a:prstGeom prst="rect">
            <a:avLst/>
          </a:prstGeom>
        </p:spPr>
      </p:pic>
    </p:spTree>
    <p:extLst>
      <p:ext uri="{BB962C8B-B14F-4D97-AF65-F5344CB8AC3E}">
        <p14:creationId xmlns:p14="http://schemas.microsoft.com/office/powerpoint/2010/main" val="3122938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781</TotalTime>
  <Words>428</Words>
  <Application>Microsoft Macintosh PowerPoint</Application>
  <PresentationFormat>Widescreen</PresentationFormat>
  <Paragraphs>62</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Amazon Ember</vt: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65</cp:revision>
  <dcterms:created xsi:type="dcterms:W3CDTF">2022-06-02T16:58:09Z</dcterms:created>
  <dcterms:modified xsi:type="dcterms:W3CDTF">2026-07-16T20:21:53Z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518368-b969-4042-91d9-8939bd921da2_Enabled">
    <vt:lpwstr>true</vt:lpwstr>
  </property>
  <property fmtid="{D5CDD505-2E9C-101B-9397-08002B2CF9AE}" pid="3" name="MSIP_Label_4f518368-b969-4042-91d9-8939bd921da2_SetDate">
    <vt:lpwstr>2022-06-02T16:58:10Z</vt:lpwstr>
  </property>
  <property fmtid="{D5CDD505-2E9C-101B-9397-08002B2CF9AE}" pid="4" name="MSIP_Label_4f518368-b969-4042-91d9-8939bd921da2_Method">
    <vt:lpwstr>Standard</vt:lpwstr>
  </property>
  <property fmtid="{D5CDD505-2E9C-101B-9397-08002B2CF9AE}" pid="5" name="MSIP_Label_4f518368-b969-4042-91d9-8939bd921da2_Name">
    <vt:lpwstr>General</vt:lpwstr>
  </property>
  <property fmtid="{D5CDD505-2E9C-101B-9397-08002B2CF9AE}" pid="6" name="MSIP_Label_4f518368-b969-4042-91d9-8939bd921da2_SiteId">
    <vt:lpwstr>116e9905-19fc-428e-93d4-bcaffb833597</vt:lpwstr>
  </property>
  <property fmtid="{D5CDD505-2E9C-101B-9397-08002B2CF9AE}" pid="7" name="MSIP_Label_4f518368-b969-4042-91d9-8939bd921da2_ActionId">
    <vt:lpwstr>93134c22-9ab4-41e7-a5b4-b1f73aac775b</vt:lpwstr>
  </property>
  <property fmtid="{D5CDD505-2E9C-101B-9397-08002B2CF9AE}" pid="8" name="MSIP_Label_4f518368-b969-4042-91d9-8939bd921da2_ContentBits">
    <vt:lpwstr>0</vt:lpwstr>
  </property>
</Properties>
</file>