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  <p:sldId id="268" r:id="rId3"/>
    <p:sldId id="262" r:id="rId4"/>
    <p:sldId id="265" r:id="rId5"/>
    <p:sldId id="264" r:id="rId6"/>
    <p:sldId id="266" r:id="rId7"/>
    <p:sldId id="263" r:id="rId8"/>
    <p:sldId id="267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44"/>
    <p:restoredTop sz="91429"/>
  </p:normalViewPr>
  <p:slideViewPr>
    <p:cSldViewPr snapToGrid="0" snapToObjects="1">
      <p:cViewPr varScale="1">
        <p:scale>
          <a:sx n="98" d="100"/>
          <a:sy n="98" d="100"/>
        </p:scale>
        <p:origin x="216" y="8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7E78-4330-193B-B423-8314C6762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80FDA-9F58-7E15-C3A0-BCA67A1B6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D1846-5607-2F80-FE77-B45D1134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9EC29-87F8-BE2D-794A-6DA472257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40454-B433-410E-0FF8-FC352828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0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760B-86A2-A753-7B95-0F58C129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6CB2F-877F-D8BF-FD37-54A9FCD9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B5966-DCE9-9278-FC75-7505EFC82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C6C7F-3558-A2B7-B9CB-C865542E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3B692-9BC3-C542-CF13-B75CF481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2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201A7-590C-E867-7D0C-AE29A5E7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9C844-B762-199D-E840-4432CFA9E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F83D9-6582-F301-0C23-DFC255494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132C-12F6-FB49-15E9-71DC67F2F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5F5A6-E475-572D-EB19-BDCB29C2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4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54A-D232-E13B-03B8-197985E46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5FE80-6415-A129-A133-13F4E69631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34163-2BC5-67B8-C044-B2B91150F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24A9F-6EBE-F2FD-B790-457A880F4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65A11-D3B2-DAF0-6C96-3A013B4B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48667-6987-698C-D3F8-33E4C2F4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3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9EB9B-3B5A-BAA4-1104-35CFEE51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AF77-D30B-078E-7377-864E20041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3BB66-8448-BDCE-8885-0DCCD1D2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C4BBBE-287A-8A3C-D9AC-73777D133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C8599-617C-397F-DC3D-826467ADF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5D750-7437-B1AA-EDBA-8CE16147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10/18/22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E2CB5-60FB-BFE3-7C57-6D71206F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E5366-9BBC-DD63-6667-F2ABAD0C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03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02E0-2360-8A3B-C660-0EEE2283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61752-B6B9-B0D3-79D0-BA63B329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10/18/22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9FDB9-28AA-E5EE-0E6F-1C870983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A72C3-CCD3-E994-0553-1649E7C0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06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7FBEF-93F3-4398-ABDE-E19A2BE6E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10/18/22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24BDFD-B5CF-6FE3-E5D7-46013C29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5C03-7815-0295-8D6D-6E94DCC4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60438-A2C9-EC42-359F-79480BBF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AC04E-128D-0581-C7DA-E12F971BB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57F62C-C89B-1A1C-EE71-DFB3CCC88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E8FE63-1511-35E5-E243-54A541D5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8C57B-944F-63EC-027D-0775FFD3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B95C2-F629-DCC1-1A34-EFD210A3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7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C171-16B5-30EF-DF6B-EA8297BF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EC62FB-CB34-C301-34F2-0BC3B063A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4D87E-859D-4374-028E-34A7E0967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E7CC-E810-603C-A310-365D6E2E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1FA3-03C6-243F-1B00-D8C263B8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7B7296-43FF-9B1B-273A-D8A59A1AF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87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47D-D077-DA5B-BCBF-255D910F8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D969ED-67C2-311E-252D-6A110850A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0FBA1-3C89-EC11-74D4-20B92AAF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745B-5BAE-F9D3-47E4-0138D1CEA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30326-C5CD-0886-9BE9-A7F7DB74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0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D2BAD8-9CAB-A380-AAC3-A59F3A325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29A6E-D831-F47F-A2AE-F6E1AFD2D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F4713-8CBC-B5EB-3BDB-7F46E4C81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14CE-5D3F-6AF3-1B95-C1BCD7CE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4F38C-1773-F5A8-9806-A23E993F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680EF-BCA9-239E-5CBB-C870C41B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FCFB0-9A1E-EE20-9776-1EF4CAC7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C2FEA-8E7F-70CC-474B-CC138894A0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91023-0B0A-7041-9F06-D25A50EF063B}" type="datetimeFigureOut">
              <a:t>10/18/22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8BAB-55F6-6894-580A-32AFD578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BF367-BF67-C7BE-7EC4-9DB85C434E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youtube.com/watch?v=JIZBwT-VDBY" TargetMode="Externa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edgeproinc.com/" TargetMode="External"/><Relationship Id="rId3" Type="http://schemas.openxmlformats.org/officeDocument/2006/relationships/image" Target="../media/image10.png"/><Relationship Id="rId7" Type="http://schemas.openxmlformats.org/officeDocument/2006/relationships/hyperlink" Target="https://www.youtube.com/watch?v=P6btjvmEUWk" TargetMode="External"/><Relationship Id="rId2" Type="http://schemas.openxmlformats.org/officeDocument/2006/relationships/hyperlink" Target="https://www.youtube.com/watch?v=imBoBSQSQnk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www.youtube.com/watch?v=Gg2w_MobIW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redirect?event=video_description&amp;redir_token=QUFFLUhqbEJIOUtlNERYckUtdXhwNndzMUZLMEpxZ2s0d3xBQ3Jtc0ttemQzNWlVRlhoWFJYSzdsczlMMEoxY2k1eUZpYlF4TXpOWVFySGREZFdlMjZ4bFZUSDFmLWc1VHd3RlRYeXRKc05NVFVMQjJpeC1namFDOWl6ZGI2dWdXVzhjbFZrVE9YMi1KWjBNeHlyTjJOd0I3WQ&amp;q=https%3A%2F%2Famzn.to%2F3nF9VdZ&amp;v=f2vvihhr238" TargetMode="External"/><Relationship Id="rId7" Type="http://schemas.openxmlformats.org/officeDocument/2006/relationships/image" Target="../media/image20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amazon.com/Razor-Sharp-Edgemaking-System-Kit/dp/B0002IXQD8/" TargetMode="External"/><Relationship Id="rId5" Type="http://schemas.openxmlformats.org/officeDocument/2006/relationships/hyperlink" Target="https://amzn.to/3arvlaC" TargetMode="External"/><Relationship Id="rId4" Type="http://schemas.openxmlformats.org/officeDocument/2006/relationships/hyperlink" Target="https://www.youtube.com/redirect?event=video_description&amp;redir_token=QUFFLUhqbTR6ekxQRGJ4dGxTeVl0dllWbXJjN1hva2tpQXxBQ3Jtc0tsV0tabUlwdjRQd3VrY3JuamRUZDBjME9EdWxfM0x6aHFPbUFIQlplQ29vUDQ4WUJoVTg4LWdSbXIyNWwxaTJqeXFvNURVeEtiVHdaV1lmUXo5OVNaZHBscWZ0bkFDbk5SS2Y4eEgwR1hTdXBjYV9NSQ&amp;q=https%3A%2F%2Famzn.to%2F37zCl3k&amp;v=f2vvihhr238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mazon.com/Lansky-Sharpeners-Multi-Purpose-Sharpener/dp/B017T2GG6I/" TargetMode="External"/><Relationship Id="rId2" Type="http://schemas.openxmlformats.org/officeDocument/2006/relationships/hyperlink" Target="https://www.amazon.com/Nicholson-File-Card-Brush-Pack/dp/B001KVM2H2/" TargetMode="Externa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jpeg"/><Relationship Id="rId4" Type="http://schemas.openxmlformats.org/officeDocument/2006/relationships/image" Target="../media/image2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163547-3461-AE07-C75E-7594C61EA810}"/>
              </a:ext>
            </a:extLst>
          </p:cNvPr>
          <p:cNvSpPr txBox="1"/>
          <p:nvPr/>
        </p:nvSpPr>
        <p:spPr>
          <a:xfrm>
            <a:off x="0" y="19117"/>
            <a:ext cx="453203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>
                <a:solidFill>
                  <a:srgbClr val="00B0F0"/>
                </a:solidFill>
              </a:rPr>
              <a:t>How to Sharpen an Ax or Hatchet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331632-4981-96BA-A848-D2F03B21916F}"/>
              </a:ext>
            </a:extLst>
          </p:cNvPr>
          <p:cNvSpPr txBox="1"/>
          <p:nvPr/>
        </p:nvSpPr>
        <p:spPr>
          <a:xfrm>
            <a:off x="74059" y="2835255"/>
            <a:ext cx="4918557" cy="397031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  <a:effectLst/>
              </a:rPr>
              <a:t>Attention: never use a power grinder because it can damage the blade. </a:t>
            </a:r>
          </a:p>
          <a:p>
            <a:endParaRPr lang="en-US" sz="1400" b="0">
              <a:solidFill>
                <a:srgbClr val="000000"/>
              </a:solidFill>
              <a:effectLst/>
            </a:endParaRPr>
          </a:p>
          <a:p>
            <a:r>
              <a:rPr lang="en-US" sz="1400">
                <a:solidFill>
                  <a:srgbClr val="000000"/>
                </a:solidFill>
              </a:rPr>
              <a:t>Use </a:t>
            </a:r>
            <a:r>
              <a:rPr lang="en-US" sz="1400" b="0">
                <a:solidFill>
                  <a:srgbClr val="000000"/>
                </a:solidFill>
                <a:effectLst/>
              </a:rPr>
              <a:t>a vise and a </a:t>
            </a:r>
            <a:r>
              <a:rPr lang="en-US" sz="1400" b="1">
                <a:solidFill>
                  <a:srgbClr val="FF0000"/>
                </a:solidFill>
                <a:effectLst/>
              </a:rPr>
              <a:t>medium-grade mill file</a:t>
            </a:r>
            <a:r>
              <a:rPr lang="en-US" sz="1400" b="0">
                <a:solidFill>
                  <a:srgbClr val="000000"/>
                </a:solidFill>
                <a:effectLst/>
              </a:rPr>
              <a:t>. A mill file will allow for better control while you sharpen the blade.</a:t>
            </a:r>
          </a:p>
          <a:p>
            <a:r>
              <a:rPr lang="en-US" sz="1400">
                <a:solidFill>
                  <a:srgbClr val="000000"/>
                </a:solidFill>
              </a:rPr>
              <a:t>Bastard file 12"</a:t>
            </a:r>
            <a:endParaRPr lang="en-US" sz="1400" b="0">
              <a:solidFill>
                <a:srgbClr val="000000"/>
              </a:solidFill>
              <a:effectLst/>
            </a:endParaRPr>
          </a:p>
          <a:p>
            <a:br>
              <a:rPr lang="en-US" sz="1400" b="0">
                <a:solidFill>
                  <a:srgbClr val="000000"/>
                </a:solidFill>
                <a:effectLst/>
              </a:rPr>
            </a:br>
            <a:r>
              <a:rPr lang="en-US" sz="1400" b="0">
                <a:solidFill>
                  <a:srgbClr val="000000"/>
                </a:solidFill>
                <a:effectLst/>
              </a:rPr>
              <a:t>Use a </a:t>
            </a:r>
            <a:r>
              <a:rPr lang="en-US" sz="1400" b="1">
                <a:solidFill>
                  <a:srgbClr val="FF0000"/>
                </a:solidFill>
                <a:effectLst/>
              </a:rPr>
              <a:t>strong stable vise</a:t>
            </a:r>
            <a:r>
              <a:rPr lang="en-US" sz="1400" b="0">
                <a:solidFill>
                  <a:srgbClr val="000000"/>
                </a:solidFill>
                <a:effectLst/>
              </a:rPr>
              <a:t>.</a:t>
            </a:r>
          </a:p>
          <a:p>
            <a:endParaRPr lang="en-US" sz="1400" b="0">
              <a:solidFill>
                <a:srgbClr val="000000"/>
              </a:solidFill>
              <a:effectLst/>
            </a:endParaRPr>
          </a:p>
          <a:p>
            <a:r>
              <a:rPr lang="en-US" sz="1400" b="0">
                <a:solidFill>
                  <a:srgbClr val="000000"/>
                </a:solidFill>
                <a:effectLst/>
              </a:rPr>
              <a:t>Clamp the head of the ax with the edge facing up.</a:t>
            </a:r>
          </a:p>
          <a:p>
            <a:endParaRPr lang="en-US" sz="1400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>
                <a:solidFill>
                  <a:srgbClr val="000000"/>
                </a:solidFill>
                <a:effectLst/>
              </a:rPr>
              <a:t>Place the medium-grade mill file flat against the blade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000000"/>
                </a:solidFill>
              </a:rPr>
              <a:t>Draw it up towards the edge.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>
                <a:solidFill>
                  <a:srgbClr val="000000"/>
                </a:solidFill>
                <a:effectLst/>
              </a:rPr>
              <a:t>Lift the file off the blade at the end of every stroke. </a:t>
            </a:r>
          </a:p>
          <a:p>
            <a:endParaRPr lang="en-US" sz="1400">
              <a:solidFill>
                <a:srgbClr val="000000"/>
              </a:solidFill>
            </a:endParaRPr>
          </a:p>
          <a:p>
            <a:r>
              <a:rPr lang="en-US" sz="1400" b="0">
                <a:solidFill>
                  <a:srgbClr val="000000"/>
                </a:solidFill>
                <a:effectLst/>
              </a:rPr>
              <a:t>The goal is to sharpen the blade into a convex shape while being careful not to taper the corners. The ax blade should slowly taper from a wide width down to a narrow sharpened edge.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99C978-A083-B0E5-E32D-E5F52892B96D}"/>
              </a:ext>
            </a:extLst>
          </p:cNvPr>
          <p:cNvSpPr txBox="1"/>
          <p:nvPr/>
        </p:nvSpPr>
        <p:spPr>
          <a:xfrm>
            <a:off x="7841347" y="4006293"/>
            <a:ext cx="4145668" cy="246221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0">
                <a:solidFill>
                  <a:srgbClr val="000000"/>
                </a:solidFill>
                <a:effectLst/>
              </a:rPr>
              <a:t>Complete the sharpening process on both sides of the blade. Look down the length of the blade to check for uniformity, and continue to sharpen the blade accordingly. </a:t>
            </a:r>
          </a:p>
          <a:p>
            <a:endParaRPr lang="en-US" sz="1400">
              <a:solidFill>
                <a:srgbClr val="000000"/>
              </a:solidFill>
            </a:endParaRPr>
          </a:p>
          <a:p>
            <a:r>
              <a:rPr lang="en-US" sz="1400" b="0">
                <a:solidFill>
                  <a:srgbClr val="000000"/>
                </a:solidFill>
                <a:effectLst/>
              </a:rPr>
              <a:t>After using the mill file, </a:t>
            </a:r>
            <a:r>
              <a:rPr lang="en-US" sz="1400" b="1">
                <a:solidFill>
                  <a:srgbClr val="FF0000"/>
                </a:solidFill>
                <a:effectLst/>
              </a:rPr>
              <a:t>hone</a:t>
            </a:r>
            <a:r>
              <a:rPr lang="en-US" sz="1400" b="0">
                <a:solidFill>
                  <a:srgbClr val="000000"/>
                </a:solidFill>
                <a:effectLst/>
              </a:rPr>
              <a:t> the ax blade, and sharpen it to perfection with a </a:t>
            </a:r>
            <a:r>
              <a:rPr lang="en-US" sz="1400" b="1">
                <a:solidFill>
                  <a:srgbClr val="FF0000"/>
                </a:solidFill>
                <a:effectLst/>
              </a:rPr>
              <a:t>well-oiled round stone</a:t>
            </a:r>
            <a:r>
              <a:rPr lang="en-US" sz="1400" b="0">
                <a:solidFill>
                  <a:srgbClr val="000000"/>
                </a:solidFill>
                <a:effectLst/>
              </a:rPr>
              <a:t>. Move the ax stone in a circular motion. </a:t>
            </a:r>
          </a:p>
          <a:p>
            <a:endParaRPr lang="en-US" sz="1400">
              <a:solidFill>
                <a:srgbClr val="000000"/>
              </a:solidFill>
            </a:endParaRPr>
          </a:p>
          <a:p>
            <a:r>
              <a:rPr lang="en-US" sz="1400" b="0">
                <a:solidFill>
                  <a:srgbClr val="000000"/>
                </a:solidFill>
                <a:effectLst/>
              </a:rPr>
              <a:t>The newly sharpened ax blade should be lubricated to complete the sharpening process.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9D4BD618-8145-1CA0-E9B3-DC5A82BAC944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80898" y="226785"/>
            <a:ext cx="2870199" cy="159766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281A4C97-8502-8594-ADA8-D8EC31A98AD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0965" y="226785"/>
            <a:ext cx="2094447" cy="160479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94AFA54-CF1C-5FEA-3864-080E087DBB0E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53046" y="1922474"/>
            <a:ext cx="2898051" cy="198485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B401274-FAFF-CD3E-2124-F8E657E2082E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0965" y="1907339"/>
            <a:ext cx="2722500" cy="1984853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C8250595-2685-C0F9-4FA5-4357B652374E}"/>
              </a:ext>
            </a:extLst>
          </p:cNvPr>
          <p:cNvSpPr txBox="1"/>
          <p:nvPr/>
        </p:nvSpPr>
        <p:spPr>
          <a:xfrm>
            <a:off x="204985" y="2214858"/>
            <a:ext cx="3347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hlinkClick r:id="rId6"/>
              </a:rPr>
              <a:t>https://www.youtube.com/watch?v=JIZBwT-VDBY</a:t>
            </a:r>
            <a:endParaRPr lang="en-US" sz="1200"/>
          </a:p>
        </p:txBody>
      </p:sp>
      <p:pic>
        <p:nvPicPr>
          <p:cNvPr id="1026" name="Picture 2" descr="Hatchet vs Axe | What Is the Difference? - Survival Freedom">
            <a:extLst>
              <a:ext uri="{FF2B5EF4-FFF2-40B4-BE49-F238E27FC236}">
                <a16:creationId xmlns:a16="http://schemas.microsoft.com/office/drawing/2014/main" id="{8F76CF5C-6005-F988-6C6B-CD4E32A990C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596984" y="362194"/>
            <a:ext cx="1499016" cy="1462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0123E03-125F-8CF7-4B23-BC0ACA8BB7DC}"/>
              </a:ext>
            </a:extLst>
          </p:cNvPr>
          <p:cNvSpPr txBox="1"/>
          <p:nvPr/>
        </p:nvSpPr>
        <p:spPr>
          <a:xfrm>
            <a:off x="704538" y="1562844"/>
            <a:ext cx="1828800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Ax – American English</a:t>
            </a:r>
          </a:p>
          <a:p>
            <a:r>
              <a:rPr lang="en-US" sz="1400"/>
              <a:t>Axe – British English</a:t>
            </a:r>
          </a:p>
        </p:txBody>
      </p:sp>
    </p:spTree>
    <p:extLst>
      <p:ext uri="{BB962C8B-B14F-4D97-AF65-F5344CB8AC3E}">
        <p14:creationId xmlns:p14="http://schemas.microsoft.com/office/powerpoint/2010/main" val="2058619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29A6177-C309-8C3C-17DF-AB6CF2375F40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2269" y="3429000"/>
            <a:ext cx="4077789" cy="28478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1675C-5840-71C9-0A14-AFF6C4D12C19}"/>
              </a:ext>
            </a:extLst>
          </p:cNvPr>
          <p:cNvSpPr txBox="1"/>
          <p:nvPr/>
        </p:nvSpPr>
        <p:spPr>
          <a:xfrm>
            <a:off x="895704" y="6409501"/>
            <a:ext cx="2047698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Sharpening with a file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64A2C3-063A-31AA-365E-49CBCC211EC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98657" y="972428"/>
            <a:ext cx="2777809" cy="284690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B33DD63-D77B-6687-D6E6-EB0CBB2A3C45}"/>
              </a:ext>
            </a:extLst>
          </p:cNvPr>
          <p:cNvSpPr txBox="1"/>
          <p:nvPr/>
        </p:nvSpPr>
        <p:spPr>
          <a:xfrm>
            <a:off x="9497695" y="3952929"/>
            <a:ext cx="2047698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Sharpening with a belt</a:t>
            </a:r>
          </a:p>
          <a:p>
            <a:pPr algn="ctr"/>
            <a:r>
              <a:rPr lang="en-US" sz="1400"/>
              <a:t>(careful – do not overheat it)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7FCEEB-4338-3055-7197-279B7A575F4C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2269" y="972428"/>
            <a:ext cx="4077789" cy="21904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94D7D46-5A92-7A0C-4C9F-BE99D8BF6B75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39396" y="972428"/>
            <a:ext cx="3619922" cy="264608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66623BC-B1BE-C4C9-5E30-E01324AE8CA7}"/>
              </a:ext>
            </a:extLst>
          </p:cNvPr>
          <p:cNvSpPr txBox="1"/>
          <p:nvPr/>
        </p:nvSpPr>
        <p:spPr>
          <a:xfrm>
            <a:off x="5710188" y="3702611"/>
            <a:ext cx="2047698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Sharpening with a stone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38A913-78DC-2543-1FFE-33A8CB7B11D8}"/>
              </a:ext>
            </a:extLst>
          </p:cNvPr>
          <p:cNvSpPr txBox="1"/>
          <p:nvPr/>
        </p:nvSpPr>
        <p:spPr>
          <a:xfrm>
            <a:off x="194872" y="0"/>
            <a:ext cx="55135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Sharpening with File, Stone, Belt</a:t>
            </a:r>
          </a:p>
        </p:txBody>
      </p:sp>
    </p:spTree>
    <p:extLst>
      <p:ext uri="{BB962C8B-B14F-4D97-AF65-F5344CB8AC3E}">
        <p14:creationId xmlns:p14="http://schemas.microsoft.com/office/powerpoint/2010/main" val="16830928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20DAC42-5C30-CA82-08EB-15F2F44D2AE9}"/>
              </a:ext>
            </a:extLst>
          </p:cNvPr>
          <p:cNvSpPr txBox="1"/>
          <p:nvPr/>
        </p:nvSpPr>
        <p:spPr>
          <a:xfrm>
            <a:off x="217713" y="523220"/>
            <a:ext cx="477883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Rounded 2-sided  Sharpening Stone (a.k.a. puck)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use gloves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use with water and/or honing solution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https://www.youtube.com/watch?v=imBoBSQSQnk</a:t>
            </a:r>
            <a:endParaRPr lang="en-US" sz="140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2501D77-1707-9E3D-F461-32F4C638830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04" y="3870539"/>
            <a:ext cx="1954695" cy="10687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F67B49E-921D-6C8F-27CC-D4868D39DE0D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05" y="2405270"/>
            <a:ext cx="1974486" cy="132646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4C2D1A9-1BAF-111D-A06E-675DB82AEA16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06" y="5078119"/>
            <a:ext cx="1825486" cy="169356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70A2C9-1999-4237-C34E-703048315D3E}"/>
              </a:ext>
            </a:extLst>
          </p:cNvPr>
          <p:cNvSpPr txBox="1"/>
          <p:nvPr/>
        </p:nvSpPr>
        <p:spPr>
          <a:xfrm>
            <a:off x="0" y="0"/>
            <a:ext cx="49965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Sharpening Stone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3E5B7AA-7992-9D0D-DF4C-FACE603D252F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08912" y="145748"/>
            <a:ext cx="5380383" cy="29227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D5BEB73-748B-4E02-AC37-6A2348D8B44B}"/>
              </a:ext>
            </a:extLst>
          </p:cNvPr>
          <p:cNvSpPr txBox="1"/>
          <p:nvPr/>
        </p:nvSpPr>
        <p:spPr>
          <a:xfrm>
            <a:off x="7401337" y="3083002"/>
            <a:ext cx="39955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0">
                <a:solidFill>
                  <a:srgbClr val="030303"/>
                </a:solidFill>
                <a:effectLst/>
              </a:rPr>
              <a:t>How To Sharpen Your New Axe</a:t>
            </a:r>
          </a:p>
          <a:p>
            <a:r>
              <a:rPr lang="en-US" sz="1400">
                <a:hlinkClick r:id="rId7"/>
              </a:rPr>
              <a:t>https://www.youtube.com/watch?v=P6btjvmEUWk</a:t>
            </a:r>
            <a:endParaRPr lang="en-US" sz="1400"/>
          </a:p>
          <a:p>
            <a:r>
              <a:rPr lang="en-US" sz="1400"/>
              <a:t>using EdgePro  </a:t>
            </a:r>
            <a:r>
              <a:rPr lang="en-US" sz="1400">
                <a:hlinkClick r:id="rId8"/>
              </a:rPr>
              <a:t>https://www.edgeproinc.com</a:t>
            </a:r>
            <a:endParaRPr lang="en-US" sz="1400"/>
          </a:p>
          <a:p>
            <a:r>
              <a:rPr lang="en-US" sz="1400"/>
              <a:t>medium and fine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08DADA2-48ED-2DFF-B66D-1317598ADFCB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27504" y="4630131"/>
            <a:ext cx="2706757" cy="20821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7EBD3E4-A9A5-7C0F-0911-C3E95FC6F0B2}"/>
              </a:ext>
            </a:extLst>
          </p:cNvPr>
          <p:cNvSpPr txBox="1"/>
          <p:nvPr/>
        </p:nvSpPr>
        <p:spPr>
          <a:xfrm>
            <a:off x="4679674" y="4368521"/>
            <a:ext cx="2832652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Lubricant: You can use Water, Oil, WD-40, etc.</a:t>
            </a:r>
          </a:p>
        </p:txBody>
      </p:sp>
    </p:spTree>
    <p:extLst>
      <p:ext uri="{BB962C8B-B14F-4D97-AF65-F5344CB8AC3E}">
        <p14:creationId xmlns:p14="http://schemas.microsoft.com/office/powerpoint/2010/main" val="3548061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170A2C9-1999-4237-C34E-703048315D3E}"/>
              </a:ext>
            </a:extLst>
          </p:cNvPr>
          <p:cNvSpPr txBox="1"/>
          <p:nvPr/>
        </p:nvSpPr>
        <p:spPr>
          <a:xfrm>
            <a:off x="194872" y="0"/>
            <a:ext cx="499654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Sharpening with Leather Strop and Stropping Paste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6A1F78-3E2D-AB5C-0379-C7C469380853}"/>
              </a:ext>
            </a:extLst>
          </p:cNvPr>
          <p:cNvSpPr txBox="1"/>
          <p:nvPr/>
        </p:nvSpPr>
        <p:spPr>
          <a:xfrm>
            <a:off x="464695" y="1214203"/>
            <a:ext cx="563130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hlinkClick r:id="rId2"/>
              </a:rPr>
              <a:t>https://www.youtube.com/watch?v=Gg2w_MobIW4</a:t>
            </a:r>
            <a:endParaRPr lang="en-US" sz="1400"/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A complete sharpening/stropping kit: https://amzn.to/2xh0KYs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Trend 300/1000 diamond stone: https://amzn.to/2LPNKmA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Stropping leather: https://amzn.to/2n4BDmN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Stropping paste: https://amzn.to/2Azdezc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44BEAA-5723-977F-A5C5-693B4AFFDFA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968" y="3465747"/>
            <a:ext cx="1949450" cy="21780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804084C-08B7-5C13-8598-2475C4A45819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61490" y="477053"/>
            <a:ext cx="871928" cy="199816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699DB35-48CA-DB29-22A2-5885F4149410}"/>
              </a:ext>
            </a:extLst>
          </p:cNvPr>
          <p:cNvSpPr txBox="1"/>
          <p:nvPr/>
        </p:nvSpPr>
        <p:spPr>
          <a:xfrm>
            <a:off x="10033418" y="1106805"/>
            <a:ext cx="169388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>
                <a:solidFill>
                  <a:srgbClr val="000000"/>
                </a:solidFill>
                <a:effectLst/>
              </a:rPr>
              <a:t>Trend UDWS/HP/LS Honing Compound Leather Strop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BAB099-F2F0-D864-C7D8-E233800CC9EF}"/>
              </a:ext>
            </a:extLst>
          </p:cNvPr>
          <p:cNvSpPr txBox="1"/>
          <p:nvPr/>
        </p:nvSpPr>
        <p:spPr>
          <a:xfrm>
            <a:off x="10138350" y="4179788"/>
            <a:ext cx="16938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Stropping paste</a:t>
            </a:r>
            <a:endParaRPr lang="en-US" sz="1400" b="0">
              <a:solidFill>
                <a:srgbClr val="00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11194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170A2C9-1999-4237-C34E-703048315D3E}"/>
              </a:ext>
            </a:extLst>
          </p:cNvPr>
          <p:cNvSpPr txBox="1"/>
          <p:nvPr/>
        </p:nvSpPr>
        <p:spPr>
          <a:xfrm>
            <a:off x="194872" y="0"/>
            <a:ext cx="499654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Sharpening Convex Edge With Soft Leather or </a:t>
            </a:r>
            <a:r>
              <a:rPr lang="en-US" sz="2800" b="1">
                <a:solidFill>
                  <a:srgbClr val="FF0000"/>
                </a:solidFill>
              </a:rPr>
              <a:t>Mouse Pad</a:t>
            </a:r>
            <a:r>
              <a:rPr lang="en-US" sz="2800" b="1"/>
              <a:t> </a:t>
            </a:r>
          </a:p>
          <a:p>
            <a:r>
              <a:rPr lang="en-US" sz="2800" b="1"/>
              <a:t>and Abrasive Paste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2943CC-29DF-7384-92E3-6AE5996C9B37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5284" y="1735529"/>
            <a:ext cx="3695700" cy="29972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2282DA5-2F8B-3D2F-89D0-164DF243773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6000" y="1735529"/>
            <a:ext cx="3879355" cy="299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441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IY MDF Sharpening Wheel (XL 10&quot;) - YouTube">
            <a:extLst>
              <a:ext uri="{FF2B5EF4-FFF2-40B4-BE49-F238E27FC236}">
                <a16:creationId xmlns:a16="http://schemas.microsoft.com/office/drawing/2014/main" id="{4DE831BD-63D0-6612-0BBB-373CD741BC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202773" y="453282"/>
            <a:ext cx="4621967" cy="2599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3A27154-6F35-6637-45BF-A451AD32422C}"/>
              </a:ext>
            </a:extLst>
          </p:cNvPr>
          <p:cNvSpPr txBox="1"/>
          <p:nvPr/>
        </p:nvSpPr>
        <p:spPr>
          <a:xfrm>
            <a:off x="7759906" y="3152647"/>
            <a:ext cx="35076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/>
              <a:t>https://www.youtube.com/watch?v=f2vvihhr238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CB6A15-1BBB-8ED7-417E-38EFF2488CA7}"/>
              </a:ext>
            </a:extLst>
          </p:cNvPr>
          <p:cNvSpPr txBox="1"/>
          <p:nvPr/>
        </p:nvSpPr>
        <p:spPr>
          <a:xfrm>
            <a:off x="5993566" y="3531900"/>
            <a:ext cx="583117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i="0">
                <a:solidFill>
                  <a:srgbClr val="030303"/>
                </a:solidFill>
                <a:effectLst/>
              </a:rPr>
              <a:t>I used scrap MDF and bought the the other supplies, links below.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30303"/>
                </a:solidFill>
                <a:effectLst/>
              </a:rPr>
              <a:t>Beeswax </a:t>
            </a:r>
            <a:r>
              <a:rPr lang="en-US" sz="1400" b="0" i="0">
                <a:effectLst/>
                <a:hlinkClick r:id="rId3"/>
              </a:rPr>
              <a:t>https://amzn.to/3nF9VdZ</a:t>
            </a:r>
            <a:r>
              <a:rPr lang="en-US" sz="1400" b="0" i="0">
                <a:solidFill>
                  <a:srgbClr val="030303"/>
                </a:solidFill>
                <a:effectLst/>
              </a:rPr>
              <a:t>  (wax sticks)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30303"/>
                </a:solidFill>
                <a:effectLst/>
              </a:rPr>
              <a:t>White Polishing Compound (akaJeweler's Rouge) </a:t>
            </a:r>
            <a:r>
              <a:rPr lang="en-US" sz="1400" b="0" i="0">
                <a:effectLst/>
                <a:hlinkClick r:id="rId4"/>
              </a:rPr>
              <a:t>https://amzn.to/37zCl3k</a:t>
            </a:r>
            <a:r>
              <a:rPr lang="en-US" sz="1400" b="0" i="0">
                <a:solidFill>
                  <a:srgbClr val="030303"/>
                </a:solidFill>
                <a:effectLst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30303"/>
                </a:solidFill>
                <a:effectLst/>
              </a:rPr>
              <a:t>Silicone Carbide Grit </a:t>
            </a:r>
            <a:r>
              <a:rPr lang="en-US" sz="1400" b="0" i="0">
                <a:effectLst/>
                <a:hlinkClick r:id="rId5"/>
              </a:rPr>
              <a:t>https://amzn.to/3arvlaC</a:t>
            </a:r>
            <a:r>
              <a:rPr lang="en-US" sz="1400" b="0" i="0">
                <a:effectLst/>
              </a:rPr>
              <a:t> (partickles)</a:t>
            </a:r>
            <a:endParaRPr lang="en-US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6ADEC2-C058-CAD8-63E3-3313F9EA4182}"/>
              </a:ext>
            </a:extLst>
          </p:cNvPr>
          <p:cNvSpPr txBox="1"/>
          <p:nvPr/>
        </p:nvSpPr>
        <p:spPr>
          <a:xfrm>
            <a:off x="134911" y="134911"/>
            <a:ext cx="553137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Sharpening with </a:t>
            </a:r>
            <a:r>
              <a:rPr lang="en-US" sz="2800" b="1">
                <a:solidFill>
                  <a:srgbClr val="FF0000"/>
                </a:solidFill>
              </a:rPr>
              <a:t>MDF </a:t>
            </a:r>
            <a:br>
              <a:rPr lang="en-US" sz="2800" b="1">
                <a:solidFill>
                  <a:srgbClr val="FF0000"/>
                </a:solidFill>
              </a:rPr>
            </a:br>
            <a:r>
              <a:rPr lang="en-US" sz="2800" b="1">
                <a:solidFill>
                  <a:srgbClr val="FF0000"/>
                </a:solidFill>
              </a:rPr>
              <a:t>(</a:t>
            </a:r>
            <a:r>
              <a:rPr lang="en-US" sz="2800" b="1" i="0">
                <a:solidFill>
                  <a:srgbClr val="FF0000"/>
                </a:solidFill>
                <a:effectLst/>
              </a:rPr>
              <a:t>Medium Density Fibreboard</a:t>
            </a:r>
            <a:r>
              <a:rPr lang="en-US" sz="2800" b="1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39ACD2-5C09-D8CB-C266-4263A4DD7ED3}"/>
              </a:ext>
            </a:extLst>
          </p:cNvPr>
          <p:cNvSpPr txBox="1"/>
          <p:nvPr/>
        </p:nvSpPr>
        <p:spPr>
          <a:xfrm>
            <a:off x="262327" y="5019473"/>
            <a:ext cx="527653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F1111"/>
                </a:solidFill>
                <a:effectLst/>
                <a:hlinkClick r:id="rId6"/>
              </a:rPr>
              <a:t>https://www.amazon.com/Razor-Sharp-Edgemaking-System-Kit/dp/B0002IXQD8/</a:t>
            </a:r>
            <a:endParaRPr lang="en-US" sz="1400" b="0" i="0">
              <a:solidFill>
                <a:srgbClr val="0F1111"/>
              </a:solidFill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F1111"/>
                </a:solidFill>
                <a:effectLst/>
              </a:rPr>
              <a:t>This most popular eight inch kit is made to fit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F1111"/>
                </a:solidFill>
                <a:effectLst/>
              </a:rPr>
              <a:t>ordinary 5 or 6 inch bench grinder or buffer motor.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F1111"/>
                </a:solidFill>
                <a:effectLst/>
              </a:rPr>
              <a:t>The wheels are most efficient turning over 3000 RPMs.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F1111"/>
                </a:solidFill>
                <a:effectLst/>
              </a:rPr>
              <a:t>The wheels in a standard 8 inch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F1111"/>
                </a:solidFill>
                <a:effectLst/>
              </a:rPr>
              <a:t>Deluxe Kit are 8 in by 3/4 in with a 5/8 in arbor hole.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E8B587-926A-0342-34EA-9FB25D2385C8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2061" y="1520687"/>
            <a:ext cx="3195922" cy="3263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5592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A081EB-3466-2BB0-8E97-6CF79A01E897}"/>
              </a:ext>
            </a:extLst>
          </p:cNvPr>
          <p:cNvSpPr txBox="1"/>
          <p:nvPr/>
        </p:nvSpPr>
        <p:spPr>
          <a:xfrm>
            <a:off x="495967" y="378994"/>
            <a:ext cx="1047683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To buy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endParaRPr lang="en-US" sz="1800" b="0" i="0" u="none" strike="noStrike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12" Nicholson bastard file fine</a:t>
            </a:r>
          </a:p>
          <a:p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12" Nicholson bastard file coarse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endParaRPr lang="en-US" b="0">
              <a:effectLst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plastic handle over the wood</a:t>
            </a:r>
            <a:endParaRPr lang="en-US" b="0">
              <a:effectLst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.. https://www.amazon.com/Nicholson-21474U-Universal-Handle/dp/B014IWD3OA/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endParaRPr lang="en-US" sz="1800" b="0" i="0" u="none" strike="noStrike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Nicholson file card (wire brush to clean the file)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.. </a:t>
            </a: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  <a:hlinkClick r:id="rId2"/>
              </a:rPr>
              <a:t>https://www.amazon.com/Nicholson-File-Card-Brush-Pack/dp/B001KVM2H2/</a:t>
            </a:r>
            <a:endParaRPr lang="en-US" sz="1800" b="0" i="0" u="none" strike="noStrike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endParaRPr lang="en-US">
              <a:solidFill>
                <a:srgbClr val="000000"/>
              </a:solidFill>
              <a:latin typeface="Arial" panose="020B0604020202020204" pitchFamily="34" charset="0"/>
            </a:endParaRPr>
          </a:p>
          <a:p>
            <a:r>
              <a:rPr lang="en-US" b="0" i="0">
                <a:solidFill>
                  <a:srgbClr val="0F1111"/>
                </a:solidFill>
                <a:effectLst/>
                <a:latin typeface="Amazon Ember"/>
              </a:rPr>
              <a:t>Lansky Sharpeners The Puck Dual Grit Multi Purpose Knife Sharpener 2 Pack</a:t>
            </a:r>
            <a:endParaRPr lang="en-US" b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b="0">
                <a:effectLst/>
              </a:rPr>
              <a:t>.. </a:t>
            </a:r>
            <a:r>
              <a:rPr lang="en-US" b="0">
                <a:effectLst/>
                <a:hlinkClick r:id="rId3"/>
              </a:rPr>
              <a:t>https://www.amazon.com/Lansky-Sharpeners-Multi-Purpose-Sharpener/dp/B017T2GG6I/</a:t>
            </a:r>
            <a:endParaRPr lang="en-US" b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1700501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93A89F-48F8-F097-8A70-8C56B8D7826A}"/>
              </a:ext>
            </a:extLst>
          </p:cNvPr>
          <p:cNvSpPr txBox="1"/>
          <p:nvPr/>
        </p:nvSpPr>
        <p:spPr>
          <a:xfrm>
            <a:off x="229152" y="335746"/>
            <a:ext cx="4698447" cy="9541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Ax – American English</a:t>
            </a:r>
          </a:p>
          <a:p>
            <a:r>
              <a:rPr lang="en-US" sz="1400"/>
              <a:t>Axe – British English</a:t>
            </a:r>
          </a:p>
          <a:p>
            <a:r>
              <a:rPr lang="en-US" sz="1400"/>
              <a:t>Hatchet – small ax (carpenter's hatchet or camper hatchet)</a:t>
            </a:r>
          </a:p>
          <a:p>
            <a:r>
              <a:rPr lang="en-US" sz="1400"/>
              <a:t>Maul – long-handled ax for splitting wood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76F06D-C960-8F25-137E-32AD61786E53}"/>
              </a:ext>
            </a:extLst>
          </p:cNvPr>
          <p:cNvSpPr txBox="1"/>
          <p:nvPr/>
        </p:nvSpPr>
        <p:spPr>
          <a:xfrm>
            <a:off x="7534972" y="4106517"/>
            <a:ext cx="2475947" cy="22467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Maul Ax</a:t>
            </a:r>
          </a:p>
          <a:p>
            <a:r>
              <a:rPr lang="en-US" sz="1400"/>
              <a:t>A splitting maul also known as a block buster, block splitter, chop and maul, sledge axe, go-devil or hamaxe is a heavy, long-handled axe used for splitting a piece of wood along its grain. One side of its head is like a sledgehammer, and the other side is like an axe.</a:t>
            </a:r>
          </a:p>
        </p:txBody>
      </p:sp>
      <p:pic>
        <p:nvPicPr>
          <p:cNvPr id="1026" name="Picture 2" descr="Maul vs. Axe | Autumn 2006 | Knots and Bolts">
            <a:extLst>
              <a:ext uri="{FF2B5EF4-FFF2-40B4-BE49-F238E27FC236}">
                <a16:creationId xmlns:a16="http://schemas.microsoft.com/office/drawing/2014/main" id="{2004517B-E375-E065-AE1E-1DEBCB8822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346954" y="829819"/>
            <a:ext cx="3045241" cy="2527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91436DE-8FBB-D7A7-C8B9-03AA614D3272}"/>
              </a:ext>
            </a:extLst>
          </p:cNvPr>
          <p:cNvSpPr txBox="1"/>
          <p:nvPr/>
        </p:nvSpPr>
        <p:spPr>
          <a:xfrm>
            <a:off x="7534972" y="3526282"/>
            <a:ext cx="1904448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Ax (left) vs Maul (right)</a:t>
            </a:r>
          </a:p>
        </p:txBody>
      </p:sp>
      <p:pic>
        <p:nvPicPr>
          <p:cNvPr id="1030" name="Picture 6" descr="Estwing Carpenters Hatchet | Forestry Suppliers, Inc.">
            <a:extLst>
              <a:ext uri="{FF2B5EF4-FFF2-40B4-BE49-F238E27FC236}">
                <a16:creationId xmlns:a16="http://schemas.microsoft.com/office/drawing/2014/main" id="{A897A808-C87B-560D-1FFB-582384C79D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511964" y="2654550"/>
            <a:ext cx="1305470" cy="2109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Amazon.com : Kings County Tools Indestructible 4-in-1 Box Hatchet | Hatchet,  Hammer, Nail Remover and Pry Bar Multitool | 13-Inch Length, 3-1/2&quot; Blade  Width : Patio, Lawn &amp; Garden">
            <a:extLst>
              <a:ext uri="{FF2B5EF4-FFF2-40B4-BE49-F238E27FC236}">
                <a16:creationId xmlns:a16="http://schemas.microsoft.com/office/drawing/2014/main" id="{4931E2AF-540D-7A9C-619A-051E483126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914649" y="2467211"/>
            <a:ext cx="2246769" cy="2246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10 The Best Backpacking Hatchets &amp; Axes (2021) - Outdoorsr">
            <a:extLst>
              <a:ext uri="{FF2B5EF4-FFF2-40B4-BE49-F238E27FC236}">
                <a16:creationId xmlns:a16="http://schemas.microsoft.com/office/drawing/2014/main" id="{8942C882-9169-BC2D-5FF8-59206E11EC4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 rot="5400000">
            <a:off x="-425436" y="3239727"/>
            <a:ext cx="2246769" cy="937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97209AD-5CA8-63DD-9BDF-7F1F12DDA63F}"/>
              </a:ext>
            </a:extLst>
          </p:cNvPr>
          <p:cNvSpPr txBox="1"/>
          <p:nvPr/>
        </p:nvSpPr>
        <p:spPr>
          <a:xfrm>
            <a:off x="229151" y="5071717"/>
            <a:ext cx="4698448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Hatchets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7D7A71-AAEF-EB0A-28B5-7EF2B88F2020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5674" y="1202182"/>
            <a:ext cx="1257300" cy="46482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E8B9781-DEB5-53FD-BF07-712E38FAF340}"/>
              </a:ext>
            </a:extLst>
          </p:cNvPr>
          <p:cNvSpPr txBox="1"/>
          <p:nvPr/>
        </p:nvSpPr>
        <p:spPr>
          <a:xfrm>
            <a:off x="10940546" y="5939282"/>
            <a:ext cx="872428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Maul Ax</a:t>
            </a:r>
          </a:p>
        </p:txBody>
      </p:sp>
    </p:spTree>
    <p:extLst>
      <p:ext uri="{BB962C8B-B14F-4D97-AF65-F5344CB8AC3E}">
        <p14:creationId xmlns:p14="http://schemas.microsoft.com/office/powerpoint/2010/main" val="16197443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575</TotalTime>
  <Words>759</Words>
  <Application>Microsoft Macintosh PowerPoint</Application>
  <PresentationFormat>Widescreen</PresentationFormat>
  <Paragraphs>82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Amazon Ember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48</cp:revision>
  <dcterms:created xsi:type="dcterms:W3CDTF">2022-06-02T16:58:09Z</dcterms:created>
  <dcterms:modified xsi:type="dcterms:W3CDTF">2022-10-18T17:04:41Z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2022-06-02T16:58:10Z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93134c22-9ab4-41e7-a5b4-b1f73aac775b</vt:lpwstr>
  </property>
  <property fmtid="{D5CDD505-2E9C-101B-9397-08002B2CF9AE}" pid="8" name="MSIP_Label_4f518368-b969-4042-91d9-8939bd921da2_ContentBits">
    <vt:lpwstr>0</vt:lpwstr>
  </property>
</Properties>
</file>