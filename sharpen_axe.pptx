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8" r:id="rId3"/>
    <p:sldId id="262" r:id="rId4"/>
    <p:sldId id="265" r:id="rId5"/>
    <p:sldId id="264" r:id="rId6"/>
    <p:sldId id="266" r:id="rId7"/>
    <p:sldId id="263" r:id="rId8"/>
    <p:sldId id="267" r:id="rId9"/>
    <p:sldId id="26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5"/>
    <p:restoredTop sz="91429"/>
  </p:normalViewPr>
  <p:slideViewPr>
    <p:cSldViewPr snapToGrid="0" snapToObjects="1">
      <p:cViewPr varScale="1">
        <p:scale>
          <a:sx n="95" d="100"/>
          <a:sy n="95" d="100"/>
        </p:scale>
        <p:origin x="184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10/19/22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JIZBwT-VDBY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hyperlink" Target="https://www.youtube.com/watch?v=AH5QCROvn28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dgeproinc.com/" TargetMode="External"/><Relationship Id="rId3" Type="http://schemas.openxmlformats.org/officeDocument/2006/relationships/image" Target="../media/image11.png"/><Relationship Id="rId7" Type="http://schemas.openxmlformats.org/officeDocument/2006/relationships/hyperlink" Target="https://www.youtube.com/watch?v=P6btjvmEUWk" TargetMode="External"/><Relationship Id="rId2" Type="http://schemas.openxmlformats.org/officeDocument/2006/relationships/hyperlink" Target="https://www.youtube.com/watch?v=imBoBSQSQnk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Gg2w_MobIW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direct?event=video_description&amp;redir_token=QUFFLUhqbEJIOUtlNERYckUtdXhwNndzMUZLMEpxZ2s0d3xBQ3Jtc0ttemQzNWlVRlhoWFJYSzdsczlMMEoxY2k1eUZpYlF4TXpOWVFySGREZFdlMjZ4bFZUSDFmLWc1VHd3RlRYeXRKc05NVFVMQjJpeC1namFDOWl6ZGI2dWdXVzhjbFZrVE9YMi1KWjBNeHlyTjJOd0I3WQ&amp;q=https%3A%2F%2Famzn.to%2F3nF9VdZ&amp;v=f2vvihhr238" TargetMode="External"/><Relationship Id="rId7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mazon.com/Razor-Sharp-Edgemaking-System-Kit/dp/B0002IXQD8/" TargetMode="External"/><Relationship Id="rId5" Type="http://schemas.openxmlformats.org/officeDocument/2006/relationships/hyperlink" Target="https://amzn.to/3arvlaC" TargetMode="External"/><Relationship Id="rId4" Type="http://schemas.openxmlformats.org/officeDocument/2006/relationships/hyperlink" Target="https://www.youtube.com/redirect?event=video_description&amp;redir_token=QUFFLUhqbTR6ekxQRGJ4dGxTeVl0dllWbXJjN1hva2tpQXxBQ3Jtc0tsV0tabUlwdjRQd3VrY3JuamRUZDBjME9EdWxfM0x6aHFPbUFIQlplQ29vUDQ4WUJoVTg4LWdSbXIyNWwxaTJqeXFvNURVeEtiVHdaV1lmUXo5OVNaZHBscWZ0bkFDbk5SS2Y4eEgwR1hTdXBjYV9NSQ&amp;q=https%3A%2F%2Famzn.to%2F37zCl3k&amp;v=f2vvihhr238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Lansky-Sharpeners-Multi-Purpose-Sharpener/dp/B017T2GG6I/" TargetMode="External"/><Relationship Id="rId2" Type="http://schemas.openxmlformats.org/officeDocument/2006/relationships/hyperlink" Target="https://www.amazon.com/Nicholson-File-Card-Brush-Pack/dp/B001KVM2H2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19117"/>
            <a:ext cx="453203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>
                <a:solidFill>
                  <a:srgbClr val="00B0F0"/>
                </a:solidFill>
              </a:rPr>
              <a:t>How to Sharpen an Ax or Hatchet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331632-4981-96BA-A848-D2F03B21916F}"/>
              </a:ext>
            </a:extLst>
          </p:cNvPr>
          <p:cNvSpPr txBox="1"/>
          <p:nvPr/>
        </p:nvSpPr>
        <p:spPr>
          <a:xfrm>
            <a:off x="74059" y="2835255"/>
            <a:ext cx="4918557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  <a:effectLst/>
              </a:rPr>
              <a:t>Attention: never use a power grinder because it can damage the blade. </a:t>
            </a:r>
          </a:p>
          <a:p>
            <a:endParaRPr lang="en-US" sz="1400" b="0">
              <a:solidFill>
                <a:srgbClr val="000000"/>
              </a:solidFill>
              <a:effectLst/>
            </a:endParaRPr>
          </a:p>
          <a:p>
            <a:r>
              <a:rPr lang="en-US" sz="1400">
                <a:solidFill>
                  <a:srgbClr val="000000"/>
                </a:solidFill>
              </a:rPr>
              <a:t>Use </a:t>
            </a:r>
            <a:r>
              <a:rPr lang="en-US" sz="1400" b="0">
                <a:solidFill>
                  <a:srgbClr val="000000"/>
                </a:solidFill>
                <a:effectLst/>
              </a:rPr>
              <a:t>a vise and a </a:t>
            </a:r>
            <a:r>
              <a:rPr lang="en-US" sz="1400" b="1">
                <a:solidFill>
                  <a:srgbClr val="FF0000"/>
                </a:solidFill>
                <a:effectLst/>
              </a:rPr>
              <a:t>medium-grade mill file</a:t>
            </a:r>
            <a:r>
              <a:rPr lang="en-US" sz="1400" b="0">
                <a:solidFill>
                  <a:srgbClr val="000000"/>
                </a:solidFill>
                <a:effectLst/>
              </a:rPr>
              <a:t>. A mill file will allow for better control while you sharpen the blade.</a:t>
            </a:r>
          </a:p>
          <a:p>
            <a:r>
              <a:rPr lang="en-US" sz="1400">
                <a:solidFill>
                  <a:srgbClr val="000000"/>
                </a:solidFill>
              </a:rPr>
              <a:t>Bastard file 12"</a:t>
            </a:r>
            <a:endParaRPr lang="en-US" sz="1400" b="0">
              <a:solidFill>
                <a:srgbClr val="000000"/>
              </a:solidFill>
              <a:effectLst/>
            </a:endParaRPr>
          </a:p>
          <a:p>
            <a:br>
              <a:rPr lang="en-US" sz="1400" b="0">
                <a:solidFill>
                  <a:srgbClr val="000000"/>
                </a:solidFill>
                <a:effectLst/>
              </a:rPr>
            </a:br>
            <a:r>
              <a:rPr lang="en-US" sz="1400" b="0">
                <a:solidFill>
                  <a:srgbClr val="000000"/>
                </a:solidFill>
                <a:effectLst/>
              </a:rPr>
              <a:t>Use a </a:t>
            </a:r>
            <a:r>
              <a:rPr lang="en-US" sz="1400" b="1">
                <a:solidFill>
                  <a:srgbClr val="FF0000"/>
                </a:solidFill>
                <a:effectLst/>
              </a:rPr>
              <a:t>strong stable vise</a:t>
            </a:r>
            <a:r>
              <a:rPr lang="en-US" sz="1400" b="0">
                <a:solidFill>
                  <a:srgbClr val="000000"/>
                </a:solidFill>
                <a:effectLst/>
              </a:rPr>
              <a:t>.</a:t>
            </a:r>
          </a:p>
          <a:p>
            <a:endParaRPr lang="en-US" sz="1400" b="0">
              <a:solidFill>
                <a:srgbClr val="000000"/>
              </a:solidFill>
              <a:effectLst/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Clamp the head of the ax with the edge facing up.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rgbClr val="000000"/>
                </a:solidFill>
                <a:effectLst/>
              </a:rPr>
              <a:t>Place the medium-grade mill file flat against the blade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0000"/>
                </a:solidFill>
              </a:rPr>
              <a:t>Draw it up towards the edge.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rgbClr val="000000"/>
                </a:solidFill>
                <a:effectLst/>
              </a:rPr>
              <a:t>Lift the file off the blade at the end of every stroke.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The goal is to sharpen the blade into a convex shape while being careful not to taper the corners. The ax blade should slowly taper from a wide width down to a narrow sharpened edge.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99C978-A083-B0E5-E32D-E5F52892B96D}"/>
              </a:ext>
            </a:extLst>
          </p:cNvPr>
          <p:cNvSpPr txBox="1"/>
          <p:nvPr/>
        </p:nvSpPr>
        <p:spPr>
          <a:xfrm>
            <a:off x="7841347" y="4006293"/>
            <a:ext cx="4145668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>
                <a:solidFill>
                  <a:srgbClr val="000000"/>
                </a:solidFill>
                <a:effectLst/>
              </a:rPr>
              <a:t>Complete the sharpening process on both sides of the blade. Look down the length of the blade to check for uniformity, and continue to sharpen the blade accordingly.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After using the mill file, </a:t>
            </a:r>
            <a:r>
              <a:rPr lang="en-US" sz="1400" b="1">
                <a:solidFill>
                  <a:srgbClr val="FF0000"/>
                </a:solidFill>
                <a:effectLst/>
              </a:rPr>
              <a:t>hone</a:t>
            </a:r>
            <a:r>
              <a:rPr lang="en-US" sz="1400" b="0">
                <a:solidFill>
                  <a:srgbClr val="000000"/>
                </a:solidFill>
                <a:effectLst/>
              </a:rPr>
              <a:t> the ax blade, and sharpen it to perfection with a </a:t>
            </a:r>
            <a:r>
              <a:rPr lang="en-US" sz="1400" b="1">
                <a:solidFill>
                  <a:srgbClr val="FF0000"/>
                </a:solidFill>
                <a:effectLst/>
              </a:rPr>
              <a:t>well-oiled round stone</a:t>
            </a:r>
            <a:r>
              <a:rPr lang="en-US" sz="1400" b="0">
                <a:solidFill>
                  <a:srgbClr val="000000"/>
                </a:solidFill>
                <a:effectLst/>
              </a:rPr>
              <a:t>. Move the ax stone in a circular motion.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The newly sharpened ax blade should be lubricated to complete the sharpening process.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D4BD618-8145-1CA0-E9B3-DC5A82BAC94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0898" y="226785"/>
            <a:ext cx="2870199" cy="15976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81A4C97-8502-8594-ADA8-D8EC31A98AD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65" y="226785"/>
            <a:ext cx="2094447" cy="160479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4AFA54-CF1C-5FEA-3864-080E087DBB0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53046" y="1922474"/>
            <a:ext cx="2898051" cy="19848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B401274-FAFF-CD3E-2124-F8E657E208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65" y="1907339"/>
            <a:ext cx="2722500" cy="19848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8250595-2685-C0F9-4FA5-4357B652374E}"/>
              </a:ext>
            </a:extLst>
          </p:cNvPr>
          <p:cNvSpPr txBox="1"/>
          <p:nvPr/>
        </p:nvSpPr>
        <p:spPr>
          <a:xfrm>
            <a:off x="204985" y="2214858"/>
            <a:ext cx="3347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hlinkClick r:id="rId6"/>
              </a:rPr>
              <a:t>https://www.youtube.com/watch?v=JIZBwT-VDBY</a:t>
            </a:r>
            <a:endParaRPr lang="en-US" sz="1200"/>
          </a:p>
        </p:txBody>
      </p:sp>
      <p:pic>
        <p:nvPicPr>
          <p:cNvPr id="1026" name="Picture 2" descr="Hatchet vs Axe | What Is the Difference? - Survival Freedom">
            <a:extLst>
              <a:ext uri="{FF2B5EF4-FFF2-40B4-BE49-F238E27FC236}">
                <a16:creationId xmlns:a16="http://schemas.microsoft.com/office/drawing/2014/main" id="{8F76CF5C-6005-F988-6C6B-CD4E32A990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596984" y="362194"/>
            <a:ext cx="1499016" cy="1462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123E03-125F-8CF7-4B23-BC0ACA8BB7DC}"/>
              </a:ext>
            </a:extLst>
          </p:cNvPr>
          <p:cNvSpPr txBox="1"/>
          <p:nvPr/>
        </p:nvSpPr>
        <p:spPr>
          <a:xfrm>
            <a:off x="704538" y="1562844"/>
            <a:ext cx="1828800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– American English</a:t>
            </a:r>
          </a:p>
          <a:p>
            <a:r>
              <a:rPr lang="en-US" sz="1400"/>
              <a:t>Axe – British English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9A6177-C309-8C3C-17DF-AB6CF2375F4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69" y="3429000"/>
            <a:ext cx="4077789" cy="28478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1675C-5840-71C9-0A14-AFF6C4D12C19}"/>
              </a:ext>
            </a:extLst>
          </p:cNvPr>
          <p:cNvSpPr txBox="1"/>
          <p:nvPr/>
        </p:nvSpPr>
        <p:spPr>
          <a:xfrm>
            <a:off x="895704" y="6409501"/>
            <a:ext cx="204769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64A2C3-063A-31AA-365E-49CBCC211E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98657" y="972428"/>
            <a:ext cx="2777809" cy="28469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33DD63-D77B-6687-D6E6-EB0CBB2A3C45}"/>
              </a:ext>
            </a:extLst>
          </p:cNvPr>
          <p:cNvSpPr txBox="1"/>
          <p:nvPr/>
        </p:nvSpPr>
        <p:spPr>
          <a:xfrm>
            <a:off x="9497695" y="3952929"/>
            <a:ext cx="2047698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belt</a:t>
            </a:r>
          </a:p>
          <a:p>
            <a:pPr algn="ctr"/>
            <a:r>
              <a:rPr lang="en-US" sz="1400"/>
              <a:t>(careful – do not overheat it)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7FCEEB-4338-3055-7197-279B7A575F4C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69" y="972428"/>
            <a:ext cx="4077789" cy="2190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4D7D46-5A92-7A0C-4C9F-BE99D8BF6B7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9396" y="972428"/>
            <a:ext cx="3619922" cy="26460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6623BC-B1BE-C4C9-5E30-E01324AE8CA7}"/>
              </a:ext>
            </a:extLst>
          </p:cNvPr>
          <p:cNvSpPr txBox="1"/>
          <p:nvPr/>
        </p:nvSpPr>
        <p:spPr>
          <a:xfrm>
            <a:off x="5710188" y="3702611"/>
            <a:ext cx="204769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stone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8A913-78DC-2543-1FFE-33A8CB7B11D8}"/>
              </a:ext>
            </a:extLst>
          </p:cNvPr>
          <p:cNvSpPr txBox="1"/>
          <p:nvPr/>
        </p:nvSpPr>
        <p:spPr>
          <a:xfrm>
            <a:off x="194872" y="0"/>
            <a:ext cx="5513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File, Stone, Belt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11B2E5-550A-C9EF-31C4-B192D1D5E00A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9396" y="4094487"/>
            <a:ext cx="3619922" cy="19770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58DF942-64A4-2ED4-B2C0-7AE7BF74D1BD}"/>
              </a:ext>
            </a:extLst>
          </p:cNvPr>
          <p:cNvSpPr txBox="1"/>
          <p:nvPr/>
        </p:nvSpPr>
        <p:spPr>
          <a:xfrm>
            <a:off x="5039396" y="6155651"/>
            <a:ext cx="361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hlinkClick r:id="rId7"/>
              </a:rPr>
              <a:t>https://www.youtube.com/watch?v=AH5QCROvn28</a:t>
            </a:r>
            <a:r>
              <a:rPr lang="en-US" sz="1200"/>
              <a:t> </a:t>
            </a:r>
          </a:p>
          <a:p>
            <a:pPr algn="ctr"/>
            <a:r>
              <a:rPr lang="en-US" sz="1200"/>
              <a:t>using </a:t>
            </a:r>
            <a:r>
              <a:rPr lang="en-US" sz="1200" i="0">
                <a:effectLst/>
              </a:rPr>
              <a:t>homemade guided knife sharpener</a:t>
            </a:r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4654206-A2CF-D70C-1FE9-E4FE82DF97A7}"/>
              </a:ext>
            </a:extLst>
          </p:cNvPr>
          <p:cNvCxnSpPr>
            <a:cxnSpLocks/>
          </p:cNvCxnSpPr>
          <p:nvPr/>
        </p:nvCxnSpPr>
        <p:spPr>
          <a:xfrm flipV="1">
            <a:off x="6626152" y="4208929"/>
            <a:ext cx="917648" cy="310083"/>
          </a:xfrm>
          <a:prstGeom prst="straightConnector1">
            <a:avLst/>
          </a:prstGeom>
          <a:ln w="25400">
            <a:solidFill>
              <a:srgbClr val="FF0000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3092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0DAC42-5C30-CA82-08EB-15F2F44D2AE9}"/>
              </a:ext>
            </a:extLst>
          </p:cNvPr>
          <p:cNvSpPr txBox="1"/>
          <p:nvPr/>
        </p:nvSpPr>
        <p:spPr>
          <a:xfrm>
            <a:off x="217713" y="523220"/>
            <a:ext cx="47788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Rounded 2-sided  Sharpening Stone (a.k.a. puck)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gloves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with water and/or honing 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https://www.youtube.com/watch?v=imBoBSQSQnk</a:t>
            </a:r>
            <a:endParaRPr lang="en-US" sz="1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501D77-1707-9E3D-F461-32F4C638830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4" y="3870539"/>
            <a:ext cx="1954695" cy="10687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F67B49E-921D-6C8F-27CC-D4868D39DE0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5" y="2405270"/>
            <a:ext cx="1974486" cy="132646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C2D1A9-1BAF-111D-A06E-675DB82AEA1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6" y="5078119"/>
            <a:ext cx="1825486" cy="16935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0" y="0"/>
            <a:ext cx="4996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Stone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E5B7AA-7992-9D0D-DF4C-FACE603D252F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8912" y="145748"/>
            <a:ext cx="5380383" cy="29227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5BEB73-748B-4E02-AC37-6A2348D8B44B}"/>
              </a:ext>
            </a:extLst>
          </p:cNvPr>
          <p:cNvSpPr txBox="1"/>
          <p:nvPr/>
        </p:nvSpPr>
        <p:spPr>
          <a:xfrm>
            <a:off x="7401337" y="3083002"/>
            <a:ext cx="39955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30303"/>
                </a:solidFill>
                <a:effectLst/>
              </a:rPr>
              <a:t>How To Sharpen Your New Axe</a:t>
            </a:r>
          </a:p>
          <a:p>
            <a:r>
              <a:rPr lang="en-US" sz="1400">
                <a:hlinkClick r:id="rId7"/>
              </a:rPr>
              <a:t>https://www.youtube.com/watch?v=P6btjvmEUWk</a:t>
            </a:r>
            <a:endParaRPr lang="en-US" sz="1400"/>
          </a:p>
          <a:p>
            <a:r>
              <a:rPr lang="en-US" sz="1400"/>
              <a:t>using EdgePro  </a:t>
            </a:r>
            <a:r>
              <a:rPr lang="en-US" sz="1400">
                <a:hlinkClick r:id="rId8"/>
              </a:rPr>
              <a:t>https://www.edgeproinc.com</a:t>
            </a:r>
            <a:endParaRPr lang="en-US" sz="1400"/>
          </a:p>
          <a:p>
            <a:r>
              <a:rPr lang="en-US" sz="1400"/>
              <a:t>medium and fine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8DADA2-48ED-2DFF-B66D-1317598ADFCB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7504" y="4630131"/>
            <a:ext cx="2706757" cy="2082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EBD3E4-A9A5-7C0F-0911-C3E95FC6F0B2}"/>
              </a:ext>
            </a:extLst>
          </p:cNvPr>
          <p:cNvSpPr txBox="1"/>
          <p:nvPr/>
        </p:nvSpPr>
        <p:spPr>
          <a:xfrm>
            <a:off x="4679674" y="4368521"/>
            <a:ext cx="2832652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Lubricant: You can use Water, Oil, WD-40, etc.</a:t>
            </a:r>
          </a:p>
        </p:txBody>
      </p:sp>
    </p:spTree>
    <p:extLst>
      <p:ext uri="{BB962C8B-B14F-4D97-AF65-F5344CB8AC3E}">
        <p14:creationId xmlns:p14="http://schemas.microsoft.com/office/powerpoint/2010/main" val="3548061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194872" y="0"/>
            <a:ext cx="49965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Leather Strop and Stropping Paste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6A1F78-3E2D-AB5C-0379-C7C469380853}"/>
              </a:ext>
            </a:extLst>
          </p:cNvPr>
          <p:cNvSpPr txBox="1"/>
          <p:nvPr/>
        </p:nvSpPr>
        <p:spPr>
          <a:xfrm>
            <a:off x="464695" y="1214203"/>
            <a:ext cx="56313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https://www.youtube.com/watch?v=Gg2w_MobIW4</a:t>
            </a:r>
            <a:endParaRPr lang="en-US" sz="1400"/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complete sharpening/stropping kit: https://amzn.to/2xh0KYs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Trend 300/1000 diamond stone: https://amzn.to/2LPNKmA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Stropping leather: https://amzn.to/2n4BDmN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Stropping paste: https://amzn.to/2Azdezc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4BEAA-5723-977F-A5C5-693B4AFFDFA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968" y="3465747"/>
            <a:ext cx="1949450" cy="2178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804084C-08B7-5C13-8598-2475C4A4581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61490" y="477053"/>
            <a:ext cx="871928" cy="19981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99DB35-48CA-DB29-22A2-5885F4149410}"/>
              </a:ext>
            </a:extLst>
          </p:cNvPr>
          <p:cNvSpPr txBox="1"/>
          <p:nvPr/>
        </p:nvSpPr>
        <p:spPr>
          <a:xfrm>
            <a:off x="10033418" y="1106805"/>
            <a:ext cx="16938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>
                <a:solidFill>
                  <a:srgbClr val="000000"/>
                </a:solidFill>
                <a:effectLst/>
              </a:rPr>
              <a:t>Trend UDWS/HP/LS Honing Compound Leather Strop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BAB099-F2F0-D864-C7D8-E233800CC9EF}"/>
              </a:ext>
            </a:extLst>
          </p:cNvPr>
          <p:cNvSpPr txBox="1"/>
          <p:nvPr/>
        </p:nvSpPr>
        <p:spPr>
          <a:xfrm>
            <a:off x="10138350" y="4179788"/>
            <a:ext cx="16938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Stropping paste</a:t>
            </a:r>
            <a:endParaRPr lang="en-US" sz="1400" b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119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194872" y="0"/>
            <a:ext cx="49965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Convex Edge With Soft Leather or </a:t>
            </a:r>
            <a:r>
              <a:rPr lang="en-US" sz="2800" b="1">
                <a:solidFill>
                  <a:srgbClr val="FF0000"/>
                </a:solidFill>
              </a:rPr>
              <a:t>Mouse Pad</a:t>
            </a:r>
            <a:r>
              <a:rPr lang="en-US" sz="2800" b="1"/>
              <a:t> </a:t>
            </a:r>
          </a:p>
          <a:p>
            <a:r>
              <a:rPr lang="en-US" sz="2800" b="1"/>
              <a:t>and Abrasive Paste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2943CC-29DF-7384-92E3-6AE5996C9B3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284" y="1735529"/>
            <a:ext cx="3695700" cy="29972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2282DA5-2F8B-3D2F-89D0-164DF243773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1735529"/>
            <a:ext cx="3879355" cy="29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41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Y MDF Sharpening Wheel (XL 10&quot;) - YouTube">
            <a:extLst>
              <a:ext uri="{FF2B5EF4-FFF2-40B4-BE49-F238E27FC236}">
                <a16:creationId xmlns:a16="http://schemas.microsoft.com/office/drawing/2014/main" id="{4DE831BD-63D0-6612-0BBB-373CD741B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02773" y="453282"/>
            <a:ext cx="4621967" cy="2599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3A27154-6F35-6637-45BF-A451AD32422C}"/>
              </a:ext>
            </a:extLst>
          </p:cNvPr>
          <p:cNvSpPr txBox="1"/>
          <p:nvPr/>
        </p:nvSpPr>
        <p:spPr>
          <a:xfrm>
            <a:off x="7759906" y="3152647"/>
            <a:ext cx="35076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https://www.youtube.com/watch?v=f2vvihhr238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CB6A15-1BBB-8ED7-417E-38EFF2488CA7}"/>
              </a:ext>
            </a:extLst>
          </p:cNvPr>
          <p:cNvSpPr txBox="1"/>
          <p:nvPr/>
        </p:nvSpPr>
        <p:spPr>
          <a:xfrm>
            <a:off x="5993566" y="3531900"/>
            <a:ext cx="58311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rgbClr val="030303"/>
                </a:solidFill>
                <a:effectLst/>
              </a:rPr>
              <a:t>I used scrap MDF and bought the the other supplies, links below.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Beeswax </a:t>
            </a:r>
            <a:r>
              <a:rPr lang="en-US" sz="1400" b="0" i="0">
                <a:effectLst/>
                <a:hlinkClick r:id="rId3"/>
              </a:rPr>
              <a:t>https://amzn.to/3nF9VdZ</a:t>
            </a:r>
            <a:r>
              <a:rPr lang="en-US" sz="1400" b="0" i="0">
                <a:solidFill>
                  <a:srgbClr val="030303"/>
                </a:solidFill>
                <a:effectLst/>
              </a:rPr>
              <a:t>  (wax sticks)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White Polishing Compound (akaJeweler's Rouge) </a:t>
            </a:r>
            <a:r>
              <a:rPr lang="en-US" sz="1400" b="0" i="0">
                <a:effectLst/>
                <a:hlinkClick r:id="rId4"/>
              </a:rPr>
              <a:t>https://amzn.to/37zCl3k</a:t>
            </a:r>
            <a:r>
              <a:rPr lang="en-US" sz="1400" b="0" i="0">
                <a:solidFill>
                  <a:srgbClr val="030303"/>
                </a:solidFill>
                <a:effectLst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Silicone Carbide Grit </a:t>
            </a:r>
            <a:r>
              <a:rPr lang="en-US" sz="1400" b="0" i="0">
                <a:effectLst/>
                <a:hlinkClick r:id="rId5"/>
              </a:rPr>
              <a:t>https://amzn.to/3arvlaC</a:t>
            </a:r>
            <a:r>
              <a:rPr lang="en-US" sz="1400" b="0" i="0">
                <a:effectLst/>
              </a:rPr>
              <a:t> (partickles)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ADEC2-C058-CAD8-63E3-3313F9EA4182}"/>
              </a:ext>
            </a:extLst>
          </p:cNvPr>
          <p:cNvSpPr txBox="1"/>
          <p:nvPr/>
        </p:nvSpPr>
        <p:spPr>
          <a:xfrm>
            <a:off x="134911" y="134911"/>
            <a:ext cx="55313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</a:t>
            </a:r>
            <a:r>
              <a:rPr lang="en-US" sz="2800" b="1">
                <a:solidFill>
                  <a:srgbClr val="FF0000"/>
                </a:solidFill>
              </a:rPr>
              <a:t>MDF </a:t>
            </a:r>
            <a:br>
              <a:rPr lang="en-US" sz="2800" b="1">
                <a:solidFill>
                  <a:srgbClr val="FF0000"/>
                </a:solidFill>
              </a:rPr>
            </a:br>
            <a:r>
              <a:rPr lang="en-US" sz="2800" b="1">
                <a:solidFill>
                  <a:srgbClr val="FF0000"/>
                </a:solidFill>
              </a:rPr>
              <a:t>(</a:t>
            </a:r>
            <a:r>
              <a:rPr lang="en-US" sz="2800" b="1" i="0">
                <a:solidFill>
                  <a:srgbClr val="FF0000"/>
                </a:solidFill>
                <a:effectLst/>
              </a:rPr>
              <a:t>Medium Density Fibreboard</a:t>
            </a:r>
            <a:r>
              <a:rPr lang="en-US" sz="2800" b="1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9ACD2-5C09-D8CB-C266-4263A4DD7ED3}"/>
              </a:ext>
            </a:extLst>
          </p:cNvPr>
          <p:cNvSpPr txBox="1"/>
          <p:nvPr/>
        </p:nvSpPr>
        <p:spPr>
          <a:xfrm>
            <a:off x="262327" y="5019473"/>
            <a:ext cx="527653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  <a:hlinkClick r:id="rId6"/>
              </a:rPr>
              <a:t>https://www.amazon.com/Razor-Sharp-Edgemaking-System-Kit/dp/B0002IXQD8/</a:t>
            </a:r>
            <a:endParaRPr lang="en-US" sz="1400" b="0" i="0">
              <a:solidFill>
                <a:srgbClr val="0F111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This most popular eight inch kit is made to fit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ordinary 5 or 6 inch bench grinder or buffer motor.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The wheels are most efficient turning over 3000 RPMs.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The wheels in a standard 8 inch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Deluxe Kit are 8 in by 3/4 in with a 5/8 in arbor hole.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E8B587-926A-0342-34EA-9FB25D2385C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2061" y="1520687"/>
            <a:ext cx="3195922" cy="32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59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A081EB-3466-2BB0-8E97-6CF79A01E897}"/>
              </a:ext>
            </a:extLst>
          </p:cNvPr>
          <p:cNvSpPr txBox="1"/>
          <p:nvPr/>
        </p:nvSpPr>
        <p:spPr>
          <a:xfrm>
            <a:off x="495967" y="378994"/>
            <a:ext cx="1047683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 buy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12" Nicholson bastard file fine</a:t>
            </a:r>
          </a:p>
          <a:p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12" Nicholson bastard file coarse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b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plastic handle over the wood</a:t>
            </a:r>
            <a:endParaRPr lang="en-US" b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.. https://www.amazon.com/Nicholson-21474U-Universal-Handle/dp/B014IWD3OA/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Nicholson file card (wire brush to clean the file)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.. </a:t>
            </a: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2"/>
              </a:rPr>
              <a:t>https://www.amazon.com/Nicholson-File-Card-Brush-Pack/dp/B001KVM2H2/</a:t>
            </a: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>
              <a:solidFill>
                <a:srgbClr val="000000"/>
              </a:solidFill>
              <a:latin typeface="Arial" panose="020B0604020202020204" pitchFamily="34" charset="0"/>
            </a:endParaRPr>
          </a:p>
          <a:p>
            <a:r>
              <a:rPr lang="en-US" b="0" i="0">
                <a:solidFill>
                  <a:srgbClr val="0F1111"/>
                </a:solidFill>
                <a:effectLst/>
                <a:latin typeface="Amazon Ember"/>
              </a:rPr>
              <a:t>Lansky Sharpeners The Puck Dual Grit Multi Purpose Knife Sharpener 2 Pack</a:t>
            </a:r>
            <a:endParaRPr lang="en-US" b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b="0">
                <a:effectLst/>
              </a:rPr>
              <a:t>.. </a:t>
            </a:r>
            <a:r>
              <a:rPr lang="en-US" b="0">
                <a:effectLst/>
                <a:hlinkClick r:id="rId3"/>
              </a:rPr>
              <a:t>https://www.amazon.com/Lansky-Sharpeners-Multi-Purpose-Sharpener/dp/B017T2GG6I/</a:t>
            </a:r>
            <a:endParaRPr lang="en-US" b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70050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93A89F-48F8-F097-8A70-8C56B8D7826A}"/>
              </a:ext>
            </a:extLst>
          </p:cNvPr>
          <p:cNvSpPr txBox="1"/>
          <p:nvPr/>
        </p:nvSpPr>
        <p:spPr>
          <a:xfrm>
            <a:off x="229152" y="335746"/>
            <a:ext cx="469844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– American English</a:t>
            </a:r>
          </a:p>
          <a:p>
            <a:r>
              <a:rPr lang="en-US" sz="1400"/>
              <a:t>Axe – British English</a:t>
            </a:r>
          </a:p>
          <a:p>
            <a:r>
              <a:rPr lang="en-US" sz="1400"/>
              <a:t>Hatchet – small ax (carpenter's hatchet or camper hatchet)</a:t>
            </a:r>
          </a:p>
          <a:p>
            <a:r>
              <a:rPr lang="en-US" sz="1400"/>
              <a:t>Maul – long-handled ax for splitting wood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6F06D-C960-8F25-137E-32AD61786E53}"/>
              </a:ext>
            </a:extLst>
          </p:cNvPr>
          <p:cNvSpPr txBox="1"/>
          <p:nvPr/>
        </p:nvSpPr>
        <p:spPr>
          <a:xfrm>
            <a:off x="7534972" y="4106517"/>
            <a:ext cx="2475947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Maul Ax</a:t>
            </a:r>
          </a:p>
          <a:p>
            <a:r>
              <a:rPr lang="en-US" sz="1400"/>
              <a:t>A splitting maul also known as a block buster, block splitter, chop and maul, sledge axe, go-devil or hamaxe is a heavy, long-handled axe used for splitting a piece of wood along its grain. One side of its head is like a sledgehammer, and the other side is like an axe.</a:t>
            </a:r>
          </a:p>
        </p:txBody>
      </p:sp>
      <p:pic>
        <p:nvPicPr>
          <p:cNvPr id="1026" name="Picture 2" descr="Maul vs. Axe | Autumn 2006 | Knots and Bolts">
            <a:extLst>
              <a:ext uri="{FF2B5EF4-FFF2-40B4-BE49-F238E27FC236}">
                <a16:creationId xmlns:a16="http://schemas.microsoft.com/office/drawing/2014/main" id="{2004517B-E375-E065-AE1E-1DEBCB8822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346954" y="829819"/>
            <a:ext cx="3045241" cy="252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1436DE-8FBB-D7A7-C8B9-03AA614D3272}"/>
              </a:ext>
            </a:extLst>
          </p:cNvPr>
          <p:cNvSpPr txBox="1"/>
          <p:nvPr/>
        </p:nvSpPr>
        <p:spPr>
          <a:xfrm>
            <a:off x="7534972" y="3526282"/>
            <a:ext cx="190444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(left) vs Maul (right)</a:t>
            </a:r>
          </a:p>
        </p:txBody>
      </p:sp>
      <p:pic>
        <p:nvPicPr>
          <p:cNvPr id="1030" name="Picture 6" descr="Estwing Carpenters Hatchet | Forestry Suppliers, Inc.">
            <a:extLst>
              <a:ext uri="{FF2B5EF4-FFF2-40B4-BE49-F238E27FC236}">
                <a16:creationId xmlns:a16="http://schemas.microsoft.com/office/drawing/2014/main" id="{A897A808-C87B-560D-1FFB-582384C79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11964" y="2654550"/>
            <a:ext cx="1305470" cy="21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mazon.com : Kings County Tools Indestructible 4-in-1 Box Hatchet | Hatchet,  Hammer, Nail Remover and Pry Bar Multitool | 13-Inch Length, 3-1/2&quot; Blade  Width : Patio, Lawn &amp; Garden">
            <a:extLst>
              <a:ext uri="{FF2B5EF4-FFF2-40B4-BE49-F238E27FC236}">
                <a16:creationId xmlns:a16="http://schemas.microsoft.com/office/drawing/2014/main" id="{4931E2AF-540D-7A9C-619A-051E48312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914649" y="2467211"/>
            <a:ext cx="2246769" cy="2246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10 The Best Backpacking Hatchets &amp; Axes (2021) - Outdoorsr">
            <a:extLst>
              <a:ext uri="{FF2B5EF4-FFF2-40B4-BE49-F238E27FC236}">
                <a16:creationId xmlns:a16="http://schemas.microsoft.com/office/drawing/2014/main" id="{8942C882-9169-BC2D-5FF8-59206E11EC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5400000">
            <a:off x="-425436" y="3239727"/>
            <a:ext cx="2246769" cy="937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7209AD-5CA8-63DD-9BDF-7F1F12DDA63F}"/>
              </a:ext>
            </a:extLst>
          </p:cNvPr>
          <p:cNvSpPr txBox="1"/>
          <p:nvPr/>
        </p:nvSpPr>
        <p:spPr>
          <a:xfrm>
            <a:off x="229151" y="5071717"/>
            <a:ext cx="469844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Hatchets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7D7A71-AAEF-EB0A-28B5-7EF2B88F2020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5674" y="1202182"/>
            <a:ext cx="1257300" cy="4648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8B9781-DEB5-53FD-BF07-712E38FAF340}"/>
              </a:ext>
            </a:extLst>
          </p:cNvPr>
          <p:cNvSpPr txBox="1"/>
          <p:nvPr/>
        </p:nvSpPr>
        <p:spPr>
          <a:xfrm>
            <a:off x="10940546" y="5939282"/>
            <a:ext cx="87242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Maul Ax</a:t>
            </a:r>
          </a:p>
        </p:txBody>
      </p:sp>
    </p:spTree>
    <p:extLst>
      <p:ext uri="{BB962C8B-B14F-4D97-AF65-F5344CB8AC3E}">
        <p14:creationId xmlns:p14="http://schemas.microsoft.com/office/powerpoint/2010/main" val="1619744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0D4253-2ED8-0EB9-1C23-7F80EC3B9CD6}"/>
              </a:ext>
            </a:extLst>
          </p:cNvPr>
          <p:cNvSpPr txBox="1"/>
          <p:nvPr/>
        </p:nvSpPr>
        <p:spPr>
          <a:xfrm>
            <a:off x="119269" y="705678"/>
            <a:ext cx="4823792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/>
              <a:t>Па́ста ГОИ (от ГОИ — Государственный оптический институт) — шлифовальные и полировальные пасты на основе оксида хрома</a:t>
            </a:r>
            <a:r>
              <a:rPr lang="en-US" sz="1400"/>
              <a:t>, </a:t>
            </a:r>
            <a:r>
              <a:rPr lang="ru-RU" sz="1400"/>
              <a:t>используемые для шлифования и полирования стальных сплавов, цветных металлов, твёрдых пластмасс и полимеров, стёкол, оптических стёкол, керамических материалов.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EFAC2-91F2-94C5-4A95-1C3A54E229A8}"/>
              </a:ext>
            </a:extLst>
          </p:cNvPr>
          <p:cNvSpPr txBox="1"/>
          <p:nvPr/>
        </p:nvSpPr>
        <p:spPr>
          <a:xfrm>
            <a:off x="49695" y="69574"/>
            <a:ext cx="18884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/>
              <a:t>Па́ста ГОИ</a:t>
            </a:r>
            <a:endParaRPr lang="en-US" sz="2800" b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A9AA8E-0192-5387-6900-2162B5872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096000" y="350377"/>
            <a:ext cx="2421176" cy="181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E1BB97-1967-4A2B-90E4-0EA23F9B338C}"/>
              </a:ext>
            </a:extLst>
          </p:cNvPr>
          <p:cNvSpPr txBox="1"/>
          <p:nvPr/>
        </p:nvSpPr>
        <p:spPr>
          <a:xfrm>
            <a:off x="6378935" y="2166259"/>
            <a:ext cx="1855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/>
              <a:t>Кусок пасты ГОИ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8348FC-CB01-20A8-208D-968A291B1030}"/>
              </a:ext>
            </a:extLst>
          </p:cNvPr>
          <p:cNvSpPr txBox="1"/>
          <p:nvPr/>
        </p:nvSpPr>
        <p:spPr>
          <a:xfrm>
            <a:off x="119269" y="2782669"/>
            <a:ext cx="4558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There are multiple honing and polishing pastes and compounds on amazon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739B9B-E3BC-F4A8-10A9-860BFA040DA2}"/>
              </a:ext>
            </a:extLst>
          </p:cNvPr>
          <p:cNvSpPr txBox="1"/>
          <p:nvPr/>
        </p:nvSpPr>
        <p:spPr>
          <a:xfrm>
            <a:off x="301485" y="3650124"/>
            <a:ext cx="36509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larger the "Grit" number – the smaller the size of particles. But be careful, becasue there are different Grit scales:</a:t>
            </a:r>
          </a:p>
          <a:p>
            <a:r>
              <a:rPr lang="en-US" sz="1400"/>
              <a:t> FEPA (Europe) and ANSI/Cami (US) </a:t>
            </a:r>
          </a:p>
          <a:p>
            <a:endParaRPr lang="en-US" sz="1400"/>
          </a:p>
          <a:p>
            <a:r>
              <a:rPr lang="en-US" sz="1400"/>
              <a:t>The European </a:t>
            </a:r>
          </a:p>
          <a:p>
            <a:r>
              <a:rPr lang="en-US" sz="1400"/>
              <a:t>  P2000 - 10 microns</a:t>
            </a:r>
          </a:p>
          <a:p>
            <a:r>
              <a:rPr lang="en-US" sz="1400"/>
              <a:t>  P4000 -  5 microns</a:t>
            </a:r>
          </a:p>
          <a:p>
            <a:r>
              <a:rPr lang="en-US" sz="1400"/>
              <a:t>US:</a:t>
            </a:r>
          </a:p>
          <a:p>
            <a:r>
              <a:rPr lang="en-US" sz="1400"/>
              <a:t>    800 - 12.2 microns</a:t>
            </a:r>
          </a:p>
          <a:p>
            <a:r>
              <a:rPr lang="en-US" sz="1400"/>
              <a:t>   1000 -  9.2 microns</a:t>
            </a:r>
          </a:p>
          <a:p>
            <a:r>
              <a:rPr lang="en-US" sz="1400"/>
              <a:t>   1200 -  6.5 microns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AF3F8C-B8C7-C277-3B95-67E3DD9F3599}"/>
              </a:ext>
            </a:extLst>
          </p:cNvPr>
          <p:cNvSpPr txBox="1"/>
          <p:nvPr/>
        </p:nvSpPr>
        <p:spPr>
          <a:xfrm>
            <a:off x="8680174" y="350377"/>
            <a:ext cx="339255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Composition: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65-74 parts of trivalent chromium oxide,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1-silica gel,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10-stearin,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10 — split fat,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2-kerosene,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2-oleic acid,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0.2-bicarbonate of soda.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C94344-85F7-9B8D-D19A-9EDAB7855819}"/>
              </a:ext>
            </a:extLst>
          </p:cNvPr>
          <p:cNvSpPr txBox="1"/>
          <p:nvPr/>
        </p:nvSpPr>
        <p:spPr>
          <a:xfrm>
            <a:off x="6095999" y="2782669"/>
            <a:ext cx="547314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No. 1 – Black paste with a green hue, with a grain size of 0.3-0.1 microns.</a:t>
            </a:r>
          </a:p>
          <a:p>
            <a:r>
              <a:rPr lang="en-US" sz="1400"/>
              <a:t>No. 2 - Dark green paste, with a grain size of 7-1 microns.</a:t>
            </a:r>
          </a:p>
          <a:p>
            <a:r>
              <a:rPr lang="en-US" sz="1400"/>
              <a:t>No. 3 - Green paste, with a grain size of 17-8 microns.</a:t>
            </a:r>
          </a:p>
          <a:p>
            <a:r>
              <a:rPr lang="en-US" sz="1400"/>
              <a:t>No. 4 - Light green paste, with a grain size of 40-18 microns. </a:t>
            </a:r>
          </a:p>
        </p:txBody>
      </p:sp>
    </p:spTree>
    <p:extLst>
      <p:ext uri="{BB962C8B-B14F-4D97-AF65-F5344CB8AC3E}">
        <p14:creationId xmlns:p14="http://schemas.microsoft.com/office/powerpoint/2010/main" val="1366641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613</TotalTime>
  <Words>998</Words>
  <Application>Microsoft Macintosh PowerPoint</Application>
  <PresentationFormat>Widescreen</PresentationFormat>
  <Paragraphs>110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Amazon Ember</vt:lpstr>
      <vt:lpstr>Arial</vt:lpstr>
      <vt:lpstr>Calibri</vt:lpstr>
      <vt:lpstr>Calibri Light</vt:lpstr>
      <vt:lpstr>inherit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53</cp:revision>
  <dcterms:created xsi:type="dcterms:W3CDTF">2022-06-02T16:58:09Z</dcterms:created>
  <dcterms:modified xsi:type="dcterms:W3CDTF">2022-10-19T05:03:35Z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