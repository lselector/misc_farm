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/>
    <p:restoredTop sz="91361"/>
  </p:normalViewPr>
  <p:slideViewPr>
    <p:cSldViewPr snapToGrid="0" snapToObjects="1">
      <p:cViewPr varScale="1">
        <p:scale>
          <a:sx n="116" d="100"/>
          <a:sy n="116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43BDE-B8C0-934E-9704-CBA3B88C1FB8}" type="datetimeFigureOut">
              <a:rPr lang="en-US" smtClean="0"/>
              <a:t>6/16/24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B91EE-EA77-074C-ABDE-BAE6359B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1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8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97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2001-545C-99D0-05A3-34EAAB5C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9392E-8F18-4AD6-D26D-2EAA93E4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72907-66C1-84CC-5E24-AFA53AA94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FB7D5-126E-2993-4CA4-5B643C76F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4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6/16/24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sBZzJ-IhidI" TargetMode="External"/><Relationship Id="rId13" Type="http://schemas.openxmlformats.org/officeDocument/2006/relationships/image" Target="../media/image10.png"/><Relationship Id="rId3" Type="http://schemas.openxmlformats.org/officeDocument/2006/relationships/hyperlink" Target="https://www.andersenwindows.com/" TargetMode="External"/><Relationship Id="rId7" Type="http://schemas.openxmlformats.org/officeDocument/2006/relationships/hyperlink" Target="https://www.youtube.com/watch?v=3jjh4aQmQ3Q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rts.andersenwindows.com/detail_2579045__d_fwh_hng.html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parts.andersenwindows.com/items_d_fwh_hng.html" TargetMode="External"/><Relationship Id="rId10" Type="http://schemas.openxmlformats.org/officeDocument/2006/relationships/image" Target="../media/image7.jpeg"/><Relationship Id="rId4" Type="http://schemas.openxmlformats.org/officeDocument/2006/relationships/hyperlink" Target="https://www.parts.andersenwindows.com/" TargetMode="Externa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bay.com/itm/354102844912" TargetMode="External"/><Relationship Id="rId13" Type="http://schemas.openxmlformats.org/officeDocument/2006/relationships/image" Target="../media/image17.png"/><Relationship Id="rId3" Type="http://schemas.openxmlformats.org/officeDocument/2006/relationships/hyperlink" Target="https://www.amazon.com/gp/product/B005W82BN4" TargetMode="External"/><Relationship Id="rId7" Type="http://schemas.openxmlformats.org/officeDocument/2006/relationships/hyperlink" Target="https://www.amazon.com/Ultra-Hardware-85988-Gainsborough-Whitehall/dp/B0007XW92W" TargetMode="External"/><Relationship Id="rId12" Type="http://schemas.openxmlformats.org/officeDocument/2006/relationships/hyperlink" Target="https://cdnimages.opentip.com/Docs/DLA/gains300install.pdf" TargetMode="External"/><Relationship Id="rId2" Type="http://schemas.openxmlformats.org/officeDocument/2006/relationships/hyperlink" Target="https://www.amazon.com/gp/product/B00002N76B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hyperlink" Target="https://www.youtube.com/watch?v=FiMVcuQBrrU" TargetMode="External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0" y="9719"/>
            <a:ext cx="3570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1111"/>
                </a:solidFill>
                <a:effectLst/>
              </a:rPr>
              <a:t>Corner Cabinet Hinges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EE014-D245-45FF-8457-AA1EEFF9D2D0}"/>
              </a:ext>
            </a:extLst>
          </p:cNvPr>
          <p:cNvSpPr txBox="1"/>
          <p:nvPr/>
        </p:nvSpPr>
        <p:spPr>
          <a:xfrm>
            <a:off x="-16467" y="2602202"/>
            <a:ext cx="2752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www.cabinetparts.com</a:t>
            </a:r>
            <a:r>
              <a:rPr lang="en-US" sz="1000" dirty="0"/>
              <a:t>/p/grass-hinges-european-cabinet-hinges-GHA90700-p23470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F2716AE-EB73-07B2-DB84-1F779CBE3B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331" y="601187"/>
            <a:ext cx="2325483" cy="20410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F272B78-8344-E27A-4CCD-84AAF4EABC6E}"/>
              </a:ext>
            </a:extLst>
          </p:cNvPr>
          <p:cNvSpPr txBox="1"/>
          <p:nvPr/>
        </p:nvSpPr>
        <p:spPr>
          <a:xfrm>
            <a:off x="1" y="5257777"/>
            <a:ext cx="2541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modernhardware.com</a:t>
            </a:r>
            <a:r>
              <a:rPr lang="en-US" sz="1000" dirty="0"/>
              <a:t>/product/pie-cut-corner-hinge/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C7CF661-FECB-0A15-2FF3-6347904B0B5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236" y="3024675"/>
            <a:ext cx="2492199" cy="22107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A9010A3-E8EC-D86A-094C-346D07EF8F0D}"/>
              </a:ext>
            </a:extLst>
          </p:cNvPr>
          <p:cNvSpPr txBox="1"/>
          <p:nvPr/>
        </p:nvSpPr>
        <p:spPr>
          <a:xfrm>
            <a:off x="6466115" y="4796112"/>
            <a:ext cx="3091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www.amazon.com</a:t>
            </a:r>
            <a:r>
              <a:rPr lang="en-US" sz="1000" dirty="0"/>
              <a:t>/Pie-Cut-Corner-Hinge-Dimensional/</a:t>
            </a:r>
            <a:r>
              <a:rPr lang="en-US" sz="1000" dirty="0" err="1"/>
              <a:t>dp</a:t>
            </a:r>
            <a:r>
              <a:rPr lang="en-US" sz="1000" dirty="0"/>
              <a:t>/B0106BZI86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15CF353-1264-5F18-37F0-D87C64B3057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0950" y="532939"/>
            <a:ext cx="61849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-1" y="9719"/>
            <a:ext cx="4823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1111"/>
                </a:solidFill>
                <a:effectLst/>
              </a:rPr>
              <a:t>Handed #65 </a:t>
            </a:r>
            <a:r>
              <a:rPr lang="en-US" sz="2800" b="1" i="0" dirty="0" err="1">
                <a:solidFill>
                  <a:srgbClr val="0F1111"/>
                </a:solidFill>
                <a:effectLst/>
              </a:rPr>
              <a:t>Youngdale</a:t>
            </a:r>
            <a:r>
              <a:rPr lang="en-US" sz="2800" b="1" i="0" dirty="0">
                <a:solidFill>
                  <a:srgbClr val="0F1111"/>
                </a:solidFill>
                <a:effectLst/>
              </a:rPr>
              <a:t> Hinge</a:t>
            </a:r>
            <a:endParaRPr lang="en-US" sz="2800" b="1" dirty="0">
              <a:solidFill>
                <a:srgbClr val="00B0F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85696-1268-A8A5-5A8D-1642D5CAAC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4538" y="1011116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F189C4-4B20-7927-962C-8FB813802C8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6908" y="1011115"/>
            <a:ext cx="2664527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5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CE40-FAC2-06AC-AEEE-247099B3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2ECB98-03EC-DBE0-F1B4-50DE841F02D6}"/>
              </a:ext>
            </a:extLst>
          </p:cNvPr>
          <p:cNvSpPr/>
          <p:nvPr/>
        </p:nvSpPr>
        <p:spPr>
          <a:xfrm>
            <a:off x="3448527" y="4657133"/>
            <a:ext cx="2796139" cy="1548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4EAFB-0C3B-FE5C-A059-BF43CDE1F9EF}"/>
              </a:ext>
            </a:extLst>
          </p:cNvPr>
          <p:cNvSpPr txBox="1"/>
          <p:nvPr/>
        </p:nvSpPr>
        <p:spPr>
          <a:xfrm>
            <a:off x="-1" y="9719"/>
            <a:ext cx="7660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Frenchwood</a:t>
            </a:r>
            <a:r>
              <a:rPr lang="en-US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Inswing Patio Door (Pre-2005) | Andersen Windows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540F8-2C96-97E9-50FA-280F0B083D20}"/>
              </a:ext>
            </a:extLst>
          </p:cNvPr>
          <p:cNvSpPr txBox="1"/>
          <p:nvPr/>
        </p:nvSpPr>
        <p:spPr>
          <a:xfrm>
            <a:off x="57749" y="486507"/>
            <a:ext cx="4331772" cy="33547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Andersen Windows &amp; Doors - </a:t>
            </a:r>
            <a:r>
              <a:rPr lang="en-US" sz="10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https://www.andersenwindows.com</a:t>
            </a:r>
            <a:endParaRPr lang="en-US" sz="10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 err="1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</a:t>
            </a:r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800-426-4261</a:t>
            </a:r>
          </a:p>
          <a:p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Parts - </a:t>
            </a:r>
            <a:r>
              <a:rPr lang="en-US" sz="10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https://www.parts.andersenwindows.com</a:t>
            </a:r>
            <a:endParaRPr lang="en-US" sz="10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 err="1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</a:t>
            </a:r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888-888-7020</a:t>
            </a:r>
          </a:p>
          <a:p>
            <a:endParaRPr lang="en-US" sz="14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Andersen Hinges - </a:t>
            </a:r>
            <a:r>
              <a:rPr lang="en-US" sz="10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https://parts.andersenwindows.com/items_d_fwh_hng.html</a:t>
            </a:r>
            <a:endParaRPr lang="en-US" sz="10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need 5/32" hex wrench (=3.97mm)</a:t>
            </a:r>
          </a:p>
          <a:p>
            <a:r>
              <a:rPr lang="en-US" sz="10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</a:t>
            </a:r>
            <a:r>
              <a:rPr lang="en-US" sz="1000" i="0" dirty="0" err="1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parts.andersenwindows.com</a:t>
            </a:r>
            <a:r>
              <a:rPr lang="en-US" sz="10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/detail_2579045__d_fwh_hng.html</a:t>
            </a:r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400" i="0" dirty="0">
              <a:solidFill>
                <a:srgbClr val="0F0F0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Adjusting A </a:t>
            </a:r>
            <a:r>
              <a:rPr lang="en-US" sz="1400" i="0" dirty="0" err="1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Frenchwood</a:t>
            </a:r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Inswing Patio Door (Pre-2005)</a:t>
            </a:r>
          </a:p>
          <a:p>
            <a:r>
              <a:rPr lang="en-US" sz="10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</a:t>
            </a:r>
            <a:r>
              <a:rPr lang="en-US" sz="1000" i="0" dirty="0" err="1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www.youtube.com</a:t>
            </a:r>
            <a:r>
              <a:rPr lang="en-US" sz="10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/</a:t>
            </a:r>
            <a:r>
              <a:rPr lang="en-US" sz="1000" i="0" dirty="0" err="1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watch?v</a:t>
            </a:r>
            <a:r>
              <a:rPr lang="en-US" sz="10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=3jjh4aQmQ3Q</a:t>
            </a:r>
            <a:endParaRPr lang="en-US" sz="1000" i="0" dirty="0">
              <a:solidFill>
                <a:srgbClr val="0F0F0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i="0" dirty="0">
              <a:solidFill>
                <a:srgbClr val="0F0F0F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Adjusting an Anderson Door that Rubs</a:t>
            </a:r>
          </a:p>
          <a:p>
            <a:r>
              <a:rPr lang="en-US" sz="10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https://www.youtube.com/watch?v=sBZzJ-IhidI</a:t>
            </a:r>
            <a:endParaRPr lang="en-US" sz="10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Adjusting A Frenchwood Inswing Patio Door (Pre-2005) | Andersen Windows -  YouTube">
            <a:extLst>
              <a:ext uri="{FF2B5EF4-FFF2-40B4-BE49-F238E27FC236}">
                <a16:creationId xmlns:a16="http://schemas.microsoft.com/office/drawing/2014/main" id="{CEF30CB7-0696-B0FB-3B7F-A320EE23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60663" y="719966"/>
            <a:ext cx="4734560" cy="26631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dersen Patio Door Hinge 1992-2005 - Left - Oil Rubbed Bronze - 2579574  7165-12">
            <a:extLst>
              <a:ext uri="{FF2B5EF4-FFF2-40B4-BE49-F238E27FC236}">
                <a16:creationId xmlns:a16="http://schemas.microsoft.com/office/drawing/2014/main" id="{744BF381-20B7-61FD-1A28-C6AFF44C38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809" y="3995224"/>
            <a:ext cx="2770470" cy="27978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4394FC-D1D9-F361-3B76-4BF1E090F672}"/>
              </a:ext>
            </a:extLst>
          </p:cNvPr>
          <p:cNvSpPr txBox="1"/>
          <p:nvPr/>
        </p:nvSpPr>
        <p:spPr>
          <a:xfrm>
            <a:off x="4439857" y="719966"/>
            <a:ext cx="277047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 are 3 hex-head screws. The regulation is done by the central one.</a:t>
            </a:r>
          </a:p>
          <a:p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loosen the top and bottom</a:t>
            </a:r>
          </a:p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regulate the middle (screw-in or out to decrease or increase the opening)</a:t>
            </a:r>
          </a:p>
          <a:p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tighten the top and bottom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F3AE3-0CC4-EF6E-4DBF-2E113DCE69FF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0134" y="3552190"/>
            <a:ext cx="1926405" cy="2940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37935D-E707-14BF-B756-82C276AA6A2D}"/>
              </a:ext>
            </a:extLst>
          </p:cNvPr>
          <p:cNvSpPr txBox="1"/>
          <p:nvPr/>
        </p:nvSpPr>
        <p:spPr>
          <a:xfrm>
            <a:off x="6946925" y="4808643"/>
            <a:ext cx="277047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 is also up/down adjustment of the hinge:</a:t>
            </a:r>
          </a:p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screw-in/out to move up/down</a:t>
            </a:r>
            <a:endParaRPr lang="en-US" sz="14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92990-D1BA-C296-2298-1BF166D148B6}"/>
              </a:ext>
            </a:extLst>
          </p:cNvPr>
          <p:cNvSpPr txBox="1"/>
          <p:nvPr/>
        </p:nvSpPr>
        <p:spPr>
          <a:xfrm>
            <a:off x="3572388" y="4760605"/>
            <a:ext cx="255937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size of hex wrenches and nuts is measured "Across </a:t>
            </a:r>
            <a:r>
              <a:rPr lang="en-US" sz="1400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400" i="0" dirty="0">
                <a:solidFill>
                  <a:srgbClr val="0F0F0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lats" (AF). </a:t>
            </a:r>
            <a:endParaRPr lang="en-US" sz="14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 descr="Wrench Openings Table">
            <a:extLst>
              <a:ext uri="{FF2B5EF4-FFF2-40B4-BE49-F238E27FC236}">
                <a16:creationId xmlns:a16="http://schemas.microsoft.com/office/drawing/2014/main" id="{6E5751B3-81D1-2831-CBE0-9AA39DB6D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8959" b="13530"/>
          <a:stretch/>
        </p:blipFill>
        <p:spPr bwMode="auto">
          <a:xfrm>
            <a:off x="3582263" y="5344667"/>
            <a:ext cx="1167035" cy="7386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510814-5C39-8B5B-6866-6D14C2CCD83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7122" y="5344667"/>
            <a:ext cx="1322454" cy="75004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5373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33AD92-30D4-92E5-D6D2-8F5D6215EF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997" y="362794"/>
            <a:ext cx="7772400" cy="377666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D5817A-0316-C176-D239-D180F804A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36888"/>
              </p:ext>
            </p:extLst>
          </p:nvPr>
        </p:nvGraphicFramePr>
        <p:xfrm>
          <a:off x="411997" y="4646387"/>
          <a:ext cx="5280805" cy="1104900"/>
        </p:xfrm>
        <a:graphic>
          <a:graphicData uri="http://schemas.openxmlformats.org/drawingml/2006/table">
            <a:tbl>
              <a:tblPr/>
              <a:tblGrid>
                <a:gridCol w="1576711">
                  <a:extLst>
                    <a:ext uri="{9D8B030D-6E8A-4147-A177-3AD203B41FA5}">
                      <a16:colId xmlns:a16="http://schemas.microsoft.com/office/drawing/2014/main" val="3327541240"/>
                    </a:ext>
                  </a:extLst>
                </a:gridCol>
                <a:gridCol w="2406599">
                  <a:extLst>
                    <a:ext uri="{9D8B030D-6E8A-4147-A177-3AD203B41FA5}">
                      <a16:colId xmlns:a16="http://schemas.microsoft.com/office/drawing/2014/main" val="605654601"/>
                    </a:ext>
                  </a:extLst>
                </a:gridCol>
                <a:gridCol w="1297495">
                  <a:extLst>
                    <a:ext uri="{9D8B030D-6E8A-4147-A177-3AD203B41FA5}">
                      <a16:colId xmlns:a16="http://schemas.microsoft.com/office/drawing/2014/main" val="290341182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1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Door Thickness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1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Door Width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9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1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Hinge Size to Use</a:t>
                      </a:r>
                    </a:p>
                  </a:txBody>
                  <a:tcPr marL="0" marR="0" marT="19050" marB="19050" anchor="b">
                    <a:lnL w="9525" cap="flat" cmpd="sng" algn="ctr">
                      <a:solidFill>
                        <a:srgbClr val="609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9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9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64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1-3/8 inches thick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up to 32 inches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 dirty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3 x 3 hinge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0373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1-3/8 inches thick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between 32 and 37 inches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4 x 4 hinge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5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8945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1-3/4 inches thick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up to 36 inches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5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4.5 x 4.5 hinge</a:t>
                      </a:r>
                    </a:p>
                  </a:txBody>
                  <a:tcPr marL="0" marR="0" marT="19050" marB="19050" anchor="b">
                    <a:lnL w="9525" cap="flat" cmpd="sng" algn="ctr">
                      <a:solidFill>
                        <a:srgbClr val="405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5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5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920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1-3/4 inches thick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between 36 and 48 inches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b="0" dirty="0">
                          <a:solidFill>
                            <a:srgbClr val="7A7A7A"/>
                          </a:solidFill>
                          <a:effectLst/>
                          <a:highlight>
                            <a:srgbClr val="FFFFFF"/>
                          </a:highlight>
                          <a:latin typeface="Roboto" panose="02000000000000000000" pitchFamily="2" charset="0"/>
                        </a:rPr>
                        <a:t>5 x 5 hinge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316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53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239E14-9880-F032-CED6-DFF29CA20494}"/>
              </a:ext>
            </a:extLst>
          </p:cNvPr>
          <p:cNvSpPr txBox="1"/>
          <p:nvPr/>
        </p:nvSpPr>
        <p:spPr>
          <a:xfrm>
            <a:off x="113013" y="1542545"/>
            <a:ext cx="22474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Schlage F40 V GEO 605 Georgian Door Knob, Bed &amp; Bath Privacy Lock, Bright Brass</a:t>
            </a:r>
          </a:p>
          <a:p>
            <a:r>
              <a:rPr lang="en-US" sz="1200" dirty="0">
                <a:hlinkClick r:id="rId2"/>
              </a:rPr>
              <a:t>https://</a:t>
            </a:r>
            <a:r>
              <a:rPr lang="en-US" sz="1200" dirty="0" err="1">
                <a:hlinkClick r:id="rId2"/>
              </a:rPr>
              <a:t>www.amazon.com</a:t>
            </a:r>
            <a:r>
              <a:rPr lang="en-US" sz="1200" dirty="0">
                <a:hlinkClick r:id="rId2"/>
              </a:rPr>
              <a:t>/</a:t>
            </a:r>
            <a:r>
              <a:rPr lang="en-US" sz="1200" dirty="0" err="1">
                <a:hlinkClick r:id="rId2"/>
              </a:rPr>
              <a:t>gp</a:t>
            </a:r>
            <a:r>
              <a:rPr lang="en-US" sz="1200" dirty="0">
                <a:hlinkClick r:id="rId2"/>
              </a:rPr>
              <a:t>/product/B00002N76B/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3375FC-311D-9FAB-02EC-F0A88E9E2506}"/>
              </a:ext>
            </a:extLst>
          </p:cNvPr>
          <p:cNvSpPr txBox="1"/>
          <p:nvPr/>
        </p:nvSpPr>
        <p:spPr>
          <a:xfrm>
            <a:off x="113013" y="5506548"/>
            <a:ext cx="24338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Nostalgic Warehouse Classic Rosette White Porcelain Round Door Knob, privacy, $114</a:t>
            </a:r>
            <a:endParaRPr lang="en-US" sz="1200" dirty="0">
              <a:hlinkClick r:id="rId3"/>
            </a:endParaRPr>
          </a:p>
          <a:p>
            <a:r>
              <a:rPr lang="en-US" sz="1200" dirty="0">
                <a:hlinkClick r:id="rId3"/>
              </a:rPr>
              <a:t>https://www.amazon.com/gp/product/B005W82BN4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710E38-C1CD-F15E-8427-5BEA6C9C3A5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019" y="168916"/>
            <a:ext cx="1296401" cy="11472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37E8F5-DD96-405E-3F12-A36B6A36D02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658" y="2995123"/>
            <a:ext cx="1921286" cy="236304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26" name="Picture 2" descr="Ultra Hardware 85988 Gainsborough Whitehall Passage Door Knob, Brass">
            <a:extLst>
              <a:ext uri="{FF2B5EF4-FFF2-40B4-BE49-F238E27FC236}">
                <a16:creationId xmlns:a16="http://schemas.microsoft.com/office/drawing/2014/main" id="{0A3C4E1E-9E3A-2E25-8F34-D6286810C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87278" y="321122"/>
            <a:ext cx="2237278" cy="1701111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E39749-94D7-0DB3-17ED-4CF6C2CDF67D}"/>
              </a:ext>
            </a:extLst>
          </p:cNvPr>
          <p:cNvSpPr txBox="1"/>
          <p:nvPr/>
        </p:nvSpPr>
        <p:spPr>
          <a:xfrm>
            <a:off x="2988992" y="2050376"/>
            <a:ext cx="24338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Gainsborough Whitehall Passage Door Knob, Brass</a:t>
            </a:r>
            <a:endParaRPr lang="en-US" sz="1200" dirty="0"/>
          </a:p>
          <a:p>
            <a:r>
              <a:rPr lang="en-US" sz="1200" dirty="0">
                <a:hlinkClick r:id="rId7"/>
              </a:rPr>
              <a:t>https://www.amazon.com/Ultra-Hardware-85988-Gainsborough-Whitehall/dp/B0007XW92W</a:t>
            </a:r>
            <a:endParaRPr lang="en-US" sz="1200" dirty="0"/>
          </a:p>
          <a:p>
            <a:r>
              <a:rPr lang="en-US" sz="1200" dirty="0"/>
              <a:t>Ordered on </a:t>
            </a:r>
            <a:r>
              <a:rPr lang="en-US" sz="1200" dirty="0" err="1"/>
              <a:t>ebay</a:t>
            </a:r>
            <a:endParaRPr lang="en-US" sz="1200" dirty="0"/>
          </a:p>
          <a:p>
            <a:r>
              <a:rPr lang="en-US" sz="1200" dirty="0">
                <a:hlinkClick r:id="rId8"/>
              </a:rPr>
              <a:t>https://www.ebay.com/</a:t>
            </a:r>
            <a:r>
              <a:rPr lang="en-US" sz="1200" dirty="0" err="1">
                <a:hlinkClick r:id="rId8"/>
              </a:rPr>
              <a:t>itm</a:t>
            </a:r>
            <a:r>
              <a:rPr lang="en-US" sz="1200" dirty="0">
                <a:hlinkClick r:id="rId8"/>
              </a:rPr>
              <a:t>/354102844912 </a:t>
            </a:r>
            <a:endParaRPr lang="en-US" sz="1200" dirty="0"/>
          </a:p>
          <a:p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5C8B204-0161-59A0-5671-7E24697564B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2841" y="322637"/>
            <a:ext cx="1983631" cy="19870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A2219D-7920-CC7A-F069-FD88D7BE7AF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7277" y="3832845"/>
            <a:ext cx="2261741" cy="25789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404242-6EEA-BF65-C463-DE3D551097E4}"/>
              </a:ext>
            </a:extLst>
          </p:cNvPr>
          <p:cNvSpPr txBox="1"/>
          <p:nvPr/>
        </p:nvSpPr>
        <p:spPr>
          <a:xfrm>
            <a:off x="8031296" y="4799165"/>
            <a:ext cx="4065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How to remove Gainsborough handle (without visible screws)</a:t>
            </a:r>
          </a:p>
          <a:p>
            <a:r>
              <a:rPr lang="en-US" sz="1200" dirty="0"/>
              <a:t>by turning (unscrewing) brass backplates</a:t>
            </a:r>
          </a:p>
          <a:p>
            <a:r>
              <a:rPr lang="en-US" sz="1200" dirty="0">
                <a:hlinkClick r:id="rId11"/>
              </a:rPr>
              <a:t>https://www.youtube.com/watch?v=FiMVcuQBrrU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Installation:</a:t>
            </a:r>
          </a:p>
          <a:p>
            <a:r>
              <a:rPr lang="en-US" sz="1200" dirty="0">
                <a:hlinkClick r:id="rId12"/>
              </a:rPr>
              <a:t>https://</a:t>
            </a:r>
            <a:r>
              <a:rPr lang="en-US" sz="1200" dirty="0" err="1">
                <a:hlinkClick r:id="rId12"/>
              </a:rPr>
              <a:t>cdnimages.opentip.com</a:t>
            </a:r>
            <a:r>
              <a:rPr lang="en-US" sz="1200" dirty="0">
                <a:hlinkClick r:id="rId12"/>
              </a:rPr>
              <a:t>/Docs/DLA/gains300install.pdf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6CDC5-B76A-932F-B31F-7059E2DE31FC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1226" y="511277"/>
            <a:ext cx="2184400" cy="132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0849A5-F7FE-F149-CEB7-45DB417B1B76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1226" y="1914927"/>
            <a:ext cx="2184400" cy="132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9BCDE-4B51-67F5-6C91-F43613AB280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5126" y="3318577"/>
            <a:ext cx="2730500" cy="1320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C78565-93D7-2B56-8045-3E58462790D0}"/>
              </a:ext>
            </a:extLst>
          </p:cNvPr>
          <p:cNvSpPr txBox="1"/>
          <p:nvPr/>
        </p:nvSpPr>
        <p:spPr>
          <a:xfrm>
            <a:off x="5478052" y="3933445"/>
            <a:ext cx="2277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Rosette - white </a:t>
            </a:r>
            <a:r>
              <a:rPr lang="en-US" sz="1200" dirty="0">
                <a:solidFill>
                  <a:srgbClr val="0F1111"/>
                </a:solidFill>
                <a:highlight>
                  <a:srgbClr val="FFFFFF"/>
                </a:highlight>
                <a:latin typeface="Amazon Ember"/>
              </a:rPr>
              <a:t>p</a:t>
            </a:r>
            <a:r>
              <a:rPr lang="en-US" sz="1200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orcelain</a:t>
            </a:r>
          </a:p>
          <a:p>
            <a:r>
              <a:rPr lang="en-US" sz="1200" b="0" i="0" dirty="0">
                <a:solidFill>
                  <a:srgbClr val="0F1111"/>
                </a:solidFill>
                <a:effectLst/>
                <a:highlight>
                  <a:srgbClr val="FFFFFF"/>
                </a:highlight>
                <a:latin typeface="Amazon Ember"/>
              </a:rPr>
              <a:t>Back plate – gold (bright brass)</a:t>
            </a:r>
          </a:p>
        </p:txBody>
      </p:sp>
    </p:spTree>
    <p:extLst>
      <p:ext uri="{BB962C8B-B14F-4D97-AF65-F5344CB8AC3E}">
        <p14:creationId xmlns:p14="http://schemas.microsoft.com/office/powerpoint/2010/main" val="3981722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456</Words>
  <Application>Microsoft Macintosh PowerPoint</Application>
  <PresentationFormat>Widescreen</PresentationFormat>
  <Paragraphs>62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Amazon Ember</vt:lpstr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77</cp:revision>
  <dcterms:created xsi:type="dcterms:W3CDTF">2022-06-02T16:58:09Z</dcterms:created>
  <dcterms:modified xsi:type="dcterms:W3CDTF">2024-06-16T13:23:46Z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