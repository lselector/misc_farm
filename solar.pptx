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67"/>
  </p:normalViewPr>
  <p:slideViewPr>
    <p:cSldViewPr>
      <p:cViewPr varScale="1">
        <p:scale>
          <a:sx n="124" d="100"/>
          <a:sy n="124" d="100"/>
        </p:scale>
        <p:origin x="57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" name="Google Shape;86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e5eb4dda17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g3e5eb4dda17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e5eb4dda17_0_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g3e5eb4dda17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e5eb4dda17_0_1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9" name="Google Shape;109;g3e5eb4dda17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e5eb4dda17_0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g3e5eb4dda17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e5eb4dda17_0_3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0" name="Google Shape;130;g3e5eb4dda17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g3e5eb4dda17_0_4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3" name="Google Shape;143;g3e5eb4dda17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e5eb4dda17_0_5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3" name="Google Shape;153;g3e5eb4dda17_0_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e5eb4dda17_0_5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0" name="Google Shape;160;g3e5eb4dda17_0_5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e5eb4dda17_0_6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6" name="Google Shape;166;g3e5eb4dda17_0_6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e5eb4dda17_0_6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3e5eb4dda17_0_6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7" name="Google Shape;17;p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8" name="Google Shape;18;p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1" name="Google Shape;21;p3"/>
          <p:cNvSpPr txBox="1">
            <a:spLocks noGrp="1"/>
          </p:cNvSpPr>
          <p:nvPr>
            <p:ph type="subTitle" idx="1"/>
          </p:nvPr>
        </p:nvSpPr>
        <p:spPr>
          <a:xfrm>
            <a:off x="1143000" y="2701529"/>
            <a:ext cx="6858000" cy="124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2" name="Google Shape;22;p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5"/>
          <p:cNvSpPr txBox="1">
            <a:spLocks noGrp="1"/>
          </p:cNvSpPr>
          <p:nvPr>
            <p:ph type="title"/>
          </p:nvPr>
        </p:nvSpPr>
        <p:spPr>
          <a:xfrm>
            <a:off x="623888" y="1282303"/>
            <a:ext cx="7886700" cy="213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Calibri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350"/>
              <a:buNone/>
              <a:defRPr sz="135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5" name="Google Shape;35;p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6" name="Google Shape;36;p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6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0" name="Google Shape;40;p6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1" name="Google Shape;41;p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2" name="Google Shape;42;p6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3" name="Google Shape;43;p6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7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2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2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400" cy="61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9" name="Google Shape;49;p7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400" cy="276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50" name="Google Shape;50;p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1" name="Google Shape;51;p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2" name="Google Shape;52;p7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8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5" name="Google Shape;55;p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6" name="Google Shape;56;p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57" name="Google Shape;57;p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9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2" name="Google Shape;62;p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3" name="Google Shape;63;p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4" name="Google Shape;64;p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300" cy="12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67" name="Google Shape;67;p10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300" cy="36552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300" cy="28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9" name="Google Shape;69;p1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0" name="Google Shape;70;p1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1" name="Google Shape;71;p1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4" name="Google Shape;74;p11"/>
          <p:cNvSpPr txBox="1">
            <a:spLocks noGrp="1"/>
          </p:cNvSpPr>
          <p:nvPr>
            <p:ph type="body" idx="1"/>
          </p:nvPr>
        </p:nvSpPr>
        <p:spPr>
          <a:xfrm rot="5400000">
            <a:off x="2940300" y="-942431"/>
            <a:ext cx="3263400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75" name="Google Shape;75;p1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6" name="Google Shape;76;p1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77" name="Google Shape;77;p1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>
            <a:spLocks noGrp="1"/>
          </p:cNvSpPr>
          <p:nvPr>
            <p:ph type="title"/>
          </p:nvPr>
        </p:nvSpPr>
        <p:spPr>
          <a:xfrm rot="5400000">
            <a:off x="5350050" y="1467544"/>
            <a:ext cx="4359000" cy="19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3300"/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0" name="Google Shape;80;p12"/>
          <p:cNvSpPr txBox="1">
            <a:spLocks noGrp="1"/>
          </p:cNvSpPr>
          <p:nvPr>
            <p:ph type="body" idx="1"/>
          </p:nvPr>
        </p:nvSpPr>
        <p:spPr>
          <a:xfrm rot="5400000">
            <a:off x="1349475" y="-447056"/>
            <a:ext cx="4359000" cy="58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4325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2100"/>
            </a:lvl1pPr>
            <a:lvl2pPr marL="914400" lvl="1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800"/>
            </a:lvl2pPr>
            <a:lvl3pPr marL="1371600" lvl="2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500"/>
            </a:lvl3pPr>
            <a:lvl4pPr marL="1828800" lvl="3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4pPr>
            <a:lvl5pPr marL="2286000" lvl="4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5pPr>
            <a:lvl6pPr marL="2743200" lvl="5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6pPr>
            <a:lvl7pPr marL="3200400" lvl="6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7pPr>
            <a:lvl8pPr marL="3657600" lvl="7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8pPr>
            <a:lvl9pPr marL="4114800" lvl="8" indent="-314325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Char char="•"/>
              <a:defRPr sz="1350"/>
            </a:lvl9pPr>
          </a:lstStyle>
          <a:p>
            <a:endParaRPr/>
          </a:p>
        </p:txBody>
      </p:sp>
      <p:sp>
        <p:nvSpPr>
          <p:cNvPr id="81" name="Google Shape;81;p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2" name="Google Shape;82;p1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50"/>
              <a:buNone/>
              <a:defRPr sz="900"/>
            </a:lvl1pPr>
            <a:lvl2pPr lvl="1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 algn="l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83" name="Google Shape;83;p1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1pPr>
            <a:lvl2pPr marL="0" lvl="1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2pPr>
            <a:lvl3pPr marL="0" lvl="2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3pPr>
            <a:lvl4pPr marL="0" lvl="3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4pPr>
            <a:lvl5pPr marL="0" lvl="4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5pPr>
            <a:lvl6pPr marL="0" lvl="5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6pPr>
            <a:lvl7pPr marL="0" lvl="6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7pPr>
            <a:lvl8pPr marL="0" lvl="7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8pPr>
            <a:lvl9pPr marL="0" lvl="8" indent="0" algn="r">
              <a:spcBef>
                <a:spcPts val="0"/>
              </a:spcBef>
              <a:buNone/>
              <a:defRPr sz="9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2pPr>
            <a:lvl3pPr lvl="2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3pPr>
            <a:lvl4pPr lvl="3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4pPr>
            <a:lvl5pPr lvl="4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5pPr>
            <a:lvl6pPr lvl="5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6pPr>
            <a:lvl7pPr lvl="6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7pPr>
            <a:lvl8pPr lvl="7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8pPr>
            <a:lvl9pPr lvl="8">
              <a:spcBef>
                <a:spcPts val="0"/>
              </a:spcBef>
              <a:spcAft>
                <a:spcPts val="0"/>
              </a:spcAft>
              <a:buSzPts val="1050"/>
              <a:buNone/>
              <a:defRPr sz="1350"/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05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050"/>
              <a:buNone/>
              <a:defRPr sz="135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tXHKtBk9IE0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youtube.com/watch?v=w4s-oE-VQwg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KUciR-Qwgtk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gZuk3TEtjuc" TargetMode="External"/><Relationship Id="rId7" Type="http://schemas.openxmlformats.org/officeDocument/2006/relationships/hyperlink" Target="https://www.youtube.com/watch?v=zZ8Dq207Szk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amazon.com/dp/B09N8X1Z71" TargetMode="Externa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bcXmFFIzG0M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hyperlink" Target="https://www.youtube.com/watch?v=tAIMdtmmcWY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youtube.com/watch?v=Fw3Ixuu8Ook" TargetMode="External"/><Relationship Id="rId5" Type="http://schemas.openxmlformats.org/officeDocument/2006/relationships/image" Target="../media/image6.png"/><Relationship Id="rId4" Type="http://schemas.openxmlformats.org/officeDocument/2006/relationships/hyperlink" Target="https://www.youtube.com/watch?v=rRqV8BHE8lY" TargetMode="Externa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youtube.com/watch?v=seU-9byk2sM" TargetMode="External"/><Relationship Id="rId3" Type="http://schemas.openxmlformats.org/officeDocument/2006/relationships/hyperlink" Target="https://www.youtube.com/watch?v=ccBM0iSvqIc" TargetMode="External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10" Type="http://schemas.openxmlformats.org/officeDocument/2006/relationships/image" Target="../media/image12.png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hyperlink" Target="https://www.amazon.com/dp/B0B9XB57XM?th=1" TargetMode="External"/><Relationship Id="rId7" Type="http://schemas.openxmlformats.org/officeDocument/2006/relationships/hyperlink" Target="https://www.youtube.com/watch?v=r7HwQdssbas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hyperlink" Target="https://www.youtube.com/watch?v=KUU6vWjmlo4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w3QlyvY600Q" TargetMode="Externa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/>
        </p:nvSpPr>
        <p:spPr>
          <a:xfrm>
            <a:off x="65623" y="39645"/>
            <a:ext cx="3988200" cy="25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2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 txBox="1"/>
          <p:nvPr/>
        </p:nvSpPr>
        <p:spPr>
          <a:xfrm>
            <a:off x="65622" y="293444"/>
            <a:ext cx="45063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(portable folding 400W panel)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store electricity - A Watt Cycle 280Ah LiFePO4 "smart" battery (features Bluetooth connectivity for app-based monitoring)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Charge Controller - regulates the variable electricity coming from the panels, converting it into a constant, safe voltage to prevent damage to the battery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extension cables with MC4 connectors to link the solar panels to the charge controller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 terminal fuse for the battery connection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Crimping Tool - for attaching ring terminals to wires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https://www.youtube.com/watch?v=tXHKtBk9IE0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13"/>
          <p:cNvSpPr txBox="1"/>
          <p:nvPr/>
        </p:nvSpPr>
        <p:spPr>
          <a:xfrm>
            <a:off x="65622" y="2455801"/>
            <a:ext cx="45063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DC to 120V AC using Inverter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panels &gt; Charge Controller &gt; battery bank (48V) &gt; DC breakers/fuses &gt; bus bars to cleanly join multiple wire connections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Shunt - part of a meter system used to monitor energy flow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Switches: Used to safely isolate different parts of the system (e.g., between panels and charge controller)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https://www.youtube.com/watch?v=w4s-oE-VQwg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 txBox="1"/>
          <p:nvPr/>
        </p:nvSpPr>
        <p:spPr>
          <a:xfrm>
            <a:off x="65623" y="39645"/>
            <a:ext cx="3988200" cy="23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1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14"/>
          <p:cNvSpPr txBox="1"/>
          <p:nvPr/>
        </p:nvSpPr>
        <p:spPr>
          <a:xfrm>
            <a:off x="65629" y="469385"/>
            <a:ext cx="4506300" cy="39480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Solar system from scratch. Modular. Connected through a generator interlock kit - </a:t>
            </a: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https://www.youtube.com/watch?v=KUciR-Qwgtk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Power their entire home, charge an EV, and run a small bitcoin mining operation for approximately $25K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core strategy involves using a high-capacity solar generator (inverter/battery unit) that can be integrated into a home’s electrical panel via an interlock kit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Run off-grid while maintaining the flexibility to revert to grid power if needed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This system requires fewer permits than a permanent roof-mounted installation, as the panels are mounted on temporary, non-permanent stands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Central Unit: EcoFlow Delta Pro Ultra X (inverter battery management system).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Storage -  6 expansion batteries (totaling ~37 kWh capacity)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– 23-24 panels (450W each), connecting 12 panels in series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Mounting - Minute Man Solar portable panel stands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Grid Connection - 50-amp cable (1450p to ss250r)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 aware of the inverter's maximum output (e.g., 12KWatts)</a:t>
            </a:r>
            <a:endParaRPr sz="1200"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7" name="Google Shape;97;p14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015512" y="964164"/>
            <a:ext cx="3254193" cy="1761188"/>
          </a:xfrm>
          <a:prstGeom prst="rect">
            <a:avLst/>
          </a:prstGeom>
          <a:noFill/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5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15"/>
          <p:cNvSpPr txBox="1"/>
          <p:nvPr/>
        </p:nvSpPr>
        <p:spPr>
          <a:xfrm>
            <a:off x="65625" y="385894"/>
            <a:ext cx="4473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100W Harbor Freight Thunderbolt vs Rich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Harbor Freight panel consistently outperformed the Rich Solar panel, yielding 17% more energy overall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Harbor Freight panel is physically larger and features soldered connections, while the Rich Solar panel uses a standard MC4 connector and includes clear specification labeling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Harbor Freight panel proved to be the more efficient performer in this test.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https://www.youtube.com/watch?v=gZuk3TEtjuc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4" name="Google Shape;104;p15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900" y="614674"/>
            <a:ext cx="2250758" cy="12740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05" name="Google Shape;105;p15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03899" y="2777118"/>
            <a:ext cx="2124625" cy="158305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06" name="Google Shape;106;p15"/>
          <p:cNvSpPr txBox="1"/>
          <p:nvPr/>
        </p:nvSpPr>
        <p:spPr>
          <a:xfrm>
            <a:off x="65625" y="2502919"/>
            <a:ext cx="44736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creator tested a plug-and-play solar setup using four 360W panels and a 1200W micro-inverter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9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https://www.amazon.com/dp/B09N8X1Z71</a:t>
            </a:r>
            <a:r>
              <a:rPr lang="en-US" sz="9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9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The system failed on day two due to overheating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leading to the conclusion that this specific unit is unreliable and lacks the necessary safety certifications for utility net metering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Over one week, the impaired system generated only 7.7 kWh, highlighting that such setups are merely supplemental rather than effective replacements for full-scale, permitted solar systems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the creator advises against this specific product due to its poor durability and lack of compliance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https://www.youtube.com/watch?v=zZ8Dq207Szk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6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16"/>
          <p:cNvSpPr txBox="1"/>
          <p:nvPr/>
        </p:nvSpPr>
        <p:spPr>
          <a:xfrm>
            <a:off x="113250" y="2981322"/>
            <a:ext cx="4782600" cy="19317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DIY 48V solar power system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48V battery, 48V inverter , Solar Charging (panels + charge controller)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can charge the battery using solar panels, a gas generator, or a standard AC wall outlet, allowing for dual-source charging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Benefits: flexibility to scale, higher battery capacity, modular components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 - a "golf cart" style battery - Temgo brand as an example, 48V, 100Ah (5KWatt) - with a built-in monitor and bluetooth capabilities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Inverter - Juna 2800W model - can work with 24V and 48V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Panels - "Colon" brand, 200W units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Charge Controller - MPPT charge controller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https://www.youtube.com/watch?v=bcXmFFIzG0M</a:t>
            </a: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6"/>
          <p:cNvSpPr txBox="1"/>
          <p:nvPr/>
        </p:nvSpPr>
        <p:spPr>
          <a:xfrm>
            <a:off x="113250" y="428622"/>
            <a:ext cx="4782600" cy="2439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2020, seven major solar manufacturers agreed to a standardized wafer size (the M10 standard, 182 mm)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Five major brands use the same "Topcon" cell architecture and silicon: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Canadian Solar (TOP Hiku 6)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JA Solar (Deep Blue 4.0)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Trina Solar (Vertex S)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Jinko Solar (Tiger Neo)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9842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Qcells (Q.tron)</a:t>
            </a:r>
            <a:endParaRPr sz="11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 Group - the exception, it is genuinely different. They use Heterojunction (HJT) cell technology - more efficient in high-heat environments like Phoenix or Houston -  but 5-15% higher price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Don't Overpay for Brands - most panels on the market are interchangeable commodity products. Negotiate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9723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https://www.youtube.com/watch?v=tAIMdtmmcWY</a:t>
            </a:r>
            <a:endParaRPr sz="1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4" name="Google Shape;114;p16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181601" y="3305901"/>
            <a:ext cx="2400301" cy="13791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9" name="Google Shape;119;p17"/>
          <p:cNvPicPr preferRelativeResize="0"/>
          <p:nvPr/>
        </p:nvPicPr>
        <p:blipFill>
          <a:blip r:embed="rId3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45399" y="337495"/>
            <a:ext cx="2660401" cy="2086476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0" name="Google Shape;120;p17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17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Put together 10KW 48V battery solar system in just one hour</a:t>
            </a:r>
            <a:b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https://www.youtube.com/watch?v=rRqV8BHE8lY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"all-in-one" inverter unit - combines inverter, battery charger, and solar charge controller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Connect a 48V 16kWh battery to the inverter (using thick cables)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Install a solar PV disconnect switch (to disconnect the solar array)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AC Outlet Box - pre-wired box with breakers and AC 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flexible conduit (hoses) to protect the wiring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17"/>
          <p:cNvSpPr txBox="1"/>
          <p:nvPr/>
        </p:nvSpPr>
        <p:spPr>
          <a:xfrm>
            <a:off x="6123525" y="2287050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Battery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p17"/>
          <p:cNvSpPr txBox="1"/>
          <p:nvPr/>
        </p:nvSpPr>
        <p:spPr>
          <a:xfrm>
            <a:off x="6514050" y="277775"/>
            <a:ext cx="8679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All-in-one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17"/>
          <p:cNvSpPr txBox="1"/>
          <p:nvPr/>
        </p:nvSpPr>
        <p:spPr>
          <a:xfrm>
            <a:off x="5381625" y="820700"/>
            <a:ext cx="6351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outlets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7"/>
          <p:cNvSpPr txBox="1"/>
          <p:nvPr/>
        </p:nvSpPr>
        <p:spPr>
          <a:xfrm>
            <a:off x="7486650" y="1430300"/>
            <a:ext cx="8763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disconnect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26" name="Google Shape;126;p17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07694" y="3481524"/>
            <a:ext cx="2904631" cy="1546801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27" name="Google Shape;127;p17"/>
          <p:cNvSpPr txBox="1"/>
          <p:nvPr/>
        </p:nvSpPr>
        <p:spPr>
          <a:xfrm>
            <a:off x="65625" y="3481519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Oupes Mega 2 Pro, a portable solar generator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2.5KW inverter, 140W USB-C ports, and a long-lasting lithium iron phosphate battery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But the original Oupes Mega 2 outperforms the "Pro" version in several key categories, including solar input capacity and overall value - </a:t>
            </a: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6"/>
              </a:rPr>
              <a:t>https://www.youtube.com/watch?v=Fw3Ixuu8Ook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Ultimately, while the Mega 2 Pro is a decent unit, it is not recommended over the original Mega 2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8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18"/>
          <p:cNvSpPr txBox="1"/>
          <p:nvPr/>
        </p:nvSpPr>
        <p:spPr>
          <a:xfrm>
            <a:off x="65625" y="385900"/>
            <a:ext cx="3382500" cy="13623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$50K off-grid system: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60 kWh of lithium battery storage ($22K)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10 kW of solar panels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20 kW of inverter output  ($8.5K)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They buried a shipping container under the panels to house the equipment.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https://www.youtube.com/watch?v=ccBM0iSvqIc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4" name="Google Shape;134;p18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43578" y="1611525"/>
            <a:ext cx="2741896" cy="11775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5" name="Google Shape;135;p18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75136" y="1611526"/>
            <a:ext cx="2112889" cy="11774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6" name="Google Shape;136;p18"/>
          <p:cNvPicPr preferRelativeResize="0"/>
          <p:nvPr/>
        </p:nvPicPr>
        <p:blipFill>
          <a:blip r:embed="rId6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792725" y="96650"/>
            <a:ext cx="2135200" cy="1419368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37" name="Google Shape;137;p18"/>
          <p:cNvPicPr preferRelativeResize="0"/>
          <p:nvPr/>
        </p:nvPicPr>
        <p:blipFill>
          <a:blip r:embed="rId7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52826" y="96650"/>
            <a:ext cx="2135200" cy="1419375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38" name="Google Shape;138;p18"/>
          <p:cNvSpPr txBox="1"/>
          <p:nvPr/>
        </p:nvSpPr>
        <p:spPr>
          <a:xfrm>
            <a:off x="65625" y="3288075"/>
            <a:ext cx="4290600" cy="17316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Amish low-cost 4-components solar: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solar panel 100W,   2'x4', $100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charge controller between panel and battery $30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battery 100Ah lithium iron phosphate (LiFePO4) battery — $150 to $250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285750" marR="0" lvl="0" indent="-104775" algn="l" rtl="0">
              <a:spcBef>
                <a:spcPts val="0"/>
              </a:spcBef>
              <a:spcAft>
                <a:spcPts val="0"/>
              </a:spcAft>
              <a:buClr>
                <a:srgbClr val="3C78D8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small inverter 400W (DC-to-AC)  $40</a:t>
            </a:r>
            <a:endParaRPr sz="1200">
              <a:solidFill>
                <a:srgbClr val="3C78D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also notes the necessity of a fuse between the battery and the rest of the system for safety.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8"/>
              </a:rPr>
              <a:t>https://www.youtube.com/watch?v=seU-9byk2sM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9" name="Google Shape;139;p18"/>
          <p:cNvPicPr preferRelativeResize="0"/>
          <p:nvPr/>
        </p:nvPicPr>
        <p:blipFill>
          <a:blip r:embed="rId9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16525" y="3472725"/>
            <a:ext cx="116425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0" name="Google Shape;140;p18"/>
          <p:cNvPicPr preferRelativeResize="0"/>
          <p:nvPr/>
        </p:nvPicPr>
        <p:blipFill>
          <a:blip r:embed="rId10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933176" y="3472725"/>
            <a:ext cx="1236084" cy="13623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9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9"/>
          <p:cNvSpPr txBox="1"/>
          <p:nvPr/>
        </p:nvSpPr>
        <p:spPr>
          <a:xfrm>
            <a:off x="65625" y="385900"/>
            <a:ext cx="4493700" cy="21009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rgbClr val="FF0000"/>
              </a:buClr>
              <a:buSzPts val="1200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Simple solar system consisting of 2 parts:</a:t>
            </a:r>
            <a:endParaRPr sz="1200" b="1">
              <a:solidFill>
                <a:srgbClr val="FF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EcoFlow Delta 3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-  Power Station (battery + inverter+ charge controller) - 1.8KW output, 1KWh capacity (expandable), various AC/USB ports</a:t>
            </a:r>
            <a:b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https://www.amazon.com/dp/B0B9XB57XM?th=1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3C78D8"/>
                </a:solidFill>
                <a:latin typeface="Calibri"/>
                <a:ea typeface="Calibri"/>
                <a:cs typeface="Calibri"/>
                <a:sym typeface="Calibri"/>
              </a:rPr>
              <a:t>Callsun 215w Solar Panel (56"x30")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 efficient, bifacial(captures light from both sides), anti-shading technology, and IP68 waterproof rating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 to XT60i Cable with XT60 connector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Optional 400W Folding Temporary Solar Panel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4"/>
              </a:rPr>
              <a:t>https://www.youtube.com/watch?v=KUU6vWjmlo4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7" name="Google Shape;147;p19"/>
          <p:cNvPicPr preferRelativeResize="0"/>
          <p:nvPr/>
        </p:nvPicPr>
        <p:blipFill>
          <a:blip r:embed="rId5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699125" y="385850"/>
            <a:ext cx="2006476" cy="2041799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148" name="Google Shape;148;p1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934325" y="385849"/>
            <a:ext cx="1828800" cy="182880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  <p:sp>
        <p:nvSpPr>
          <p:cNvPr id="149" name="Google Shape;149;p19"/>
          <p:cNvSpPr txBox="1"/>
          <p:nvPr/>
        </p:nvSpPr>
        <p:spPr>
          <a:xfrm>
            <a:off x="65625" y="2557600"/>
            <a:ext cx="44937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static ground mounts, single-axis trackers, and dual-axis trackers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Trackers harvest more energy than static mounts, the benefit is most significant during early morning and late afternoon hours when they can better capture the sun's angle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If you have ample space, simple ground mounts are often the more cost-effective and reliable choice, whereas trackers are best suited for those with limited space and clear sky views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7"/>
              </a:rPr>
              <a:t>https://www.youtube.com/watch?v=r7HwQdssbas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0" name="Google Shape;150;p19"/>
          <p:cNvPicPr preferRelativeResize="0"/>
          <p:nvPr/>
        </p:nvPicPr>
        <p:blipFill>
          <a:blip r:embed="rId8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711725" y="2580050"/>
            <a:ext cx="3826127" cy="2100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20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20"/>
          <p:cNvSpPr txBox="1"/>
          <p:nvPr/>
        </p:nvSpPr>
        <p:spPr>
          <a:xfrm>
            <a:off x="65625" y="385894"/>
            <a:ext cx="4473600" cy="1546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b="1">
                <a:solidFill>
                  <a:srgbClr val="FF0000"/>
                </a:solidFill>
                <a:latin typeface="Calibri"/>
                <a:ea typeface="Calibri"/>
                <a:cs typeface="Calibri"/>
                <a:sym typeface="Calibri"/>
              </a:rPr>
              <a:t>JerryRigEverything 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reflects on his home solar panel system six years after its initial installation.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He discusses the long-term performance and reliability of his setup while highlighting the evolution of residential energy technology.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video serves as a transition to promote the EcoFlow DELTA Pro Ultra X, a modern whole-home backup system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Ease of installation and power capacity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3"/>
              </a:rPr>
              <a:t>https://www.youtube.com/watch?v=w3QlyvY600Q</a:t>
            </a: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7" name="Google Shape;157;p20"/>
          <p:cNvPicPr preferRelativeResize="0"/>
          <p:nvPr/>
        </p:nvPicPr>
        <p:blipFill>
          <a:blip r:embed="rId4" cstate="email">
            <a:alphaModFix/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4864100" y="385844"/>
            <a:ext cx="3792675" cy="1493750"/>
          </a:xfrm>
          <a:prstGeom prst="rect">
            <a:avLst/>
          </a:prstGeom>
          <a:noFill/>
          <a:ln w="9525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21"/>
          <p:cNvSpPr txBox="1"/>
          <p:nvPr/>
        </p:nvSpPr>
        <p:spPr>
          <a:xfrm>
            <a:off x="65625" y="385894"/>
            <a:ext cx="44736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22"/>
          <p:cNvSpPr txBox="1"/>
          <p:nvPr/>
        </p:nvSpPr>
        <p:spPr>
          <a:xfrm>
            <a:off x="65625" y="385894"/>
            <a:ext cx="44736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3"/>
          <p:cNvSpPr txBox="1"/>
          <p:nvPr/>
        </p:nvSpPr>
        <p:spPr>
          <a:xfrm>
            <a:off x="65623" y="39645"/>
            <a:ext cx="3988200" cy="34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Solar</a:t>
            </a:r>
            <a:endParaRPr sz="1800" b="1" i="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23"/>
          <p:cNvSpPr txBox="1"/>
          <p:nvPr/>
        </p:nvSpPr>
        <p:spPr>
          <a:xfrm>
            <a:off x="65625" y="385894"/>
            <a:ext cx="4473600" cy="253800"/>
          </a:xfrm>
          <a:prstGeom prst="rect">
            <a:avLst/>
          </a:prstGeom>
          <a:solidFill>
            <a:srgbClr val="FFF2CC"/>
          </a:solidFill>
          <a:ln w="7150" cap="flat" cmpd="sng">
            <a:solidFill>
              <a:srgbClr val="FF0000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68575" tIns="34275" rIns="68575" bIns="34275" anchor="t" anchorCtr="0">
            <a:spAutoFit/>
          </a:bodyPr>
          <a:lstStyle/>
          <a:p>
            <a:pPr marL="94060" marR="0" lvl="0" indent="-103585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•"/>
            </a:pPr>
            <a:r>
              <a:rPr lang="en-US"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xxx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1394</Words>
  <Application>Microsoft Macintosh PowerPoint</Application>
  <PresentationFormat>On-screen Show (16:9)</PresentationFormat>
  <Paragraphs>108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Lev Selector</cp:lastModifiedBy>
  <cp:revision>1</cp:revision>
  <dcterms:modified xsi:type="dcterms:W3CDTF">2026-06-01T16:41:31Z</dcterms:modified>
</cp:coreProperties>
</file>