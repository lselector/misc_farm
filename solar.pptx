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60" r:id="rId2"/>
    <p:sldId id="262" r:id="rId3"/>
    <p:sldId id="256" r:id="rId4"/>
    <p:sldId id="257" r:id="rId5"/>
    <p:sldId id="264" r:id="rId6"/>
    <p:sldId id="258" r:id="rId7"/>
    <p:sldId id="259" r:id="rId8"/>
    <p:sldId id="261" r:id="rId9"/>
    <p:sldId id="266" r:id="rId10"/>
    <p:sldId id="263" r:id="rId11"/>
    <p:sldId id="267" r:id="rId12"/>
    <p:sldId id="265" r:id="rId13"/>
    <p:sldId id="269" r:id="rId14"/>
    <p:sldId id="268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1"/>
    <p:restoredTop sz="94325"/>
  </p:normalViewPr>
  <p:slideViewPr>
    <p:cSldViewPr>
      <p:cViewPr>
        <p:scale>
          <a:sx n="94" d="100"/>
          <a:sy n="94" d="100"/>
        </p:scale>
        <p:origin x="1272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5eb4dda17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g3e5eb4dda17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5eb4dda17_0_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3e5eb4dda1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5eb4dda17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3e5eb4dda1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5eb4dda17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g3e5eb4dda1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2976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5eb4dda17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g3e5eb4dda1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5eb4dda17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g3e5eb4dda1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5eb4dda17_0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g3e5eb4dda1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5eb4dda17_0_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e5eb4dda17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28731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5eb4dda17_0_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e5eb4dda17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A029801F-A94A-544E-2E2A-CB77431F9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5eb4dda17_0_53:notes">
            <a:extLst>
              <a:ext uri="{FF2B5EF4-FFF2-40B4-BE49-F238E27FC236}">
                <a16:creationId xmlns:a16="http://schemas.microsoft.com/office/drawing/2014/main" id="{0955E0C4-8901-EFD7-0593-C6A1EC9B84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e5eb4dda17_0_53:notes">
            <a:extLst>
              <a:ext uri="{FF2B5EF4-FFF2-40B4-BE49-F238E27FC236}">
                <a16:creationId xmlns:a16="http://schemas.microsoft.com/office/drawing/2014/main" id="{C1AB8B1E-AEA2-6949-3F04-67394CED74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04152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5eb4dda17_0_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e5eb4dda17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80868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93FE5761-0D28-118D-BCA2-1FB0EA84D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5eb4dda17_0_53:notes">
            <a:extLst>
              <a:ext uri="{FF2B5EF4-FFF2-40B4-BE49-F238E27FC236}">
                <a16:creationId xmlns:a16="http://schemas.microsoft.com/office/drawing/2014/main" id="{970DEC63-F310-0C3A-D813-D85985C16C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e5eb4dda17_0_53:notes">
            <a:extLst>
              <a:ext uri="{FF2B5EF4-FFF2-40B4-BE49-F238E27FC236}">
                <a16:creationId xmlns:a16="http://schemas.microsoft.com/office/drawing/2014/main" id="{99A75620-A66F-9108-AB7B-A614F113CE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89785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93FE5761-0D28-118D-BCA2-1FB0EA84D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5eb4dda17_0_53:notes">
            <a:extLst>
              <a:ext uri="{FF2B5EF4-FFF2-40B4-BE49-F238E27FC236}">
                <a16:creationId xmlns:a16="http://schemas.microsoft.com/office/drawing/2014/main" id="{970DEC63-F310-0C3A-D813-D85985C16C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e5eb4dda17_0_53:notes">
            <a:extLst>
              <a:ext uri="{FF2B5EF4-FFF2-40B4-BE49-F238E27FC236}">
                <a16:creationId xmlns:a16="http://schemas.microsoft.com/office/drawing/2014/main" id="{99A75620-A66F-9108-AB7B-A614F113CE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0146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3300"/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2100"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800"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500"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5pPr>
            <a:lvl6pPr marL="274320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3300"/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2100"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800"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500"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5pPr>
            <a:lvl6pPr marL="274320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2100"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800"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500"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5pPr>
            <a:lvl6pPr marL="274320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3300"/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2100"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800"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500"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5pPr>
            <a:lvl6pPr marL="274320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2100"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800"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500"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5pPr>
            <a:lvl6pPr marL="274320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3300"/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3300"/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2100"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800"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500"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5pPr>
            <a:lvl6pPr marL="274320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3300"/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2100"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800"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500"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5pPr>
            <a:lvl6pPr marL="274320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05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hyperlink" Target="https://www.youtube.com/watch?v=rRqV8BHE8lY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hyperlink" Target="https://www.youtube.com/@WattsNextSolar25/video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XHKtBk9IE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Fw3Ixuu8Ook" TargetMode="External"/><Relationship Id="rId5" Type="http://schemas.openxmlformats.org/officeDocument/2006/relationships/image" Target="../media/image6.png"/><Relationship Id="rId4" Type="http://schemas.openxmlformats.org/officeDocument/2006/relationships/hyperlink" Target="https://www.youtube.com/watch?v=w4s-oE-VQwg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UciR-Qwgtk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gZuk3TEtjuc" TargetMode="External"/><Relationship Id="rId7" Type="http://schemas.openxmlformats.org/officeDocument/2006/relationships/hyperlink" Target="https://www.youtube.com/watch?v=zZ8Dq207Szk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amazon.com/dp/B09N8X1Z71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cXmFFIzG0M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hyperlink" Target="https://www.youtube.com/watch?v=tAIMdtmmcWY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seU-9byk2sM" TargetMode="External"/><Relationship Id="rId3" Type="http://schemas.openxmlformats.org/officeDocument/2006/relationships/hyperlink" Target="https://www.youtube.com/watch?v=ccBM0iSvqIc" TargetMode="Externa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-Fz5T5c0OQ" TargetMode="External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sAwFOIXBAnE" TargetMode="External"/><Relationship Id="rId5" Type="http://schemas.openxmlformats.org/officeDocument/2006/relationships/hyperlink" Target="https://www.youtube.com/watch?v=g7pfBidv7ug" TargetMode="Externa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hyperlink" Target="https://www.youtube.com/watch?v=w3QlyvY600Q" TargetMode="External"/><Relationship Id="rId7" Type="http://schemas.openxmlformats.org/officeDocument/2006/relationships/hyperlink" Target="https://www.youtube.com/watch?v=xD1MT-ek05w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hyperlink" Target="https://www.youtube.com/watch?v=r7HwQdssbas" TargetMode="Externa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8-FtZZwq758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hyperlink" Target="https://www.youtube.com/watch?v=L-GqZ2Z90aM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G9MwK4-8C0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jpe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jpeg"/><Relationship Id="rId4" Type="http://schemas.openxmlformats.org/officeDocument/2006/relationships/hyperlink" Target="https://www.youtube.com/watch?v=I3nZFFlIVCY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hyperlink" Target="https://www.sciencedirect.com/topics/engineering/evacuated-tube-solar-collector" TargetMode="External"/><Relationship Id="rId7" Type="http://schemas.openxmlformats.org/officeDocument/2006/relationships/image" Target="../media/image3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jpeg"/><Relationship Id="rId5" Type="http://schemas.openxmlformats.org/officeDocument/2006/relationships/image" Target="../media/image31.png"/><Relationship Id="rId4" Type="http://schemas.openxmlformats.org/officeDocument/2006/relationships/hyperlink" Target="https://www.reddit.com/r/solar/comments/rvgyfv/evacuated_tube_sola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7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45399" y="269270"/>
            <a:ext cx="2660401" cy="208647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0" name="Google Shape;120;p17"/>
          <p:cNvSpPr txBox="1"/>
          <p:nvPr/>
        </p:nvSpPr>
        <p:spPr>
          <a:xfrm>
            <a:off x="65623" y="39645"/>
            <a:ext cx="39882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Solar</a:t>
            </a:r>
            <a:endParaRPr sz="1800" b="1" i="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65625" y="385894"/>
            <a:ext cx="4473600" cy="1546800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Put together 10KW 48V battery solar system in just one hour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https://www.youtube.com/watch?v=rRqV8BHE8lY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"all-in-one" inverter unit - combines inverter, battery charger, and solar charge controller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 a 48V 16kWh battery to the inverter (using thick cables)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 a solar PV disconnect switch (to disconnect the solar array)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 Outlet Box - pre-wired box with breakers and AC outlets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flexible conduit (hoses) to protect the wiring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6123525" y="2218825"/>
            <a:ext cx="867900" cy="253800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Battery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6514050" y="209550"/>
            <a:ext cx="867900" cy="253800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All-in-one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5381625" y="752475"/>
            <a:ext cx="635100" cy="253800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outlets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7486650" y="1362075"/>
            <a:ext cx="876300" cy="253800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disconnect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27;p17">
            <a:extLst>
              <a:ext uri="{FF2B5EF4-FFF2-40B4-BE49-F238E27FC236}">
                <a16:creationId xmlns:a16="http://schemas.microsoft.com/office/drawing/2014/main" id="{FE9230C7-CFBB-ABCB-8DBD-808CCFA0D214}"/>
              </a:ext>
            </a:extLst>
          </p:cNvPr>
          <p:cNvSpPr txBox="1"/>
          <p:nvPr/>
        </p:nvSpPr>
        <p:spPr>
          <a:xfrm>
            <a:off x="76509" y="2114550"/>
            <a:ext cx="4473600" cy="1546547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94060" lvl="0" indent="-103585"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combine solar battery power with grid power automatically, you need a hybrid inverter with the Automatic Transfer Switch (ATS)</a:t>
            </a:r>
            <a:b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switch loads from solar battery to grid power when the battery level becomes low</a:t>
            </a:r>
          </a:p>
          <a:p>
            <a:pPr marL="94060" lvl="0" indent="-103585"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Popular DIY-friendly options include EG4, </a:t>
            </a:r>
            <a:r>
              <a:rPr lang="en-U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Growatt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MPP Solar, and the premium Victron </a:t>
            </a:r>
            <a:r>
              <a:rPr lang="en-U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MultiPlus</a:t>
            </a:r>
            <a:endParaRPr lang="en-US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lvl="0" indent="-103585"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units can also blend both sources simultaneously, pulling partial power from each when needed.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27;p17">
            <a:extLst>
              <a:ext uri="{FF2B5EF4-FFF2-40B4-BE49-F238E27FC236}">
                <a16:creationId xmlns:a16="http://schemas.microsoft.com/office/drawing/2014/main" id="{E168738E-CC53-2D54-153C-E7CF90CA0085}"/>
              </a:ext>
            </a:extLst>
          </p:cNvPr>
          <p:cNvSpPr txBox="1"/>
          <p:nvPr/>
        </p:nvSpPr>
        <p:spPr>
          <a:xfrm>
            <a:off x="6212654" y="3322315"/>
            <a:ext cx="2854837" cy="1731213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PV panels = photovoltaic panels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convert sunlight directly into electricity using the photovoltaic effect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A PV panel is made up of many individual PV cells (usually silicon) that release electrons when photons from sunlight strike them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This electron movement creates a direct current (DC)</a:t>
            </a:r>
          </a:p>
        </p:txBody>
      </p:sp>
      <p:pic>
        <p:nvPicPr>
          <p:cNvPr id="5" name="Picture 4" descr="HEET's Blog">
            <a:extLst>
              <a:ext uri="{FF2B5EF4-FFF2-40B4-BE49-F238E27FC236}">
                <a16:creationId xmlns:a16="http://schemas.microsoft.com/office/drawing/2014/main" id="{3D2AC785-2A90-79A1-E2A8-80DF16C2F3E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7339" y="3706654"/>
            <a:ext cx="1638300" cy="1231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/>
        </p:nvSpPr>
        <p:spPr>
          <a:xfrm>
            <a:off x="65625" y="24338"/>
            <a:ext cx="39882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Recommendations from "What's Next"</a:t>
            </a:r>
            <a:endParaRPr sz="1800" b="1" i="0" dirty="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9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9125" y="157250"/>
            <a:ext cx="1701675" cy="18811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" name="Google Shape;149;p19">
            <a:extLst>
              <a:ext uri="{FF2B5EF4-FFF2-40B4-BE49-F238E27FC236}">
                <a16:creationId xmlns:a16="http://schemas.microsoft.com/office/drawing/2014/main" id="{A24E7F80-E6C7-F957-71E9-E650C384BD50}"/>
              </a:ext>
            </a:extLst>
          </p:cNvPr>
          <p:cNvSpPr txBox="1"/>
          <p:nvPr/>
        </p:nvSpPr>
        <p:spPr>
          <a:xfrm>
            <a:off x="91063" y="341267"/>
            <a:ext cx="4493700" cy="2946930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  <a:hlinkClick r:id="rId4"/>
              </a:rPr>
              <a:t>https://</a:t>
            </a:r>
            <a:r>
              <a:rPr lang="en-US" sz="1100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  <a:hlinkClick r:id="rId4"/>
              </a:rPr>
              <a:t>www.youtube.com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  <a:hlinkClick r:id="rId4"/>
              </a:rPr>
              <a:t>/@WattsNextSolar25/videos </a:t>
            </a:r>
            <a:endParaRPr lang="en-US" sz="11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FOSSiBOT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F1800 (1,024 </a:t>
            </a:r>
            <a:r>
              <a:rPr lang="en-US" sz="1100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Wh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, 1,800 W) – power station (</a:t>
            </a:r>
            <a:r>
              <a:rPr lang="en-US" sz="1100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battery+inverter+charge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controller). Eco mode (solar first, grid backup)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Aferiy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P310 (3,840 </a:t>
            </a:r>
            <a:r>
              <a:rPr lang="en-US" sz="1100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Wh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, expandable to 11,520 </a:t>
            </a:r>
            <a:r>
              <a:rPr lang="en-US" sz="1100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Wh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) - very good deal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Oupes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Guardian 6000 (4,608 </a:t>
            </a:r>
            <a:r>
              <a:rPr lang="en-US" sz="1100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Wh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, 3.6KW @ 120 V / 6KW @ 240 V) ~$1,600</a:t>
            </a:r>
            <a:b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</a:b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(using self-installed Reliance generator transfer switch)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EcoFlow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- not recommended (expensive, bad customer service)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Even bigger DIY hybrid: </a:t>
            </a:r>
            <a:r>
              <a:rPr lang="en-US" sz="1100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WattCycle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all-in-one 12KW split-phase hybrid inverter with matched LiFePO4, into the same transfer switch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Recommended solar panels:</a:t>
            </a:r>
          </a:p>
          <a:p>
            <a:pPr marL="401638" lvl="0" indent="-106363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Colsun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215 W bifacial (56"x30") </a:t>
            </a: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efficient, bifacial, anti-shading</a:t>
            </a:r>
            <a:endParaRPr lang="en-US" sz="11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401638" lvl="0" indent="-106363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ZioUpw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450 W folding (portable)</a:t>
            </a:r>
          </a:p>
          <a:p>
            <a:pPr marL="401638" lvl="0" indent="-106363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FOSSiBOT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200 W (storage-friendly)</a:t>
            </a:r>
          </a:p>
          <a:p>
            <a:pPr marL="9406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Solar to XT60i Cable with XT60 connector</a:t>
            </a:r>
            <a:endParaRPr lang="en-US" sz="11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Harbor Freight cheap &gt; </a:t>
            </a:r>
            <a:r>
              <a:rPr lang="en-US" sz="1100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EcoFlow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mid-tier &gt; </a:t>
            </a:r>
            <a:r>
              <a:rPr lang="en-US" sz="1100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Oupes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/</a:t>
            </a:r>
            <a:r>
              <a:rPr lang="en-US" sz="1100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WattCycle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whole-home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Cables: MC4 for panels, XT60 for power station.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Wall charging cable: Included for grid-tied "eco mode" or UPS functionality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791D63-00B4-5B39-8538-951C95E60EE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5162" y="141937"/>
            <a:ext cx="2368262" cy="124356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" name="Google Shape;149;p19">
            <a:extLst>
              <a:ext uri="{FF2B5EF4-FFF2-40B4-BE49-F238E27FC236}">
                <a16:creationId xmlns:a16="http://schemas.microsoft.com/office/drawing/2014/main" id="{DEDE45ED-E3FA-7A0A-6760-CFA53441252C}"/>
              </a:ext>
            </a:extLst>
          </p:cNvPr>
          <p:cNvSpPr txBox="1"/>
          <p:nvPr/>
        </p:nvSpPr>
        <p:spPr>
          <a:xfrm>
            <a:off x="91063" y="3486150"/>
            <a:ext cx="4480937" cy="1423436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The </a:t>
            </a:r>
            <a:r>
              <a:rPr lang="en-US" sz="1100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FOSSiBOT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F1800 accepts up to 500W of solar input via its XT60 port, with a voltage range of 12V–60V and a max current of 15A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Panel: </a:t>
            </a:r>
            <a:r>
              <a:rPr lang="en-US" sz="1100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FOSSiBOT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SP420 (420W, 32V) - charges the station in 2.5 </a:t>
            </a:r>
            <a:r>
              <a:rPr lang="en-US" sz="1100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hrs</a:t>
            </a:r>
            <a:endParaRPr lang="en-US" sz="11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2 panels: </a:t>
            </a:r>
            <a:r>
              <a:rPr lang="en-US" sz="1100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FOSSiBOT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SP200 panels (200W each) wired in series.</a:t>
            </a:r>
            <a:b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</a:b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Important - never mix different panel models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Third-party panels are also supported, as long as they stay within the 12–60V / 500W limits and use MC4 connectors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Cable - MC4-to-XT60 type</a:t>
            </a:r>
          </a:p>
        </p:txBody>
      </p:sp>
      <p:pic>
        <p:nvPicPr>
          <p:cNvPr id="5" name="Picture 4" descr="Solar MC4 to XT60 Portable Power Station Adapter Cable | Sapphire Energy">
            <a:extLst>
              <a:ext uri="{FF2B5EF4-FFF2-40B4-BE49-F238E27FC236}">
                <a16:creationId xmlns:a16="http://schemas.microsoft.com/office/drawing/2014/main" id="{8E1093FD-B461-BAD2-677F-28F7CE97F118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9125" y="3384605"/>
            <a:ext cx="1686884" cy="1686884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7" name="Google Shape;149;p19">
            <a:extLst>
              <a:ext uri="{FF2B5EF4-FFF2-40B4-BE49-F238E27FC236}">
                <a16:creationId xmlns:a16="http://schemas.microsoft.com/office/drawing/2014/main" id="{A05EB0DD-E54F-AC7D-656C-6DF81D6779D2}"/>
              </a:ext>
            </a:extLst>
          </p:cNvPr>
          <p:cNvSpPr txBox="1"/>
          <p:nvPr/>
        </p:nvSpPr>
        <p:spPr>
          <a:xfrm>
            <a:off x="4699125" y="2120285"/>
            <a:ext cx="3390799" cy="1177215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9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"/>
              </a:rPr>
              <a:t>FOSSiBOT</a:t>
            </a:r>
            <a:r>
              <a:rPr lang="en-US" sz="9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"/>
              </a:rPr>
              <a:t> F1800 + SP420</a:t>
            </a:r>
            <a:br>
              <a:rPr lang="en-US" sz="9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"/>
              </a:rPr>
            </a:br>
            <a:r>
              <a:rPr lang="en-US" sz="9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"/>
              </a:rPr>
              <a:t>1.8 kW  1.0 kWh    ~$750   ~$417/kW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9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"/>
              </a:rPr>
              <a:t>Aferiy</a:t>
            </a:r>
            <a:r>
              <a:rPr lang="en-US" sz="9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"/>
              </a:rPr>
              <a:t> P310 (base)</a:t>
            </a:r>
            <a:br>
              <a:rPr lang="en-US" sz="9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"/>
              </a:rPr>
            </a:br>
            <a:r>
              <a:rPr lang="en-US" sz="9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"/>
              </a:rPr>
              <a:t>3.6 kW  3.8 kWh  ~$1,100   ~$306/kW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9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"/>
              </a:rPr>
              <a:t>OUPES Guardian 6000 + switch</a:t>
            </a:r>
            <a:br>
              <a:rPr lang="en-US" sz="9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"/>
              </a:rPr>
            </a:br>
            <a:r>
              <a:rPr lang="en-US" sz="9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"/>
              </a:rPr>
              <a:t>6 kW    4.6 kWh  ~$1,909   ~$318/kW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9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"/>
              </a:rPr>
              <a:t>WattCycle</a:t>
            </a:r>
            <a:r>
              <a:rPr lang="en-US" sz="9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"/>
              </a:rPr>
              <a:t> 12K DIY + 16kWh + panels</a:t>
            </a:r>
            <a:br>
              <a:rPr lang="en-US" sz="9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"/>
              </a:rPr>
            </a:br>
            <a:r>
              <a:rPr lang="en-US" sz="9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"/>
              </a:rPr>
              <a:t>12 kW  16   kWh  ~$8,500   ~$708/kW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65623" y="39645"/>
            <a:ext cx="39882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Solar</a:t>
            </a:r>
            <a:endParaRPr sz="1200" b="1" i="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5622" y="293444"/>
            <a:ext cx="4506300" cy="2100900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Solar Panels (portable folding 400W panel)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Battery - store electricity - A Watt Cycle 280Ah LiFePO4 "smart" battery (features Bluetooth connectivity for app-based monitoring)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Charge Controller - regulates the variable electricity coming from the panels, converting it into a constant, safe voltage to prevent damage to the battery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extension cables with MC4 connectors to link the solar panels to the charge controller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terminal fuse for the battery connection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Crimping Tool - for attaching ring terminals to wires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https://www.youtube.com/watch?v=tXHKtBk9IE0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5622" y="2455801"/>
            <a:ext cx="4506300" cy="1362300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 to 120V AC using Inverter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panels &gt; Charge Controller &gt; battery bank (48V) &gt; DC breakers/fuses &gt; bus bars to cleanly join multiple wire connections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Shunt - part of a meter system used to monitor energy flow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Switches: Used to safely isolate different parts of the system (e.g., between panels and charge controller)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https://www.youtube.com/watch?v=w4s-oE-VQwg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26;p17">
            <a:extLst>
              <a:ext uri="{FF2B5EF4-FFF2-40B4-BE49-F238E27FC236}">
                <a16:creationId xmlns:a16="http://schemas.microsoft.com/office/drawing/2014/main" id="{1059633F-BF3C-A014-73D4-7BCB05487921}"/>
              </a:ext>
            </a:extLst>
          </p:cNvPr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7400" y="3409950"/>
            <a:ext cx="2904631" cy="154680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" name="Google Shape;127;p17">
            <a:extLst>
              <a:ext uri="{FF2B5EF4-FFF2-40B4-BE49-F238E27FC236}">
                <a16:creationId xmlns:a16="http://schemas.microsoft.com/office/drawing/2014/main" id="{8E98BA7A-8444-C749-470D-BD0D54705FA6}"/>
              </a:ext>
            </a:extLst>
          </p:cNvPr>
          <p:cNvSpPr txBox="1"/>
          <p:nvPr/>
        </p:nvSpPr>
        <p:spPr>
          <a:xfrm>
            <a:off x="5105400" y="1581150"/>
            <a:ext cx="3972977" cy="1731213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Oupes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Mega 2 Pro, a portable solar generator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2.5KW inverter, 140W USB-C ports, and a long-lasting lithium iron phosphate battery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the original </a:t>
            </a:r>
            <a:r>
              <a:rPr lang="en-U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Oupes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Mega 2 outperforms the "Pro" version in several key categories, including solar input capacity and overall value - </a:t>
            </a:r>
            <a:r>
              <a:rPr lang="en-US" sz="12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https://www.youtube.com/watch?v=Fw3Ixuu8Ook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Ultimately, while the Mega 2 Pro is a decent unit, it is not recommended over the original Mega 2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65623" y="39645"/>
            <a:ext cx="39882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Solar</a:t>
            </a:r>
            <a:endParaRPr sz="1100" b="1" i="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5629" y="469385"/>
            <a:ext cx="4506300" cy="3948000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DIY Solar system from scratch. Modular. Connected through a generator interlock kit - </a:t>
            </a: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https://www.youtube.com/watch?v=KUciR-Qwgtk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their entire home, charge an EV, and run a small bitcoin mining operation for approximately $25K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core strategy involves using a high-capacity solar generator (inverter/battery unit) that can be integrated into a home’s electrical panel via an interlock kit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off-grid while maintaining the flexibility to revert to grid power if needed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system requires fewer permits than a permanent roof-mounted installation, as the panels are mounted on temporary, non-permanent stands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 Unit: EcoFlow Delta Pro Ultra X (inverter battery management system).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Battery Storage -  6 expansion batteries (totaling ~37 kWh capacity)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Solar Panels – 23-24 panels (450W each), connecting 12 panels in series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Mounting - Minute Man Solar portable panel stands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Grid Connection - 50-amp cable (1450p to ss250r)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aware of the inverter's maximum output (e.g., 12KWatts)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4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5512" y="964164"/>
            <a:ext cx="3254193" cy="1761188"/>
          </a:xfrm>
          <a:prstGeom prst="rect">
            <a:avLst/>
          </a:prstGeom>
          <a:noFill/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/>
        </p:nvSpPr>
        <p:spPr>
          <a:xfrm>
            <a:off x="65623" y="39645"/>
            <a:ext cx="39882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Solar Charge Controller</a:t>
            </a:r>
            <a:endParaRPr sz="1800" b="1" i="0" dirty="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65625" y="385894"/>
            <a:ext cx="4473600" cy="2839208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solar charge controller regulates the unstable voltage from solar panels into a safe, steady voltage for battery charging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Panels can output 16–20V or higher depending on sunlight and temperature, while a 12V battery needs only ~14–14.5V. Too much voltage damages it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two main types of controllers – both using switching: </a:t>
            </a:r>
          </a:p>
          <a:p>
            <a:pPr marL="404813" lvl="0" indent="-107950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PWM (Pulse Width Modulation) </a:t>
            </a:r>
            <a:r>
              <a:rPr lang="en-US" sz="12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controller - rapidly switch the connection on/off to reduce voltage (simple, ~75% efficient)</a:t>
            </a:r>
          </a:p>
          <a:p>
            <a:pPr marL="404813" lvl="0" indent="-107950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MPPT (Max Power Point Tracking)</a:t>
            </a:r>
            <a:r>
              <a:rPr lang="en-US" sz="12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controller is also a </a:t>
            </a:r>
            <a:r>
              <a:rPr lang="en-US" sz="1200" dirty="0" err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switchingDC</a:t>
            </a:r>
            <a:r>
              <a:rPr lang="en-US" sz="12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-DC converter, but it uses feedback to find the optimal power point on the panel's output curve (~95% efficient, recovering 20–30% more energy)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manage a three-stage charge cycle — bulk, absorption, and float — and block reverse current flow at night to prevent battery drain.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Pulse Width Modulation Used for Motor ...">
            <a:extLst>
              <a:ext uri="{FF2B5EF4-FFF2-40B4-BE49-F238E27FC236}">
                <a16:creationId xmlns:a16="http://schemas.microsoft.com/office/drawing/2014/main" id="{CE0B496F-E2A8-2B2D-C18B-82654482670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7365" y="588740"/>
            <a:ext cx="3231770" cy="112261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4" name="Picture 3" descr="MPPT - Maximum Power Point Tracking">
            <a:extLst>
              <a:ext uri="{FF2B5EF4-FFF2-40B4-BE49-F238E27FC236}">
                <a16:creationId xmlns:a16="http://schemas.microsoft.com/office/drawing/2014/main" id="{319FF64A-9EE7-0959-2018-759C60CF3F2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5400" y="2456752"/>
            <a:ext cx="3022600" cy="153670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956879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/>
        </p:nvSpPr>
        <p:spPr>
          <a:xfrm>
            <a:off x="65623" y="39645"/>
            <a:ext cx="39882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Solar</a:t>
            </a:r>
            <a:endParaRPr sz="1800" b="1" i="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65625" y="385894"/>
            <a:ext cx="4473600" cy="1731600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100W Harbor Freight Thunderbolt vs Rich Solar panels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Harbor Freight panel consistently outperformed the Rich Solar panel, yielding 17% more energy overall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Harbor Freight panel is physically larger and features soldered connections, while the Rich Solar panel uses a standard MC4 connector and includes clear specification labeling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Ultimately, the Harbor Freight panel proved to be the more efficient performer in this test.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https://www.youtube.com/watch?v=gZuk3TEtjuc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5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3900" y="614674"/>
            <a:ext cx="2250758" cy="12740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5" name="Google Shape;105;p15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3899" y="2777118"/>
            <a:ext cx="2124625" cy="158305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6" name="Google Shape;106;p15"/>
          <p:cNvSpPr txBox="1"/>
          <p:nvPr/>
        </p:nvSpPr>
        <p:spPr>
          <a:xfrm>
            <a:off x="65625" y="2502919"/>
            <a:ext cx="4473600" cy="2100900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creator tested a plug-and-play solar setup using four 360W panels and a 1200W micro-inverter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https://www.amazon.com/dp/B09N8X1Z71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system failed on day two due to overheating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leading to the conclusion that this specific unit is unreliable and lacks the necessary safety certifications for utility net metering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 one week, the impaired system generated only 7.7 kWh, highlighting that such setups are merely supplemental rather than effective replacements for full-scale, permitted solar systems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Ultimately, the creator advises against this specific product due to its poor durability and lack of compliance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https://www.youtube.com/watch?v=zZ8Dq207Szk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/>
        </p:nvSpPr>
        <p:spPr>
          <a:xfrm>
            <a:off x="65623" y="39645"/>
            <a:ext cx="39882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Solar</a:t>
            </a:r>
            <a:endParaRPr sz="1800" b="1" i="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113250" y="2981322"/>
            <a:ext cx="4782600" cy="1931700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94060" marR="0" lvl="0" indent="-9723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DIY 48V solar power system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9723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48V battery, 48V inverter , Solar Charging (panels + charge controller)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9723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charge the battery using solar panels, a gas generator, or a standard AC wall outlet, allowing for dual-source charging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9723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Benefits: flexibility to scale, higher battery capacity, modular components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9723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Battery - a "golf cart" style battery - Temgo brand as an example, 48V, 100Ah (5KWatt) - with a built-in monitor and bluetooth capabilities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9723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Inverter - Juna 2800W model - can work with 24V and 48V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9723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Solar Panels - "Colon" brand, 200W units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9723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Solar Charge Controller - MPPT charge controller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9723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https://www.youtube.com/watch?v=bcXmFFIzG0M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113250" y="428622"/>
            <a:ext cx="4782600" cy="2439600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94060" marR="0" lvl="0" indent="-9723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2020, seven major solar manufacturers agreed to a standardized wafer size (the M10 standard, 182 mm)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9723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Five major brands use the same "Topcon" cell architecture and silicon: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98425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Canadian Solar (TOP Hiku 6)</a:t>
            </a:r>
            <a:endParaRPr sz="11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98425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JA Solar (Deep Blue 4.0)</a:t>
            </a:r>
            <a:endParaRPr sz="11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98425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Trina Solar (Vertex S)</a:t>
            </a:r>
            <a:endParaRPr sz="11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98425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Jinko Solar (Tiger Neo)</a:t>
            </a:r>
            <a:endParaRPr sz="11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98425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Qcells (Q.tron)</a:t>
            </a:r>
            <a:endParaRPr sz="11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9723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 Group - the exception, it is genuinely different. They use Heterojunction (HJT) cell technology - more efficient in high-heat environments like Phoenix or Houston -  but 5-15% higher price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9723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Don't Overpay for Brands - most panels on the market are interchangeable commodity products. Negotiate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9723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https://www.youtube.com/watch?v=tAIMdtmmcWY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6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81601" y="3305901"/>
            <a:ext cx="2400301" cy="13791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/>
        </p:nvSpPr>
        <p:spPr>
          <a:xfrm>
            <a:off x="65623" y="39645"/>
            <a:ext cx="39882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Solar</a:t>
            </a:r>
            <a:endParaRPr sz="1800" b="1" i="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65625" y="385900"/>
            <a:ext cx="3382500" cy="1362300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$50K off-grid system: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 kWh of lithium battery storage ($22K)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kW of solar panels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kW of inverter output  ($8.5K)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buried a shipping container under the panels to house the equipment.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https://www.youtube.com/watch?v=ccBM0iSvqIc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8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43578" y="1611525"/>
            <a:ext cx="2741896" cy="11775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5" name="Google Shape;135;p18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75136" y="1611526"/>
            <a:ext cx="2112889" cy="117749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6" name="Google Shape;136;p18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92725" y="96650"/>
            <a:ext cx="2135200" cy="141936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7" name="Google Shape;137;p18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2826" y="96650"/>
            <a:ext cx="2135200" cy="14193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8" name="Google Shape;138;p18"/>
          <p:cNvSpPr txBox="1"/>
          <p:nvPr/>
        </p:nvSpPr>
        <p:spPr>
          <a:xfrm>
            <a:off x="65625" y="3288075"/>
            <a:ext cx="4290600" cy="1731600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Amish low-cost 4-components solar: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04775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solar panel 100W,   2'x4', $100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04775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charge controller between panel and battery $30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04775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battery 100Ah lithium iron phosphate (LiFePO4) battery — $150 to $250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04775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small inverter 400W (DC-to-AC)  $40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also notes the necessity of a fuse between the battery and the rest of the system for safety.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https://www.youtube.com/watch?v=seU-9byk2sM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18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6525" y="3472725"/>
            <a:ext cx="1164254" cy="1362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0" name="Google Shape;140;p18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33176" y="3472725"/>
            <a:ext cx="1236084" cy="1362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/>
        </p:nvSpPr>
        <p:spPr>
          <a:xfrm>
            <a:off x="65623" y="39645"/>
            <a:ext cx="3988200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/>
            <a:r>
              <a:rPr lang="en-US" sz="18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Solar Panels Orientation matters</a:t>
            </a:r>
            <a:endParaRPr sz="1800" b="1" i="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71626" y="385863"/>
            <a:ext cx="5795774" cy="2269822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Solar Panels Orientation matters</a:t>
            </a:r>
            <a:b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</a:t>
            </a:r>
            <a:r>
              <a:rPr lang="en-US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www.youtube.com</a:t>
            </a: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/</a:t>
            </a:r>
            <a:r>
              <a:rPr lang="en-US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watch?v</a:t>
            </a: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=I-Fz5T5c0OQ</a:t>
            </a:r>
            <a:endParaRPr lang="en-US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Compared Canadian solar bifacial panels in north-south vertical, east-west vertical, and south-facing 30° tilted configurations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30° south-facing bifacial setup is the highest overall producer annually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north-south vertical panels offer a distinct advantage by providing highly consistent, year-round energy production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makes them particularly effective for users in northern climates looking to avoid heavy winter snow accumulation 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Conversely, for summer-heavy energy needs like air conditioning, east-west configurations may be more beneficial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analysis highlights that optimal installation strategy ultimately depends on specific regional sunlight patterns, weather conditions, and seasonal energy requirements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364363-2172-6A43-F27F-A057075E653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3600" y="385864"/>
            <a:ext cx="3116416" cy="145767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" name="Google Shape;156;p20">
            <a:extLst>
              <a:ext uri="{FF2B5EF4-FFF2-40B4-BE49-F238E27FC236}">
                <a16:creationId xmlns:a16="http://schemas.microsoft.com/office/drawing/2014/main" id="{641242F4-6615-FB46-4E53-5B8D6B276178}"/>
              </a:ext>
            </a:extLst>
          </p:cNvPr>
          <p:cNvSpPr txBox="1"/>
          <p:nvPr/>
        </p:nvSpPr>
        <p:spPr>
          <a:xfrm>
            <a:off x="78323" y="2862090"/>
            <a:ext cx="5789077" cy="2100545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Vertical solar panel can outperform traditional horizontal arrays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core advantage lies in temperature management: </a:t>
            </a:r>
            <a:b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vertical panels exhibit heat transfer coefficients nearly double those of horizontal counterparts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maintain significantly lower operating temperatures, so vertical systems avoid the voltage drops typically caused by heat-induced efficiency losses in high-irradiance conditions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reducing the temperature difference between the panels and the ambient environment, these vertical systems achieve more balanced voltage performance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Consequently, researchers observed a 2.5% increase in annual energy yield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suggests that vertical configurations, such as solar fences, could be an unexpectedly effective and efficient solution for future solar energy generation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https://www.youtube.com/watch?v=g7pfBidv7ug</a:t>
            </a:r>
            <a:endParaRPr lang="en-US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</a:t>
            </a:r>
            <a:r>
              <a:rPr lang="en-US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www.youtube.com</a:t>
            </a: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/</a:t>
            </a:r>
            <a:r>
              <a:rPr lang="en-US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watch?v</a:t>
            </a: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=</a:t>
            </a:r>
            <a:r>
              <a:rPr lang="en-US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sAwFOIXBAnE</a:t>
            </a: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 </a:t>
            </a: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turn any fence into solar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C1D3B7-00CE-9AD3-CB00-5FE21C4C709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3600" y="3118525"/>
            <a:ext cx="3059992" cy="1650894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898007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/>
        </p:nvSpPr>
        <p:spPr>
          <a:xfrm>
            <a:off x="65623" y="39645"/>
            <a:ext cx="39882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Solar</a:t>
            </a:r>
            <a:endParaRPr sz="1800" b="1" i="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65625" y="385894"/>
            <a:ext cx="4473600" cy="1546800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JerryRigEverything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reflects on his home solar panel system six years after its initial installation.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discusses the long-term performance and reliability of his setup while highlighting the evolution of residential energy technology.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video serves as a transition to promote the EcoFlow DELTA Pro Ultra X, a modern whole-home backup system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Ease of installation and power capacity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https://www.youtube.com/watch?v=w3QlyvY600Q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20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4100" y="385844"/>
            <a:ext cx="3792675" cy="14937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Google Shape;149;p19">
            <a:extLst>
              <a:ext uri="{FF2B5EF4-FFF2-40B4-BE49-F238E27FC236}">
                <a16:creationId xmlns:a16="http://schemas.microsoft.com/office/drawing/2014/main" id="{F565423F-B9ED-7DC2-A250-FE65CF8E9969}"/>
              </a:ext>
            </a:extLst>
          </p:cNvPr>
          <p:cNvSpPr txBox="1"/>
          <p:nvPr/>
        </p:nvSpPr>
        <p:spPr>
          <a:xfrm>
            <a:off x="67395" y="2038350"/>
            <a:ext cx="4112700" cy="1423436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solar panels can track position of the sun.</a:t>
            </a:r>
            <a:b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 3 types of solar panel installations:</a:t>
            </a:r>
            <a:b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static, single-axis trackers, dual-axis trackers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Trackers harvest more energy than static (especially in early morning and late afternoon). 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if you have ample space, simple static mounts may be cheaper and more reliable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marR="0" lvl="0" indent="-1035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https://www.youtube.com/watch?v=r7HwQdssbas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150;p19">
            <a:extLst>
              <a:ext uri="{FF2B5EF4-FFF2-40B4-BE49-F238E27FC236}">
                <a16:creationId xmlns:a16="http://schemas.microsoft.com/office/drawing/2014/main" id="{246AB1F3-8F60-D924-E7A9-2D96CE926217}"/>
              </a:ext>
            </a:extLst>
          </p:cNvPr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39225" y="2287438"/>
            <a:ext cx="2158875" cy="9252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sp>
        <p:nvSpPr>
          <p:cNvPr id="4" name="Google Shape;149;p19">
            <a:extLst>
              <a:ext uri="{FF2B5EF4-FFF2-40B4-BE49-F238E27FC236}">
                <a16:creationId xmlns:a16="http://schemas.microsoft.com/office/drawing/2014/main" id="{884EC012-69F9-14EB-0967-EE9CA52ACF6C}"/>
              </a:ext>
            </a:extLst>
          </p:cNvPr>
          <p:cNvSpPr txBox="1"/>
          <p:nvPr/>
        </p:nvSpPr>
        <p:spPr>
          <a:xfrm>
            <a:off x="67395" y="3537541"/>
            <a:ext cx="4112700" cy="746328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/>
              <a:t>Vertical vs. South-Facing Panels, 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/>
              <a:t>Adding reflectors 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/>
              <a:t>Bifacial panels 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hlinkClick r:id="rId7"/>
              </a:rPr>
              <a:t>https://www.youtube.com/watch?v=xD1MT-ek05w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6980DD-B2AE-25F0-0096-604B0D323E43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39225" y="3446281"/>
            <a:ext cx="2158875" cy="1190916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>
          <a:extLst>
            <a:ext uri="{FF2B5EF4-FFF2-40B4-BE49-F238E27FC236}">
              <a16:creationId xmlns:a16="http://schemas.microsoft.com/office/drawing/2014/main" id="{209C7A3F-E092-E202-8F05-A1FBB5735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>
            <a:extLst>
              <a:ext uri="{FF2B5EF4-FFF2-40B4-BE49-F238E27FC236}">
                <a16:creationId xmlns:a16="http://schemas.microsoft.com/office/drawing/2014/main" id="{F5266911-422B-A2C0-2D57-99C6A5E41BB1}"/>
              </a:ext>
            </a:extLst>
          </p:cNvPr>
          <p:cNvSpPr txBox="1"/>
          <p:nvPr/>
        </p:nvSpPr>
        <p:spPr>
          <a:xfrm>
            <a:off x="65623" y="39645"/>
            <a:ext cx="39882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Solar Panels on Garden Fences</a:t>
            </a:r>
            <a:endParaRPr sz="1800" b="1" i="0" dirty="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>
            <a:extLst>
              <a:ext uri="{FF2B5EF4-FFF2-40B4-BE49-F238E27FC236}">
                <a16:creationId xmlns:a16="http://schemas.microsoft.com/office/drawing/2014/main" id="{64CF3D02-5306-10AD-88D6-FF35FA4F5035}"/>
              </a:ext>
            </a:extLst>
          </p:cNvPr>
          <p:cNvSpPr txBox="1"/>
          <p:nvPr/>
        </p:nvSpPr>
        <p:spPr>
          <a:xfrm>
            <a:off x="65625" y="385894"/>
            <a:ext cx="4473600" cy="807883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dirty="0"/>
              <a:t>solar panels mounted on garden fences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https://www.youtube.com/watch?v=8-FtZZwq758</a:t>
            </a:r>
            <a:endParaRPr lang="en-US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</a:t>
            </a:r>
            <a:r>
              <a:rPr lang="en-U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www.youtube.com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/</a:t>
            </a:r>
            <a:r>
              <a:rPr lang="en-U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watch?v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=L-GqZ2Z90aM</a:t>
            </a:r>
            <a:endParaRPr lang="en-US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7C836F-78DF-51C8-6AE5-A6AC071DF8F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3600" y="231795"/>
            <a:ext cx="2615877" cy="151765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8555A4-D4B9-4392-807D-AA28D125D8F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39225" y="1885950"/>
            <a:ext cx="4318000" cy="203200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247111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/>
        </p:nvSpPr>
        <p:spPr>
          <a:xfrm>
            <a:off x="65623" y="39645"/>
            <a:ext cx="39882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Solar Inverters - Reliability</a:t>
            </a:r>
            <a:endParaRPr sz="1800" b="1" i="0" dirty="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65625" y="385894"/>
            <a:ext cx="4473600" cy="2654543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Solar inverters are the most failure-prone component 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home solar systems, often requiring costly replacements after 10–15 years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Solar Exposed video recommends three reliable options: </a:t>
            </a:r>
          </a:p>
          <a:p>
            <a:pPr marL="461963" lvl="0" indent="-119063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SMA Sunny Boy for simple, unshaded roofs; </a:t>
            </a:r>
          </a:p>
          <a:p>
            <a:pPr marL="461963" lvl="0" indent="-119063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Enphase IQ8 microinverter system for shaded roofs, complex layouts, or future expansions;</a:t>
            </a:r>
          </a:p>
          <a:p>
            <a:pPr marL="461963" lvl="0" indent="-119063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SolarEdge as a budget-conscious alternative that requires an extended warranty due to the company's financial instability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 installers who refuse to discuss your inverter choice, as they may be prioritizing their profit margins over your system's longevity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Ultimately, choosing the right equipment—and securing a long-term warranty—is critical to ensuring your solar investment pays for itself rather than resulting in unexpected future bills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https://www.youtube.com/watch?v=cG9MwK4-8C0</a:t>
            </a:r>
            <a:endParaRPr lang="en-US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4C23E5-9297-4512-652F-69499798CD7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9031" y="98326"/>
            <a:ext cx="1897434" cy="141243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D62D1F-29B1-3FE7-C4C8-761624560EA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4658" y="100228"/>
            <a:ext cx="940077" cy="141551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6" name="Picture 5" descr="Proper installation of home solar systems is crucial">
            <a:extLst>
              <a:ext uri="{FF2B5EF4-FFF2-40B4-BE49-F238E27FC236}">
                <a16:creationId xmlns:a16="http://schemas.microsoft.com/office/drawing/2014/main" id="{1CDD0FAC-6246-2658-610F-F1C21EBFA7E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0169" y="95246"/>
            <a:ext cx="1123428" cy="1415519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7" name="Google Shape;156;p20">
            <a:extLst>
              <a:ext uri="{FF2B5EF4-FFF2-40B4-BE49-F238E27FC236}">
                <a16:creationId xmlns:a16="http://schemas.microsoft.com/office/drawing/2014/main" id="{E349C5BA-0857-EBE2-BFBD-58EB376E0570}"/>
              </a:ext>
            </a:extLst>
          </p:cNvPr>
          <p:cNvSpPr txBox="1"/>
          <p:nvPr/>
        </p:nvSpPr>
        <p:spPr>
          <a:xfrm>
            <a:off x="4572000" y="1581150"/>
            <a:ext cx="4473600" cy="3116207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Safety measures: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Rapid Shutdown </a:t>
            </a: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reducing system voltage to safe levels within seconds during emergencies - required by the National Electrical Code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Arc Fault Circuit Interrupters (AFCIs) </a:t>
            </a: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automatically detect and shut down dangerous electrical arcs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Ground Fault Protection Devices (GFPDs) </a:t>
            </a: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 leakage currents and disconnect the system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Anti-islanding protection </a:t>
            </a: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shuts down grid-tied inverters immediately if the utility grid goes offline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Overcurrent breakers </a:t>
            </a: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isolate strings when voltage or current anomalies are detected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Microinverter architectures </a:t>
            </a: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eliminate high-voltage DC runs, significantly reducing fire risk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Physical requirements </a:t>
            </a: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1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ventilation and clearance around inverters, UL 1741/1703 certified equipment, pest screens to prevent wiring damage, and clearly labeled manual disconnect switches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Routine inspections every one to two years catch loose connections and corrosion before they escalate.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659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>
          <a:extLst>
            <a:ext uri="{FF2B5EF4-FFF2-40B4-BE49-F238E27FC236}">
              <a16:creationId xmlns:a16="http://schemas.microsoft.com/office/drawing/2014/main" id="{3133FAEB-61AA-AE32-FAE0-59886862E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>
            <a:extLst>
              <a:ext uri="{FF2B5EF4-FFF2-40B4-BE49-F238E27FC236}">
                <a16:creationId xmlns:a16="http://schemas.microsoft.com/office/drawing/2014/main" id="{23411E3C-AB25-E2C3-9D72-E959B44E0F1E}"/>
              </a:ext>
            </a:extLst>
          </p:cNvPr>
          <p:cNvSpPr txBox="1"/>
          <p:nvPr/>
        </p:nvSpPr>
        <p:spPr>
          <a:xfrm>
            <a:off x="65623" y="39645"/>
            <a:ext cx="3988200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Stirling heat solar system</a:t>
            </a:r>
            <a:endParaRPr sz="2400" b="1" i="0" dirty="0">
              <a:solidFill>
                <a:srgbClr val="333333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6" name="Google Shape;156;p20">
            <a:extLst>
              <a:ext uri="{FF2B5EF4-FFF2-40B4-BE49-F238E27FC236}">
                <a16:creationId xmlns:a16="http://schemas.microsoft.com/office/drawing/2014/main" id="{1E2D22CB-11DC-598B-00F2-CF988167C5BC}"/>
              </a:ext>
            </a:extLst>
          </p:cNvPr>
          <p:cNvSpPr txBox="1"/>
          <p:nvPr/>
        </p:nvSpPr>
        <p:spPr>
          <a:xfrm>
            <a:off x="98400" y="450607"/>
            <a:ext cx="5159400" cy="2269822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A Stirling heat solar system uses a large parabolic dish of mirrors to concentrate sunlight onto a Stirling engine, which drives a generator to produce electricity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The engine runs on the temperature difference created by the focused solar heat. It is modular, water-free, and emission-free during operation, making it appealing for utility-scale solar farms in sunny, arid regions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It is not used in homes because of high cost, complexity, maintenance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A single unit can cost tens of thousands of dollars while producing modest output, making solar PV far more economical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The system has many moving parts requiring skilled maintenance, needs direct clear-sky sunlight (</a:t>
            </a:r>
            <a:r>
              <a:rPr lang="en-US" sz="11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performance on cloudy days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), and the large rotating dish is impractical for rooftops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Silicon solar panels, by contrast, have no moving parts, dropped below $0.10 per watt, and work even in diffuse light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A0719B-25B5-AEC1-AEA9-B7D4BD24E3C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8586" y="258920"/>
            <a:ext cx="3612229" cy="2057400"/>
          </a:xfrm>
          <a:prstGeom prst="rect">
            <a:avLst/>
          </a:prstGeom>
        </p:spPr>
      </p:pic>
      <p:sp>
        <p:nvSpPr>
          <p:cNvPr id="3" name="Google Shape;156;p20">
            <a:extLst>
              <a:ext uri="{FF2B5EF4-FFF2-40B4-BE49-F238E27FC236}">
                <a16:creationId xmlns:a16="http://schemas.microsoft.com/office/drawing/2014/main" id="{FB7881BC-D125-7374-E30B-2B59C73729DB}"/>
              </a:ext>
            </a:extLst>
          </p:cNvPr>
          <p:cNvSpPr txBox="1"/>
          <p:nvPr/>
        </p:nvSpPr>
        <p:spPr>
          <a:xfrm>
            <a:off x="98400" y="2876550"/>
            <a:ext cx="6378600" cy="2131322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peel-and-stick solar film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thinner than a human hair generates as much electricity as a twenty-thousand-dollar silicon panel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Can be easily installed without a single tool, rack, or contractor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MIT spinout Active Surfaces, founded by PhD graduate Richard Swartwout and backed by over ten million dollars in funding, has built this technology on perovskite - a crystalline semiconductor that has surpassed silicon efficiency records certified by the National Renewable Energy Laboratory, manufactured through roll-to-roll printing at a fraction of silicon's cost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For conventional rooftop solar, up to fifty percent of total system cost is pure labor. Active Surfaces eliminates that entirely.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This technology has been sidelined by a forty-billion-dollar installation industry whose entire business model collapses the moment a homeowner can roll their own power system onto a roof in an afternoon.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https://www.youtube.com/watch?v=I3nZFFlIVCY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Wholesale technology solar power flexible panels price olar panels high quality flexible panel 100w olar panel flexible,2 Pieces">
            <a:extLst>
              <a:ext uri="{FF2B5EF4-FFF2-40B4-BE49-F238E27FC236}">
                <a16:creationId xmlns:a16="http://schemas.microsoft.com/office/drawing/2014/main" id="{F80F9C02-CE18-624F-3FD0-9B0A9450802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0696" y="2721872"/>
            <a:ext cx="2286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087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>
          <a:extLst>
            <a:ext uri="{FF2B5EF4-FFF2-40B4-BE49-F238E27FC236}">
              <a16:creationId xmlns:a16="http://schemas.microsoft.com/office/drawing/2014/main" id="{3133FAEB-61AA-AE32-FAE0-59886862E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>
            <a:extLst>
              <a:ext uri="{FF2B5EF4-FFF2-40B4-BE49-F238E27FC236}">
                <a16:creationId xmlns:a16="http://schemas.microsoft.com/office/drawing/2014/main" id="{23411E3C-AB25-E2C3-9D72-E959B44E0F1E}"/>
              </a:ext>
            </a:extLst>
          </p:cNvPr>
          <p:cNvSpPr txBox="1"/>
          <p:nvPr/>
        </p:nvSpPr>
        <p:spPr>
          <a:xfrm>
            <a:off x="65623" y="39645"/>
            <a:ext cx="39882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Evacuated Tube Collector</a:t>
            </a:r>
            <a:endParaRPr sz="1800" b="1" i="0" dirty="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>
            <a:extLst>
              <a:ext uri="{FF2B5EF4-FFF2-40B4-BE49-F238E27FC236}">
                <a16:creationId xmlns:a16="http://schemas.microsoft.com/office/drawing/2014/main" id="{1E2D22CB-11DC-598B-00F2-CF988167C5BC}"/>
              </a:ext>
            </a:extLst>
          </p:cNvPr>
          <p:cNvSpPr txBox="1"/>
          <p:nvPr/>
        </p:nvSpPr>
        <p:spPr>
          <a:xfrm>
            <a:off x="65625" y="385894"/>
            <a:ext cx="4473600" cy="4593535"/>
          </a:xfrm>
          <a:prstGeom prst="rect">
            <a:avLst/>
          </a:prstGeom>
          <a:solidFill>
            <a:srgbClr val="FFF2CC"/>
          </a:solidFill>
          <a:ln w="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type of solar thermal collector used for heating water or fluids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heat loss is minimized by surrounding the absorber with a vacuum (evacuated) glass tube (works like a thermos)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</a:t>
            </a:r>
            <a:r>
              <a:rPr lang="en-US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www.sciencedirect.com</a:t>
            </a:r>
            <a:r>
              <a:rPr lang="en-US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/topics/engineering/evacuated-tube-solar-collector</a:t>
            </a:r>
            <a:endParaRPr lang="en-US"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Each collector consists of rows of parallel, double-walled borosilicate glass tubes connected to a header pipe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space between the two glass walls is evacuated (air removed), creating a near-perfect insulating vacuum that prevents convective and conductive heat loss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Inside the tube, a selective coating on the inner glass absorbs solar radiation, and aluminum fins transfer that heat to a copper heat pipe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heat pipe contains a small amount of that vaporizes from the heat, rises to a condenser at the top, and transfers its energy to the circulating heat transfer fluid (typically a water/propylene glycol mix) in the manifold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https://www.reddit.com/r/solar/comments/rvgyfv/evacuated_tube_solar/</a:t>
            </a:r>
            <a:endParaRPr lang="en-US"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Tube interior can reach ~400°F while the outside remains cool to the touch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Works well even in cloudy, cold climates (northern US, Canada); The cylindrical shape means sunlight always strikes at roughly a 90° angle, performing well in morning, evening, or overcast condition; If one tube breaks, the rest of the system continues operating at reduced capacity</a:t>
            </a:r>
          </a:p>
          <a:p>
            <a:pPr marL="94060" lvl="0" indent="-103585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for domestic hot water heating, space heating, and industrial process heat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0E4B7B-5138-F8F2-51A7-D220007483C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71199" y="2293517"/>
            <a:ext cx="1681018" cy="1320800"/>
          </a:xfrm>
          <a:prstGeom prst="rect">
            <a:avLst/>
          </a:prstGeom>
        </p:spPr>
      </p:pic>
      <p:pic>
        <p:nvPicPr>
          <p:cNvPr id="9" name="Picture 8" descr="Evacuated Tube Solar Collector">
            <a:extLst>
              <a:ext uri="{FF2B5EF4-FFF2-40B4-BE49-F238E27FC236}">
                <a16:creationId xmlns:a16="http://schemas.microsoft.com/office/drawing/2014/main" id="{60444A0C-417D-93FD-46D9-9170853ABE4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59727" y="147845"/>
            <a:ext cx="1905000" cy="1320800"/>
          </a:xfrm>
          <a:prstGeom prst="rect">
            <a:avLst/>
          </a:prstGeom>
        </p:spPr>
      </p:pic>
      <p:pic>
        <p:nvPicPr>
          <p:cNvPr id="10" name="Picture 9" descr="CTC evacuated tube solar thermal collector mounted on a dark tiled roof.">
            <a:extLst>
              <a:ext uri="{FF2B5EF4-FFF2-40B4-BE49-F238E27FC236}">
                <a16:creationId xmlns:a16="http://schemas.microsoft.com/office/drawing/2014/main" id="{FC8051F2-2EBF-7406-CACC-7C1A21D6A943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205" y="147845"/>
            <a:ext cx="2101706" cy="1198629"/>
          </a:xfrm>
          <a:prstGeom prst="rect">
            <a:avLst/>
          </a:prstGeom>
        </p:spPr>
      </p:pic>
      <p:pic>
        <p:nvPicPr>
          <p:cNvPr id="11" name="Picture 10" descr="Frontiers | Experimental Investigation of a Medium Temperature Single-Phase  Thermosyphon in an Evacuated Tube Receiver Coupled With Compound Parabolic  Concentrator">
            <a:extLst>
              <a:ext uri="{FF2B5EF4-FFF2-40B4-BE49-F238E27FC236}">
                <a16:creationId xmlns:a16="http://schemas.microsoft.com/office/drawing/2014/main" id="{C721DB2B-9EFC-F0B3-CD61-C4AC393620F1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1402" y="1683319"/>
            <a:ext cx="2446966" cy="264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298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3072</Words>
  <Application>Microsoft Macintosh PowerPoint</Application>
  <PresentationFormat>On-screen Show (16:9)</PresentationFormat>
  <Paragraphs>199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Lev Selector</cp:lastModifiedBy>
  <cp:revision>16</cp:revision>
  <dcterms:modified xsi:type="dcterms:W3CDTF">2026-06-07T01:06:30Z</dcterms:modified>
</cp:coreProperties>
</file>