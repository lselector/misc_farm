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60" r:id="rId2"/>
    <p:sldId id="262" r:id="rId3"/>
    <p:sldId id="256" r:id="rId4"/>
    <p:sldId id="257" r:id="rId5"/>
    <p:sldId id="258" r:id="rId6"/>
    <p:sldId id="259" r:id="rId7"/>
    <p:sldId id="261" r:id="rId8"/>
    <p:sldId id="263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33"/>
    <p:restoredTop sz="94664"/>
  </p:normalViewPr>
  <p:slideViewPr>
    <p:cSldViewPr>
      <p:cViewPr varScale="1">
        <p:scale>
          <a:sx n="120" d="100"/>
          <a:sy n="120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5eb4dda17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3e5eb4dda1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5eb4dda17_0_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e5eb4dda17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5eb4dda17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3e5eb4dda17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5eb4dda1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e5eb4dda1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5eb4dda17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e5eb4dda1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5eb4dda17_0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g3e5eb4dda1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5eb4dda17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e5eb4dda1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rRqV8BHE8lY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www.youtube.com/@WattsNextSolar25/video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XHKtBk9IE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Fw3Ixuu8Ook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www.youtube.com/watch?v=w4s-oE-VQwg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KUciR-Qwgt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Zuk3TEtjuc" TargetMode="External"/><Relationship Id="rId7" Type="http://schemas.openxmlformats.org/officeDocument/2006/relationships/hyperlink" Target="https://www.youtube.com/watch?v=zZ8Dq207Szk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mazon.com/dp/B09N8X1Z71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bcXmFFIzG0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www.youtube.com/watch?v=tAIMdtmmcWY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seU-9byk2sM" TargetMode="External"/><Relationship Id="rId3" Type="http://schemas.openxmlformats.org/officeDocument/2006/relationships/hyperlink" Target="https://www.youtube.com/watch?v=ccBM0iSvqIc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3QlyvY600Q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hyperlink" Target="https://www.youtube.com/watch?v=r7HwQdssbas" TargetMode="Externa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5399" y="269270"/>
            <a:ext cx="2660401" cy="20864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0" name="Google Shape;120;p17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Put together 10KW 48V battery solar system in just one hour</a:t>
            </a:r>
            <a:b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https://www.youtube.com/watch?v=rRqV8BHE8lY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"all-in-one" inverter unit - combines inverter, battery charger, and solar charge controller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 a 48V 16kWh battery to the inverter (using thick cables)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a solar PV disconnect switch (to disconnect the solar array)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 Outlet Box - pre-wired box with breakers and AC 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flexible conduit (hoses) to protect the wiring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 txBox="1"/>
          <p:nvPr/>
        </p:nvSpPr>
        <p:spPr>
          <a:xfrm>
            <a:off x="6123525" y="2218825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6514050" y="209550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All-in-one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5381625" y="752475"/>
            <a:ext cx="6351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7486650" y="1362075"/>
            <a:ext cx="8763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disconnect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7;p17">
            <a:extLst>
              <a:ext uri="{FF2B5EF4-FFF2-40B4-BE49-F238E27FC236}">
                <a16:creationId xmlns:a16="http://schemas.microsoft.com/office/drawing/2014/main" id="{FE9230C7-CFBB-ABCB-8DBD-808CCFA0D214}"/>
              </a:ext>
            </a:extLst>
          </p:cNvPr>
          <p:cNvSpPr txBox="1"/>
          <p:nvPr/>
        </p:nvSpPr>
        <p:spPr>
          <a:xfrm>
            <a:off x="62958" y="2800350"/>
            <a:ext cx="4473600" cy="1546547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combine solar battery power with grid power automatically, you need a hybrid inverter with the Automatic Transfer Switch (ATS)</a:t>
            </a:r>
            <a:b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switch loads from solar battery to grid power when the battery level becomes low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Popular DIY-friendly options include EG4,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Growatt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MPP Solar, and the premium Victron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MultiPlus</a:t>
            </a:r>
            <a:endParaRPr lang="en-US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units can also blend both sources simultaneously, pulling partial power from each when needed.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/>
          <p:nvPr/>
        </p:nvSpPr>
        <p:spPr>
          <a:xfrm>
            <a:off x="65625" y="24338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 from "What's Next"</a:t>
            </a:r>
            <a:endParaRPr sz="1800" b="1" i="0" dirty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9125" y="385850"/>
            <a:ext cx="2006476" cy="20417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149;p19">
            <a:extLst>
              <a:ext uri="{FF2B5EF4-FFF2-40B4-BE49-F238E27FC236}">
                <a16:creationId xmlns:a16="http://schemas.microsoft.com/office/drawing/2014/main" id="{A24E7F80-E6C7-F957-71E9-E650C384BD50}"/>
              </a:ext>
            </a:extLst>
          </p:cNvPr>
          <p:cNvSpPr txBox="1"/>
          <p:nvPr/>
        </p:nvSpPr>
        <p:spPr>
          <a:xfrm>
            <a:off x="91063" y="389836"/>
            <a:ext cx="4493700" cy="3624039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https://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www.youtube.com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/@WattsNextSolar25/videos 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F1800 (1,024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1,800 W) – power station (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battery+inverter+charge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controller). Eco mode (solar first, grid backup)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Aferiy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P310 (3,840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expandable to 11,520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) - very good deal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Oupes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Guardian 6000 (4,608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3.6KW @ 120 V / 6KW @ 240 V) ~$1,600</a:t>
            </a:r>
            <a:b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(using self-installed Reliance generator transfer switch)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EcoFlow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- not recommended (expensive, bad customer service)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Even bigger - DIY hybrid:</a:t>
            </a:r>
          </a:p>
          <a:p>
            <a:pPr marL="401638" lvl="0" indent="-95250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WattCycle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all-in-one 12,000 W split-phase hybrid inverter</a:t>
            </a:r>
          </a:p>
          <a:p>
            <a:pPr marL="401638" lvl="0" indent="-95250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with matched LiFePO4, into the same transfer switch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Recommended solar panels:</a:t>
            </a: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Colsun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215 W bifacial (56"x30")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efficient, bifacial(captures light from both sides), anti-shading technology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ZioUpw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450 W folding (portable)</a:t>
            </a: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200 W (storage-friendly)</a:t>
            </a:r>
          </a:p>
          <a:p>
            <a:pPr marL="9406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to XT60i Cable with XT60 connector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Progression over time:</a:t>
            </a:r>
            <a:b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Harbor Freight cheap &gt;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EcoFlow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mid-tier &gt;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Oupes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/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WattCycle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whole-home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Cabling: Use cables with MC4 connectors for the panels and an XT60 adapter to connect to the power station.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Wall charging cable: Included for grid-tied "eco mode" or UPS functionality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791D63-00B4-5B39-8538-951C95E60EE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8492" y="2571750"/>
            <a:ext cx="3289300" cy="1727200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5623" y="39645"/>
            <a:ext cx="39882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2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65622" y="293444"/>
            <a:ext cx="45063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(portable folding 400W panel)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store electricity - A Watt Cycle 280Ah LiFePO4 "smart" battery (features Bluetooth connectivity for app-based monitoring)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Charge Controller - regulates the variable electricity coming from the panels, converting it into a constant, safe voltage to prevent damage to the battery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extension cables with MC4 connectors to link the solar panels to the charge controller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terminal fuse for the battery connection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Crimping Tool - for attaching ring terminals to wires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https://www.youtube.com/watch?v=tXHKtBk9IE0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5622" y="2455801"/>
            <a:ext cx="45063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DC to 120V AC using Inverter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panels &gt; Charge Controller &gt; battery bank (48V) &gt; DC breakers/fuses &gt; bus bars to cleanly join multiple wire connections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Shunt - part of a meter system used to monitor energy flow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Switches: Used to safely isolate different parts of the system (e.g., between panels and charge controller)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https://www.youtube.com/watch?v=w4s-oE-VQwg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126;p17">
            <a:extLst>
              <a:ext uri="{FF2B5EF4-FFF2-40B4-BE49-F238E27FC236}">
                <a16:creationId xmlns:a16="http://schemas.microsoft.com/office/drawing/2014/main" id="{1059633F-BF3C-A014-73D4-7BCB05487921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67400" y="3409950"/>
            <a:ext cx="2904631" cy="15468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127;p17">
            <a:extLst>
              <a:ext uri="{FF2B5EF4-FFF2-40B4-BE49-F238E27FC236}">
                <a16:creationId xmlns:a16="http://schemas.microsoft.com/office/drawing/2014/main" id="{8E98BA7A-8444-C749-470D-BD0D54705FA6}"/>
              </a:ext>
            </a:extLst>
          </p:cNvPr>
          <p:cNvSpPr txBox="1"/>
          <p:nvPr/>
        </p:nvSpPr>
        <p:spPr>
          <a:xfrm>
            <a:off x="5105400" y="1581150"/>
            <a:ext cx="3972977" cy="1731213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Oupes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Mega 2 Pro, a portable solar generator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2.5KW inverter, 140W USB-C ports, and a long-lasting lithium iron phosphate battery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the original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Oupes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Mega 2 outperforms the "Pro" version in several key categories, including solar input capacity and overall value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https://www.youtube.com/watch?v=Fw3Ixuu8Ook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while the Mega 2 Pro is a decent unit, it is not recommended over the original Mega 2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65623" y="39645"/>
            <a:ext cx="3988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1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65629" y="469385"/>
            <a:ext cx="4506300" cy="39480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Solar system from scratch. Modular. Connected through a generator interlock kit - </a:t>
            </a: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https://www.youtube.com/watch?v=KUciR-Qwgtk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Power their entire home, charge an EV, and run a small bitcoin mining operation for approximately $25K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core strategy involves using a high-capacity solar generator (inverter/battery unit) that can be integrated into a home’s electrical panel via an interlock kit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off-grid while maintaining the flexibility to revert to grid power if needed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system requires fewer permits than a permanent roof-mounted installation, as the panels are mounted on temporary, non-permanent stands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 Unit: EcoFlow Delta Pro Ultra X (inverter battery management system).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Storage -  6 expansion batteries (totaling ~37 kWh capacity)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– 23-24 panels (450W each), connecting 12 panels in series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Mounting - Minute Man Solar portable panel stands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Grid Connection - 50-amp cable (1450p to ss250r)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aware of the inverter's maximum output (e.g., 12KWatts)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5512" y="964164"/>
            <a:ext cx="3254193" cy="1761188"/>
          </a:xfrm>
          <a:prstGeom prst="rect">
            <a:avLst/>
          </a:prstGeom>
          <a:noFill/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65625" y="385894"/>
            <a:ext cx="4473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100W Harbor Freight Thunderbolt vs Rich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Harbor Freight panel consistently outperformed the Rich Solar panel, yielding 17% more energy overall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Harbor Freight panel is physically larger and features soldered connections, while the Rich Solar panel uses a standard MC4 connector and includes clear specification labeling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Harbor Freight panel proved to be the more efficient performer in this test.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https://www.youtube.com/watch?v=gZuk3TEtjuc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900" y="614674"/>
            <a:ext cx="2250758" cy="1274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5" name="Google Shape;105;p1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899" y="2777118"/>
            <a:ext cx="2124625" cy="158305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6" name="Google Shape;106;p15"/>
          <p:cNvSpPr txBox="1"/>
          <p:nvPr/>
        </p:nvSpPr>
        <p:spPr>
          <a:xfrm>
            <a:off x="65625" y="2502919"/>
            <a:ext cx="44736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creator tested a plug-and-play solar setup using four 360W panels and a 1200W micro-inverter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https://www.amazon.com/dp/B09N8X1Z71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system failed on day two due to overheating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leading to the conclusion that this specific unit is unreliable and lacks the necessary safety certifications for utility net metering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one week, the impaired system generated only 7.7 kWh, highlighting that such setups are merely supplemental rather than effective replacements for full-scale, permitted solar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creator advises against this specific product due to its poor durability and lack of compliance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https://www.youtube.com/watch?v=zZ8Dq207Szk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13250" y="2981322"/>
            <a:ext cx="4782600" cy="19317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48V solar power 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48V battery, 48V inverter , Solar Charging (panels + charge controller)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charge the battery using solar panels, a gas generator, or a standard AC wall outlet, allowing for dual-source charging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Benefits: flexibility to scale, higher battery capacity, modular components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a "golf cart" style battery - Temgo brand as an example, 48V, 100Ah (5KWatt) - with a built-in monitor and bluetooth capabilities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Inverter - Juna 2800W model - can work with 24V and 48V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- "Colon" brand, 200W units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Charge Controller - MPPT charge controller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https://www.youtube.com/watch?v=bcXmFFIzG0M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113250" y="428622"/>
            <a:ext cx="4782600" cy="2439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2020, seven major solar manufacturers agreed to a standardized wafer size (the M10 standard, 182 mm)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Five major brands use the same "Topcon" cell architecture and silicon: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Canadian Solar (TOP Hiku 6)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 Solar (Deep Blue 4.0)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Trina Solar (Vertex S)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Jinko Solar (Tiger Neo)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Qcells (Q.tron)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 Group - the exception, it is genuinely different. They use Heterojunction (HJT) cell technology - more efficient in high-heat environments like Phoenix or Houston -  but 5-15% higher price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Don't Overpay for Brands - most panels on the market are interchangeable commodity products. Negotiate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https://www.youtube.com/watch?v=tAIMdtmmcWY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1601" y="3305901"/>
            <a:ext cx="2400301" cy="1379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8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65625" y="385900"/>
            <a:ext cx="33825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$50K off-grid system: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 kWh of lithium battery storage ($22K)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 kW of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 kW of inverter output  ($8.5K)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buried a shipping container under the panels to house the equipment.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https://www.youtube.com/watch?v=ccBM0iSvqIc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78" y="1611525"/>
            <a:ext cx="2741896" cy="1177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5" name="Google Shape;135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136" y="1611526"/>
            <a:ext cx="2112889" cy="117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6" name="Google Shape;136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92725" y="96650"/>
            <a:ext cx="2135200" cy="14193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7" name="Google Shape;137;p1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2826" y="96650"/>
            <a:ext cx="2135200" cy="1419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8" name="Google Shape;138;p18"/>
          <p:cNvSpPr txBox="1"/>
          <p:nvPr/>
        </p:nvSpPr>
        <p:spPr>
          <a:xfrm>
            <a:off x="65625" y="3288075"/>
            <a:ext cx="4290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Amish low-cost 4-components solar: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solar panel 100W,   2'x4', $100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charge controller between panel and battery $30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battery 100Ah lithium iron phosphate (LiFePO4) battery — $150 to $250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small inverter 400W (DC-to-AC)  $40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also notes the necessity of a fuse between the battery and the rest of the system for safety.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https://www.youtube.com/watch?v=seU-9byk2sM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6525" y="3472725"/>
            <a:ext cx="116425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0" name="Google Shape;140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3176" y="3472725"/>
            <a:ext cx="123608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JerryRigEverything 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reflects on his home solar panel system six years after its initial installation.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discusses the long-term performance and reliability of his setup while highlighting the evolution of residential energy technology.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video serves as a transition to promote the EcoFlow DELTA Pro Ultra X, a modern whole-home backup system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Ease of installation and power capacity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https://www.youtube.com/watch?v=w3QlyvY600Q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4100" y="385844"/>
            <a:ext cx="3792675" cy="1493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49;p19">
            <a:extLst>
              <a:ext uri="{FF2B5EF4-FFF2-40B4-BE49-F238E27FC236}">
                <a16:creationId xmlns:a16="http://schemas.microsoft.com/office/drawing/2014/main" id="{F565423F-B9ED-7DC2-A250-FE65CF8E9969}"/>
              </a:ext>
            </a:extLst>
          </p:cNvPr>
          <p:cNvSpPr txBox="1"/>
          <p:nvPr/>
        </p:nvSpPr>
        <p:spPr>
          <a:xfrm>
            <a:off x="67395" y="2571750"/>
            <a:ext cx="4112700" cy="1423436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solar panels can track position of the sun.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3 types of solar panel installations: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static, single-axis trackers, dual-axis trackers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Trackers harvest more energy than static (especially in early morning and late afternoon). 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if you have ample space, simple static mounts may be cheaper and more reliable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https://www.youtube.com/watch?v=r7HwQdssbas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oogle Shape;150;p19">
            <a:extLst>
              <a:ext uri="{FF2B5EF4-FFF2-40B4-BE49-F238E27FC236}">
                <a16:creationId xmlns:a16="http://schemas.microsoft.com/office/drawing/2014/main" id="{246AB1F3-8F60-D924-E7A9-2D96CE926217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4100" y="2876550"/>
            <a:ext cx="2158875" cy="925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1562</Words>
  <Application>Microsoft Macintosh PowerPoint</Application>
  <PresentationFormat>On-screen Show (16:9)</PresentationFormat>
  <Paragraphs>115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4</cp:revision>
  <dcterms:modified xsi:type="dcterms:W3CDTF">2026-06-01T19:31:18Z</dcterms:modified>
</cp:coreProperties>
</file>