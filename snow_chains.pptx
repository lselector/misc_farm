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60" r:id="rId2"/>
    <p:sldId id="261" r:id="rId3"/>
    <p:sldId id="262" r:id="rId4"/>
    <p:sldId id="26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56"/>
    <p:restoredTop sz="94821"/>
  </p:normalViewPr>
  <p:slideViewPr>
    <p:cSldViewPr snapToGrid="0" snapToObjects="1">
      <p:cViewPr varScale="1">
        <p:scale>
          <a:sx n="67" d="100"/>
          <a:sy n="67" d="100"/>
        </p:scale>
        <p:origin x="384"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94315B-E4A0-ED45-92B1-C1C872C5FC2E}" type="datetimeFigureOut">
              <a:rPr lang="en-US" smtClean="0"/>
              <a:t>2/14/26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58F6A3-D352-064E-A854-E0F576948C16}" type="slidenum">
              <a:rPr lang="en-US" smtClean="0"/>
              <a:t>‹#›</a:t>
            </a:fld>
            <a:endParaRPr lang="en-US"/>
          </a:p>
        </p:txBody>
      </p:sp>
    </p:spTree>
    <p:extLst>
      <p:ext uri="{BB962C8B-B14F-4D97-AF65-F5344CB8AC3E}">
        <p14:creationId xmlns:p14="http://schemas.microsoft.com/office/powerpoint/2010/main" val="3796182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58F6A3-D352-064E-A854-E0F576948C16}" type="slidenum">
              <a:rPr lang="en-US" smtClean="0"/>
              <a:t>3</a:t>
            </a:fld>
            <a:endParaRPr lang="en-US"/>
          </a:p>
        </p:txBody>
      </p:sp>
    </p:spTree>
    <p:extLst>
      <p:ext uri="{BB962C8B-B14F-4D97-AF65-F5344CB8AC3E}">
        <p14:creationId xmlns:p14="http://schemas.microsoft.com/office/powerpoint/2010/main" val="1252288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58F6A3-D352-064E-A854-E0F576948C16}" type="slidenum">
              <a:rPr lang="en-US" smtClean="0"/>
              <a:t>4</a:t>
            </a:fld>
            <a:endParaRPr lang="en-US"/>
          </a:p>
        </p:txBody>
      </p:sp>
    </p:spTree>
    <p:extLst>
      <p:ext uri="{BB962C8B-B14F-4D97-AF65-F5344CB8AC3E}">
        <p14:creationId xmlns:p14="http://schemas.microsoft.com/office/powerpoint/2010/main" val="371197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88DD0-F5B2-15C1-96C2-359AABC4B4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979889-D132-4397-0547-895A6BD28D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84E4CA-9799-18AE-D4BA-5EFDB2627B56}"/>
              </a:ext>
            </a:extLst>
          </p:cNvPr>
          <p:cNvSpPr>
            <a:spLocks noGrp="1"/>
          </p:cNvSpPr>
          <p:nvPr>
            <p:ph type="dt" sz="half" idx="10"/>
          </p:nvPr>
        </p:nvSpPr>
        <p:spPr/>
        <p:txBody>
          <a:bodyPr/>
          <a:lstStyle/>
          <a:p>
            <a:fld id="{16286276-9013-2A43-82D1-BA4685C95117}" type="datetimeFigureOut">
              <a:t>2/14/26</a:t>
            </a:fld>
            <a:endParaRPr lang="en-US"/>
          </a:p>
        </p:txBody>
      </p:sp>
      <p:sp>
        <p:nvSpPr>
          <p:cNvPr id="5" name="Footer Placeholder 4">
            <a:extLst>
              <a:ext uri="{FF2B5EF4-FFF2-40B4-BE49-F238E27FC236}">
                <a16:creationId xmlns:a16="http://schemas.microsoft.com/office/drawing/2014/main" id="{5DEBB017-65CA-D094-EA2F-FAFBC1BF4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527274-3826-028B-64DD-856AA98C7A45}"/>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263135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F12F-3D3D-6A09-2E35-EAD0C90AC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368E21-870B-193E-8931-72FD7C38A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7E93E1-1A44-D49B-EE6B-0C6F21404F05}"/>
              </a:ext>
            </a:extLst>
          </p:cNvPr>
          <p:cNvSpPr>
            <a:spLocks noGrp="1"/>
          </p:cNvSpPr>
          <p:nvPr>
            <p:ph type="dt" sz="half" idx="10"/>
          </p:nvPr>
        </p:nvSpPr>
        <p:spPr/>
        <p:txBody>
          <a:bodyPr/>
          <a:lstStyle/>
          <a:p>
            <a:fld id="{16286276-9013-2A43-82D1-BA4685C95117}" type="datetimeFigureOut">
              <a:t>2/14/26</a:t>
            </a:fld>
            <a:endParaRPr lang="en-US"/>
          </a:p>
        </p:txBody>
      </p:sp>
      <p:sp>
        <p:nvSpPr>
          <p:cNvPr id="5" name="Footer Placeholder 4">
            <a:extLst>
              <a:ext uri="{FF2B5EF4-FFF2-40B4-BE49-F238E27FC236}">
                <a16:creationId xmlns:a16="http://schemas.microsoft.com/office/drawing/2014/main" id="{877064A9-6EAD-6647-B6CB-F24B6F708A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46CF0-740D-F941-2552-93AF02201266}"/>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948861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6D88C-E684-0092-0D27-0A9FFD171D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04D4E3-9349-5B4E-DEFB-7ADB229292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B33B29-2069-185B-154E-83B4327982C4}"/>
              </a:ext>
            </a:extLst>
          </p:cNvPr>
          <p:cNvSpPr>
            <a:spLocks noGrp="1"/>
          </p:cNvSpPr>
          <p:nvPr>
            <p:ph type="dt" sz="half" idx="10"/>
          </p:nvPr>
        </p:nvSpPr>
        <p:spPr/>
        <p:txBody>
          <a:bodyPr/>
          <a:lstStyle/>
          <a:p>
            <a:fld id="{16286276-9013-2A43-82D1-BA4685C95117}" type="datetimeFigureOut">
              <a:t>2/14/26</a:t>
            </a:fld>
            <a:endParaRPr lang="en-US"/>
          </a:p>
        </p:txBody>
      </p:sp>
      <p:sp>
        <p:nvSpPr>
          <p:cNvPr id="5" name="Footer Placeholder 4">
            <a:extLst>
              <a:ext uri="{FF2B5EF4-FFF2-40B4-BE49-F238E27FC236}">
                <a16:creationId xmlns:a16="http://schemas.microsoft.com/office/drawing/2014/main" id="{0428DB26-E691-EBF7-87CA-8BD4D97E0D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CFEAD-6332-0882-351E-3AD7AFFFECA7}"/>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146009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5FA89-7A8C-2BF1-56CD-508B1E3AE9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741508-596D-D8B8-26A5-1B6CEF8D4A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81378C-B8B8-D5FE-0A75-376AA5292C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A08E7F-3616-927D-844D-CBA72BC67592}"/>
              </a:ext>
            </a:extLst>
          </p:cNvPr>
          <p:cNvSpPr>
            <a:spLocks noGrp="1"/>
          </p:cNvSpPr>
          <p:nvPr>
            <p:ph type="dt" sz="half" idx="10"/>
          </p:nvPr>
        </p:nvSpPr>
        <p:spPr/>
        <p:txBody>
          <a:bodyPr/>
          <a:lstStyle/>
          <a:p>
            <a:fld id="{16286276-9013-2A43-82D1-BA4685C95117}" type="datetimeFigureOut">
              <a:t>2/14/26</a:t>
            </a:fld>
            <a:endParaRPr lang="en-US"/>
          </a:p>
        </p:txBody>
      </p:sp>
      <p:sp>
        <p:nvSpPr>
          <p:cNvPr id="6" name="Footer Placeholder 5">
            <a:extLst>
              <a:ext uri="{FF2B5EF4-FFF2-40B4-BE49-F238E27FC236}">
                <a16:creationId xmlns:a16="http://schemas.microsoft.com/office/drawing/2014/main" id="{6558E9C8-FE23-8D40-43FF-7818A026A2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7E8D37-47EA-3C05-517B-2F85706E13B0}"/>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3222441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00495-D3B5-8FE7-8A3A-C5B2727B1B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25AB79-3B1C-0ED7-23AF-4A8ADD4296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5B6335-12A0-B132-55DA-56997016F4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1792DF-BF6E-04E5-BFF5-08BD5B4788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99D652-4C1F-B377-280F-5B572A11FC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3AB3D8-A558-F32C-0F6C-8E2295130683}"/>
              </a:ext>
            </a:extLst>
          </p:cNvPr>
          <p:cNvSpPr>
            <a:spLocks noGrp="1"/>
          </p:cNvSpPr>
          <p:nvPr>
            <p:ph type="dt" sz="half" idx="10"/>
          </p:nvPr>
        </p:nvSpPr>
        <p:spPr/>
        <p:txBody>
          <a:bodyPr/>
          <a:lstStyle/>
          <a:p>
            <a:fld id="{16286276-9013-2A43-82D1-BA4685C95117}" type="datetimeFigureOut">
              <a:t>2/14/26</a:t>
            </a:fld>
            <a:endParaRPr lang="en-US"/>
          </a:p>
        </p:txBody>
      </p:sp>
      <p:sp>
        <p:nvSpPr>
          <p:cNvPr id="8" name="Footer Placeholder 7">
            <a:extLst>
              <a:ext uri="{FF2B5EF4-FFF2-40B4-BE49-F238E27FC236}">
                <a16:creationId xmlns:a16="http://schemas.microsoft.com/office/drawing/2014/main" id="{8C219288-AD7A-3282-E5DF-333FFFC4C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E91949-9DF7-7EFE-416F-D6305FF02DDA}"/>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94682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23D81-55BB-5F96-1196-26A5703482F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A9AC36-FAC6-A4C4-5460-EEAEC1B5CD49}"/>
              </a:ext>
            </a:extLst>
          </p:cNvPr>
          <p:cNvSpPr>
            <a:spLocks noGrp="1"/>
          </p:cNvSpPr>
          <p:nvPr>
            <p:ph type="dt" sz="half" idx="10"/>
          </p:nvPr>
        </p:nvSpPr>
        <p:spPr/>
        <p:txBody>
          <a:bodyPr/>
          <a:lstStyle/>
          <a:p>
            <a:fld id="{16286276-9013-2A43-82D1-BA4685C95117}" type="datetimeFigureOut">
              <a:t>2/14/26</a:t>
            </a:fld>
            <a:endParaRPr lang="en-US"/>
          </a:p>
        </p:txBody>
      </p:sp>
      <p:sp>
        <p:nvSpPr>
          <p:cNvPr id="4" name="Footer Placeholder 3">
            <a:extLst>
              <a:ext uri="{FF2B5EF4-FFF2-40B4-BE49-F238E27FC236}">
                <a16:creationId xmlns:a16="http://schemas.microsoft.com/office/drawing/2014/main" id="{ACEB1433-EF97-53CD-FFA5-599DF825DA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E68FD2-26E5-FFE6-4ACD-83B095981312}"/>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2257425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5D5769-FB8F-7676-6B25-5EBA32B25F72}"/>
              </a:ext>
            </a:extLst>
          </p:cNvPr>
          <p:cNvSpPr>
            <a:spLocks noGrp="1"/>
          </p:cNvSpPr>
          <p:nvPr>
            <p:ph type="dt" sz="half" idx="10"/>
          </p:nvPr>
        </p:nvSpPr>
        <p:spPr/>
        <p:txBody>
          <a:bodyPr/>
          <a:lstStyle/>
          <a:p>
            <a:fld id="{16286276-9013-2A43-82D1-BA4685C95117}" type="datetimeFigureOut">
              <a:t>2/14/26</a:t>
            </a:fld>
            <a:endParaRPr lang="en-US"/>
          </a:p>
        </p:txBody>
      </p:sp>
      <p:sp>
        <p:nvSpPr>
          <p:cNvPr id="3" name="Footer Placeholder 2">
            <a:extLst>
              <a:ext uri="{FF2B5EF4-FFF2-40B4-BE49-F238E27FC236}">
                <a16:creationId xmlns:a16="http://schemas.microsoft.com/office/drawing/2014/main" id="{B6792E3F-F71A-D744-45DE-85B2710390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6E25D8-219F-7305-3844-4703C5E5F548}"/>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3171789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7D570-06BE-22E1-B810-4D69936FDF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BFEFE4-BB75-6E65-2899-3703E92ED0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FEB9C2-F3DB-B576-224D-3FDA3DDFFA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B924BA-FA14-81E6-46BF-4DC0ACFE74DC}"/>
              </a:ext>
            </a:extLst>
          </p:cNvPr>
          <p:cNvSpPr>
            <a:spLocks noGrp="1"/>
          </p:cNvSpPr>
          <p:nvPr>
            <p:ph type="dt" sz="half" idx="10"/>
          </p:nvPr>
        </p:nvSpPr>
        <p:spPr/>
        <p:txBody>
          <a:bodyPr/>
          <a:lstStyle/>
          <a:p>
            <a:fld id="{16286276-9013-2A43-82D1-BA4685C95117}" type="datetimeFigureOut">
              <a:t>2/14/26</a:t>
            </a:fld>
            <a:endParaRPr lang="en-US"/>
          </a:p>
        </p:txBody>
      </p:sp>
      <p:sp>
        <p:nvSpPr>
          <p:cNvPr id="6" name="Footer Placeholder 5">
            <a:extLst>
              <a:ext uri="{FF2B5EF4-FFF2-40B4-BE49-F238E27FC236}">
                <a16:creationId xmlns:a16="http://schemas.microsoft.com/office/drawing/2014/main" id="{4BFACD7B-C82D-408A-896E-02E718FB55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FB12BD-21E4-1209-4294-DF6CA4FB3DBE}"/>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2741213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B197-43DE-26A9-FBD5-F922DB56A9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49AB21-2CEA-875A-6CBF-75B078D3A5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7183E7-34CA-DF9E-984A-6063800717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9D1642-EBDC-1BB8-58FC-14A4C3ACEBE6}"/>
              </a:ext>
            </a:extLst>
          </p:cNvPr>
          <p:cNvSpPr>
            <a:spLocks noGrp="1"/>
          </p:cNvSpPr>
          <p:nvPr>
            <p:ph type="dt" sz="half" idx="10"/>
          </p:nvPr>
        </p:nvSpPr>
        <p:spPr/>
        <p:txBody>
          <a:bodyPr/>
          <a:lstStyle/>
          <a:p>
            <a:fld id="{16286276-9013-2A43-82D1-BA4685C95117}" type="datetimeFigureOut">
              <a:t>2/14/26</a:t>
            </a:fld>
            <a:endParaRPr lang="en-US"/>
          </a:p>
        </p:txBody>
      </p:sp>
      <p:sp>
        <p:nvSpPr>
          <p:cNvPr id="6" name="Footer Placeholder 5">
            <a:extLst>
              <a:ext uri="{FF2B5EF4-FFF2-40B4-BE49-F238E27FC236}">
                <a16:creationId xmlns:a16="http://schemas.microsoft.com/office/drawing/2014/main" id="{A7660FC4-1F32-B58B-D652-941B433D0E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CC0798-2750-3A94-2B3A-695DA7ABEFD8}"/>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1577536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C7D9F-C985-C4AB-ED45-B78B858B72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6AC969-2D60-1CB3-6799-FB9ED25537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C28186-263E-FD4A-53F8-A165DADB419A}"/>
              </a:ext>
            </a:extLst>
          </p:cNvPr>
          <p:cNvSpPr>
            <a:spLocks noGrp="1"/>
          </p:cNvSpPr>
          <p:nvPr>
            <p:ph type="dt" sz="half" idx="10"/>
          </p:nvPr>
        </p:nvSpPr>
        <p:spPr/>
        <p:txBody>
          <a:bodyPr/>
          <a:lstStyle/>
          <a:p>
            <a:fld id="{16286276-9013-2A43-82D1-BA4685C95117}" type="datetimeFigureOut">
              <a:t>2/14/26</a:t>
            </a:fld>
            <a:endParaRPr lang="en-US"/>
          </a:p>
        </p:txBody>
      </p:sp>
      <p:sp>
        <p:nvSpPr>
          <p:cNvPr id="5" name="Footer Placeholder 4">
            <a:extLst>
              <a:ext uri="{FF2B5EF4-FFF2-40B4-BE49-F238E27FC236}">
                <a16:creationId xmlns:a16="http://schemas.microsoft.com/office/drawing/2014/main" id="{227315FA-BCCC-2ABC-ACA2-5E0C6CEF10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9603C4-A76D-7A84-168E-060D2B068902}"/>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193740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AB02FF-EECD-334D-5725-B39C40CD39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768F00-C914-3B13-0367-6D81292821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3E1A78-ED9B-3691-96EB-5C0EB704CC80}"/>
              </a:ext>
            </a:extLst>
          </p:cNvPr>
          <p:cNvSpPr>
            <a:spLocks noGrp="1"/>
          </p:cNvSpPr>
          <p:nvPr>
            <p:ph type="dt" sz="half" idx="10"/>
          </p:nvPr>
        </p:nvSpPr>
        <p:spPr/>
        <p:txBody>
          <a:bodyPr/>
          <a:lstStyle/>
          <a:p>
            <a:fld id="{16286276-9013-2A43-82D1-BA4685C95117}" type="datetimeFigureOut">
              <a:t>2/14/26</a:t>
            </a:fld>
            <a:endParaRPr lang="en-US"/>
          </a:p>
        </p:txBody>
      </p:sp>
      <p:sp>
        <p:nvSpPr>
          <p:cNvPr id="5" name="Footer Placeholder 4">
            <a:extLst>
              <a:ext uri="{FF2B5EF4-FFF2-40B4-BE49-F238E27FC236}">
                <a16:creationId xmlns:a16="http://schemas.microsoft.com/office/drawing/2014/main" id="{CD3E0378-2403-D8A8-54CC-05A3BEED27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E54D63-4319-317A-696B-C3EA4B47E068}"/>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855610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958682-75F9-C5EA-F27F-548F063002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42A268-0258-C17B-1F8F-68BA2735B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12A94D-D8D6-D318-7837-4C19ED151B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286276-9013-2A43-82D1-BA4685C95117}" type="datetimeFigureOut">
              <a:t>2/14/26</a:t>
            </a:fld>
            <a:endParaRPr lang="en-US"/>
          </a:p>
        </p:txBody>
      </p:sp>
      <p:sp>
        <p:nvSpPr>
          <p:cNvPr id="5" name="Footer Placeholder 4">
            <a:extLst>
              <a:ext uri="{FF2B5EF4-FFF2-40B4-BE49-F238E27FC236}">
                <a16:creationId xmlns:a16="http://schemas.microsoft.com/office/drawing/2014/main" id="{483D65C9-1B5B-5F28-B659-EB418FAC67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6100E21-0F36-45EE-1A56-BB99C66DA9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FA1A7C-04A5-B94C-8298-87E642159084}" type="slidenum">
              <a:t>‹#›</a:t>
            </a:fld>
            <a:endParaRPr lang="en-US"/>
          </a:p>
        </p:txBody>
      </p:sp>
    </p:spTree>
    <p:extLst>
      <p:ext uri="{BB962C8B-B14F-4D97-AF65-F5344CB8AC3E}">
        <p14:creationId xmlns:p14="http://schemas.microsoft.com/office/powerpoint/2010/main" val="42295703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www.speedfactoryracing.net/products/wavetrac-limited-slip-differential" TargetMode="External"/><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hyperlink" Target="https://www.monkeywrenchracing.com/product/quaife-helical-lsd-lotus-evora-ips-automatic-toyota-3-5-auto/" TargetMode="External"/><Relationship Id="rId4" Type="http://schemas.openxmlformats.org/officeDocument/2006/relationships/hyperlink" Target="https://www.tractionconcepts.com/Toyota-Sienna-U660E-Limited-Slip-Conversion-Kit-p/tcxty8041.html"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BBD15-AEC2-1815-2347-A5BB8F308263}"/>
              </a:ext>
            </a:extLst>
          </p:cNvPr>
          <p:cNvSpPr txBox="1"/>
          <p:nvPr/>
        </p:nvSpPr>
        <p:spPr>
          <a:xfrm>
            <a:off x="-1" y="0"/>
            <a:ext cx="7410894" cy="523220"/>
          </a:xfrm>
          <a:prstGeom prst="rect">
            <a:avLst/>
          </a:prstGeom>
          <a:noFill/>
        </p:spPr>
        <p:txBody>
          <a:bodyPr wrap="square" rtlCol="0">
            <a:spAutoFit/>
          </a:bodyPr>
          <a:lstStyle/>
          <a:p>
            <a:r>
              <a:rPr lang="en-US" sz="2800" b="1" dirty="0"/>
              <a:t>Snow Chains</a:t>
            </a:r>
          </a:p>
        </p:txBody>
      </p:sp>
      <p:sp>
        <p:nvSpPr>
          <p:cNvPr id="4" name="TextBox 3">
            <a:extLst>
              <a:ext uri="{FF2B5EF4-FFF2-40B4-BE49-F238E27FC236}">
                <a16:creationId xmlns:a16="http://schemas.microsoft.com/office/drawing/2014/main" id="{5F1331E7-D6B8-14E8-78C9-F5FD1ED74A51}"/>
              </a:ext>
            </a:extLst>
          </p:cNvPr>
          <p:cNvSpPr txBox="1"/>
          <p:nvPr/>
        </p:nvSpPr>
        <p:spPr>
          <a:xfrm>
            <a:off x="260938" y="884725"/>
            <a:ext cx="6272866" cy="2462213"/>
          </a:xfrm>
          <a:prstGeom prst="rect">
            <a:avLst/>
          </a:prstGeom>
          <a:noFill/>
        </p:spPr>
        <p:txBody>
          <a:bodyPr wrap="square" rtlCol="0">
            <a:spAutoFit/>
          </a:bodyPr>
          <a:lstStyle/>
          <a:p>
            <a:r>
              <a:rPr lang="en-US" sz="1400" dirty="0">
                <a:solidFill>
                  <a:srgbClr val="131313"/>
                </a:solidFill>
                <a:latin typeface="Roboto" panose="02000000000000000000" pitchFamily="2" charset="0"/>
              </a:rPr>
              <a:t>Toyota Tires - 17". (235/60-17)</a:t>
            </a:r>
          </a:p>
          <a:p>
            <a:endParaRPr lang="en-US" sz="1400" dirty="0">
              <a:solidFill>
                <a:srgbClr val="131313"/>
              </a:solidFill>
              <a:latin typeface="Roboto" panose="02000000000000000000" pitchFamily="2" charset="0"/>
            </a:endParaRPr>
          </a:p>
          <a:p>
            <a:r>
              <a:rPr lang="en-US" sz="1400" dirty="0">
                <a:solidFill>
                  <a:srgbClr val="131313"/>
                </a:solidFill>
                <a:latin typeface="Roboto" panose="02000000000000000000" pitchFamily="2" charset="0"/>
              </a:rPr>
              <a:t>Snow Chains:</a:t>
            </a:r>
          </a:p>
          <a:p>
            <a:endParaRPr lang="en-US" sz="1400" dirty="0">
              <a:solidFill>
                <a:srgbClr val="131313"/>
              </a:solidFill>
              <a:latin typeface="Roboto" panose="02000000000000000000" pitchFamily="2" charset="0"/>
            </a:endParaRPr>
          </a:p>
          <a:p>
            <a:r>
              <a:rPr lang="en-US" sz="1400" dirty="0">
                <a:solidFill>
                  <a:srgbClr val="131313"/>
                </a:solidFill>
                <a:latin typeface="Roboto" panose="02000000000000000000" pitchFamily="2" charset="0"/>
              </a:rPr>
              <a:t>Dec 17, 2022: Security Chain Co - Set of 2 - $111</a:t>
            </a:r>
          </a:p>
          <a:p>
            <a:r>
              <a:rPr lang="en-US" sz="1400" dirty="0">
                <a:solidFill>
                  <a:srgbClr val="131313"/>
                </a:solidFill>
                <a:latin typeface="Roboto" panose="02000000000000000000" pitchFamily="2" charset="0"/>
              </a:rPr>
              <a:t>Jan 02, 2025: SCC Peerless Tire Traction Chain - Set of 2 - $110</a:t>
            </a:r>
          </a:p>
          <a:p>
            <a:r>
              <a:rPr lang="en-US" sz="1400" dirty="0">
                <a:solidFill>
                  <a:srgbClr val="131313"/>
                </a:solidFill>
                <a:latin typeface="Roboto" panose="02000000000000000000" pitchFamily="2" charset="0"/>
              </a:rPr>
              <a:t>Feb 18, 2025: Snow Tire Chains - Set of 8 - $65</a:t>
            </a:r>
          </a:p>
          <a:p>
            <a:r>
              <a:rPr lang="en-US" sz="1400" dirty="0">
                <a:solidFill>
                  <a:srgbClr val="131313"/>
                </a:solidFill>
                <a:latin typeface="Roboto" panose="02000000000000000000" pitchFamily="2" charset="0"/>
              </a:rPr>
              <a:t>Feb 18, 2025: SNOCATENA Snow Chains - Set of 2 - $90</a:t>
            </a:r>
          </a:p>
          <a:p>
            <a:r>
              <a:rPr lang="en-US" sz="1400" dirty="0">
                <a:solidFill>
                  <a:srgbClr val="131313"/>
                </a:solidFill>
                <a:latin typeface="Roboto" panose="02000000000000000000" pitchFamily="2" charset="0"/>
              </a:rPr>
              <a:t>Feb 25, 2025: Konig XG-12 Pro - T507 - Set of 2 - $250</a:t>
            </a:r>
          </a:p>
          <a:p>
            <a:r>
              <a:rPr lang="en-US" sz="1400" dirty="0">
                <a:solidFill>
                  <a:srgbClr val="131313"/>
                </a:solidFill>
                <a:latin typeface="Roboto" panose="02000000000000000000" pitchFamily="2" charset="0"/>
              </a:rPr>
              <a:t>Dec 20, 2025: KÖNIG Easy-FIT SUV 247 Snow Chains, Set of 2 - $580</a:t>
            </a:r>
          </a:p>
          <a:p>
            <a:endParaRPr lang="en-US" sz="1400" dirty="0">
              <a:solidFill>
                <a:srgbClr val="131313"/>
              </a:solidFill>
              <a:latin typeface="Roboto" panose="02000000000000000000" pitchFamily="2" charset="0"/>
            </a:endParaRPr>
          </a:p>
        </p:txBody>
      </p:sp>
      <p:pic>
        <p:nvPicPr>
          <p:cNvPr id="5" name="Picture 4">
            <a:extLst>
              <a:ext uri="{FF2B5EF4-FFF2-40B4-BE49-F238E27FC236}">
                <a16:creationId xmlns:a16="http://schemas.microsoft.com/office/drawing/2014/main" id="{AFA545FD-53A2-F4C1-744D-3A4F2EA698D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64335" y="331481"/>
            <a:ext cx="2492117" cy="2128525"/>
          </a:xfrm>
          <a:prstGeom prst="rect">
            <a:avLst/>
          </a:prstGeom>
        </p:spPr>
      </p:pic>
      <p:sp>
        <p:nvSpPr>
          <p:cNvPr id="3" name="TextBox 2">
            <a:extLst>
              <a:ext uri="{FF2B5EF4-FFF2-40B4-BE49-F238E27FC236}">
                <a16:creationId xmlns:a16="http://schemas.microsoft.com/office/drawing/2014/main" id="{CA8D0C18-134C-635A-81E7-F5E4AD367C6C}"/>
              </a:ext>
            </a:extLst>
          </p:cNvPr>
          <p:cNvSpPr txBox="1"/>
          <p:nvPr/>
        </p:nvSpPr>
        <p:spPr>
          <a:xfrm>
            <a:off x="260937" y="5665498"/>
            <a:ext cx="3679295" cy="954107"/>
          </a:xfrm>
          <a:prstGeom prst="rect">
            <a:avLst/>
          </a:prstGeom>
          <a:noFill/>
        </p:spPr>
        <p:txBody>
          <a:bodyPr wrap="square" rtlCol="0">
            <a:spAutoFit/>
          </a:bodyPr>
          <a:lstStyle/>
          <a:p>
            <a:r>
              <a:rPr lang="en-US" sz="1400" b="1" dirty="0">
                <a:solidFill>
                  <a:srgbClr val="FF0000"/>
                </a:solidFill>
                <a:latin typeface="Roboto" panose="02000000000000000000" pitchFamily="2" charset="0"/>
              </a:rPr>
              <a:t>Konig XG-12 Pro is a solid choice.</a:t>
            </a:r>
          </a:p>
          <a:p>
            <a:r>
              <a:rPr lang="en-US" sz="1400" dirty="0">
                <a:solidFill>
                  <a:srgbClr val="131313"/>
                </a:solidFill>
                <a:latin typeface="Roboto" panose="02000000000000000000" pitchFamily="2" charset="0"/>
              </a:rPr>
              <a:t>I just needed to learn how to put it on and take it off. Once you know it, it is actually  easier to handle than "Easy-FIT"</a:t>
            </a:r>
          </a:p>
        </p:txBody>
      </p:sp>
      <p:pic>
        <p:nvPicPr>
          <p:cNvPr id="6" name="Picture 5">
            <a:extLst>
              <a:ext uri="{FF2B5EF4-FFF2-40B4-BE49-F238E27FC236}">
                <a16:creationId xmlns:a16="http://schemas.microsoft.com/office/drawing/2014/main" id="{B0880AC8-2186-19EC-B56A-13E7963CB16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60938" y="3511063"/>
            <a:ext cx="1886296" cy="2128525"/>
          </a:xfrm>
          <a:prstGeom prst="rect">
            <a:avLst/>
          </a:prstGeom>
        </p:spPr>
      </p:pic>
      <p:sp>
        <p:nvSpPr>
          <p:cNvPr id="7" name="TextBox 6">
            <a:extLst>
              <a:ext uri="{FF2B5EF4-FFF2-40B4-BE49-F238E27FC236}">
                <a16:creationId xmlns:a16="http://schemas.microsoft.com/office/drawing/2014/main" id="{A441059B-D0FC-8586-B27B-008F343A08FF}"/>
              </a:ext>
            </a:extLst>
          </p:cNvPr>
          <p:cNvSpPr txBox="1"/>
          <p:nvPr/>
        </p:nvSpPr>
        <p:spPr>
          <a:xfrm>
            <a:off x="7664335" y="2474893"/>
            <a:ext cx="3192087" cy="1384995"/>
          </a:xfrm>
          <a:prstGeom prst="rect">
            <a:avLst/>
          </a:prstGeom>
          <a:noFill/>
        </p:spPr>
        <p:txBody>
          <a:bodyPr wrap="square" rtlCol="0">
            <a:spAutoFit/>
          </a:bodyPr>
          <a:lstStyle/>
          <a:p>
            <a:r>
              <a:rPr lang="en-US" sz="1400" b="1" dirty="0">
                <a:solidFill>
                  <a:srgbClr val="FF0000"/>
                </a:solidFill>
                <a:latin typeface="Roboto" panose="02000000000000000000" pitchFamily="2" charset="0"/>
              </a:rPr>
              <a:t>KÖNIG Easy-FIT is terrible.</a:t>
            </a:r>
          </a:p>
          <a:p>
            <a:r>
              <a:rPr lang="en-US" sz="1400" dirty="0">
                <a:solidFill>
                  <a:srgbClr val="131313"/>
                </a:solidFill>
                <a:latin typeface="Roboto" panose="02000000000000000000" pitchFamily="2" charset="0"/>
              </a:rPr>
              <a:t>It completely broke.</a:t>
            </a:r>
          </a:p>
          <a:p>
            <a:r>
              <a:rPr lang="en-US" sz="1400" dirty="0">
                <a:solidFill>
                  <a:srgbClr val="131313"/>
                </a:solidFill>
                <a:latin typeface="Roboto" panose="02000000000000000000" pitchFamily="2" charset="0"/>
              </a:rPr>
              <a:t>It was easy to put on, </a:t>
            </a:r>
          </a:p>
          <a:p>
            <a:r>
              <a:rPr lang="en-US" sz="1400" dirty="0">
                <a:solidFill>
                  <a:srgbClr val="131313"/>
                </a:solidFill>
                <a:latin typeface="Roboto" panose="02000000000000000000" pitchFamily="2" charset="0"/>
              </a:rPr>
              <a:t>but very difficult to take off.</a:t>
            </a:r>
          </a:p>
          <a:p>
            <a:r>
              <a:rPr lang="en-US" sz="1400" dirty="0">
                <a:solidFill>
                  <a:srgbClr val="131313"/>
                </a:solidFill>
                <a:latin typeface="Roboto" panose="02000000000000000000" pitchFamily="2" charset="0"/>
              </a:rPr>
              <a:t>And it completely broke (both sides) </a:t>
            </a:r>
            <a:br>
              <a:rPr lang="en-US" sz="1400" dirty="0">
                <a:solidFill>
                  <a:srgbClr val="131313"/>
                </a:solidFill>
                <a:latin typeface="Roboto" panose="02000000000000000000" pitchFamily="2" charset="0"/>
              </a:rPr>
            </a:br>
            <a:r>
              <a:rPr lang="en-US" sz="1400" dirty="0">
                <a:solidFill>
                  <a:srgbClr val="131313"/>
                </a:solidFill>
                <a:latin typeface="Roboto" panose="02000000000000000000" pitchFamily="2" charset="0"/>
              </a:rPr>
              <a:t>in just few weeks.</a:t>
            </a:r>
          </a:p>
        </p:txBody>
      </p:sp>
      <p:pic>
        <p:nvPicPr>
          <p:cNvPr id="8" name="Picture 7">
            <a:extLst>
              <a:ext uri="{FF2B5EF4-FFF2-40B4-BE49-F238E27FC236}">
                <a16:creationId xmlns:a16="http://schemas.microsoft.com/office/drawing/2014/main" id="{23FAC409-0EB6-FF1C-7F7C-EA95C722C2A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527666" y="3709303"/>
            <a:ext cx="1886297" cy="1732044"/>
          </a:xfrm>
          <a:prstGeom prst="rect">
            <a:avLst/>
          </a:prstGeom>
        </p:spPr>
      </p:pic>
      <p:sp>
        <p:nvSpPr>
          <p:cNvPr id="9" name="TextBox 8">
            <a:extLst>
              <a:ext uri="{FF2B5EF4-FFF2-40B4-BE49-F238E27FC236}">
                <a16:creationId xmlns:a16="http://schemas.microsoft.com/office/drawing/2014/main" id="{A8D8A462-0836-3FB9-EEC7-A4E0A41B2AEE}"/>
              </a:ext>
            </a:extLst>
          </p:cNvPr>
          <p:cNvSpPr txBox="1"/>
          <p:nvPr/>
        </p:nvSpPr>
        <p:spPr>
          <a:xfrm>
            <a:off x="4119063" y="5496221"/>
            <a:ext cx="3003631" cy="738664"/>
          </a:xfrm>
          <a:prstGeom prst="rect">
            <a:avLst/>
          </a:prstGeom>
          <a:noFill/>
        </p:spPr>
        <p:txBody>
          <a:bodyPr wrap="square" rtlCol="0">
            <a:spAutoFit/>
          </a:bodyPr>
          <a:lstStyle/>
          <a:p>
            <a:r>
              <a:rPr lang="en-US" sz="1400" b="1" dirty="0">
                <a:solidFill>
                  <a:srgbClr val="FF0000"/>
                </a:solidFill>
                <a:latin typeface="Roboto" panose="02000000000000000000" pitchFamily="2" charset="0"/>
              </a:rPr>
              <a:t>Turn wheels to get easy access to  disconnect internal blue/yellow cable</a:t>
            </a:r>
            <a:endParaRPr lang="en-US" sz="1400" dirty="0">
              <a:solidFill>
                <a:srgbClr val="131313"/>
              </a:solidFill>
              <a:latin typeface="Roboto" panose="02000000000000000000" pitchFamily="2" charset="0"/>
            </a:endParaRPr>
          </a:p>
        </p:txBody>
      </p:sp>
    </p:spTree>
    <p:extLst>
      <p:ext uri="{BB962C8B-B14F-4D97-AF65-F5344CB8AC3E}">
        <p14:creationId xmlns:p14="http://schemas.microsoft.com/office/powerpoint/2010/main" val="831777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58E2-3F36-C3D1-5AD9-508AE26FD2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BA11BE-DFC6-442F-5091-D35A2159F6AA}"/>
              </a:ext>
            </a:extLst>
          </p:cNvPr>
          <p:cNvSpPr txBox="1"/>
          <p:nvPr/>
        </p:nvSpPr>
        <p:spPr>
          <a:xfrm>
            <a:off x="-1" y="0"/>
            <a:ext cx="4172990" cy="523220"/>
          </a:xfrm>
          <a:prstGeom prst="rect">
            <a:avLst/>
          </a:prstGeom>
          <a:noFill/>
        </p:spPr>
        <p:txBody>
          <a:bodyPr wrap="square" rtlCol="0">
            <a:spAutoFit/>
          </a:bodyPr>
          <a:lstStyle/>
          <a:p>
            <a:r>
              <a:rPr lang="en-US" sz="2800" b="1" dirty="0"/>
              <a:t>Automatic Snow Chains</a:t>
            </a:r>
          </a:p>
        </p:txBody>
      </p:sp>
      <p:sp>
        <p:nvSpPr>
          <p:cNvPr id="4" name="TextBox 3">
            <a:extLst>
              <a:ext uri="{FF2B5EF4-FFF2-40B4-BE49-F238E27FC236}">
                <a16:creationId xmlns:a16="http://schemas.microsoft.com/office/drawing/2014/main" id="{E3839B53-128B-251F-AA81-D2BFE27F4E79}"/>
              </a:ext>
            </a:extLst>
          </p:cNvPr>
          <p:cNvSpPr txBox="1"/>
          <p:nvPr/>
        </p:nvSpPr>
        <p:spPr>
          <a:xfrm>
            <a:off x="176462" y="523220"/>
            <a:ext cx="6400800" cy="5047536"/>
          </a:xfrm>
          <a:prstGeom prst="rect">
            <a:avLst/>
          </a:prstGeom>
          <a:solidFill>
            <a:schemeClr val="accent4">
              <a:lumMod val="20000"/>
              <a:lumOff val="80000"/>
            </a:schemeClr>
          </a:solidFill>
          <a:ln>
            <a:solidFill>
              <a:srgbClr val="FF0000"/>
            </a:solidFill>
          </a:ln>
        </p:spPr>
        <p:txBody>
          <a:bodyPr wrap="square" rtlCol="0">
            <a:spAutoFit/>
          </a:bodyPr>
          <a:lstStyle/>
          <a:p>
            <a:r>
              <a:rPr lang="en-US" sz="1400" dirty="0">
                <a:solidFill>
                  <a:srgbClr val="131313"/>
                </a:solidFill>
                <a:latin typeface="Roboto" panose="02000000000000000000" pitchFamily="2" charset="0"/>
              </a:rPr>
              <a:t>Automatic snow chain systems like </a:t>
            </a:r>
            <a:r>
              <a:rPr lang="en-US" sz="1400" dirty="0" err="1">
                <a:solidFill>
                  <a:srgbClr val="131313"/>
                </a:solidFill>
                <a:latin typeface="Roboto" panose="02000000000000000000" pitchFamily="2" charset="0"/>
              </a:rPr>
              <a:t>Onspot</a:t>
            </a:r>
            <a:r>
              <a:rPr lang="en-US" sz="1400" dirty="0">
                <a:solidFill>
                  <a:srgbClr val="131313"/>
                </a:solidFill>
                <a:latin typeface="Roboto" panose="02000000000000000000" pitchFamily="2" charset="0"/>
              </a:rPr>
              <a:t>, Insta-Chain, and </a:t>
            </a:r>
            <a:r>
              <a:rPr lang="en-US" sz="1400" dirty="0" err="1">
                <a:solidFill>
                  <a:srgbClr val="131313"/>
                </a:solidFill>
                <a:latin typeface="Roboto" panose="02000000000000000000" pitchFamily="2" charset="0"/>
              </a:rPr>
              <a:t>RotoGrip</a:t>
            </a:r>
            <a:r>
              <a:rPr lang="en-US" sz="1400" dirty="0">
                <a:solidFill>
                  <a:srgbClr val="131313"/>
                </a:solidFill>
                <a:latin typeface="Roboto" panose="02000000000000000000" pitchFamily="2" charset="0"/>
              </a:rPr>
              <a:t> are amazing for commercial/emergency vehicles, but they're not practical for a 2016 Toyota Sienna because of cost, availability, and installation complexity.</a:t>
            </a:r>
          </a:p>
          <a:p>
            <a:endParaRPr lang="en-US" sz="1400" dirty="0">
              <a:solidFill>
                <a:srgbClr val="131313"/>
              </a:solidFill>
              <a:latin typeface="Roboto" panose="02000000000000000000" pitchFamily="2" charset="0"/>
            </a:endParaRPr>
          </a:p>
          <a:p>
            <a:r>
              <a:rPr lang="en-US" sz="1400" dirty="0">
                <a:solidFill>
                  <a:srgbClr val="131313"/>
                </a:solidFill>
                <a:latin typeface="Roboto" panose="02000000000000000000" pitchFamily="2" charset="0"/>
              </a:rPr>
              <a:t>You flip a switch in the cab, and pneumatic or electric actuators drop spinning chain wheels against the inside of the tire. The friction spins the chain wheel, and centrifugal force swings chain strands out under the tire continuously as you drive—instant traction without stopping. They work in forward or reverse and can be activated/deactivated on the fly.</a:t>
            </a:r>
          </a:p>
          <a:p>
            <a:endParaRPr lang="en-US" sz="1400" dirty="0">
              <a:solidFill>
                <a:srgbClr val="131313"/>
              </a:solidFill>
              <a:latin typeface="Roboto" panose="02000000000000000000" pitchFamily="2" charset="0"/>
            </a:endParaRPr>
          </a:p>
          <a:p>
            <a:r>
              <a:rPr lang="en-US" sz="1400" dirty="0">
                <a:solidFill>
                  <a:srgbClr val="131313"/>
                </a:solidFill>
                <a:latin typeface="Roboto" panose="02000000000000000000" pitchFamily="2" charset="0"/>
              </a:rPr>
              <a:t>They are designed for commercial/heavy vehicles. </a:t>
            </a:r>
            <a:r>
              <a:rPr lang="en-US" sz="1400" dirty="0" err="1">
                <a:solidFill>
                  <a:srgbClr val="131313"/>
                </a:solidFill>
                <a:latin typeface="Roboto" panose="02000000000000000000" pitchFamily="2" charset="0"/>
              </a:rPr>
              <a:t>Onspot</a:t>
            </a:r>
            <a:r>
              <a:rPr lang="en-US" sz="1400" dirty="0">
                <a:solidFill>
                  <a:srgbClr val="131313"/>
                </a:solidFill>
                <a:latin typeface="Roboto" panose="02000000000000000000" pitchFamily="2" charset="0"/>
              </a:rPr>
              <a:t>, Insta-Chain, and RUD </a:t>
            </a:r>
            <a:r>
              <a:rPr lang="en-US" sz="1400" dirty="0" err="1">
                <a:solidFill>
                  <a:srgbClr val="131313"/>
                </a:solidFill>
                <a:latin typeface="Roboto" panose="02000000000000000000" pitchFamily="2" charset="0"/>
              </a:rPr>
              <a:t>RotoGrip</a:t>
            </a:r>
            <a:r>
              <a:rPr lang="en-US" sz="1400" dirty="0">
                <a:solidFill>
                  <a:srgbClr val="131313"/>
                </a:solidFill>
                <a:latin typeface="Roboto" panose="02000000000000000000" pitchFamily="2" charset="0"/>
              </a:rPr>
              <a:t> are engineered for trucks (half-ton through Class 8), buses, fire trucks, ambulances, and municipal fleets—not passenger minivans. The mounting brackets, air/electric systems, and clearances assume commercial chassis and heavy-duty suspension.</a:t>
            </a:r>
          </a:p>
          <a:p>
            <a:endParaRPr lang="en-US" sz="1400" dirty="0">
              <a:solidFill>
                <a:srgbClr val="131313"/>
              </a:solidFill>
              <a:latin typeface="Roboto" panose="02000000000000000000" pitchFamily="2" charset="0"/>
            </a:endParaRPr>
          </a:p>
          <a:p>
            <a:r>
              <a:rPr lang="en-US" sz="1400" dirty="0">
                <a:solidFill>
                  <a:srgbClr val="131313"/>
                </a:solidFill>
                <a:latin typeface="Roboto" panose="02000000000000000000" pitchFamily="2" charset="0"/>
              </a:rPr>
              <a:t>These systems typically run $1,500–$3,500+ per axle installed, and you'd need custom fabrication to retrofit a Toyota Sienna. That's very expensive and a massive overkill.</a:t>
            </a:r>
          </a:p>
          <a:p>
            <a:endParaRPr lang="en-US" sz="1400" dirty="0">
              <a:solidFill>
                <a:srgbClr val="131313"/>
              </a:solidFill>
              <a:latin typeface="Roboto" panose="02000000000000000000" pitchFamily="2" charset="0"/>
            </a:endParaRPr>
          </a:p>
          <a:p>
            <a:r>
              <a:rPr lang="en-US" sz="1400" dirty="0">
                <a:solidFill>
                  <a:srgbClr val="131313"/>
                </a:solidFill>
                <a:latin typeface="Roboto" panose="02000000000000000000" pitchFamily="2" charset="0"/>
              </a:rPr>
              <a:t>Also the manufacturers don't list passenger minivans in their fitment guides; you'd be DIY-engineering a mount, routing air lines, wiring switches, and hoping for adequate tire clearance.</a:t>
            </a:r>
          </a:p>
        </p:txBody>
      </p:sp>
      <p:pic>
        <p:nvPicPr>
          <p:cNvPr id="1026" name="Picture 2" descr="InstaChain 12 Chain Automatic Snow Chain">
            <a:extLst>
              <a:ext uri="{FF2B5EF4-FFF2-40B4-BE49-F238E27FC236}">
                <a16:creationId xmlns:a16="http://schemas.microsoft.com/office/drawing/2014/main" id="{A1536F7A-33C1-1FE2-71CA-004C9C0E05DA}"/>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952939" y="509508"/>
            <a:ext cx="3302000" cy="2463800"/>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5332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58E2-3F36-C3D1-5AD9-508AE26FD2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BA11BE-DFC6-442F-5091-D35A2159F6AA}"/>
              </a:ext>
            </a:extLst>
          </p:cNvPr>
          <p:cNvSpPr txBox="1"/>
          <p:nvPr/>
        </p:nvSpPr>
        <p:spPr>
          <a:xfrm>
            <a:off x="-1" y="0"/>
            <a:ext cx="4172990" cy="523220"/>
          </a:xfrm>
          <a:prstGeom prst="rect">
            <a:avLst/>
          </a:prstGeom>
          <a:noFill/>
        </p:spPr>
        <p:txBody>
          <a:bodyPr wrap="square" rtlCol="0">
            <a:spAutoFit/>
          </a:bodyPr>
          <a:lstStyle/>
          <a:p>
            <a:r>
              <a:rPr lang="en-US" sz="2800" b="1" dirty="0"/>
              <a:t>Traction Control</a:t>
            </a:r>
          </a:p>
        </p:txBody>
      </p:sp>
      <p:sp>
        <p:nvSpPr>
          <p:cNvPr id="4" name="TextBox 3">
            <a:extLst>
              <a:ext uri="{FF2B5EF4-FFF2-40B4-BE49-F238E27FC236}">
                <a16:creationId xmlns:a16="http://schemas.microsoft.com/office/drawing/2014/main" id="{E3839B53-128B-251F-AA81-D2BFE27F4E79}"/>
              </a:ext>
            </a:extLst>
          </p:cNvPr>
          <p:cNvSpPr txBox="1"/>
          <p:nvPr/>
        </p:nvSpPr>
        <p:spPr>
          <a:xfrm>
            <a:off x="176461" y="624335"/>
            <a:ext cx="5791201" cy="1200329"/>
          </a:xfrm>
          <a:prstGeom prst="rect">
            <a:avLst/>
          </a:prstGeom>
          <a:solidFill>
            <a:schemeClr val="accent4">
              <a:lumMod val="20000"/>
              <a:lumOff val="80000"/>
            </a:schemeClr>
          </a:solidFill>
          <a:ln>
            <a:solidFill>
              <a:srgbClr val="FF0000"/>
            </a:solidFill>
          </a:ln>
        </p:spPr>
        <p:txBody>
          <a:bodyPr wrap="square" rtlCol="0">
            <a:spAutoFit/>
          </a:bodyPr>
          <a:lstStyle/>
          <a:p>
            <a:r>
              <a:rPr lang="en-US" sz="1200" dirty="0"/>
              <a:t>Toyota Sienna 2016 FWD has a standard open differential. This means it sends power to the wheel with least resistance – so it may spin fast while the other wheel doesn't spin.</a:t>
            </a:r>
          </a:p>
          <a:p>
            <a:endParaRPr lang="en-US" sz="1200" dirty="0"/>
          </a:p>
          <a:p>
            <a:r>
              <a:rPr lang="en-US" sz="1200" dirty="0"/>
              <a:t>Limited-slip differentials (LSDs) and locking differentials that force both wheels to receive power are far more effective at maintaining forward momentum when one wheel encounters a slick patch.</a:t>
            </a:r>
          </a:p>
        </p:txBody>
      </p:sp>
      <p:sp>
        <p:nvSpPr>
          <p:cNvPr id="3" name="TextBox 2">
            <a:extLst>
              <a:ext uri="{FF2B5EF4-FFF2-40B4-BE49-F238E27FC236}">
                <a16:creationId xmlns:a16="http://schemas.microsoft.com/office/drawing/2014/main" id="{720AB841-AC8A-1FF8-37B3-807836D2D115}"/>
              </a:ext>
            </a:extLst>
          </p:cNvPr>
          <p:cNvSpPr txBox="1"/>
          <p:nvPr/>
        </p:nvSpPr>
        <p:spPr>
          <a:xfrm>
            <a:off x="176461" y="1921768"/>
            <a:ext cx="5791201" cy="1200329"/>
          </a:xfrm>
          <a:prstGeom prst="rect">
            <a:avLst/>
          </a:prstGeom>
          <a:solidFill>
            <a:schemeClr val="accent4">
              <a:lumMod val="20000"/>
              <a:lumOff val="80000"/>
            </a:schemeClr>
          </a:solidFill>
          <a:ln>
            <a:solidFill>
              <a:srgbClr val="FF0000"/>
            </a:solidFill>
          </a:ln>
        </p:spPr>
        <p:txBody>
          <a:bodyPr wrap="square" rtlCol="0">
            <a:spAutoFit/>
          </a:bodyPr>
          <a:lstStyle/>
          <a:p>
            <a:r>
              <a:rPr lang="en-US" sz="1200" dirty="0"/>
              <a:t>LSD adds an internal mechanism (clutch packs, cones, viscous fluid, or helical gears) that resists a big speed difference between the two wheels.  </a:t>
            </a:r>
          </a:p>
          <a:p>
            <a:r>
              <a:rPr lang="en-US" sz="1200" dirty="0"/>
              <a:t>When one wheel starts to spin faster (loses grip), that resistance “pushes back,” sending more torque to the wheel with better traction.  </a:t>
            </a:r>
          </a:p>
          <a:p>
            <a:r>
              <a:rPr lang="en-US" sz="1200" dirty="0"/>
              <a:t>It still allows some speed difference for turning, but it “limits” how far that difference can go - hence the name.</a:t>
            </a:r>
          </a:p>
        </p:txBody>
      </p:sp>
      <p:sp>
        <p:nvSpPr>
          <p:cNvPr id="5" name="TextBox 4">
            <a:extLst>
              <a:ext uri="{FF2B5EF4-FFF2-40B4-BE49-F238E27FC236}">
                <a16:creationId xmlns:a16="http://schemas.microsoft.com/office/drawing/2014/main" id="{03A936D6-43ED-4CAB-AEC6-5336CAF22E6E}"/>
              </a:ext>
            </a:extLst>
          </p:cNvPr>
          <p:cNvSpPr txBox="1"/>
          <p:nvPr/>
        </p:nvSpPr>
        <p:spPr>
          <a:xfrm>
            <a:off x="176460" y="3219201"/>
            <a:ext cx="5791201" cy="646331"/>
          </a:xfrm>
          <a:prstGeom prst="rect">
            <a:avLst/>
          </a:prstGeom>
          <a:solidFill>
            <a:schemeClr val="accent4">
              <a:lumMod val="20000"/>
              <a:lumOff val="80000"/>
            </a:schemeClr>
          </a:solidFill>
          <a:ln>
            <a:solidFill>
              <a:srgbClr val="FF0000"/>
            </a:solidFill>
          </a:ln>
        </p:spPr>
        <p:txBody>
          <a:bodyPr wrap="square" rtlCol="0">
            <a:spAutoFit/>
          </a:bodyPr>
          <a:lstStyle/>
          <a:p>
            <a:r>
              <a:rPr lang="en-US" sz="1200" dirty="0"/>
              <a:t>Aftermarket companies sell LSD conversion kits specifically for the Sienna’s U660E transaxle, and they describe these as upgrades that convert the non‑LSD open differential to limited‑slip. </a:t>
            </a:r>
          </a:p>
        </p:txBody>
      </p:sp>
      <p:sp>
        <p:nvSpPr>
          <p:cNvPr id="6" name="TextBox 5">
            <a:extLst>
              <a:ext uri="{FF2B5EF4-FFF2-40B4-BE49-F238E27FC236}">
                <a16:creationId xmlns:a16="http://schemas.microsoft.com/office/drawing/2014/main" id="{2DB25775-0988-97FC-89E0-C8D6DCF3B0C9}"/>
              </a:ext>
            </a:extLst>
          </p:cNvPr>
          <p:cNvSpPr txBox="1"/>
          <p:nvPr/>
        </p:nvSpPr>
        <p:spPr>
          <a:xfrm>
            <a:off x="6096000" y="2944252"/>
            <a:ext cx="4281239" cy="1154162"/>
          </a:xfrm>
          <a:prstGeom prst="rect">
            <a:avLst/>
          </a:prstGeom>
          <a:solidFill>
            <a:schemeClr val="accent4">
              <a:lumMod val="20000"/>
              <a:lumOff val="80000"/>
            </a:schemeClr>
          </a:solidFill>
          <a:ln>
            <a:solidFill>
              <a:srgbClr val="FF0000"/>
            </a:solidFill>
          </a:ln>
        </p:spPr>
        <p:txBody>
          <a:bodyPr wrap="square" rtlCol="0">
            <a:spAutoFit/>
          </a:bodyPr>
          <a:lstStyle/>
          <a:p>
            <a:r>
              <a:rPr lang="en-US" sz="1200" dirty="0"/>
              <a:t>Other torque‑biasing LSDs (e.g., </a:t>
            </a:r>
            <a:r>
              <a:rPr lang="en-US" sz="1200" dirty="0" err="1"/>
              <a:t>Wavetrac</a:t>
            </a:r>
            <a:r>
              <a:rPr lang="en-US" sz="1200" dirty="0"/>
              <a:t>) - typically $1,500</a:t>
            </a:r>
          </a:p>
          <a:p>
            <a:r>
              <a:rPr lang="en-US" sz="900" dirty="0">
                <a:hlinkClick r:id="rId3"/>
              </a:rPr>
              <a:t>https://www.speedfactoryracing.net/products/wavetrac-limited-slip-differential</a:t>
            </a:r>
            <a:endParaRPr lang="en-US" sz="900" dirty="0"/>
          </a:p>
          <a:p>
            <a:r>
              <a:rPr lang="en-US" sz="1200" dirty="0"/>
              <a:t>Full replacement gear‑type LSDs similar in concept to Quaife, with proprietary wave‑cam preload systems for low‑traction conditions. </a:t>
            </a:r>
          </a:p>
          <a:p>
            <a:r>
              <a:rPr lang="en-US" sz="1200" dirty="0"/>
              <a:t>Excellent behavior, higher cost, and you must verify fitment.</a:t>
            </a:r>
          </a:p>
        </p:txBody>
      </p:sp>
      <p:sp>
        <p:nvSpPr>
          <p:cNvPr id="7" name="TextBox 6">
            <a:extLst>
              <a:ext uri="{FF2B5EF4-FFF2-40B4-BE49-F238E27FC236}">
                <a16:creationId xmlns:a16="http://schemas.microsoft.com/office/drawing/2014/main" id="{DD9D63DB-258F-280A-F2FE-B01007887CF7}"/>
              </a:ext>
            </a:extLst>
          </p:cNvPr>
          <p:cNvSpPr txBox="1"/>
          <p:nvPr/>
        </p:nvSpPr>
        <p:spPr>
          <a:xfrm>
            <a:off x="176459" y="3997194"/>
            <a:ext cx="3563691" cy="2616101"/>
          </a:xfrm>
          <a:prstGeom prst="rect">
            <a:avLst/>
          </a:prstGeom>
          <a:solidFill>
            <a:schemeClr val="accent4">
              <a:lumMod val="20000"/>
              <a:lumOff val="80000"/>
            </a:schemeClr>
          </a:solidFill>
          <a:ln>
            <a:solidFill>
              <a:srgbClr val="FF0000"/>
            </a:solidFill>
          </a:ln>
        </p:spPr>
        <p:txBody>
          <a:bodyPr wrap="square" rtlCol="0">
            <a:spAutoFit/>
          </a:bodyPr>
          <a:lstStyle/>
          <a:p>
            <a:r>
              <a:rPr lang="en-US" sz="1200" dirty="0"/>
              <a:t>Traction Concepts LSD conversion (spring/plate kit - $350)</a:t>
            </a:r>
          </a:p>
          <a:p>
            <a:r>
              <a:rPr lang="en-US" sz="1000" dirty="0">
                <a:hlinkClick r:id="rId4"/>
              </a:rPr>
              <a:t>https://www.tractionconcepts.com/Toyota-Sienna-U660E-Limited-Slip-Conversion-Kit-p/tcxty8041.html</a:t>
            </a:r>
            <a:endParaRPr lang="en-US" sz="1000" dirty="0"/>
          </a:p>
          <a:p>
            <a:r>
              <a:rPr lang="en-US" sz="1200" dirty="0"/>
              <a:t>Insert‑style kit that converts your existing open differential into a 1‑way limited‑slip using springs and plates installed inside the stock carrier</a:t>
            </a:r>
          </a:p>
          <a:p>
            <a:r>
              <a:rPr lang="en-US" sz="1200" dirty="0"/>
              <a:t>It is specifically listed for 2011–2016 Toyota Sienna FWD 6‑speed automatic U660E.</a:t>
            </a:r>
          </a:p>
          <a:p>
            <a:r>
              <a:rPr lang="en-US" sz="1200" dirty="0"/>
              <a:t>Requires differential removal and careful setup; you’re paying for significant labor.</a:t>
            </a:r>
          </a:p>
          <a:p>
            <a:r>
              <a:rPr lang="en-US" sz="1200" dirty="0"/>
              <a:t>Not a full new diff; it modifies the OEM open unit, so ultimate strength and behavior will differ from a purpose‑built helical LSD.</a:t>
            </a:r>
          </a:p>
        </p:txBody>
      </p:sp>
      <p:sp>
        <p:nvSpPr>
          <p:cNvPr id="8" name="TextBox 7">
            <a:extLst>
              <a:ext uri="{FF2B5EF4-FFF2-40B4-BE49-F238E27FC236}">
                <a16:creationId xmlns:a16="http://schemas.microsoft.com/office/drawing/2014/main" id="{4C110759-1CB9-3F53-36B2-472296012CCF}"/>
              </a:ext>
            </a:extLst>
          </p:cNvPr>
          <p:cNvSpPr txBox="1"/>
          <p:nvPr/>
        </p:nvSpPr>
        <p:spPr>
          <a:xfrm>
            <a:off x="6096001" y="261610"/>
            <a:ext cx="4584700" cy="2031325"/>
          </a:xfrm>
          <a:prstGeom prst="rect">
            <a:avLst/>
          </a:prstGeom>
          <a:solidFill>
            <a:schemeClr val="accent4">
              <a:lumMod val="20000"/>
              <a:lumOff val="80000"/>
            </a:schemeClr>
          </a:solidFill>
          <a:ln>
            <a:solidFill>
              <a:srgbClr val="FF0000"/>
            </a:solidFill>
          </a:ln>
        </p:spPr>
        <p:txBody>
          <a:bodyPr wrap="square" rtlCol="0">
            <a:spAutoFit/>
          </a:bodyPr>
          <a:lstStyle/>
          <a:p>
            <a:r>
              <a:rPr lang="en-US" sz="1200" dirty="0"/>
              <a:t>Quaife helical LSD for U660E ($1,500)</a:t>
            </a:r>
          </a:p>
          <a:p>
            <a:r>
              <a:rPr lang="en-US" sz="900" dirty="0">
                <a:hlinkClick r:id="rId5"/>
              </a:rPr>
              <a:t>https://</a:t>
            </a:r>
            <a:r>
              <a:rPr lang="en-US" sz="900" dirty="0" err="1">
                <a:hlinkClick r:id="rId5"/>
              </a:rPr>
              <a:t>www.monkeywrenchracing.com</a:t>
            </a:r>
            <a:r>
              <a:rPr lang="en-US" sz="900" dirty="0">
                <a:hlinkClick r:id="rId5"/>
              </a:rPr>
              <a:t>/product/quaife-helical-lsd-lotus-evora-ips-automatic-toyota-3-5-auto/</a:t>
            </a:r>
            <a:endParaRPr lang="en-US" sz="900" dirty="0"/>
          </a:p>
          <a:p>
            <a:r>
              <a:rPr lang="en-US" sz="1200" dirty="0"/>
              <a:t>Full replacement helical torque‑biasing differential (no clutches), widely used in FWD performance and snow/track builds.</a:t>
            </a:r>
          </a:p>
          <a:p>
            <a:r>
              <a:rPr lang="en-US" sz="1200" dirty="0"/>
              <a:t>It is sold for “Toyota 3.5 U660E 6‑speed” and explicitly listed for other 2GR‑FE FWD applications; </a:t>
            </a:r>
          </a:p>
          <a:p>
            <a:r>
              <a:rPr lang="en-US" sz="1200" dirty="0"/>
              <a:t>It is a true helical LSD with smooth, maintenance‑free operation (no clutch packs). </a:t>
            </a:r>
          </a:p>
          <a:p>
            <a:r>
              <a:rPr lang="en-US" sz="1200" dirty="0"/>
              <a:t>Excellent street/snow manners and durability; </a:t>
            </a:r>
          </a:p>
          <a:p>
            <a:r>
              <a:rPr lang="en-US" sz="1200" dirty="0"/>
              <a:t>biases power to the wheel with better grip without locking. </a:t>
            </a:r>
          </a:p>
        </p:txBody>
      </p:sp>
      <p:pic>
        <p:nvPicPr>
          <p:cNvPr id="9" name="Picture 8">
            <a:extLst>
              <a:ext uri="{FF2B5EF4-FFF2-40B4-BE49-F238E27FC236}">
                <a16:creationId xmlns:a16="http://schemas.microsoft.com/office/drawing/2014/main" id="{4A8BB296-B539-50EC-5198-91108222095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917950" y="4735122"/>
            <a:ext cx="1377950" cy="1140244"/>
          </a:xfrm>
          <a:prstGeom prst="rect">
            <a:avLst/>
          </a:prstGeom>
        </p:spPr>
      </p:pic>
      <p:pic>
        <p:nvPicPr>
          <p:cNvPr id="10" name="Picture 9">
            <a:extLst>
              <a:ext uri="{FF2B5EF4-FFF2-40B4-BE49-F238E27FC236}">
                <a16:creationId xmlns:a16="http://schemas.microsoft.com/office/drawing/2014/main" id="{AE8FA2C6-B643-0C0A-6212-817DD6E63609}"/>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802255" y="448568"/>
            <a:ext cx="1313543" cy="1473200"/>
          </a:xfrm>
          <a:prstGeom prst="rect">
            <a:avLst/>
          </a:prstGeom>
        </p:spPr>
      </p:pic>
      <p:pic>
        <p:nvPicPr>
          <p:cNvPr id="11" name="Picture 10">
            <a:extLst>
              <a:ext uri="{FF2B5EF4-FFF2-40B4-BE49-F238E27FC236}">
                <a16:creationId xmlns:a16="http://schemas.microsoft.com/office/drawing/2014/main" id="{9CBA60A7-27DD-31B9-90D6-F2F53E6B944C}"/>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0377239" y="2617342"/>
            <a:ext cx="1638300" cy="1623316"/>
          </a:xfrm>
          <a:prstGeom prst="rect">
            <a:avLst/>
          </a:prstGeom>
        </p:spPr>
      </p:pic>
    </p:spTree>
    <p:extLst>
      <p:ext uri="{BB962C8B-B14F-4D97-AF65-F5344CB8AC3E}">
        <p14:creationId xmlns:p14="http://schemas.microsoft.com/office/powerpoint/2010/main" val="4132456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58E2-3F36-C3D1-5AD9-508AE26FD2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BA11BE-DFC6-442F-5091-D35A2159F6AA}"/>
              </a:ext>
            </a:extLst>
          </p:cNvPr>
          <p:cNvSpPr txBox="1"/>
          <p:nvPr/>
        </p:nvSpPr>
        <p:spPr>
          <a:xfrm>
            <a:off x="-2" y="0"/>
            <a:ext cx="7467602" cy="523220"/>
          </a:xfrm>
          <a:prstGeom prst="rect">
            <a:avLst/>
          </a:prstGeom>
          <a:noFill/>
        </p:spPr>
        <p:txBody>
          <a:bodyPr wrap="square" rtlCol="0">
            <a:spAutoFit/>
          </a:bodyPr>
          <a:lstStyle/>
          <a:p>
            <a:r>
              <a:rPr lang="en-US" sz="2800" b="1" dirty="0"/>
              <a:t>Modern Sienna: brake-based traction control  </a:t>
            </a:r>
          </a:p>
        </p:txBody>
      </p:sp>
      <p:sp>
        <p:nvSpPr>
          <p:cNvPr id="4" name="TextBox 3">
            <a:extLst>
              <a:ext uri="{FF2B5EF4-FFF2-40B4-BE49-F238E27FC236}">
                <a16:creationId xmlns:a16="http://schemas.microsoft.com/office/drawing/2014/main" id="{E3839B53-128B-251F-AA81-D2BFE27F4E79}"/>
              </a:ext>
            </a:extLst>
          </p:cNvPr>
          <p:cNvSpPr txBox="1"/>
          <p:nvPr/>
        </p:nvSpPr>
        <p:spPr>
          <a:xfrm>
            <a:off x="138361" y="674400"/>
            <a:ext cx="6395789" cy="5509200"/>
          </a:xfrm>
          <a:prstGeom prst="rect">
            <a:avLst/>
          </a:prstGeom>
          <a:solidFill>
            <a:schemeClr val="accent4">
              <a:lumMod val="20000"/>
              <a:lumOff val="80000"/>
            </a:schemeClr>
          </a:solidFill>
          <a:ln>
            <a:solidFill>
              <a:srgbClr val="FF0000"/>
            </a:solidFill>
          </a:ln>
        </p:spPr>
        <p:txBody>
          <a:bodyPr wrap="square" rtlCol="0">
            <a:spAutoFit/>
          </a:bodyPr>
          <a:lstStyle/>
          <a:p>
            <a:pPr marL="171450" indent="-171450">
              <a:buFont typeface="Arial" panose="020B0604020202020204" pitchFamily="34" charset="0"/>
              <a:buChar char="•"/>
            </a:pPr>
            <a:r>
              <a:rPr lang="en-US" sz="1600" dirty="0"/>
              <a:t>Since 2021 Toyota Sienna is hybrid and its AWD system is "electronic on demand". It has multiple sensors (wheel speed, steering angle, throttle position, and yaw rate sensors) to monitor driving conditions and adjust power delivery in real-time</a:t>
            </a:r>
          </a:p>
          <a:p>
            <a:pPr marL="171450" indent="-171450">
              <a:buFont typeface="Arial" panose="020B0604020202020204" pitchFamily="34" charset="0"/>
              <a:buChar char="•"/>
            </a:pPr>
            <a:r>
              <a:rPr lang="en-US" sz="1600" dirty="0"/>
              <a:t>Neither the front nor rear wheels have independent left-right torque vectoring capability; both axles use open differentials with brake-based traction control</a:t>
            </a:r>
          </a:p>
          <a:p>
            <a:pPr marL="171450" indent="-171450">
              <a:buFont typeface="Arial" panose="020B0604020202020204" pitchFamily="34" charset="0"/>
              <a:buChar char="•"/>
            </a:pPr>
            <a:r>
              <a:rPr lang="en-US" sz="1600" dirty="0"/>
              <a:t>Sienna has one gas engine and 3 electric motors (2 front, 1 back)</a:t>
            </a:r>
          </a:p>
          <a:p>
            <a:pPr marL="171450" indent="-171450">
              <a:buFont typeface="Arial" panose="020B0604020202020204" pitchFamily="34" charset="0"/>
              <a:buChar char="•"/>
            </a:pPr>
            <a:r>
              <a:rPr lang="en-US" sz="1600" dirty="0"/>
              <a:t>Front wheels are NOT controlled independently—the two front electric motors (MG1 and MG2) work together through the </a:t>
            </a:r>
            <a:r>
              <a:rPr lang="en-US" sz="1600" dirty="0" err="1"/>
              <a:t>eCVT</a:t>
            </a:r>
            <a:r>
              <a:rPr lang="en-US" sz="1600" dirty="0"/>
              <a:t> transaxle but do not provide independent left-right torque control. MG1 primarily functions as a generator and starter, while MG2 is the main drive motor for the front wheels</a:t>
            </a:r>
          </a:p>
          <a:p>
            <a:pPr marL="171450" indent="-171450">
              <a:buFont typeface="Arial" panose="020B0604020202020204" pitchFamily="34" charset="0"/>
              <a:buChar char="•"/>
            </a:pPr>
            <a:r>
              <a:rPr lang="en-US" sz="1600" dirty="0"/>
              <a:t>Rear wheels are interconnected using an open differential. When one rear wheel begins to slip, the system uses brake-based traction control to slow down the slipping wheel, which redirects power to the wheel with better grip</a:t>
            </a:r>
          </a:p>
          <a:p>
            <a:pPr marL="171450" indent="-171450">
              <a:buFont typeface="Arial" panose="020B0604020202020204" pitchFamily="34" charset="0"/>
              <a:buChar char="•"/>
            </a:pPr>
            <a:r>
              <a:rPr lang="en-US" sz="1600" dirty="0"/>
              <a:t>Both front and rear differentials are open-type differentials. Instead of a mechanical limited-slip differential (LSD), the Sienna relies entirely on electronic brake-based traction control to manage wheel slip. When a wheel loses traction, the system applies the brake to that specific wheel, which forces torque to transfer to the wheel with better grip.</a:t>
            </a:r>
          </a:p>
        </p:txBody>
      </p:sp>
    </p:spTree>
    <p:extLst>
      <p:ext uri="{BB962C8B-B14F-4D97-AF65-F5344CB8AC3E}">
        <p14:creationId xmlns:p14="http://schemas.microsoft.com/office/powerpoint/2010/main" val="10603725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1095</TotalTime>
  <Words>1126</Words>
  <Application>Microsoft Macintosh PowerPoint</Application>
  <PresentationFormat>Widescreen</PresentationFormat>
  <Paragraphs>63</Paragraphs>
  <Slides>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Arial</vt:lpstr>
      <vt:lpstr>Calibri</vt:lpstr>
      <vt:lpstr>Calibri Light</vt:lpstr>
      <vt:lpstr>Roboto</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81</cp:revision>
  <dcterms:created xsi:type="dcterms:W3CDTF">2022-05-02T00:38:22Z</dcterms:created>
  <dcterms:modified xsi:type="dcterms:W3CDTF">2026-02-14T21:40:51Z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518368-b969-4042-91d9-8939bd921da2_Enabled">
    <vt:lpwstr>true</vt:lpwstr>
  </property>
  <property fmtid="{D5CDD505-2E9C-101B-9397-08002B2CF9AE}" pid="3" name="MSIP_Label_4f518368-b969-4042-91d9-8939bd921da2_SetDate">
    <vt:lpwstr>2022-05-02T00:38:23Z</vt:lpwstr>
  </property>
  <property fmtid="{D5CDD505-2E9C-101B-9397-08002B2CF9AE}" pid="4" name="MSIP_Label_4f518368-b969-4042-91d9-8939bd921da2_Method">
    <vt:lpwstr>Standard</vt:lpwstr>
  </property>
  <property fmtid="{D5CDD505-2E9C-101B-9397-08002B2CF9AE}" pid="5" name="MSIP_Label_4f518368-b969-4042-91d9-8939bd921da2_Name">
    <vt:lpwstr>General</vt:lpwstr>
  </property>
  <property fmtid="{D5CDD505-2E9C-101B-9397-08002B2CF9AE}" pid="6" name="MSIP_Label_4f518368-b969-4042-91d9-8939bd921da2_SiteId">
    <vt:lpwstr>116e9905-19fc-428e-93d4-bcaffb833597</vt:lpwstr>
  </property>
  <property fmtid="{D5CDD505-2E9C-101B-9397-08002B2CF9AE}" pid="7" name="MSIP_Label_4f518368-b969-4042-91d9-8939bd921da2_ActionId">
    <vt:lpwstr>24169d7b-7067-4cc0-93f0-4d109a136a7c</vt:lpwstr>
  </property>
  <property fmtid="{D5CDD505-2E9C-101B-9397-08002B2CF9AE}" pid="8" name="MSIP_Label_4f518368-b969-4042-91d9-8939bd921da2_ContentBits">
    <vt:lpwstr>0</vt:lpwstr>
  </property>
</Properties>
</file>