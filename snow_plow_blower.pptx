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61" r:id="rId2"/>
    <p:sldId id="262" r:id="rId3"/>
    <p:sldId id="263" r:id="rId4"/>
    <p:sldId id="265" r:id="rId5"/>
    <p:sldId id="269" r:id="rId6"/>
    <p:sldId id="267" r:id="rId7"/>
    <p:sldId id="268" r:id="rId8"/>
    <p:sldId id="264" r:id="rId9"/>
    <p:sldId id="270" r:id="rId10"/>
    <p:sldId id="266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199"/>
    <p:restoredTop sz="91405"/>
  </p:normalViewPr>
  <p:slideViewPr>
    <p:cSldViewPr snapToGrid="0" snapToObjects="1">
      <p:cViewPr>
        <p:scale>
          <a:sx n="100" d="100"/>
          <a:sy n="100" d="100"/>
        </p:scale>
        <p:origin x="496" y="-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5BB0166-7DA8-4040-98E7-81186BCABFDE}" type="datetimeFigureOut">
              <a:rPr lang="en-US" smtClean="0"/>
              <a:t>2/6/26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82EE96B-D67E-F041-AACE-799DE4D648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90326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1A7E78-4330-193B-B423-8314C67628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1080FDA-9F58-7E15-C3A0-BCA67A1B65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FD1846-5607-2F80-FE77-B45D1134D8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2/6/26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59EC29-87F8-BE2D-794A-6DA472257B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340454-B433-410E-0FF8-FC3528287F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05089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36760B-86A2-A753-7B95-0F58C129DD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26CB2F-877F-D8BF-FD37-54A9FCD98E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7B5966-DCE9-9278-FC75-7505EFC826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2/6/26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8C6C7F-3558-A2B7-B9CB-C865542E09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53B692-9BC3-C542-CF13-B75CF4818C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79295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0201A7-590C-E867-7D0C-AE29A5E7C7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C89C844-B762-199D-E840-4432CFA9EC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8F83D9-6582-F301-0C23-DFC2554944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2/6/26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52132C-12F6-FB49-15E9-71DC67F2F8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D5F5A6-E475-572D-EB19-BDCB29C26D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89418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67E54A-D232-E13B-03B8-197985E469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95FE80-6415-A129-A133-13F4E696310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EF34163-2BC5-67B8-C044-B2B91150F7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3E24A9F-6EBE-F2FD-B790-457A880F4F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2/6/26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3165A11-D3B2-DAF0-6C96-3A013B4B66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148667-6987-698C-D3F8-33E4C2F455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62347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89EB9B-3B5A-BAA4-1104-35CFEE511D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A6AF77-D30B-078E-7377-864E200417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DD3BB66-8448-BDCE-8885-0DCCD1D2FD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0C4BBBE-287A-8A3C-D9AC-73777D133F7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2EC8599-617C-397F-DC3D-826467ADF3E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BF5D750-7437-B1AA-EDBA-8CE16147AE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2/6/26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61E2CB5-60FB-BFE3-7C57-6D71206F09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C2E5366-9BBC-DD63-6667-F2ABAD0CF7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61031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4502E0-2360-8A3B-C660-0EEE2283AC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A761752-B6B9-B0D3-79D0-BA63B329CC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2/6/26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549FDB9-28AA-E5EE-0E6F-1C87098343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D1A72C3-CCD3-E994-0553-1649E7C05A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43061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727FBEF-93F3-4398-ABDE-E19A2BE6EE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2/6/26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224BDFD-B5CF-6FE3-E5D7-46013C29E0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995C03-7815-0295-8D6D-6E94DCC40D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65297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460438-A2C9-EC42-359F-79480BBFBC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BAC04E-128D-0581-C7DA-E12F971BB4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57F62C-C89B-1A1C-EE71-DFB3CCC880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3E8FE63-1511-35E5-E243-54A541D531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2/6/26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88C57B-944F-63EC-027D-0775FFD317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0B95C2-F629-DCC1-1A34-EFD210A359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61875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11C171-16B5-30EF-DF6B-EA8297BFE4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0EC62FB-CB34-C301-34F2-0BC3B063A2A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714D87E-859D-4374-028E-34A7E0967C1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CA0E7CC-E810-603C-A310-365D6E2E76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2/6/26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4811FA3-03C6-243F-1B00-D8C263B8A5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7B7296-43FF-9B1B-273A-D8A59A1AF5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69878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5B347D-D077-DA5B-BCBF-255D910F83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D969ED-67C2-311E-252D-6A110850A06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D0FBA1-3C89-EC11-74D4-20B92AAFDA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2/6/26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A7745B-5BAE-F9D3-47E4-0138D1CEA5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730326-C5CD-0886-9BE9-A7F7DB749C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45030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5D2BAD8-9CAB-A380-AAC3-A59F3A32560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7D29A6E-D831-F47F-A2AE-F6E1AFD2D00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7F4713-8CBC-B5EB-3BDB-7F46E4C81A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2/6/26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B814CE-5D3F-6AF3-1B95-C1BCD7CEF6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44F38C-1773-F5A8-9806-A23E993F74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72999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2D680EF-BCA9-239E-5CBB-C870C41B48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0FCFB0-9A1E-EE20-9776-1EF4CAC7D5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1C2FEA-8E7F-70CC-474B-CC138894A0A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F491023-0B0A-7041-9F06-D25A50EF063B}" type="datetimeFigureOut">
              <a:t>2/6/26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568BAB-55F6-6894-580A-32AFD5780B1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8BF367-BF67-C7BE-7EC4-9DB85C434E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05609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jpeg"/><Relationship Id="rId3" Type="http://schemas.openxmlformats.org/officeDocument/2006/relationships/image" Target="../media/image5.jpeg"/><Relationship Id="rId7" Type="http://schemas.openxmlformats.org/officeDocument/2006/relationships/image" Target="../media/image9.jpeg"/><Relationship Id="rId2" Type="http://schemas.openxmlformats.org/officeDocument/2006/relationships/hyperlink" Target="https://powerequipment.honda.com/snowblowers" TargetMode="Externa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jpeg"/><Relationship Id="rId5" Type="http://schemas.openxmlformats.org/officeDocument/2006/relationships/image" Target="../media/image7.jpeg"/><Relationship Id="rId4" Type="http://schemas.openxmlformats.org/officeDocument/2006/relationships/image" Target="../media/image6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jackssmallengines.com/jacks-parts-lookup/manufacturer/honda/snow-blower" TargetMode="External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us.bercomac.com/en_US/taxons/category/snowblower?limit=27" TargetMode="External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5.png"/><Relationship Id="rId5" Type="http://schemas.openxmlformats.org/officeDocument/2006/relationships/hyperlink" Target="https://erskineattachments.com/products/hydraulic-snowblower-sb300-series/" TargetMode="External"/><Relationship Id="rId4" Type="http://schemas.openxmlformats.org/officeDocument/2006/relationships/hyperlink" Target="https://rammy.fi/en/rammy-snowblower-155-utv-pro-3/" TargetMode="Externa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0.jpeg"/><Relationship Id="rId5" Type="http://schemas.openxmlformats.org/officeDocument/2006/relationships/image" Target="../media/image19.jpeg"/><Relationship Id="rId4" Type="http://schemas.openxmlformats.org/officeDocument/2006/relationships/image" Target="../media/image18.jpeg"/><Relationship Id="rId9" Type="http://schemas.openxmlformats.org/officeDocument/2006/relationships/image" Target="../media/image23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hyperlink" Target="https://zips.com/products/winches-cables/winch-parts/winch-tensioners" TargetMode="External"/><Relationship Id="rId13" Type="http://schemas.openxmlformats.org/officeDocument/2006/relationships/image" Target="../media/image26.png"/><Relationship Id="rId18" Type="http://schemas.openxmlformats.org/officeDocument/2006/relationships/image" Target="../media/image31.jpeg"/><Relationship Id="rId3" Type="http://schemas.openxmlformats.org/officeDocument/2006/relationships/hyperlink" Target="https://www.youtube.com/watch?v=QB3OdEiAtSg" TargetMode="External"/><Relationship Id="rId7" Type="http://schemas.openxmlformats.org/officeDocument/2006/relationships/hyperlink" Target="https://www.youtube.com/watch?v=JiPT2l71U3U" TargetMode="External"/><Relationship Id="rId12" Type="http://schemas.openxmlformats.org/officeDocument/2006/relationships/image" Target="../media/image25.png"/><Relationship Id="rId17" Type="http://schemas.openxmlformats.org/officeDocument/2006/relationships/image" Target="../media/image30.jpeg"/><Relationship Id="rId2" Type="http://schemas.openxmlformats.org/officeDocument/2006/relationships/hyperlink" Target="https://www.youtube.com/watch?v=walB-pyDaYE" TargetMode="External"/><Relationship Id="rId16" Type="http://schemas.openxmlformats.org/officeDocument/2006/relationships/image" Target="../media/image29.png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www.youtube.com/watch?v=MSzYsjSwWq0" TargetMode="External"/><Relationship Id="rId11" Type="http://schemas.openxmlformats.org/officeDocument/2006/relationships/image" Target="../media/image24.png"/><Relationship Id="rId5" Type="http://schemas.openxmlformats.org/officeDocument/2006/relationships/hyperlink" Target="https://www.youtube.com/watch?v=lIwT-UqNNQw" TargetMode="External"/><Relationship Id="rId15" Type="http://schemas.openxmlformats.org/officeDocument/2006/relationships/image" Target="../media/image28.png"/><Relationship Id="rId10" Type="http://schemas.openxmlformats.org/officeDocument/2006/relationships/hyperlink" Target="https://www.youtube.com/watch?v=oim648rsuI8" TargetMode="External"/><Relationship Id="rId19" Type="http://schemas.openxmlformats.org/officeDocument/2006/relationships/image" Target="../media/image32.png"/><Relationship Id="rId4" Type="http://schemas.openxmlformats.org/officeDocument/2006/relationships/hyperlink" Target="https://www.youtube.com/watch?v=xptbCmz50AE" TargetMode="External"/><Relationship Id="rId9" Type="http://schemas.openxmlformats.org/officeDocument/2006/relationships/hyperlink" Target="https://www.youtube.com/watch?v=b4dRQ-H7ffM" TargetMode="External"/><Relationship Id="rId14" Type="http://schemas.openxmlformats.org/officeDocument/2006/relationships/image" Target="../media/image2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hyperlink" Target="https://www.everythingpolarisranger.com/polaris-ranger-utv-winch-auto-stop-fairlead-kit-by-superatv/" TargetMode="Externa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4.jpe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hyperlink" Target="https://snoway.com/" TargetMode="External"/><Relationship Id="rId3" Type="http://schemas.openxmlformats.org/officeDocument/2006/relationships/image" Target="../media/image36.png"/><Relationship Id="rId7" Type="http://schemas.openxmlformats.org/officeDocument/2006/relationships/image" Target="../media/image39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8.png"/><Relationship Id="rId5" Type="http://schemas.openxmlformats.org/officeDocument/2006/relationships/image" Target="../media/image37.png"/><Relationship Id="rId4" Type="http://schemas.openxmlformats.org/officeDocument/2006/relationships/hyperlink" Target="https://www.tricountyequipment.net/new-equipment/residential/tractor-packages/gator-snow-packages/xuv835r-and-western-impact-hd-v-blade/" TargetMode="External"/><Relationship Id="rId9" Type="http://schemas.openxmlformats.org/officeDocument/2006/relationships/image" Target="../media/image40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png"/><Relationship Id="rId13" Type="http://schemas.openxmlformats.org/officeDocument/2006/relationships/image" Target="../media/image46.png"/><Relationship Id="rId3" Type="http://schemas.openxmlformats.org/officeDocument/2006/relationships/hyperlink" Target="https://www.youtube.com/watch?v=5VuD0MhxcQ0" TargetMode="External"/><Relationship Id="rId7" Type="http://schemas.openxmlformats.org/officeDocument/2006/relationships/hyperlink" Target="https://www.youtube.com/watch?v=ublecStrYAE" TargetMode="External"/><Relationship Id="rId12" Type="http://schemas.openxmlformats.org/officeDocument/2006/relationships/image" Target="../media/image45.png"/><Relationship Id="rId2" Type="http://schemas.openxmlformats.org/officeDocument/2006/relationships/hyperlink" Target="https://www.r2manufacturing.com/" TargetMode="Externa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www.youtube.com/watch?v=MVhIKQvNplc" TargetMode="External"/><Relationship Id="rId11" Type="http://schemas.openxmlformats.org/officeDocument/2006/relationships/image" Target="../media/image44.png"/><Relationship Id="rId5" Type="http://schemas.openxmlformats.org/officeDocument/2006/relationships/hyperlink" Target="https://www.youtube.com/watch?v=wCxOjqdGEjw" TargetMode="External"/><Relationship Id="rId10" Type="http://schemas.openxmlformats.org/officeDocument/2006/relationships/image" Target="../media/image43.png"/><Relationship Id="rId4" Type="http://schemas.openxmlformats.org/officeDocument/2006/relationships/hyperlink" Target="https://www.youtube.com/watch?v=K8zB1X35QtI" TargetMode="External"/><Relationship Id="rId9" Type="http://schemas.openxmlformats.org/officeDocument/2006/relationships/image" Target="../media/image4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7.xml"/><Relationship Id="rId5" Type="http://schemas.openxmlformats.org/officeDocument/2006/relationships/hyperlink" Target="https://www.youtube.com/watch?v=0obvIOD0fKY" TargetMode="External"/><Relationship Id="rId4" Type="http://schemas.openxmlformats.org/officeDocument/2006/relationships/hyperlink" Target="https://www.greenworkstools.com/products/80v-12-cordless-battery-snow-shovel-w-4-0ah-battery-6a-charger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7C05051-5705-F303-D201-D96165D66EF8}"/>
              </a:ext>
            </a:extLst>
          </p:cNvPr>
          <p:cNvSpPr txBox="1"/>
          <p:nvPr/>
        </p:nvSpPr>
        <p:spPr>
          <a:xfrm>
            <a:off x="150994" y="406651"/>
            <a:ext cx="5074149" cy="461664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rgbClr val="FF0000"/>
                </a:solidFill>
              </a:rPr>
              <a:t>Single-Stage Models: </a:t>
            </a:r>
            <a:br>
              <a:rPr lang="en-US" sz="1400" dirty="0"/>
            </a:br>
            <a:r>
              <a:rPr lang="en-US" sz="1400" dirty="0"/>
              <a:t>    The auger both pulls up and discharges the snow. </a:t>
            </a:r>
          </a:p>
          <a:p>
            <a:r>
              <a:rPr lang="en-US" sz="1400" dirty="0"/>
              <a:t>    The snow discharge distance is usually limited to about 3". </a:t>
            </a:r>
          </a:p>
          <a:p>
            <a:r>
              <a:rPr lang="en-US" sz="1400" dirty="0"/>
              <a:t>    Because the auger touches the ground, it is covered in rubber </a:t>
            </a:r>
          </a:p>
          <a:p>
            <a:r>
              <a:rPr lang="en-US" sz="1400" dirty="0"/>
              <a:t>    to protect the surface.</a:t>
            </a:r>
          </a:p>
          <a:p>
            <a:r>
              <a:rPr lang="en-US" sz="1400" dirty="0"/>
              <a:t>    Works only on paved surfaces.</a:t>
            </a:r>
          </a:p>
          <a:p>
            <a:endParaRPr lang="en-US" sz="1400" dirty="0"/>
          </a:p>
          <a:p>
            <a:r>
              <a:rPr lang="en-US" sz="1400" b="1" dirty="0">
                <a:solidFill>
                  <a:srgbClr val="FF0000"/>
                </a:solidFill>
              </a:rPr>
              <a:t>Two-Stage Models:</a:t>
            </a:r>
            <a:r>
              <a:rPr lang="en-US" sz="1400" dirty="0"/>
              <a:t> </a:t>
            </a:r>
          </a:p>
          <a:p>
            <a:r>
              <a:rPr lang="en-US" sz="1400" dirty="0"/>
              <a:t>   The auger only pulls up the snow from the ground. </a:t>
            </a:r>
          </a:p>
          <a:p>
            <a:r>
              <a:rPr lang="en-US" sz="1400" dirty="0"/>
              <a:t>   A separate component within the snow blower, the impeller,</a:t>
            </a:r>
          </a:p>
          <a:p>
            <a:r>
              <a:rPr lang="en-US" sz="1400" dirty="0"/>
              <a:t>   discharges the snow from the chute. </a:t>
            </a:r>
          </a:p>
          <a:p>
            <a:r>
              <a:rPr lang="en-US" sz="1400" dirty="0"/>
              <a:t>   This allows the snow blower to send the snow up to 60"</a:t>
            </a:r>
          </a:p>
          <a:p>
            <a:r>
              <a:rPr lang="en-US" sz="1400" dirty="0"/>
              <a:t>  Because the auger does not touch the ground, it is all metal </a:t>
            </a:r>
          </a:p>
          <a:p>
            <a:r>
              <a:rPr lang="en-US" sz="1400" dirty="0"/>
              <a:t>   (not rubber-tipped, as with the single-stage models).</a:t>
            </a:r>
          </a:p>
          <a:p>
            <a:r>
              <a:rPr lang="en-US" sz="1400" dirty="0"/>
              <a:t>   Works on any surface (paved, gravel, dirt).</a:t>
            </a:r>
          </a:p>
          <a:p>
            <a:endParaRPr lang="en-US" sz="1400" dirty="0"/>
          </a:p>
          <a:p>
            <a:r>
              <a:rPr lang="en-US" sz="1400" b="1" dirty="0">
                <a:solidFill>
                  <a:srgbClr val="FF0000"/>
                </a:solidFill>
              </a:rPr>
              <a:t>Three-stage Models:</a:t>
            </a:r>
          </a:p>
          <a:p>
            <a:r>
              <a:rPr lang="en-US" sz="1400" dirty="0"/>
              <a:t>   same stages as the two-stage snow blower, but the addition </a:t>
            </a:r>
          </a:p>
          <a:p>
            <a:r>
              <a:rPr lang="en-US" sz="1400" dirty="0"/>
              <a:t>   of a third stage, the accelerator.</a:t>
            </a:r>
          </a:p>
          <a:p>
            <a:r>
              <a:rPr lang="en-US" sz="1400" dirty="0"/>
              <a:t>   Accelerator allows snow to be driven through the impeller</a:t>
            </a:r>
          </a:p>
          <a:p>
            <a:r>
              <a:rPr lang="en-US" sz="1400" dirty="0"/>
              <a:t>    quickly – more power, speed, heavy snow removal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C24F949-E2A3-3AA8-B434-B6B99911F5A3}"/>
              </a:ext>
            </a:extLst>
          </p:cNvPr>
          <p:cNvSpPr txBox="1"/>
          <p:nvPr/>
        </p:nvSpPr>
        <p:spPr>
          <a:xfrm>
            <a:off x="4329087" y="5512464"/>
            <a:ext cx="3533825" cy="116955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24" width is good.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gas engine (at least 6 hp)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should be 2-stage or 3-stage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Electrical start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can have Fuel Injection, but not required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341AE53-DCC5-7CAB-C40F-6A4DEAA759E9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373506" y="175985"/>
            <a:ext cx="6667500" cy="27178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18721FCB-1A8C-EEC5-6A49-84EFE5656ADC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6200000">
            <a:off x="6464297" y="3021970"/>
            <a:ext cx="787400" cy="13335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E0BEFE5-E869-4F07-9604-D64AB61C5365}"/>
              </a:ext>
            </a:extLst>
          </p:cNvPr>
          <p:cNvSpPr txBox="1"/>
          <p:nvPr/>
        </p:nvSpPr>
        <p:spPr>
          <a:xfrm>
            <a:off x="6407651" y="4175877"/>
            <a:ext cx="87267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auger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0705067-DB9D-72B0-4D7C-CA605AE11995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6200000">
            <a:off x="7899543" y="3299734"/>
            <a:ext cx="807712" cy="65813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685516A-9314-3C09-35D3-F13419CA98E8}"/>
              </a:ext>
            </a:extLst>
          </p:cNvPr>
          <p:cNvSpPr txBox="1"/>
          <p:nvPr/>
        </p:nvSpPr>
        <p:spPr>
          <a:xfrm>
            <a:off x="7524747" y="4185279"/>
            <a:ext cx="149951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impeller </a:t>
            </a:r>
            <a:br>
              <a:rPr lang="en-US" sz="1400" dirty="0"/>
            </a:br>
            <a:r>
              <a:rPr lang="en-US" sz="1400" dirty="0"/>
              <a:t>(throws snow through the tube)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E1D71E3-64C0-3C60-834F-54ACA330E3A2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761022" y="3156504"/>
            <a:ext cx="804123" cy="807712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38925C51-C9FD-F1A6-A242-DE44200F3383}"/>
              </a:ext>
            </a:extLst>
          </p:cNvPr>
          <p:cNvSpPr txBox="1"/>
          <p:nvPr/>
        </p:nvSpPr>
        <p:spPr>
          <a:xfrm>
            <a:off x="9506591" y="4164032"/>
            <a:ext cx="1312983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accelerator (pushes snow to impeller)</a:t>
            </a:r>
          </a:p>
        </p:txBody>
      </p:sp>
    </p:spTree>
    <p:extLst>
      <p:ext uri="{BB962C8B-B14F-4D97-AF65-F5344CB8AC3E}">
        <p14:creationId xmlns:p14="http://schemas.microsoft.com/office/powerpoint/2010/main" val="20586190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CED7B14-8108-A2E6-D563-B334DE537F1F}"/>
              </a:ext>
            </a:extLst>
          </p:cNvPr>
          <p:cNvSpPr txBox="1"/>
          <p:nvPr/>
        </p:nvSpPr>
        <p:spPr>
          <a:xfrm>
            <a:off x="0" y="24841"/>
            <a:ext cx="419199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Honda – best snowblowers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E6670AB-3A1C-7C89-0C06-0A7A657AEE32}"/>
              </a:ext>
            </a:extLst>
          </p:cNvPr>
          <p:cNvSpPr txBox="1"/>
          <p:nvPr/>
        </p:nvSpPr>
        <p:spPr>
          <a:xfrm>
            <a:off x="0" y="437267"/>
            <a:ext cx="345571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hlinkClick r:id="rId2"/>
              </a:rPr>
              <a:t>https://</a:t>
            </a:r>
            <a:r>
              <a:rPr lang="en-US" sz="1200" dirty="0" err="1">
                <a:hlinkClick r:id="rId2"/>
              </a:rPr>
              <a:t>powerequipment.honda.com</a:t>
            </a:r>
            <a:r>
              <a:rPr lang="en-US" sz="1200" dirty="0">
                <a:hlinkClick r:id="rId2"/>
              </a:rPr>
              <a:t>/snowblowers</a:t>
            </a:r>
            <a:endParaRPr lang="en-US" sz="1200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8C8F4E3C-34D6-B179-374A-7BC72FFBE2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7355" y="714266"/>
            <a:ext cx="1695037" cy="16950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6139FD89-BF4F-CD2D-DA06-DDF60A3F512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2009898" y="729759"/>
            <a:ext cx="1770248" cy="17702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E4D8E5A-CCAF-5DC7-0C20-0AA49A5D488D}"/>
              </a:ext>
            </a:extLst>
          </p:cNvPr>
          <p:cNvSpPr txBox="1"/>
          <p:nvPr/>
        </p:nvSpPr>
        <p:spPr>
          <a:xfrm>
            <a:off x="2041565" y="2590711"/>
            <a:ext cx="1983179" cy="46166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dirty="0"/>
              <a:t>HSS724AW / </a:t>
            </a:r>
            <a:r>
              <a:rPr lang="en-US" sz="1200" b="1" dirty="0">
                <a:solidFill>
                  <a:srgbClr val="FF0000"/>
                </a:solidFill>
              </a:rPr>
              <a:t>HSS724AWD</a:t>
            </a:r>
          </a:p>
          <a:p>
            <a:r>
              <a:rPr lang="en-US" sz="1200" dirty="0"/>
              <a:t>Same, but with Wheel drive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AD1371F-EFA8-C63C-4730-F984D3FB9A61}"/>
              </a:ext>
            </a:extLst>
          </p:cNvPr>
          <p:cNvSpPr txBox="1"/>
          <p:nvPr/>
        </p:nvSpPr>
        <p:spPr>
          <a:xfrm>
            <a:off x="22925" y="2590711"/>
            <a:ext cx="1983179" cy="193899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dirty="0"/>
              <a:t>HSS724AT / </a:t>
            </a:r>
            <a:r>
              <a:rPr lang="en-US" sz="1200" b="1" dirty="0">
                <a:solidFill>
                  <a:srgbClr val="FF0000"/>
                </a:solidFill>
              </a:rPr>
              <a:t>HSS724ATD</a:t>
            </a:r>
          </a:p>
          <a:p>
            <a:r>
              <a:rPr lang="en-US" sz="1200" dirty="0"/>
              <a:t>Two stage 24"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FF0000"/>
                </a:solidFill>
              </a:rPr>
              <a:t>Track drive (better)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adjustable auger height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24" wide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1500 lb./min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Throws snow 49 feet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Self propelled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hydrostatic drive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FF0000"/>
                </a:solidFill>
              </a:rPr>
              <a:t>Electric start (ATD only)</a:t>
            </a:r>
          </a:p>
        </p:txBody>
      </p:sp>
      <p:pic>
        <p:nvPicPr>
          <p:cNvPr id="1030" name="Picture 6">
            <a:extLst>
              <a:ext uri="{FF2B5EF4-FFF2-40B4-BE49-F238E27FC236}">
                <a16:creationId xmlns:a16="http://schemas.microsoft.com/office/drawing/2014/main" id="{F097ED44-5C43-C82D-5D8C-E5C5B7514B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128580" y="795476"/>
            <a:ext cx="1695036" cy="16950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5FD660F-58A3-333B-163B-036D0D211A2A}"/>
              </a:ext>
            </a:extLst>
          </p:cNvPr>
          <p:cNvSpPr txBox="1"/>
          <p:nvPr/>
        </p:nvSpPr>
        <p:spPr>
          <a:xfrm>
            <a:off x="4074150" y="2590711"/>
            <a:ext cx="1983179" cy="193899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dirty="0"/>
              <a:t>HSS928AT / </a:t>
            </a:r>
            <a:r>
              <a:rPr lang="en-US" sz="1200" b="1" dirty="0">
                <a:solidFill>
                  <a:srgbClr val="FF0000"/>
                </a:solidFill>
              </a:rPr>
              <a:t>HSS928ATD</a:t>
            </a:r>
          </a:p>
          <a:p>
            <a:r>
              <a:rPr lang="en-US" sz="1200" dirty="0"/>
              <a:t>Two stage 28"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Track drive (better)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adjustable auger height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28" wide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1900 lb./min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Throws snow 52 feet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Self propelled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hydrostatic drive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Electric start (ATD only)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343F9F4-5703-2F46-FD94-D754D8967546}"/>
              </a:ext>
            </a:extLst>
          </p:cNvPr>
          <p:cNvSpPr txBox="1"/>
          <p:nvPr/>
        </p:nvSpPr>
        <p:spPr>
          <a:xfrm>
            <a:off x="1404257" y="2282934"/>
            <a:ext cx="73627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$3,300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AA7FC35-7205-2EC1-C9CF-916ADAB21F5E}"/>
              </a:ext>
            </a:extLst>
          </p:cNvPr>
          <p:cNvSpPr txBox="1"/>
          <p:nvPr/>
        </p:nvSpPr>
        <p:spPr>
          <a:xfrm>
            <a:off x="3412999" y="2282934"/>
            <a:ext cx="73627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$3,100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DCE9556-57C7-3857-27F1-686172C53CE9}"/>
              </a:ext>
            </a:extLst>
          </p:cNvPr>
          <p:cNvSpPr txBox="1"/>
          <p:nvPr/>
        </p:nvSpPr>
        <p:spPr>
          <a:xfrm>
            <a:off x="5455481" y="2245919"/>
            <a:ext cx="73627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$3,700</a:t>
            </a:r>
          </a:p>
        </p:txBody>
      </p:sp>
      <p:pic>
        <p:nvPicPr>
          <p:cNvPr id="1032" name="Picture 8">
            <a:extLst>
              <a:ext uri="{FF2B5EF4-FFF2-40B4-BE49-F238E27FC236}">
                <a16:creationId xmlns:a16="http://schemas.microsoft.com/office/drawing/2014/main" id="{6F0F0AC0-6686-584E-70B6-F92576C7E40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191751" y="878170"/>
            <a:ext cx="1599375" cy="15993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ABD2423-5BE4-FB48-FF74-6CD8714A4C1E}"/>
              </a:ext>
            </a:extLst>
          </p:cNvPr>
          <p:cNvSpPr txBox="1"/>
          <p:nvPr/>
        </p:nvSpPr>
        <p:spPr>
          <a:xfrm>
            <a:off x="6106735" y="2597544"/>
            <a:ext cx="1983179" cy="46166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dirty="0"/>
              <a:t>HSS928AW / </a:t>
            </a:r>
            <a:r>
              <a:rPr lang="en-US" sz="1200" b="1" dirty="0">
                <a:solidFill>
                  <a:srgbClr val="FF0000"/>
                </a:solidFill>
              </a:rPr>
              <a:t>HSS928AWD</a:t>
            </a:r>
          </a:p>
          <a:p>
            <a:r>
              <a:rPr lang="en-US" sz="1200" dirty="0"/>
              <a:t>Same, but with Wheel drive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0D9E21B-B953-F2D5-682C-42C851D14B5E}"/>
              </a:ext>
            </a:extLst>
          </p:cNvPr>
          <p:cNvSpPr txBox="1"/>
          <p:nvPr/>
        </p:nvSpPr>
        <p:spPr>
          <a:xfrm>
            <a:off x="9587879" y="2204259"/>
            <a:ext cx="73627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$4,100</a:t>
            </a:r>
          </a:p>
        </p:txBody>
      </p:sp>
      <p:pic>
        <p:nvPicPr>
          <p:cNvPr id="1034" name="Picture 10">
            <a:extLst>
              <a:ext uri="{FF2B5EF4-FFF2-40B4-BE49-F238E27FC236}">
                <a16:creationId xmlns:a16="http://schemas.microsoft.com/office/drawing/2014/main" id="{57D89960-C591-D0D3-94B7-D89A70E817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205486" y="948692"/>
            <a:ext cx="1487458" cy="14874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3EEB6EF5-23A3-939F-E9FD-D5140C4378C2}"/>
              </a:ext>
            </a:extLst>
          </p:cNvPr>
          <p:cNvSpPr txBox="1"/>
          <p:nvPr/>
        </p:nvSpPr>
        <p:spPr>
          <a:xfrm>
            <a:off x="8144493" y="2581216"/>
            <a:ext cx="1983179" cy="193899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dirty="0"/>
              <a:t>HSS1332AT / </a:t>
            </a:r>
            <a:r>
              <a:rPr lang="en-US" sz="1200" b="1" dirty="0">
                <a:solidFill>
                  <a:srgbClr val="FF0000"/>
                </a:solidFill>
              </a:rPr>
              <a:t>HSS1332ATD</a:t>
            </a:r>
          </a:p>
          <a:p>
            <a:r>
              <a:rPr lang="en-US" sz="1200" dirty="0"/>
              <a:t>Two stage 32"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Track drive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adjustable auger height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32" wide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2750 lb./min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Throws snow 56 feet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Self propelled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hydrostatic drive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Electric start (ATD only)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D71287D-14E2-0C22-AD8B-2C17C958030C}"/>
              </a:ext>
            </a:extLst>
          </p:cNvPr>
          <p:cNvSpPr txBox="1"/>
          <p:nvPr/>
        </p:nvSpPr>
        <p:spPr>
          <a:xfrm>
            <a:off x="7422991" y="2223008"/>
            <a:ext cx="73627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$3,500</a:t>
            </a:r>
          </a:p>
        </p:txBody>
      </p:sp>
      <p:pic>
        <p:nvPicPr>
          <p:cNvPr id="1036" name="Picture 12">
            <a:extLst>
              <a:ext uri="{FF2B5EF4-FFF2-40B4-BE49-F238E27FC236}">
                <a16:creationId xmlns:a16="http://schemas.microsoft.com/office/drawing/2014/main" id="{5B7744E9-EAA5-8345-945A-FD889E1ED9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0662792" y="968255"/>
            <a:ext cx="1293256" cy="12932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38B72CDD-2B36-0528-9773-F13D97F3179E}"/>
              </a:ext>
            </a:extLst>
          </p:cNvPr>
          <p:cNvSpPr txBox="1"/>
          <p:nvPr/>
        </p:nvSpPr>
        <p:spPr>
          <a:xfrm>
            <a:off x="11489697" y="2200546"/>
            <a:ext cx="73627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$9,300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11296FE-8B1E-1005-87E2-5584DF82A407}"/>
              </a:ext>
            </a:extLst>
          </p:cNvPr>
          <p:cNvSpPr txBox="1"/>
          <p:nvPr/>
        </p:nvSpPr>
        <p:spPr>
          <a:xfrm>
            <a:off x="10188358" y="2590622"/>
            <a:ext cx="1983179" cy="249299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FF0000"/>
                </a:solidFill>
              </a:rPr>
              <a:t>HSM1336i</a:t>
            </a:r>
          </a:p>
          <a:p>
            <a:r>
              <a:rPr lang="en-US" sz="1200" dirty="0"/>
              <a:t>Two stage 36" </a:t>
            </a:r>
          </a:p>
          <a:p>
            <a:r>
              <a:rPr lang="en-US" sz="1200" dirty="0"/>
              <a:t>Hybrid: </a:t>
            </a:r>
          </a:p>
          <a:p>
            <a:r>
              <a:rPr lang="en-US" sz="1200" dirty="0"/>
              <a:t>two electrical motors: drive</a:t>
            </a:r>
          </a:p>
          <a:p>
            <a:r>
              <a:rPr lang="en-US" sz="1200" dirty="0"/>
              <a:t>gas motor: </a:t>
            </a:r>
            <a:r>
              <a:rPr lang="en-US" sz="1200" dirty="0" err="1"/>
              <a:t>auger+impeller</a:t>
            </a:r>
            <a:endParaRPr lang="en-US" sz="1200" dirty="0"/>
          </a:p>
          <a:p>
            <a:r>
              <a:rPr lang="en-US" sz="1200" dirty="0"/>
              <a:t>Mode: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   Auto,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   Semi-Auto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   Manual</a:t>
            </a:r>
          </a:p>
          <a:p>
            <a:r>
              <a:rPr lang="en-US" sz="1200" dirty="0"/>
              <a:t>36" width</a:t>
            </a:r>
          </a:p>
          <a:p>
            <a:r>
              <a:rPr lang="en-US" sz="1200" dirty="0"/>
              <a:t>up to 3000 lb./min</a:t>
            </a:r>
          </a:p>
          <a:p>
            <a:r>
              <a:rPr lang="en-US" sz="1200" dirty="0"/>
              <a:t>Track drive</a:t>
            </a:r>
          </a:p>
          <a:p>
            <a:r>
              <a:rPr lang="en-US" sz="1200" dirty="0"/>
              <a:t>Electric start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26C315E-2A94-C7A2-318A-534710C5ACBF}"/>
              </a:ext>
            </a:extLst>
          </p:cNvPr>
          <p:cNvSpPr txBox="1"/>
          <p:nvPr/>
        </p:nvSpPr>
        <p:spPr>
          <a:xfrm>
            <a:off x="259277" y="5363008"/>
            <a:ext cx="15348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Best Choice</a:t>
            </a:r>
          </a:p>
        </p:txBody>
      </p:sp>
      <p:sp>
        <p:nvSpPr>
          <p:cNvPr id="17" name="Down Arrow 16">
            <a:extLst>
              <a:ext uri="{FF2B5EF4-FFF2-40B4-BE49-F238E27FC236}">
                <a16:creationId xmlns:a16="http://schemas.microsoft.com/office/drawing/2014/main" id="{518E038A-7B03-3E79-9F28-642BA4956C86}"/>
              </a:ext>
            </a:extLst>
          </p:cNvPr>
          <p:cNvSpPr/>
          <p:nvPr/>
        </p:nvSpPr>
        <p:spPr>
          <a:xfrm rot="10800000">
            <a:off x="707571" y="4711111"/>
            <a:ext cx="533400" cy="470489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05568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F0FA36D-3404-1E9C-B96C-7A351AA9B517}"/>
              </a:ext>
            </a:extLst>
          </p:cNvPr>
          <p:cNvSpPr txBox="1"/>
          <p:nvPr/>
        </p:nvSpPr>
        <p:spPr>
          <a:xfrm>
            <a:off x="143219" y="198304"/>
            <a:ext cx="55084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 bought used Honda HS724 in December 2022</a:t>
            </a:r>
          </a:p>
        </p:txBody>
      </p:sp>
      <p:pic>
        <p:nvPicPr>
          <p:cNvPr id="4" name="Picture 3" descr="A red and black scooter&#10;&#10;Description automatically generated with low confidence">
            <a:extLst>
              <a:ext uri="{FF2B5EF4-FFF2-40B4-BE49-F238E27FC236}">
                <a16:creationId xmlns:a16="http://schemas.microsoft.com/office/drawing/2014/main" id="{3AABDACA-0AB8-B0D7-0329-62D866CE1A82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31355" y="567636"/>
            <a:ext cx="3775494" cy="313299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636B2B5-1999-2E14-87CC-3DF7FBAA2DE6}"/>
              </a:ext>
            </a:extLst>
          </p:cNvPr>
          <p:cNvSpPr txBox="1"/>
          <p:nvPr/>
        </p:nvSpPr>
        <p:spPr>
          <a:xfrm>
            <a:off x="231355" y="3800819"/>
            <a:ext cx="5023691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Missing lamp/light.</a:t>
            </a:r>
          </a:p>
          <a:p>
            <a:endParaRPr lang="en-US" sz="1400" dirty="0"/>
          </a:p>
          <a:p>
            <a:r>
              <a:rPr lang="en-US" sz="1400" dirty="0"/>
              <a:t>The manual shows copyright year 2001.</a:t>
            </a:r>
          </a:p>
          <a:p>
            <a:r>
              <a:rPr lang="en-US" sz="1400" dirty="0"/>
              <a:t>Honda Engine Serial # GCAE-2072409</a:t>
            </a:r>
          </a:p>
          <a:p>
            <a:r>
              <a:rPr lang="en-US" sz="1400" dirty="0"/>
              <a:t>The label on the frame says that </a:t>
            </a:r>
          </a:p>
          <a:p>
            <a:r>
              <a:rPr lang="en-US" sz="1400" dirty="0"/>
              <a:t>it meets the US "EPA SNRE PH2 2007",</a:t>
            </a:r>
          </a:p>
          <a:p>
            <a:r>
              <a:rPr lang="en-US" sz="1400" dirty="0"/>
              <a:t>Does "2007" mean the year?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F08E506-EE81-F20C-0E9D-9AA173A05D6A}"/>
              </a:ext>
            </a:extLst>
          </p:cNvPr>
          <p:cNvSpPr txBox="1"/>
          <p:nvPr/>
        </p:nvSpPr>
        <p:spPr>
          <a:xfrm>
            <a:off x="231355" y="5689678"/>
            <a:ext cx="609783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hlinkClick r:id="rId3"/>
              </a:rPr>
              <a:t>https://</a:t>
            </a:r>
            <a:r>
              <a:rPr lang="en-US" sz="1100" dirty="0" err="1">
                <a:hlinkClick r:id="rId3"/>
              </a:rPr>
              <a:t>www.jackssmallengines.com</a:t>
            </a:r>
            <a:r>
              <a:rPr lang="en-US" sz="1100" dirty="0">
                <a:hlinkClick r:id="rId3"/>
              </a:rPr>
              <a:t>/jacks-parts-lookup/manufacturer/</a:t>
            </a:r>
            <a:r>
              <a:rPr lang="en-US" sz="1100" dirty="0" err="1">
                <a:hlinkClick r:id="rId3"/>
              </a:rPr>
              <a:t>honda</a:t>
            </a:r>
            <a:r>
              <a:rPr lang="en-US" sz="1100" dirty="0">
                <a:hlinkClick r:id="rId3"/>
              </a:rPr>
              <a:t>/snow-blower</a:t>
            </a:r>
            <a:endParaRPr lang="en-US" sz="11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5DC80F7-877D-49F6-94F9-AE43F0D044C7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180462" y="4630677"/>
            <a:ext cx="4605969" cy="154116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CAB719C-E22E-C395-361C-38141FF68A64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180462" y="3356167"/>
            <a:ext cx="3683000" cy="1130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22677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F0FA36D-3404-1E9C-B96C-7A351AA9B517}"/>
              </a:ext>
            </a:extLst>
          </p:cNvPr>
          <p:cNvSpPr txBox="1"/>
          <p:nvPr/>
        </p:nvSpPr>
        <p:spPr>
          <a:xfrm>
            <a:off x="143219" y="198303"/>
            <a:ext cx="382836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UTV Snow Blower</a:t>
            </a:r>
          </a:p>
          <a:p>
            <a:r>
              <a:rPr lang="en-US" sz="2000" b="1" dirty="0"/>
              <a:t>XUV590M width: 56.5" (144 cm)</a:t>
            </a:r>
          </a:p>
          <a:p>
            <a:endParaRPr lang="en-US" sz="2000" b="1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EBFB43DF-49FE-58F1-610B-E4A910C2F8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57199" y="1213966"/>
            <a:ext cx="3514382" cy="2342921"/>
          </a:xfrm>
          <a:prstGeom prst="rect">
            <a:avLst/>
          </a:prstGeom>
          <a:noFill/>
          <a:ln>
            <a:solidFill>
              <a:srgbClr val="FF0000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1DF7E30-C9D8-42C9-3C68-C919667FA0BC}"/>
              </a:ext>
            </a:extLst>
          </p:cNvPr>
          <p:cNvSpPr txBox="1"/>
          <p:nvPr/>
        </p:nvSpPr>
        <p:spPr>
          <a:xfrm>
            <a:off x="4615049" y="210002"/>
            <a:ext cx="6645618" cy="396262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2000" dirty="0"/>
              <a:t>==================================</a:t>
            </a:r>
          </a:p>
          <a:p>
            <a:r>
              <a:rPr lang="en-US" sz="2000" dirty="0" err="1"/>
              <a:t>Bercomac</a:t>
            </a:r>
            <a:r>
              <a:rPr lang="en-US" sz="2000" dirty="0"/>
              <a:t> from Canada:</a:t>
            </a:r>
          </a:p>
          <a:p>
            <a:r>
              <a:rPr lang="en-US" sz="1050" dirty="0">
                <a:hlinkClick r:id="rId3"/>
              </a:rPr>
              <a:t>https://us.bercomac.com/en_US/taxons/category/snowblower?limit=27</a:t>
            </a:r>
            <a:endParaRPr lang="en-US" sz="105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 err="1"/>
              <a:t>Bercomac</a:t>
            </a:r>
            <a:r>
              <a:rPr lang="en-US" sz="2000" dirty="0"/>
              <a:t> Versatile Plus 54" (20HP Honda engine) $7K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 err="1"/>
              <a:t>Bercomac</a:t>
            </a:r>
            <a:r>
              <a:rPr lang="en-US" sz="2000" dirty="0"/>
              <a:t> Premium 54" (22-24HP Honda engine) $8,500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 err="1"/>
              <a:t>Bercomac</a:t>
            </a:r>
            <a:r>
              <a:rPr lang="en-US" sz="2000" dirty="0"/>
              <a:t> Vantage 66" $8,500</a:t>
            </a:r>
          </a:p>
          <a:p>
            <a:r>
              <a:rPr lang="en-US" sz="2000" dirty="0"/>
              <a:t>==================================</a:t>
            </a:r>
          </a:p>
          <a:p>
            <a:r>
              <a:rPr lang="en-US" sz="2000" dirty="0"/>
              <a:t>Rammy from Finland:</a:t>
            </a:r>
          </a:p>
          <a:p>
            <a:r>
              <a:rPr lang="en-US" sz="2000" dirty="0"/>
              <a:t>Rammy 155 UTV PRO 61" (B&amp;S engine, 13HP) $6,400</a:t>
            </a:r>
          </a:p>
          <a:p>
            <a:r>
              <a:rPr lang="en-US" sz="1050" dirty="0">
                <a:hlinkClick r:id="rId4"/>
              </a:rPr>
              <a:t>https://rammy.fi/en/rammy-snowblower-155-utv-pro-3/</a:t>
            </a:r>
            <a:endParaRPr lang="en-US" sz="1050" dirty="0"/>
          </a:p>
          <a:p>
            <a:r>
              <a:rPr lang="en-US" sz="2000" dirty="0"/>
              <a:t>==================================</a:t>
            </a:r>
          </a:p>
          <a:p>
            <a:r>
              <a:rPr lang="en-US" sz="2000" dirty="0"/>
              <a:t>Erskine 60" (SB300 Hydraulic model) - USA</a:t>
            </a:r>
          </a:p>
          <a:p>
            <a:r>
              <a:rPr lang="en-US" sz="1050" dirty="0">
                <a:hlinkClick r:id="rId5"/>
              </a:rPr>
              <a:t>https://</a:t>
            </a:r>
            <a:r>
              <a:rPr lang="en-US" sz="1050" dirty="0" err="1">
                <a:hlinkClick r:id="rId5"/>
              </a:rPr>
              <a:t>erskineattachments.com</a:t>
            </a:r>
            <a:r>
              <a:rPr lang="en-US" sz="1050" dirty="0">
                <a:hlinkClick r:id="rId5"/>
              </a:rPr>
              <a:t>/products/hydraulic-snowblower-sb300-series/</a:t>
            </a:r>
            <a:endParaRPr lang="en-US" sz="1050" dirty="0"/>
          </a:p>
          <a:p>
            <a:r>
              <a:rPr lang="en-US" sz="2000" dirty="0"/>
              <a:t>==================================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C468931-D2D2-A3BF-55CA-AA47A7B9FE15}"/>
              </a:ext>
            </a:extLst>
          </p:cNvPr>
          <p:cNvSpPr txBox="1"/>
          <p:nvPr/>
        </p:nvSpPr>
        <p:spPr>
          <a:xfrm>
            <a:off x="4615049" y="4460268"/>
            <a:ext cx="7407618" cy="230832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Also considered this ATV blade + snowblower combo:</a:t>
            </a:r>
            <a:br>
              <a:rPr lang="en-US" dirty="0"/>
            </a:br>
            <a:r>
              <a:rPr lang="en-US" dirty="0"/>
              <a:t>Rammy W165 Plow + ST30 Combo </a:t>
            </a:r>
          </a:p>
          <a:p>
            <a:r>
              <a:rPr lang="en-US" dirty="0"/>
              <a:t>Unfortunately it is only  118 cm (46") with ST30 mounted, which is much narrower than our gator (144 cm) – so we will not be able to advance through the field of snow.</a:t>
            </a:r>
          </a:p>
          <a:p>
            <a:r>
              <a:rPr lang="en-US" dirty="0"/>
              <a:t>Yes, it is not as heavy, but the difference in weight is only 30 kg.</a:t>
            </a:r>
          </a:p>
          <a:p>
            <a:r>
              <a:rPr lang="en-US" dirty="0"/>
              <a:t>W165 Plow + ST30 Combo - 120 kg total (plow 50kg + ST30 70kg) </a:t>
            </a:r>
          </a:p>
          <a:p>
            <a:r>
              <a:rPr lang="en-US" dirty="0"/>
              <a:t>Rammy 155 UTV PRO - 150 kg total (125 kg snowblower + 25kg frame)</a:t>
            </a:r>
            <a:endParaRPr lang="en-US" sz="20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6DC205C-5CBD-5265-16C9-2808CDFB0D23}"/>
              </a:ext>
            </a:extLst>
          </p:cNvPr>
          <p:cNvPicPr>
            <a:picLocks noChangeAspect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7199" y="4590948"/>
            <a:ext cx="3514382" cy="2068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1664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2E7715-02AD-2BF2-57F2-87946916FD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3D892CB-7927-59CC-01DA-D27873B98074}"/>
              </a:ext>
            </a:extLst>
          </p:cNvPr>
          <p:cNvSpPr txBox="1"/>
          <p:nvPr/>
        </p:nvSpPr>
        <p:spPr>
          <a:xfrm>
            <a:off x="143219" y="198303"/>
            <a:ext cx="3514381" cy="33547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72-inch "KFI Plow" Snow Blade </a:t>
            </a:r>
          </a:p>
          <a:p>
            <a:endParaRPr lang="en-US" sz="1200" dirty="0"/>
          </a:p>
          <a:p>
            <a:r>
              <a:rPr lang="en-US" sz="1200" dirty="0"/>
              <a:t>standard plow shoes (skid feet)</a:t>
            </a:r>
          </a:p>
          <a:p>
            <a:r>
              <a:rPr lang="en-US" sz="1200" dirty="0"/>
              <a:t>part # </a:t>
            </a:r>
            <a:r>
              <a:rPr lang="en-US" sz="1200" dirty="0" err="1"/>
              <a:t>kfi</a:t>
            </a:r>
            <a:r>
              <a:rPr lang="en-US" sz="1200" dirty="0"/>
              <a:t> 105490:</a:t>
            </a:r>
          </a:p>
          <a:p>
            <a:r>
              <a:rPr lang="en-US" sz="1200" b="1" dirty="0">
                <a:solidFill>
                  <a:srgbClr val="FF0000"/>
                </a:solidFill>
              </a:rPr>
              <a:t>Shoe (Base) Diameter - 3.5 inches</a:t>
            </a:r>
          </a:p>
          <a:p>
            <a:r>
              <a:rPr lang="en-US" sz="1200" dirty="0"/>
              <a:t>Shaft Diameter - 0.63 inches (approx. 5/8")</a:t>
            </a:r>
          </a:p>
          <a:p>
            <a:r>
              <a:rPr lang="en-US" sz="1200" dirty="0"/>
              <a:t>Pad Thickness   0.5 inches (1/2" Grade 50 Steel)</a:t>
            </a:r>
          </a:p>
          <a:p>
            <a:r>
              <a:rPr lang="en-US" sz="1200" dirty="0"/>
              <a:t>Total Bolt Length   6.5 inches</a:t>
            </a:r>
          </a:p>
          <a:p>
            <a:endParaRPr lang="en-US" sz="1200" dirty="0"/>
          </a:p>
          <a:p>
            <a:r>
              <a:rPr lang="en-US" sz="1200" dirty="0"/>
              <a:t>KFI Plow Foot Bracket 105006-R</a:t>
            </a:r>
          </a:p>
          <a:p>
            <a:r>
              <a:rPr lang="en-US" sz="1200" dirty="0"/>
              <a:t>Attached to the blade with two 3/8"-16 x 1.00" carriage bolts and two nuts.</a:t>
            </a:r>
          </a:p>
          <a:p>
            <a:r>
              <a:rPr lang="en-US" sz="1200" dirty="0"/>
              <a:t>The distance between bolts 1.75 inches center-to-center</a:t>
            </a:r>
          </a:p>
          <a:p>
            <a:endParaRPr lang="en-US" sz="1200" dirty="0"/>
          </a:p>
          <a:p>
            <a:r>
              <a:rPr lang="en-US" sz="1200" dirty="0" err="1"/>
              <a:t>Insalation</a:t>
            </a:r>
            <a:r>
              <a:rPr lang="en-US" sz="1200" dirty="0"/>
              <a:t>: </a:t>
            </a:r>
          </a:p>
          <a:p>
            <a:r>
              <a:rPr lang="en-US" sz="1200" dirty="0"/>
              <a:t>https://</a:t>
            </a:r>
            <a:r>
              <a:rPr lang="en-US" sz="1200" dirty="0" err="1"/>
              <a:t>www.youtube.com</a:t>
            </a:r>
            <a:r>
              <a:rPr lang="en-US" sz="1200" dirty="0"/>
              <a:t>/</a:t>
            </a:r>
            <a:r>
              <a:rPr lang="en-US" sz="1200" dirty="0" err="1"/>
              <a:t>watch?v</a:t>
            </a:r>
            <a:r>
              <a:rPr lang="en-US" sz="1200" dirty="0"/>
              <a:t>=jcAqaNDId9k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31B3C79-FA91-C923-FE87-66DF5C6D049A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397068" y="2345667"/>
            <a:ext cx="1527491" cy="2370667"/>
          </a:xfrm>
          <a:prstGeom prst="rect">
            <a:avLst/>
          </a:prstGeom>
        </p:spPr>
      </p:pic>
      <p:pic>
        <p:nvPicPr>
          <p:cNvPr id="8" name="Picture 2">
            <a:extLst>
              <a:ext uri="{FF2B5EF4-FFF2-40B4-BE49-F238E27FC236}">
                <a16:creationId xmlns:a16="http://schemas.microsoft.com/office/drawing/2014/main" id="{16A62944-E1DE-353F-B407-DDC9A345E2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378700" y="2731455"/>
            <a:ext cx="1882712" cy="21835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9C7BD3E4-3908-F793-2263-CD32EC708F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 flipH="1">
            <a:off x="3989119" y="2616090"/>
            <a:ext cx="1139198" cy="1786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Am Maverick Sport X RC MC Snow Plow Kit ...">
            <a:extLst>
              <a:ext uri="{FF2B5EF4-FFF2-40B4-BE49-F238E27FC236}">
                <a16:creationId xmlns:a16="http://schemas.microsoft.com/office/drawing/2014/main" id="{B61F1530-92D8-0518-E869-D9328D19FD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657600" y="233011"/>
            <a:ext cx="3721100" cy="2184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3" name="Picture 9" descr="Plow Foot Bracket by Kfi Products Witchdoctors">
            <a:extLst>
              <a:ext uri="{FF2B5EF4-FFF2-40B4-BE49-F238E27FC236}">
                <a16:creationId xmlns:a16="http://schemas.microsoft.com/office/drawing/2014/main" id="{6E0EC079-8AC0-6603-B519-B6B39637A6E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2472"/>
          <a:stretch>
            <a:fillRect/>
          </a:stretch>
        </p:blipFill>
        <p:spPr bwMode="auto">
          <a:xfrm>
            <a:off x="3929590" y="4915013"/>
            <a:ext cx="1772410" cy="10653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5" name="Picture 11" descr="New KFI ATV Snow Plow Single Foot Replacement Kit, Skid Shoe for KFI Snow Blades - Picture 2 of 6">
            <a:extLst>
              <a:ext uri="{FF2B5EF4-FFF2-40B4-BE49-F238E27FC236}">
                <a16:creationId xmlns:a16="http://schemas.microsoft.com/office/drawing/2014/main" id="{8BFE2132-D283-D4DB-B238-A6344AECFF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229598" y="198303"/>
            <a:ext cx="2328917" cy="18398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B69F292-8D90-D01B-935A-E6F1EEA85DCA}"/>
              </a:ext>
            </a:extLst>
          </p:cNvPr>
          <p:cNvPicPr>
            <a:picLocks noChangeAspect="1"/>
          </p:cNvPicPr>
          <p:nvPr/>
        </p:nvPicPr>
        <p:blipFill>
          <a:blip r:embed="rId8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105846" y="4014469"/>
            <a:ext cx="1714500" cy="78740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58A10268-192D-733D-033A-56B2EBCD98C4}"/>
              </a:ext>
            </a:extLst>
          </p:cNvPr>
          <p:cNvSpPr txBox="1"/>
          <p:nvPr/>
        </p:nvSpPr>
        <p:spPr>
          <a:xfrm>
            <a:off x="143219" y="3885337"/>
            <a:ext cx="196262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Spring Locking Cotter Pin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ring cotter pin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clevis pin with a rue ring locking cotter pin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hairpin cotter pin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hairpin clip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R-clip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https://</a:t>
            </a:r>
            <a:r>
              <a:rPr lang="en-US" sz="1200" dirty="0" err="1"/>
              <a:t>www.youtube.com</a:t>
            </a:r>
            <a:r>
              <a:rPr lang="en-US" sz="1200" dirty="0"/>
              <a:t>/</a:t>
            </a:r>
            <a:r>
              <a:rPr lang="en-US" sz="1200" dirty="0" err="1"/>
              <a:t>watch?v</a:t>
            </a:r>
            <a:r>
              <a:rPr lang="en-US" sz="1200" dirty="0"/>
              <a:t>=</a:t>
            </a:r>
            <a:r>
              <a:rPr lang="en-US" sz="1200" dirty="0" err="1"/>
              <a:t>TlP_BgXcdBk</a:t>
            </a:r>
            <a:r>
              <a:rPr lang="en-US" sz="1200" dirty="0"/>
              <a:t> 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E919BD11-3DDB-8E57-7ED5-8B6F292CD4FA}"/>
              </a:ext>
            </a:extLst>
          </p:cNvPr>
          <p:cNvPicPr>
            <a:picLocks noChangeAspect="1"/>
          </p:cNvPicPr>
          <p:nvPr/>
        </p:nvPicPr>
        <p:blipFill>
          <a:blip r:embed="rId9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891895" y="5120248"/>
            <a:ext cx="1296910" cy="14399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42800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F0FA36D-3404-1E9C-B96C-7A351AA9B517}"/>
              </a:ext>
            </a:extLst>
          </p:cNvPr>
          <p:cNvSpPr txBox="1"/>
          <p:nvPr/>
        </p:nvSpPr>
        <p:spPr>
          <a:xfrm>
            <a:off x="160472" y="181050"/>
            <a:ext cx="4850999" cy="62170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Solutions to prevent the winch and cable </a:t>
            </a:r>
          </a:p>
          <a:p>
            <a:r>
              <a:rPr lang="en-US" sz="1400" b="1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from breaking when plowing</a:t>
            </a:r>
          </a:p>
          <a:p>
            <a:endParaRPr lang="en-US" sz="1400" b="1" dirty="0">
              <a:solidFill>
                <a:srgbClr val="FF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400" b="1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Better angle, brackets, pulleys</a:t>
            </a:r>
          </a:p>
          <a:p>
            <a:endParaRPr lang="en-US" sz="14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400" dirty="0">
                <a:latin typeface="Calibri" panose="020F0502020204030204" pitchFamily="34" charset="0"/>
                <a:cs typeface="Calibri" panose="020F0502020204030204" pitchFamily="34" charset="0"/>
              </a:rPr>
              <a:t>Solution 1.1 - mount the winch higher</a:t>
            </a:r>
          </a:p>
          <a:p>
            <a:r>
              <a:rPr lang="en-US" sz="1000" dirty="0">
                <a:latin typeface="Calibri" panose="020F0502020204030204" pitchFamily="34" charset="0"/>
                <a:cs typeface="Calibri" panose="020F0502020204030204" pitchFamily="34" charset="0"/>
              </a:rPr>
              <a:t> - </a:t>
            </a:r>
            <a:r>
              <a:rPr lang="en-US" sz="1000" u="sng" dirty="0">
                <a:latin typeface="Calibri" panose="020F0502020204030204" pitchFamily="34" charset="0"/>
                <a:cs typeface="Calibri" panose="020F0502020204030204" pitchFamily="34" charset="0"/>
                <a:hlinkClick r:id="rId2"/>
              </a:rPr>
              <a:t>https://www.youtube.com/watch?v=walB-pyDaYE</a:t>
            </a:r>
            <a:endParaRPr lang="en-US" sz="10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400" dirty="0">
                <a:latin typeface="Calibri" panose="020F0502020204030204" pitchFamily="34" charset="0"/>
                <a:cs typeface="Calibri" panose="020F0502020204030204" pitchFamily="34" charset="0"/>
              </a:rPr>
              <a:t>or change the hook point:</a:t>
            </a:r>
          </a:p>
          <a:p>
            <a:r>
              <a:rPr lang="en-US" sz="1000" dirty="0">
                <a:latin typeface="Calibri" panose="020F0502020204030204" pitchFamily="34" charset="0"/>
                <a:cs typeface="Calibri" panose="020F0502020204030204" pitchFamily="34" charset="0"/>
              </a:rPr>
              <a:t> - </a:t>
            </a:r>
            <a:r>
              <a:rPr lang="en-US" sz="1000" u="sng" dirty="0">
                <a:latin typeface="Calibri" panose="020F0502020204030204" pitchFamily="34" charset="0"/>
                <a:cs typeface="Calibri" panose="020F0502020204030204" pitchFamily="34" charset="0"/>
                <a:hlinkClick r:id="rId3"/>
              </a:rPr>
              <a:t>https://www.youtube.com/watch?v=QB3OdEiAtSg</a:t>
            </a:r>
            <a:r>
              <a:rPr lang="en-US" sz="1000" dirty="0">
                <a:latin typeface="Calibri" panose="020F0502020204030204" pitchFamily="34" charset="0"/>
                <a:cs typeface="Calibri" panose="020F0502020204030204" pitchFamily="34" charset="0"/>
              </a:rPr>
              <a:t>  </a:t>
            </a:r>
          </a:p>
          <a:p>
            <a:endParaRPr lang="en-US" sz="14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400" dirty="0">
                <a:latin typeface="Calibri" panose="020F0502020204030204" pitchFamily="34" charset="0"/>
                <a:cs typeface="Calibri" panose="020F0502020204030204" pitchFamily="34" charset="0"/>
              </a:rPr>
              <a:t>Solution 1.2 - use brackets with blocks and pulleys </a:t>
            </a:r>
          </a:p>
          <a:p>
            <a:r>
              <a:rPr lang="en-US" sz="1000" dirty="0">
                <a:latin typeface="Calibri" panose="020F0502020204030204" pitchFamily="34" charset="0"/>
                <a:cs typeface="Calibri" panose="020F0502020204030204" pitchFamily="34" charset="0"/>
              </a:rPr>
              <a:t> - </a:t>
            </a:r>
            <a:r>
              <a:rPr lang="en-US" sz="1000" u="sng" dirty="0">
                <a:latin typeface="Calibri" panose="020F0502020204030204" pitchFamily="34" charset="0"/>
                <a:cs typeface="Calibri" panose="020F0502020204030204" pitchFamily="34" charset="0"/>
                <a:hlinkClick r:id="rId4"/>
              </a:rPr>
              <a:t>https://www.youtube.com/watch?v=xptbCmz50AE</a:t>
            </a:r>
            <a:r>
              <a:rPr lang="en-US" sz="1000" dirty="0">
                <a:latin typeface="Calibri" panose="020F0502020204030204" pitchFamily="34" charset="0"/>
                <a:cs typeface="Calibri" panose="020F0502020204030204" pitchFamily="34" charset="0"/>
              </a:rPr>
              <a:t>   </a:t>
            </a:r>
          </a:p>
          <a:p>
            <a:r>
              <a:rPr lang="en-US" sz="1000" dirty="0">
                <a:latin typeface="Calibri" panose="020F0502020204030204" pitchFamily="34" charset="0"/>
                <a:cs typeface="Calibri" panose="020F0502020204030204" pitchFamily="34" charset="0"/>
              </a:rPr>
              <a:t> - </a:t>
            </a:r>
            <a:r>
              <a:rPr lang="en-US" sz="1000" u="sng" dirty="0">
                <a:latin typeface="Calibri" panose="020F0502020204030204" pitchFamily="34" charset="0"/>
                <a:cs typeface="Calibri" panose="020F0502020204030204" pitchFamily="34" charset="0"/>
                <a:hlinkClick r:id="rId5"/>
              </a:rPr>
              <a:t>https://www.youtube.com/watch?v=lIwT-UqNNQw</a:t>
            </a:r>
            <a:r>
              <a:rPr lang="en-US" sz="1000" dirty="0">
                <a:latin typeface="Calibri" panose="020F0502020204030204" pitchFamily="34" charset="0"/>
                <a:cs typeface="Calibri" panose="020F0502020204030204" pitchFamily="34" charset="0"/>
              </a:rPr>
              <a:t>  </a:t>
            </a:r>
          </a:p>
          <a:p>
            <a:endParaRPr lang="en-US" sz="14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400" b="1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Prevent cable tangling</a:t>
            </a:r>
          </a:p>
          <a:p>
            <a:endParaRPr lang="en-US" sz="14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400" dirty="0">
                <a:latin typeface="Calibri" panose="020F0502020204030204" pitchFamily="34" charset="0"/>
                <a:cs typeface="Calibri" panose="020F0502020204030204" pitchFamily="34" charset="0"/>
              </a:rPr>
              <a:t>Solution 2.1 - use a spring to keep tension</a:t>
            </a:r>
          </a:p>
          <a:p>
            <a:r>
              <a:rPr lang="en-US" sz="1400" dirty="0">
                <a:latin typeface="Calibri" panose="020F0502020204030204" pitchFamily="34" charset="0"/>
                <a:cs typeface="Calibri" panose="020F0502020204030204" pitchFamily="34" charset="0"/>
              </a:rPr>
              <a:t>Example - using leaf spring</a:t>
            </a:r>
          </a:p>
          <a:p>
            <a:r>
              <a:rPr lang="en-US" sz="1000" dirty="0">
                <a:latin typeface="Calibri" panose="020F0502020204030204" pitchFamily="34" charset="0"/>
                <a:cs typeface="Calibri" panose="020F0502020204030204" pitchFamily="34" charset="0"/>
              </a:rPr>
              <a:t> - </a:t>
            </a:r>
            <a:r>
              <a:rPr lang="en-US" sz="1000" u="sng" dirty="0">
                <a:latin typeface="Calibri" panose="020F0502020204030204" pitchFamily="34" charset="0"/>
                <a:cs typeface="Calibri" panose="020F0502020204030204" pitchFamily="34" charset="0"/>
                <a:hlinkClick r:id="rId6"/>
              </a:rPr>
              <a:t>https://www.youtube.com/watch?v=MSzYsjSwWq0</a:t>
            </a:r>
            <a:r>
              <a:rPr lang="en-US" sz="1000" dirty="0">
                <a:latin typeface="Calibri" panose="020F0502020204030204" pitchFamily="34" charset="0"/>
                <a:cs typeface="Calibri" panose="020F0502020204030204" pitchFamily="34" charset="0"/>
              </a:rPr>
              <a:t> </a:t>
            </a:r>
          </a:p>
          <a:p>
            <a:r>
              <a:rPr lang="en-US" sz="1400" dirty="0">
                <a:latin typeface="Calibri" panose="020F0502020204030204" pitchFamily="34" charset="0"/>
                <a:cs typeface="Calibri" panose="020F0502020204030204" pitchFamily="34" charset="0"/>
              </a:rPr>
              <a:t>Example - commercial tensioner</a:t>
            </a:r>
          </a:p>
          <a:p>
            <a:r>
              <a:rPr lang="en-US" sz="1000" dirty="0">
                <a:latin typeface="Calibri" panose="020F0502020204030204" pitchFamily="34" charset="0"/>
                <a:cs typeface="Calibri" panose="020F0502020204030204" pitchFamily="34" charset="0"/>
              </a:rPr>
              <a:t> - </a:t>
            </a:r>
            <a:r>
              <a:rPr lang="en-US" sz="1000" u="sng" dirty="0">
                <a:latin typeface="Calibri" panose="020F0502020204030204" pitchFamily="34" charset="0"/>
                <a:cs typeface="Calibri" panose="020F0502020204030204" pitchFamily="34" charset="0"/>
                <a:hlinkClick r:id="rId7"/>
              </a:rPr>
              <a:t>https://www.youtube.com/watch?v=JiPT2l71U3U</a:t>
            </a:r>
            <a:r>
              <a:rPr lang="en-US" sz="1000" dirty="0">
                <a:latin typeface="Calibri" panose="020F0502020204030204" pitchFamily="34" charset="0"/>
                <a:cs typeface="Calibri" panose="020F0502020204030204" pitchFamily="34" charset="0"/>
              </a:rPr>
              <a:t> </a:t>
            </a:r>
          </a:p>
          <a:p>
            <a:r>
              <a:rPr lang="en-US" sz="1000" dirty="0">
                <a:latin typeface="Calibri" panose="020F0502020204030204" pitchFamily="34" charset="0"/>
                <a:cs typeface="Calibri" panose="020F0502020204030204" pitchFamily="34" charset="0"/>
              </a:rPr>
              <a:t> - </a:t>
            </a:r>
            <a:r>
              <a:rPr lang="en-US" sz="1000" u="sng" dirty="0">
                <a:latin typeface="Calibri" panose="020F0502020204030204" pitchFamily="34" charset="0"/>
                <a:cs typeface="Calibri" panose="020F0502020204030204" pitchFamily="34" charset="0"/>
                <a:hlinkClick r:id="rId8"/>
              </a:rPr>
              <a:t>https://zips.com/products/winches-cables/winch-parts/winch-tensioners</a:t>
            </a:r>
            <a:r>
              <a:rPr lang="en-US" sz="1000" dirty="0">
                <a:latin typeface="Calibri" panose="020F0502020204030204" pitchFamily="34" charset="0"/>
                <a:cs typeface="Calibri" panose="020F0502020204030204" pitchFamily="34" charset="0"/>
              </a:rPr>
              <a:t> </a:t>
            </a:r>
          </a:p>
          <a:p>
            <a:endParaRPr lang="en-US" sz="14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endParaRPr lang="en-US" sz="14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br>
              <a:rPr lang="en-US" sz="1400" dirty="0"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1400" dirty="0">
                <a:latin typeface="Calibri" panose="020F0502020204030204" pitchFamily="34" charset="0"/>
                <a:cs typeface="Calibri" panose="020F0502020204030204" pitchFamily="34" charset="0"/>
              </a:rPr>
              <a:t>Solution 2.2 - use a synthetic rope or flat tow strap instead of the metal cable. </a:t>
            </a:r>
          </a:p>
          <a:p>
            <a:r>
              <a:rPr lang="en-US" sz="1400" dirty="0">
                <a:latin typeface="Calibri" panose="020F0502020204030204" pitchFamily="34" charset="0"/>
                <a:cs typeface="Calibri" panose="020F0502020204030204" pitchFamily="34" charset="0"/>
              </a:rPr>
              <a:t>Use a "roller fairlead" for synthetic line, or use "hawse fairlead" for flat strap to avoid tangling</a:t>
            </a:r>
          </a:p>
          <a:p>
            <a:r>
              <a:rPr lang="en-US" sz="1000" dirty="0">
                <a:latin typeface="Calibri" panose="020F0502020204030204" pitchFamily="34" charset="0"/>
                <a:cs typeface="Calibri" panose="020F0502020204030204" pitchFamily="34" charset="0"/>
              </a:rPr>
              <a:t> - </a:t>
            </a:r>
            <a:r>
              <a:rPr lang="en-US" sz="1000" u="sng" dirty="0">
                <a:latin typeface="Calibri" panose="020F0502020204030204" pitchFamily="34" charset="0"/>
                <a:cs typeface="Calibri" panose="020F0502020204030204" pitchFamily="34" charset="0"/>
                <a:hlinkClick r:id="rId9"/>
              </a:rPr>
              <a:t>https://www.youtube.com/watch?v=b4dRQ-H7ffM</a:t>
            </a:r>
            <a:r>
              <a:rPr lang="en-US" sz="10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</a:p>
          <a:p>
            <a:r>
              <a:rPr lang="en-US" sz="1000" dirty="0">
                <a:latin typeface="Calibri" panose="020F0502020204030204" pitchFamily="34" charset="0"/>
                <a:cs typeface="Calibri" panose="020F0502020204030204" pitchFamily="34" charset="0"/>
              </a:rPr>
              <a:t> - </a:t>
            </a:r>
            <a:r>
              <a:rPr lang="en-US" sz="1000" u="sng" dirty="0">
                <a:latin typeface="Calibri" panose="020F0502020204030204" pitchFamily="34" charset="0"/>
                <a:cs typeface="Calibri" panose="020F0502020204030204" pitchFamily="34" charset="0"/>
                <a:hlinkClick r:id="rId10"/>
              </a:rPr>
              <a:t>https://www.youtube.com/watch?v=oim648rsuI8</a:t>
            </a:r>
            <a:r>
              <a:rPr lang="en-US" sz="1000" dirty="0">
                <a:latin typeface="Calibri" panose="020F0502020204030204" pitchFamily="34" charset="0"/>
                <a:cs typeface="Calibri" panose="020F0502020204030204" pitchFamily="34" charset="0"/>
              </a:rPr>
              <a:t>  </a:t>
            </a:r>
          </a:p>
        </p:txBody>
      </p:sp>
      <p:pic>
        <p:nvPicPr>
          <p:cNvPr id="3" name="Google Shape;60;p14">
            <a:extLst>
              <a:ext uri="{FF2B5EF4-FFF2-40B4-BE49-F238E27FC236}">
                <a16:creationId xmlns:a16="http://schemas.microsoft.com/office/drawing/2014/main" id="{2F578B0C-8343-3977-3901-9036C5560E60}"/>
              </a:ext>
            </a:extLst>
          </p:cNvPr>
          <p:cNvPicPr preferRelativeResize="0"/>
          <p:nvPr/>
        </p:nvPicPr>
        <p:blipFill>
          <a:blip r:embed="rId11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766869" y="181050"/>
            <a:ext cx="2182119" cy="1767516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4" name="Google Shape;64;p14">
            <a:extLst>
              <a:ext uri="{FF2B5EF4-FFF2-40B4-BE49-F238E27FC236}">
                <a16:creationId xmlns:a16="http://schemas.microsoft.com/office/drawing/2014/main" id="{ED03CE0E-4C31-C2FE-76EE-11BA0D1058EF}"/>
              </a:ext>
            </a:extLst>
          </p:cNvPr>
          <p:cNvPicPr preferRelativeResize="0"/>
          <p:nvPr/>
        </p:nvPicPr>
        <p:blipFill>
          <a:blip r:embed="rId12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016389" y="181052"/>
            <a:ext cx="2601479" cy="1499813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6" name="Google Shape;62;p14">
            <a:extLst>
              <a:ext uri="{FF2B5EF4-FFF2-40B4-BE49-F238E27FC236}">
                <a16:creationId xmlns:a16="http://schemas.microsoft.com/office/drawing/2014/main" id="{619FD907-D758-2E58-557F-6B480801A577}"/>
              </a:ext>
            </a:extLst>
          </p:cNvPr>
          <p:cNvPicPr preferRelativeResize="0"/>
          <p:nvPr/>
        </p:nvPicPr>
        <p:blipFill>
          <a:blip r:embed="rId1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243014" y="1863147"/>
            <a:ext cx="2440444" cy="1269029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7" name="Google Shape;63;p14">
            <a:extLst>
              <a:ext uri="{FF2B5EF4-FFF2-40B4-BE49-F238E27FC236}">
                <a16:creationId xmlns:a16="http://schemas.microsoft.com/office/drawing/2014/main" id="{B5136630-1135-796B-C68E-967609E4DA6C}"/>
              </a:ext>
            </a:extLst>
          </p:cNvPr>
          <p:cNvPicPr preferRelativeResize="0"/>
          <p:nvPr/>
        </p:nvPicPr>
        <p:blipFill>
          <a:blip r:embed="rId1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053057" y="407971"/>
            <a:ext cx="1793606" cy="2787994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9" name="Google Shape;74;p15">
            <a:extLst>
              <a:ext uri="{FF2B5EF4-FFF2-40B4-BE49-F238E27FC236}">
                <a16:creationId xmlns:a16="http://schemas.microsoft.com/office/drawing/2014/main" id="{8B6F8FE6-1E05-ED68-FA32-FBC946F46E31}"/>
              </a:ext>
            </a:extLst>
          </p:cNvPr>
          <p:cNvPicPr preferRelativeResize="0"/>
          <p:nvPr/>
        </p:nvPicPr>
        <p:blipFill>
          <a:blip r:embed="rId1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742483" y="3260535"/>
            <a:ext cx="2081745" cy="1707499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1" name="Google Shape;75;p15">
            <a:extLst>
              <a:ext uri="{FF2B5EF4-FFF2-40B4-BE49-F238E27FC236}">
                <a16:creationId xmlns:a16="http://schemas.microsoft.com/office/drawing/2014/main" id="{49C4225E-4E4E-E068-1BE5-FD533B8948C4}"/>
              </a:ext>
            </a:extLst>
          </p:cNvPr>
          <p:cNvPicPr preferRelativeResize="0"/>
          <p:nvPr/>
        </p:nvPicPr>
        <p:blipFill>
          <a:blip r:embed="rId1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053785" y="3260536"/>
            <a:ext cx="2545099" cy="1707506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2" name="Google Shape;70;p15">
            <a:extLst>
              <a:ext uri="{FF2B5EF4-FFF2-40B4-BE49-F238E27FC236}">
                <a16:creationId xmlns:a16="http://schemas.microsoft.com/office/drawing/2014/main" id="{634AD339-CBF8-008F-443D-DD5AEC87A504}"/>
              </a:ext>
            </a:extLst>
          </p:cNvPr>
          <p:cNvPicPr preferRelativeResize="0"/>
          <p:nvPr/>
        </p:nvPicPr>
        <p:blipFill>
          <a:blip r:embed="rId1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564793" y="5490424"/>
            <a:ext cx="1585913" cy="1057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72;p15">
            <a:extLst>
              <a:ext uri="{FF2B5EF4-FFF2-40B4-BE49-F238E27FC236}">
                <a16:creationId xmlns:a16="http://schemas.microsoft.com/office/drawing/2014/main" id="{F7430E0C-EE7A-F40E-1311-44D068DE36C1}"/>
              </a:ext>
            </a:extLst>
          </p:cNvPr>
          <p:cNvPicPr preferRelativeResize="0"/>
          <p:nvPr/>
        </p:nvPicPr>
        <p:blipFill>
          <a:blip r:embed="rId18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226906" y="5425629"/>
            <a:ext cx="1437931" cy="1122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Google Shape;73;p15">
            <a:extLst>
              <a:ext uri="{FF2B5EF4-FFF2-40B4-BE49-F238E27FC236}">
                <a16:creationId xmlns:a16="http://schemas.microsoft.com/office/drawing/2014/main" id="{145D0BB8-ECAE-13DF-0D0F-7FF6458944EF}"/>
              </a:ext>
            </a:extLst>
          </p:cNvPr>
          <p:cNvPicPr preferRelativeResize="0"/>
          <p:nvPr/>
        </p:nvPicPr>
        <p:blipFill>
          <a:blip r:embed="rId19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053785" y="5425629"/>
            <a:ext cx="1122075" cy="1122075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7654884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64CF0B-EC81-CE7E-BDE5-AE3A61EB58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AA2CC49-5002-C0ED-EB4A-945150499B16}"/>
              </a:ext>
            </a:extLst>
          </p:cNvPr>
          <p:cNvSpPr txBox="1"/>
          <p:nvPr/>
        </p:nvSpPr>
        <p:spPr>
          <a:xfrm>
            <a:off x="160472" y="181050"/>
            <a:ext cx="4850999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rgbClr val="FF0000"/>
                </a:solidFill>
              </a:rPr>
              <a:t>Polaris Ranger UTV Winch </a:t>
            </a:r>
          </a:p>
          <a:p>
            <a:r>
              <a:rPr lang="en-US" sz="1400" b="1" dirty="0">
                <a:solidFill>
                  <a:srgbClr val="FF0000"/>
                </a:solidFill>
              </a:rPr>
              <a:t>Auto-Stop Fairlead Kit </a:t>
            </a:r>
          </a:p>
          <a:p>
            <a:r>
              <a:rPr lang="en-US" sz="1400" b="1" dirty="0">
                <a:solidFill>
                  <a:srgbClr val="FF0000"/>
                </a:solidFill>
              </a:rPr>
              <a:t>by </a:t>
            </a:r>
            <a:r>
              <a:rPr lang="en-US" sz="1400" b="1" dirty="0" err="1">
                <a:solidFill>
                  <a:srgbClr val="FF0000"/>
                </a:solidFill>
              </a:rPr>
              <a:t>SuperATV</a:t>
            </a:r>
            <a:endParaRPr lang="en-US" sz="1400" b="1" dirty="0">
              <a:solidFill>
                <a:srgbClr val="FF0000"/>
              </a:solidFill>
            </a:endParaRPr>
          </a:p>
          <a:p>
            <a:endParaRPr lang="en-US" sz="1400" b="1" dirty="0"/>
          </a:p>
          <a:p>
            <a:r>
              <a:rPr lang="en-US" sz="1400" dirty="0"/>
              <a:t>$223</a:t>
            </a:r>
          </a:p>
          <a:p>
            <a:endParaRPr lang="en-US" sz="1400" b="1" dirty="0"/>
          </a:p>
          <a:p>
            <a:r>
              <a:rPr lang="en-US" sz="1000" dirty="0">
                <a:hlinkClick r:id="rId2"/>
              </a:rPr>
              <a:t>https://</a:t>
            </a:r>
            <a:r>
              <a:rPr lang="en-US" sz="1000" dirty="0" err="1">
                <a:hlinkClick r:id="rId2"/>
              </a:rPr>
              <a:t>www.everythingpolarisranger.com</a:t>
            </a:r>
            <a:r>
              <a:rPr lang="en-US" sz="1000" dirty="0">
                <a:hlinkClick r:id="rId2"/>
              </a:rPr>
              <a:t>/</a:t>
            </a:r>
            <a:r>
              <a:rPr lang="en-US" sz="1000" dirty="0" err="1">
                <a:hlinkClick r:id="rId2"/>
              </a:rPr>
              <a:t>polaris</a:t>
            </a:r>
            <a:r>
              <a:rPr lang="en-US" sz="1000" dirty="0">
                <a:hlinkClick r:id="rId2"/>
              </a:rPr>
              <a:t>-ranger-</a:t>
            </a:r>
            <a:r>
              <a:rPr lang="en-US" sz="1000" dirty="0" err="1">
                <a:hlinkClick r:id="rId2"/>
              </a:rPr>
              <a:t>utv</a:t>
            </a:r>
            <a:r>
              <a:rPr lang="en-US" sz="1000" dirty="0">
                <a:hlinkClick r:id="rId2"/>
              </a:rPr>
              <a:t>-winch-auto-stop-fairlead-kit-by-</a:t>
            </a:r>
            <a:r>
              <a:rPr lang="en-US" sz="1000" dirty="0" err="1">
                <a:hlinkClick r:id="rId2"/>
              </a:rPr>
              <a:t>superatv</a:t>
            </a:r>
            <a:r>
              <a:rPr lang="en-US" sz="1000" dirty="0">
                <a:hlinkClick r:id="rId2"/>
              </a:rPr>
              <a:t>/</a:t>
            </a:r>
            <a:endParaRPr lang="en-US" sz="1000" dirty="0"/>
          </a:p>
          <a:p>
            <a:endParaRPr lang="en-US" sz="1400" b="1" dirty="0"/>
          </a:p>
          <a:p>
            <a:r>
              <a:rPr lang="en-US" sz="1400" dirty="0"/>
              <a:t>A plastic stopper cylinder is put onto the cable.</a:t>
            </a:r>
          </a:p>
          <a:p>
            <a:r>
              <a:rPr lang="en-US" sz="1400" dirty="0"/>
              <a:t>When the stopper approaches and touches the mouth of the fairlead, the winch shuts off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ACE4626-BACE-EBD8-E682-DFE1A1AB4243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096000" y="76200"/>
            <a:ext cx="5689600" cy="3352800"/>
          </a:xfrm>
          <a:prstGeom prst="rect">
            <a:avLst/>
          </a:prstGeom>
        </p:spPr>
      </p:pic>
      <p:pic>
        <p:nvPicPr>
          <p:cNvPr id="1026" name="Picture 2" descr="Viper ATV/UTV Auto Stop Fairlead - Wide ...">
            <a:extLst>
              <a:ext uri="{FF2B5EF4-FFF2-40B4-BE49-F238E27FC236}">
                <a16:creationId xmlns:a16="http://schemas.microsoft.com/office/drawing/2014/main" id="{CD9794CF-8BBC-492A-83CC-D749F2DADC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509982" y="3000914"/>
            <a:ext cx="2857500" cy="2857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933873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F0FA36D-3404-1E9C-B96C-7A351AA9B517}"/>
              </a:ext>
            </a:extLst>
          </p:cNvPr>
          <p:cNvSpPr txBox="1"/>
          <p:nvPr/>
        </p:nvSpPr>
        <p:spPr>
          <a:xfrm>
            <a:off x="143219" y="198303"/>
            <a:ext cx="35143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72" Snow Blade $1,800 - current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D62F3AB-DA6C-F993-6E36-88F38D041B39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05337" y="1262634"/>
            <a:ext cx="2952288" cy="125826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4F4FFA0-998B-03AA-C334-9995135C463E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68001" y="1298390"/>
            <a:ext cx="2345981" cy="85646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6DCB7CB-16C0-D301-A84F-364BC7B8C42D}"/>
              </a:ext>
            </a:extLst>
          </p:cNvPr>
          <p:cNvSpPr txBox="1"/>
          <p:nvPr/>
        </p:nvSpPr>
        <p:spPr>
          <a:xfrm>
            <a:off x="10642579" y="1418502"/>
            <a:ext cx="1472864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72" Western Impact HD Straight Blade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120D582-8ECE-13CE-3169-9B7015D626CE}"/>
              </a:ext>
            </a:extLst>
          </p:cNvPr>
          <p:cNvSpPr txBox="1"/>
          <p:nvPr/>
        </p:nvSpPr>
        <p:spPr>
          <a:xfrm>
            <a:off x="76557" y="1098976"/>
            <a:ext cx="4394914" cy="56784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DENALI Hydro-Turn System</a:t>
            </a: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http://</a:t>
            </a:r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</a:rPr>
              <a:t>motoalliance.com</a:t>
            </a: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/</a:t>
            </a:r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</a:rPr>
              <a:t>denali</a:t>
            </a: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-snow-plow-</a:t>
            </a:r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</a:rPr>
              <a:t>hydroturn</a:t>
            </a: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-with-joystick</a:t>
            </a:r>
          </a:p>
          <a:p>
            <a:endParaRPr lang="en-US" sz="11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-----</a:t>
            </a:r>
          </a:p>
          <a:p>
            <a:endParaRPr lang="en-US" sz="11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Hydraulic Angle Control Systems</a:t>
            </a: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Western Impact Mid-Duty and HD Series:  72" HD V-Blade</a:t>
            </a: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  <a:hlinkClick r:id="rId4"/>
              </a:rPr>
              <a:t>https://</a:t>
            </a:r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  <a:hlinkClick r:id="rId4"/>
              </a:rPr>
              <a:t>www.tricountyequipment.net</a:t>
            </a: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  <a:hlinkClick r:id="rId4"/>
              </a:rPr>
              <a:t>/new-equipment/residential/tractor-packages/gator-snow-packages/xuv835r-and-western-impact-hd-v-blade/</a:t>
            </a:r>
            <a:endParaRPr lang="en-US" sz="11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endParaRPr lang="en-US" sz="11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-----</a:t>
            </a:r>
          </a:p>
          <a:p>
            <a:endParaRPr lang="en-US" sz="11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Blackline Solutions: Offers hydraulic electric lift and angle plow systems with simple joystick controls and down pressure with float functionality.</a:t>
            </a: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https://</a:t>
            </a:r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</a:rPr>
              <a:t>www.blackline-solutions.com</a:t>
            </a:r>
            <a:endParaRPr lang="en-US" sz="11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endParaRPr lang="en-US" sz="11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-----</a:t>
            </a:r>
          </a:p>
          <a:p>
            <a:endParaRPr lang="en-US" sz="11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</a:rPr>
              <a:t>SuperATV</a:t>
            </a: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 Plow Pro Angle Actuator: This electric actuator kit delivers 1,800 pounds of force and uses a rocker switch mounted in your cab. It provides 30 degrees of angle adjustment left or right of center and can be adjusted on the move</a:t>
            </a: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https://</a:t>
            </a:r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</a:rPr>
              <a:t>www.everythingdeeregator.com</a:t>
            </a: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/john-deere-gator-plow-pro-utv-plow-angle-actuator-kit-by-superatv-hc-u-001-ejd</a:t>
            </a:r>
          </a:p>
          <a:p>
            <a:endParaRPr lang="en-US" sz="11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-----</a:t>
            </a:r>
          </a:p>
          <a:p>
            <a:endParaRPr lang="en-US" sz="11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Kolpin High Rise Power Angle: This electric system rotates the blade 56 degrees with dash or handlebar-mounted button controls. It uses a self-locking steel gear drive and installs in under 30 minutes with just 5 bolts</a:t>
            </a: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https://</a:t>
            </a:r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</a:rPr>
              <a:t>www.utvsource.com</a:t>
            </a: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/</a:t>
            </a:r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</a:rPr>
              <a:t>kolpin</a:t>
            </a: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-outdoors-high-rise-snow-plow-power-angle/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6132AAD2-19BF-3D33-4143-BC3E0B65C7B4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05337" y="3972538"/>
            <a:ext cx="1549400" cy="83185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1425BF70-0BFD-FADB-F281-1AEA07513FE8}"/>
              </a:ext>
            </a:extLst>
          </p:cNvPr>
          <p:cNvPicPr>
            <a:picLocks noChangeAspect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446592" y="5136331"/>
            <a:ext cx="2152293" cy="1258264"/>
          </a:xfrm>
          <a:prstGeom prst="rect">
            <a:avLst/>
          </a:prstGeom>
        </p:spPr>
      </p:pic>
      <p:pic>
        <p:nvPicPr>
          <p:cNvPr id="1026" name="Picture 2" descr="Picture">
            <a:extLst>
              <a:ext uri="{FF2B5EF4-FFF2-40B4-BE49-F238E27FC236}">
                <a16:creationId xmlns:a16="http://schemas.microsoft.com/office/drawing/2014/main" id="{80E4F8CD-0936-8DCE-B797-92E2EED9E8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563010" y="2759863"/>
            <a:ext cx="1472864" cy="831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C9D9810-36D8-5C6B-5D58-399895CAFE7B}"/>
              </a:ext>
            </a:extLst>
          </p:cNvPr>
          <p:cNvSpPr txBox="1"/>
          <p:nvPr/>
        </p:nvSpPr>
        <p:spPr>
          <a:xfrm>
            <a:off x="7843126" y="211917"/>
            <a:ext cx="270158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FF0000"/>
                </a:solidFill>
              </a:rPr>
              <a:t>Western IMPACT UTV V-Plow </a:t>
            </a:r>
            <a:r>
              <a:rPr lang="en-US" sz="1600" dirty="0"/>
              <a:t>is the best choice because it explicitly includes back drag.</a:t>
            </a:r>
          </a:p>
          <a:p>
            <a:r>
              <a:rPr lang="en-US" sz="1600" dirty="0"/>
              <a:t>But it costs $4K+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3508711-DC5F-8D94-0B31-39EBA077D262}"/>
              </a:ext>
            </a:extLst>
          </p:cNvPr>
          <p:cNvSpPr txBox="1"/>
          <p:nvPr/>
        </p:nvSpPr>
        <p:spPr>
          <a:xfrm>
            <a:off x="7603487" y="2452513"/>
            <a:ext cx="4394913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Back drag solutions:</a:t>
            </a:r>
          </a:p>
          <a:p>
            <a:endParaRPr lang="en-US" sz="1100" dirty="0"/>
          </a:p>
          <a:p>
            <a:r>
              <a:rPr lang="en-US" sz="1100" dirty="0"/>
              <a:t>Back Drag Blade Can-Am</a:t>
            </a:r>
          </a:p>
          <a:p>
            <a:r>
              <a:rPr lang="en-US" sz="1100" dirty="0"/>
              <a:t>https://can-am-</a:t>
            </a:r>
            <a:r>
              <a:rPr lang="en-US" sz="1100" dirty="0" err="1"/>
              <a:t>shop.brp.com</a:t>
            </a:r>
            <a:r>
              <a:rPr lang="en-US" sz="1100" dirty="0"/>
              <a:t>/off-road/us/</a:t>
            </a:r>
            <a:r>
              <a:rPr lang="en-US" sz="1100" dirty="0" err="1"/>
              <a:t>en</a:t>
            </a:r>
            <a:r>
              <a:rPr lang="en-US" sz="1100" dirty="0"/>
              <a:t>/back-drag-blade-can-am-715007794.htm</a:t>
            </a:r>
          </a:p>
          <a:p>
            <a:endParaRPr lang="en-US" sz="1100" dirty="0"/>
          </a:p>
          <a:p>
            <a:r>
              <a:rPr lang="en-US" sz="1100" dirty="0"/>
              <a:t>Western 66892 8 ft. Back Drag Edge</a:t>
            </a:r>
          </a:p>
          <a:p>
            <a:r>
              <a:rPr lang="en-US" sz="1100" dirty="0"/>
              <a:t>https://www.4qte.com/prd-583-western-66892-8-ft.-back-drag-edge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5C845C6-5B60-556F-C54B-C1BD0B5F903A}"/>
              </a:ext>
            </a:extLst>
          </p:cNvPr>
          <p:cNvSpPr txBox="1"/>
          <p:nvPr/>
        </p:nvSpPr>
        <p:spPr>
          <a:xfrm>
            <a:off x="7452864" y="4240577"/>
            <a:ext cx="379086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hlinkClick r:id="rId8"/>
              </a:rPr>
              <a:t>https://snoway.com</a:t>
            </a:r>
            <a:r>
              <a:rPr lang="en-US" sz="1100" dirty="0"/>
              <a:t> – Sno-Way V-plow similar to Western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3F2681B-617B-95CF-5EE1-F8BC5BCC3E5E}"/>
              </a:ext>
            </a:extLst>
          </p:cNvPr>
          <p:cNvPicPr>
            <a:picLocks noChangeAspect="1"/>
          </p:cNvPicPr>
          <p:nvPr/>
        </p:nvPicPr>
        <p:blipFill>
          <a:blip r:embed="rId9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843126" y="4599108"/>
            <a:ext cx="2671837" cy="2047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968911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45F99A-9A76-0D4B-7909-5BEEC960A9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EA4FDA6-CDAC-9BCC-3C0C-F323B968C36A}"/>
              </a:ext>
            </a:extLst>
          </p:cNvPr>
          <p:cNvSpPr txBox="1"/>
          <p:nvPr/>
        </p:nvSpPr>
        <p:spPr>
          <a:xfrm>
            <a:off x="143219" y="198303"/>
            <a:ext cx="3819182" cy="73866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Snow Tamers</a:t>
            </a:r>
          </a:p>
          <a:p>
            <a:r>
              <a:rPr lang="en-US" sz="1200" dirty="0">
                <a:hlinkClick r:id="rId2"/>
              </a:rPr>
              <a:t>https://www.r2manufacturing.com</a:t>
            </a:r>
            <a:endParaRPr lang="en-US" sz="1200" dirty="0"/>
          </a:p>
          <a:p>
            <a:r>
              <a:rPr lang="en-US" sz="1200" dirty="0">
                <a:hlinkClick r:id="rId3"/>
              </a:rPr>
              <a:t>https://</a:t>
            </a:r>
            <a:r>
              <a:rPr lang="en-US" sz="1200" dirty="0" err="1">
                <a:hlinkClick r:id="rId3"/>
              </a:rPr>
              <a:t>www.youtube.com</a:t>
            </a:r>
            <a:r>
              <a:rPr lang="en-US" sz="1200" dirty="0">
                <a:hlinkClick r:id="rId3"/>
              </a:rPr>
              <a:t>/</a:t>
            </a:r>
            <a:r>
              <a:rPr lang="en-US" sz="1200" dirty="0" err="1">
                <a:hlinkClick r:id="rId3"/>
              </a:rPr>
              <a:t>watch?v</a:t>
            </a:r>
            <a:r>
              <a:rPr lang="en-US" sz="1200" dirty="0">
                <a:hlinkClick r:id="rId3"/>
              </a:rPr>
              <a:t>=5VuD0MhxcQ0</a:t>
            </a:r>
            <a:endParaRPr lang="en-US" sz="12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A6C7CEA-91BC-1EA0-3719-3E53253B3B07}"/>
              </a:ext>
            </a:extLst>
          </p:cNvPr>
          <p:cNvSpPr txBox="1"/>
          <p:nvPr/>
        </p:nvSpPr>
        <p:spPr>
          <a:xfrm>
            <a:off x="76557" y="1098976"/>
            <a:ext cx="4394914" cy="449353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Plowing snow on gravel</a:t>
            </a: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Using tube at the bottom of the snow blade</a:t>
            </a:r>
          </a:p>
          <a:p>
            <a:endParaRPr lang="en-US" sz="11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  <a:hlinkClick r:id="rId4"/>
              </a:rPr>
              <a:t>https://</a:t>
            </a:r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  <a:hlinkClick r:id="rId4"/>
              </a:rPr>
              <a:t>www.youtube.com</a:t>
            </a: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  <a:hlinkClick r:id="rId4"/>
              </a:rPr>
              <a:t>/</a:t>
            </a:r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  <a:hlinkClick r:id="rId4"/>
              </a:rPr>
              <a:t>watch?v</a:t>
            </a: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  <a:hlinkClick r:id="rId4"/>
              </a:rPr>
              <a:t>=K8zB1X35QtI</a:t>
            </a:r>
            <a:endParaRPr lang="en-US" sz="11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He uses 1-3/8" galvanized steel fence top rail.</a:t>
            </a: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It is a galvanized steel pipe.</a:t>
            </a: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Sizes (diameter):</a:t>
            </a: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  1 1/4"</a:t>
            </a: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  1-3/8"</a:t>
            </a: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  1 1/2"</a:t>
            </a: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In this video he used size 1-3/8"</a:t>
            </a:r>
          </a:p>
          <a:p>
            <a:endParaRPr lang="en-US" sz="11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Even better solution - replaceable :</a:t>
            </a: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  <a:hlinkClick r:id="rId5"/>
              </a:rPr>
              <a:t>https://www.youtube.com/</a:t>
            </a:r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  <a:hlinkClick r:id="rId5"/>
              </a:rPr>
              <a:t>watch?v</a:t>
            </a: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  <a:hlinkClick r:id="rId5"/>
              </a:rPr>
              <a:t>=</a:t>
            </a:r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  <a:hlinkClick r:id="rId5"/>
              </a:rPr>
              <a:t>wCxOjqdGEjw</a:t>
            </a:r>
            <a:endParaRPr lang="en-US" sz="11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endParaRPr lang="en-US" sz="11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Yet another one ( steel pipe 2 in inner, 2 3/8 outer, and 3/16 thick):</a:t>
            </a: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  <a:hlinkClick r:id="rId6"/>
              </a:rPr>
              <a:t>https://www.youtube.com/watch?v=</a:t>
            </a:r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  <a:hlinkClick r:id="rId6"/>
              </a:rPr>
              <a:t>MVhIKQvNplc</a:t>
            </a:r>
            <a:endParaRPr lang="en-US" sz="11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endParaRPr lang="en-US" sz="11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Some people attach using chain</a:t>
            </a:r>
          </a:p>
          <a:p>
            <a:endParaRPr lang="en-US" sz="11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  <a:hlinkClick r:id="rId7"/>
              </a:rPr>
              <a:t>https://www.youtube.com/</a:t>
            </a:r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  <a:hlinkClick r:id="rId7"/>
              </a:rPr>
              <a:t>watch?v</a:t>
            </a: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  <a:hlinkClick r:id="rId7"/>
              </a:rPr>
              <a:t>=</a:t>
            </a:r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  <a:hlinkClick r:id="rId7"/>
              </a:rPr>
              <a:t>ublecStrYAE</a:t>
            </a:r>
            <a:endParaRPr lang="en-US" sz="11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endParaRPr lang="en-US" sz="11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Yet another way to attach it.</a:t>
            </a: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He welds steel brackets with holes to the pipe that align with the plow's existing mounting bolts.</a:t>
            </a:r>
          </a:p>
          <a:p>
            <a:endParaRPr lang="en-US" sz="11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EDB6647-A377-F039-E331-124636F83F3E}"/>
              </a:ext>
            </a:extLst>
          </p:cNvPr>
          <p:cNvPicPr>
            <a:picLocks noChangeAspect="1"/>
          </p:cNvPicPr>
          <p:nvPr/>
        </p:nvPicPr>
        <p:blipFill>
          <a:blip r:embed="rId8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442199" y="198303"/>
            <a:ext cx="4555781" cy="2294578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3ACB17B7-0A9F-D5C8-1F67-1EE6DF154057}"/>
              </a:ext>
            </a:extLst>
          </p:cNvPr>
          <p:cNvPicPr>
            <a:picLocks noChangeAspect="1"/>
          </p:cNvPicPr>
          <p:nvPr/>
        </p:nvPicPr>
        <p:blipFill>
          <a:blip r:embed="rId9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423275" y="4068313"/>
            <a:ext cx="1949450" cy="1665032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7D48DB42-DECD-F71C-3704-5FD53587BA7B}"/>
              </a:ext>
            </a:extLst>
          </p:cNvPr>
          <p:cNvPicPr>
            <a:picLocks noChangeAspect="1"/>
          </p:cNvPicPr>
          <p:nvPr/>
        </p:nvPicPr>
        <p:blipFill>
          <a:blip r:embed="rId10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27943" y="3472745"/>
            <a:ext cx="1587500" cy="2260600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40FF0DF2-89F1-C530-8C2E-FADE305D8DD8}"/>
              </a:ext>
            </a:extLst>
          </p:cNvPr>
          <p:cNvPicPr>
            <a:picLocks noChangeAspect="1"/>
          </p:cNvPicPr>
          <p:nvPr/>
        </p:nvPicPr>
        <p:blipFill>
          <a:blip r:embed="rId11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96859" y="198303"/>
            <a:ext cx="2632111" cy="1325697"/>
          </a:xfrm>
          <a:prstGeom prst="rect">
            <a:avLst/>
          </a:prstGeom>
          <a:ln>
            <a:solidFill>
              <a:srgbClr val="FF0000"/>
            </a:solidFill>
          </a:ln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0DFF0FE5-B491-429E-D62E-0A58FD60CA4D}"/>
              </a:ext>
            </a:extLst>
          </p:cNvPr>
          <p:cNvPicPr>
            <a:picLocks noChangeAspect="1"/>
          </p:cNvPicPr>
          <p:nvPr/>
        </p:nvPicPr>
        <p:blipFill>
          <a:blip r:embed="rId1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749802" y="2029805"/>
            <a:ext cx="2579169" cy="1832568"/>
          </a:xfrm>
          <a:prstGeom prst="rect">
            <a:avLst/>
          </a:prstGeom>
          <a:ln>
            <a:solidFill>
              <a:srgbClr val="FF0000"/>
            </a:solidFill>
          </a:ln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6B1E62A4-FF2B-BD7A-02E6-474C51F83960}"/>
              </a:ext>
            </a:extLst>
          </p:cNvPr>
          <p:cNvPicPr>
            <a:picLocks noChangeAspect="1"/>
          </p:cNvPicPr>
          <p:nvPr/>
        </p:nvPicPr>
        <p:blipFill>
          <a:blip r:embed="rId1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478870" y="4174015"/>
            <a:ext cx="1234260" cy="1922597"/>
          </a:xfrm>
          <a:prstGeom prst="rect">
            <a:avLst/>
          </a:prstGeom>
          <a:ln>
            <a:solidFill>
              <a:srgbClr val="FF0000"/>
            </a:solidFill>
          </a:ln>
        </p:spPr>
      </p:pic>
    </p:spTree>
    <p:extLst>
      <p:ext uri="{BB962C8B-B14F-4D97-AF65-F5344CB8AC3E}">
        <p14:creationId xmlns:p14="http://schemas.microsoft.com/office/powerpoint/2010/main" val="4156993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AC1C7A-0E76-ABB4-D69F-724A22AA8C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D823884-F214-65FC-D4DC-F6CE3A3AD4B8}"/>
              </a:ext>
            </a:extLst>
          </p:cNvPr>
          <p:cNvSpPr txBox="1"/>
          <p:nvPr/>
        </p:nvSpPr>
        <p:spPr>
          <a:xfrm>
            <a:off x="143219" y="198303"/>
            <a:ext cx="35143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Snow Shovels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1C3F313-C0E5-3C5B-B089-F60FD3402B3F}"/>
              </a:ext>
            </a:extLst>
          </p:cNvPr>
          <p:cNvSpPr txBox="1"/>
          <p:nvPr/>
        </p:nvSpPr>
        <p:spPr>
          <a:xfrm>
            <a:off x="76557" y="1098976"/>
            <a:ext cx="4394914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https://</a:t>
            </a:r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</a:rPr>
              <a:t>www.youtube.com</a:t>
            </a: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/</a:t>
            </a:r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</a:rPr>
              <a:t>watch?v</a:t>
            </a: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=M3OsMTyofe0  - video comparison</a:t>
            </a: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https://</a:t>
            </a:r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</a:rPr>
              <a:t>www.amazon.com</a:t>
            </a: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/</a:t>
            </a:r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</a:rPr>
              <a:t>dp</a:t>
            </a: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/B0G1YBMSVL - </a:t>
            </a:r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</a:rPr>
              <a:t>Litheli</a:t>
            </a: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 40V (2×20V) Cordless Snow Shovel with Directional Plate &amp; Adjustable Handle, 14-Inch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2FD6872-F4B7-0819-5797-2F74EF9B2F60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26487" y="2036757"/>
            <a:ext cx="2347843" cy="278448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42B9A2F-F19F-2AB3-026E-CA6DAEF17597}"/>
              </a:ext>
            </a:extLst>
          </p:cNvPr>
          <p:cNvSpPr txBox="1"/>
          <p:nvPr/>
        </p:nvSpPr>
        <p:spPr>
          <a:xfrm>
            <a:off x="89257" y="5759024"/>
            <a:ext cx="5219343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► 3. EGO Power+ Electric Snow Shovel - https://</a:t>
            </a:r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</a:rPr>
              <a:t>geni.us</a:t>
            </a: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/WBJ5A. -expensive</a:t>
            </a: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► 2. Toro 60V Power Shovel - https://</a:t>
            </a:r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</a:rPr>
              <a:t>geni.us</a:t>
            </a: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/</a:t>
            </a:r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</a:rPr>
              <a:t>IYwEh</a:t>
            </a: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100">
                <a:latin typeface="Calibri" panose="020F0502020204030204" pitchFamily="34" charset="0"/>
                <a:cs typeface="Calibri" panose="020F0502020204030204" pitchFamily="34" charset="0"/>
              </a:rPr>
              <a:t>- heavy</a:t>
            </a:r>
            <a:endParaRPr lang="en-US" sz="11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► 1. Greenworks 80V 12" Cordless Snow Shovel - https://</a:t>
            </a:r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</a:rPr>
              <a:t>geni.us</a:t>
            </a: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/</a:t>
            </a:r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</a:rPr>
              <a:t>JMkppek</a:t>
            </a:r>
            <a:endParaRPr lang="en-US" sz="11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E5F7792-7591-4CAF-A97A-FB77DF26D654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128000" y="2925622"/>
            <a:ext cx="3777322" cy="3837553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9EA2680-F2F0-1D47-2F79-0153005D4A6E}"/>
              </a:ext>
            </a:extLst>
          </p:cNvPr>
          <p:cNvSpPr txBox="1"/>
          <p:nvPr/>
        </p:nvSpPr>
        <p:spPr>
          <a:xfrm>
            <a:off x="6913390" y="2333152"/>
            <a:ext cx="3777323" cy="14311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Greenworks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80V 12" Cordless Battery LED Snow Shovel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w/ 4.0Ah Battery &amp; 6A Charger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  <a:hlinkClick r:id="rId4"/>
              </a:rPr>
              <a:t>https://www.greenworkstools.com/products/80v-12-cordless-battery-snow-shovel-w-4-0ah-battery-6a-charger</a:t>
            </a:r>
            <a:endParaRPr lang="en-US" sz="11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  <a:hlinkClick r:id="rId5"/>
              </a:rPr>
              <a:t>https://</a:t>
            </a:r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  <a:hlinkClick r:id="rId5"/>
              </a:rPr>
              <a:t>www.youtube.com</a:t>
            </a: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  <a:hlinkClick r:id="rId5"/>
              </a:rPr>
              <a:t>/</a:t>
            </a:r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  <a:hlinkClick r:id="rId5"/>
              </a:rPr>
              <a:t>watch?v</a:t>
            </a: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  <a:hlinkClick r:id="rId5"/>
              </a:rPr>
              <a:t>=0obvIOD0fKY</a:t>
            </a:r>
            <a:endParaRPr lang="en-US" sz="11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$252</a:t>
            </a:r>
          </a:p>
        </p:txBody>
      </p:sp>
    </p:spTree>
    <p:extLst>
      <p:ext uri="{BB962C8B-B14F-4D97-AF65-F5344CB8AC3E}">
        <p14:creationId xmlns:p14="http://schemas.microsoft.com/office/powerpoint/2010/main" val="35382576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1004</TotalTime>
  <Words>1719</Words>
  <Application>Microsoft Macintosh PowerPoint</Application>
  <PresentationFormat>Widescreen</PresentationFormat>
  <Paragraphs>248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Aptos</vt:lpstr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Lev Selector</dc:creator>
  <cp:lastModifiedBy>Lev Selector</cp:lastModifiedBy>
  <cp:revision>66</cp:revision>
  <dcterms:created xsi:type="dcterms:W3CDTF">2022-06-02T16:58:09Z</dcterms:created>
  <dcterms:modified xsi:type="dcterms:W3CDTF">2026-02-06T21:55:55Z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f518368-b969-4042-91d9-8939bd921da2_Enabled">
    <vt:lpwstr>true</vt:lpwstr>
  </property>
  <property fmtid="{D5CDD505-2E9C-101B-9397-08002B2CF9AE}" pid="3" name="MSIP_Label_4f518368-b969-4042-91d9-8939bd921da2_SetDate">
    <vt:lpwstr>2022-06-02T16:58:10Z</vt:lpwstr>
  </property>
  <property fmtid="{D5CDD505-2E9C-101B-9397-08002B2CF9AE}" pid="4" name="MSIP_Label_4f518368-b969-4042-91d9-8939bd921da2_Method">
    <vt:lpwstr>Standard</vt:lpwstr>
  </property>
  <property fmtid="{D5CDD505-2E9C-101B-9397-08002B2CF9AE}" pid="5" name="MSIP_Label_4f518368-b969-4042-91d9-8939bd921da2_Name">
    <vt:lpwstr>General</vt:lpwstr>
  </property>
  <property fmtid="{D5CDD505-2E9C-101B-9397-08002B2CF9AE}" pid="6" name="MSIP_Label_4f518368-b969-4042-91d9-8939bd921da2_SiteId">
    <vt:lpwstr>116e9905-19fc-428e-93d4-bcaffb833597</vt:lpwstr>
  </property>
  <property fmtid="{D5CDD505-2E9C-101B-9397-08002B2CF9AE}" pid="7" name="MSIP_Label_4f518368-b969-4042-91d9-8939bd921da2_ActionId">
    <vt:lpwstr>93134c22-9ab4-41e7-a5b4-b1f73aac775b</vt:lpwstr>
  </property>
  <property fmtid="{D5CDD505-2E9C-101B-9397-08002B2CF9AE}" pid="8" name="MSIP_Label_4f518368-b969-4042-91d9-8939bd921da2_ContentBits">
    <vt:lpwstr>0</vt:lpwstr>
  </property>
</Properties>
</file>