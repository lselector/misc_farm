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1" r:id="rId2"/>
    <p:sldId id="262" r:id="rId3"/>
    <p:sldId id="271" r:id="rId4"/>
    <p:sldId id="263" r:id="rId5"/>
    <p:sldId id="265" r:id="rId6"/>
    <p:sldId id="269" r:id="rId7"/>
    <p:sldId id="267" r:id="rId8"/>
    <p:sldId id="268" r:id="rId9"/>
    <p:sldId id="264" r:id="rId10"/>
    <p:sldId id="270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8"/>
    <p:restoredTop sz="91405"/>
  </p:normalViewPr>
  <p:slideViewPr>
    <p:cSldViewPr snapToGrid="0" snapToObjects="1">
      <p:cViewPr varScale="1">
        <p:scale>
          <a:sx n="76" d="100"/>
          <a:sy n="76" d="100"/>
        </p:scale>
        <p:origin x="106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B0166-7DA8-4040-98E7-81186BCABFDE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EE96B-D67E-F041-AACE-799DE4D64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us.bercomac.com/en_US/taxons/category/snowblower?limit=27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hyperlink" Target="https://erskineattachments.com/products/hydraulic-snowblower-sb300-series/" TargetMode="External"/><Relationship Id="rId4" Type="http://schemas.openxmlformats.org/officeDocument/2006/relationships/hyperlink" Target="https://rammy.fi/en/rammy-snowblower-155-utv-pro-3/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10" Type="http://schemas.openxmlformats.org/officeDocument/2006/relationships/image" Target="../media/image27.jpeg"/><Relationship Id="rId4" Type="http://schemas.openxmlformats.org/officeDocument/2006/relationships/image" Target="../media/image21.jpe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zips.com/products/winches-cables/winch-parts/winch-tensioners" TargetMode="External"/><Relationship Id="rId13" Type="http://schemas.openxmlformats.org/officeDocument/2006/relationships/image" Target="../media/image30.png"/><Relationship Id="rId18" Type="http://schemas.openxmlformats.org/officeDocument/2006/relationships/image" Target="../media/image35.jpeg"/><Relationship Id="rId3" Type="http://schemas.openxmlformats.org/officeDocument/2006/relationships/hyperlink" Target="https://www.youtube.com/watch?v=QB3OdEiAtSg" TargetMode="External"/><Relationship Id="rId7" Type="http://schemas.openxmlformats.org/officeDocument/2006/relationships/hyperlink" Target="https://www.youtube.com/watch?v=JiPT2l71U3U" TargetMode="External"/><Relationship Id="rId12" Type="http://schemas.openxmlformats.org/officeDocument/2006/relationships/image" Target="../media/image29.png"/><Relationship Id="rId17" Type="http://schemas.openxmlformats.org/officeDocument/2006/relationships/image" Target="../media/image34.jpeg"/><Relationship Id="rId2" Type="http://schemas.openxmlformats.org/officeDocument/2006/relationships/hyperlink" Target="https://www.youtube.com/watch?v=walB-pyDaYE" TargetMode="External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SzYsjSwWq0" TargetMode="External"/><Relationship Id="rId11" Type="http://schemas.openxmlformats.org/officeDocument/2006/relationships/image" Target="../media/image28.png"/><Relationship Id="rId5" Type="http://schemas.openxmlformats.org/officeDocument/2006/relationships/hyperlink" Target="https://www.youtube.com/watch?v=lIwT-UqNNQw" TargetMode="External"/><Relationship Id="rId15" Type="http://schemas.openxmlformats.org/officeDocument/2006/relationships/image" Target="../media/image32.png"/><Relationship Id="rId10" Type="http://schemas.openxmlformats.org/officeDocument/2006/relationships/hyperlink" Target="https://www.youtube.com/watch?v=oim648rsuI8" TargetMode="External"/><Relationship Id="rId19" Type="http://schemas.openxmlformats.org/officeDocument/2006/relationships/image" Target="../media/image36.png"/><Relationship Id="rId4" Type="http://schemas.openxmlformats.org/officeDocument/2006/relationships/hyperlink" Target="https://www.youtube.com/watch?v=xptbCmz50AE" TargetMode="External"/><Relationship Id="rId9" Type="http://schemas.openxmlformats.org/officeDocument/2006/relationships/hyperlink" Target="https://www.youtube.com/watch?v=b4dRQ-H7ffM" TargetMode="External"/><Relationship Id="rId1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everythingpolarisranger.com/polaris-ranger-utv-winch-auto-stop-fairlead-kit-by-superatv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snoway.com/" TargetMode="External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Relationship Id="rId9" Type="http://schemas.openxmlformats.org/officeDocument/2006/relationships/image" Target="../media/image4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hyperlink" Target="https://www.youtube.com/watch?v=5VuD0MhxcQ0" TargetMode="External"/><Relationship Id="rId7" Type="http://schemas.openxmlformats.org/officeDocument/2006/relationships/hyperlink" Target="https://www.youtube.com/watch?v=ublecStrYAE" TargetMode="External"/><Relationship Id="rId12" Type="http://schemas.openxmlformats.org/officeDocument/2006/relationships/image" Target="../media/image49.png"/><Relationship Id="rId2" Type="http://schemas.openxmlformats.org/officeDocument/2006/relationships/hyperlink" Target="https://www.r2manufacturing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VhIKQvNplc" TargetMode="External"/><Relationship Id="rId11" Type="http://schemas.openxmlformats.org/officeDocument/2006/relationships/image" Target="../media/image48.png"/><Relationship Id="rId5" Type="http://schemas.openxmlformats.org/officeDocument/2006/relationships/hyperlink" Target="https://www.youtube.com/watch?v=wCxOjqdGEjw" TargetMode="External"/><Relationship Id="rId10" Type="http://schemas.openxmlformats.org/officeDocument/2006/relationships/image" Target="../media/image47.png"/><Relationship Id="rId4" Type="http://schemas.openxmlformats.org/officeDocument/2006/relationships/hyperlink" Target="https://www.youtube.com/watch?v=K8zB1X35QtI" TargetMode="External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0obvIOD0fKY" TargetMode="External"/><Relationship Id="rId4" Type="http://schemas.openxmlformats.org/officeDocument/2006/relationships/hyperlink" Target="https://www.greenworkstools.com/products/80v-12-cordless-battery-snow-shovel-w-4-0ah-battery-6a-charg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E73D83-F164-32DB-D17F-E40D9CECBAB7}"/>
              </a:ext>
            </a:extLst>
          </p:cNvPr>
          <p:cNvSpPr txBox="1"/>
          <p:nvPr/>
        </p:nvSpPr>
        <p:spPr>
          <a:xfrm>
            <a:off x="5466641" y="2747288"/>
            <a:ext cx="1355344" cy="3120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single stage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9062B5-1722-D066-8A72-D5FECC3FA618}"/>
              </a:ext>
            </a:extLst>
          </p:cNvPr>
          <p:cNvSpPr txBox="1"/>
          <p:nvPr/>
        </p:nvSpPr>
        <p:spPr>
          <a:xfrm>
            <a:off x="7277123" y="2729947"/>
            <a:ext cx="1355344" cy="3120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two stage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3211B-2093-A9AB-D281-53FE6216A329}"/>
              </a:ext>
            </a:extLst>
          </p:cNvPr>
          <p:cNvSpPr txBox="1"/>
          <p:nvPr/>
        </p:nvSpPr>
        <p:spPr>
          <a:xfrm>
            <a:off x="9464230" y="2737746"/>
            <a:ext cx="1355344" cy="3120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three stage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47674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6" y="3800819"/>
            <a:ext cx="3775494" cy="1600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Missing lamp/light.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manual shows copyright year 2001.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Honda Engine Serial # GCAE-2072409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label on the frame says that 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it meets the US "EPA SNRE PH2 2007",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501442"/>
            <a:ext cx="3775494" cy="4308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4661" y="2067268"/>
            <a:ext cx="3683000" cy="12323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4660" y="759728"/>
            <a:ext cx="3683000" cy="11303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CF41BD-A4BE-9A2D-EB91-09DBB06DB940}"/>
              </a:ext>
            </a:extLst>
          </p:cNvPr>
          <p:cNvSpPr txBox="1"/>
          <p:nvPr/>
        </p:nvSpPr>
        <p:spPr>
          <a:xfrm>
            <a:off x="4182626" y="3478554"/>
            <a:ext cx="3555034" cy="1600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Missing lamp/light.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manual shows copyright year 2001.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Honda Engine Serial # GCAE-2072409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label on the frame says that 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it meets the US "EPA SNRE PH2 2007",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Does "2007" mean the year?</a:t>
            </a:r>
          </a:p>
        </p:txBody>
      </p:sp>
      <p:pic>
        <p:nvPicPr>
          <p:cNvPr id="1026" name="Picture 2" descr="Honda HS724, HS80, HS828, HS928 Snow ...">
            <a:extLst>
              <a:ext uri="{FF2B5EF4-FFF2-40B4-BE49-F238E27FC236}">
                <a16:creationId xmlns:a16="http://schemas.microsoft.com/office/drawing/2014/main" id="{9CFF6CD0-FD95-0BC3-5DF8-FAC3B8454D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447866" y="5728614"/>
            <a:ext cx="1744133" cy="1126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FC31ABE-65CD-FE89-C7C0-CC7B9B669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50730" y="4779676"/>
            <a:ext cx="948938" cy="948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09DCCF-570B-E22A-AE41-3C77C59B6014}"/>
              </a:ext>
            </a:extLst>
          </p:cNvPr>
          <p:cNvSpPr txBox="1"/>
          <p:nvPr/>
        </p:nvSpPr>
        <p:spPr>
          <a:xfrm>
            <a:off x="8254285" y="4888798"/>
            <a:ext cx="1804114" cy="380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Auger Shear Pins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4ACF3A-0377-1E1B-C555-8886820D3B9D}"/>
              </a:ext>
            </a:extLst>
          </p:cNvPr>
          <p:cNvSpPr txBox="1"/>
          <p:nvPr/>
        </p:nvSpPr>
        <p:spPr>
          <a:xfrm>
            <a:off x="8192483" y="6107238"/>
            <a:ext cx="225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Impeller Shear Bolt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CF28A1-0FE0-34E3-8C3B-5414EF415193}"/>
              </a:ext>
            </a:extLst>
          </p:cNvPr>
          <p:cNvSpPr txBox="1"/>
          <p:nvPr/>
        </p:nvSpPr>
        <p:spPr>
          <a:xfrm>
            <a:off x="7983747" y="189159"/>
            <a:ext cx="3615921" cy="4185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Auger Belt - Spins the auger/fan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22432-736-A01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5/8" x 37" (LB-33)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Drive Belt - Moves the machine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22431-767-003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1/2" x 28" (SA-27)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Auger Shear Bolts (Quantity: 2 - left &amp; right)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Size: 6mm x 16mm.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92101-06016-0A (Bolt)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90114-SA0-000  (Nut)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Blower (Impeller) Shear Bolt (Quantity: 1)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Located behind the auger on the impeller fan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Special 6mm bolt with a specific shoulder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(approx. 10mm diameter shoulder)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90102-732-010 (Bolt)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90114-SA0-000 (Nut)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4181FD-2217-C00A-9910-3DAA1743D4F0}"/>
              </a:ext>
            </a:extLst>
          </p:cNvPr>
          <p:cNvSpPr txBox="1"/>
          <p:nvPr/>
        </p:nvSpPr>
        <p:spPr>
          <a:xfrm>
            <a:off x="4182626" y="5239831"/>
            <a:ext cx="3555034" cy="13849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We may install impeller kit which uses rubber pieces to attach to the blades to reduce the spacing between the impeller and the walls – thus preventing snow accumulation.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For each blade we get pre-cut rubber paddle, stainless backing plate, bolts, washers, nuts. </a:t>
            </a:r>
          </a:p>
        </p:txBody>
      </p:sp>
    </p:spTree>
    <p:extLst>
      <p:ext uri="{BB962C8B-B14F-4D97-AF65-F5344CB8AC3E}">
        <p14:creationId xmlns:p14="http://schemas.microsoft.com/office/powerpoint/2010/main" val="5412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210952" y="1369399"/>
            <a:ext cx="3971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Kress KG471 professional-grade 60V battery-powered 2-stage snow blower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0C8BAE-3A25-33A0-B6D5-34DEB5FE733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152" y="2283049"/>
            <a:ext cx="4754033" cy="42510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E35D5C-7AF6-7109-427A-D1F06A571E9E}"/>
              </a:ext>
            </a:extLst>
          </p:cNvPr>
          <p:cNvSpPr txBox="1"/>
          <p:nvPr/>
        </p:nvSpPr>
        <p:spPr>
          <a:xfrm>
            <a:off x="210952" y="323938"/>
            <a:ext cx="4754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this electric snowblower in Feb 2026</a:t>
            </a:r>
          </a:p>
        </p:txBody>
      </p:sp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8283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UTV Snow Blower</a:t>
            </a:r>
          </a:p>
          <a:p>
            <a:r>
              <a:rPr lang="en-US" sz="2000" b="1" dirty="0"/>
              <a:t>XUV590M width: 56.5" (144 cm)</a:t>
            </a:r>
          </a:p>
          <a:p>
            <a:endParaRPr lang="en-US" sz="20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FB43DF-49FE-58F1-610B-E4A910C2F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7199" y="1213966"/>
            <a:ext cx="3514382" cy="2342921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DF7E30-C9D8-42C9-3C68-C919667FA0BC}"/>
              </a:ext>
            </a:extLst>
          </p:cNvPr>
          <p:cNvSpPr txBox="1"/>
          <p:nvPr/>
        </p:nvSpPr>
        <p:spPr>
          <a:xfrm>
            <a:off x="4615049" y="210002"/>
            <a:ext cx="6645618" cy="39626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==================================</a:t>
            </a:r>
          </a:p>
          <a:p>
            <a:r>
              <a:rPr lang="en-US" sz="2000" dirty="0" err="1"/>
              <a:t>Bercomac</a:t>
            </a:r>
            <a:r>
              <a:rPr lang="en-US" sz="2000" dirty="0"/>
              <a:t> from Canada:</a:t>
            </a:r>
          </a:p>
          <a:p>
            <a:r>
              <a:rPr lang="en-US" sz="1050" dirty="0">
                <a:hlinkClick r:id="rId3"/>
              </a:rPr>
              <a:t>https://us.bercomac.com/en_US/taxons/category/snowblower?limit=27</a:t>
            </a:r>
            <a:endParaRPr lang="en-US" sz="105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Versatile Plus 54" (20HP Honda engine) $7K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Premium 54" (22-24HP Honda engine) $8,500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Vantage 66" $8,500</a:t>
            </a:r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Rammy from Finland:</a:t>
            </a:r>
          </a:p>
          <a:p>
            <a:r>
              <a:rPr lang="en-US" sz="2000" dirty="0"/>
              <a:t>Rammy 155 UTV PRO 61" (B&amp;S engine, 13HP) $6,400</a:t>
            </a:r>
          </a:p>
          <a:p>
            <a:r>
              <a:rPr lang="en-US" sz="1050" dirty="0">
                <a:hlinkClick r:id="rId4"/>
              </a:rPr>
              <a:t>https://rammy.fi/en/rammy-snowblower-155-utv-pro-3/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Erskine 60" (SB300 Hydraulic model) - USA</a:t>
            </a:r>
          </a:p>
          <a:p>
            <a:r>
              <a:rPr lang="en-US" sz="1050" dirty="0">
                <a:hlinkClick r:id="rId5"/>
              </a:rPr>
              <a:t>https://</a:t>
            </a:r>
            <a:r>
              <a:rPr lang="en-US" sz="1050" dirty="0" err="1">
                <a:hlinkClick r:id="rId5"/>
              </a:rPr>
              <a:t>erskineattachments.com</a:t>
            </a:r>
            <a:r>
              <a:rPr lang="en-US" sz="1050" dirty="0">
                <a:hlinkClick r:id="rId5"/>
              </a:rPr>
              <a:t>/products/hydraulic-snowblower-sb300-series/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468931-D2D2-A3BF-55CA-AA47A7B9FE15}"/>
              </a:ext>
            </a:extLst>
          </p:cNvPr>
          <p:cNvSpPr txBox="1"/>
          <p:nvPr/>
        </p:nvSpPr>
        <p:spPr>
          <a:xfrm>
            <a:off x="4615049" y="4460268"/>
            <a:ext cx="7407618" cy="23083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Also considered this ATV blade + snowblower combo:</a:t>
            </a:r>
            <a:br>
              <a:rPr lang="en-US" dirty="0"/>
            </a:br>
            <a:r>
              <a:rPr lang="en-US" dirty="0"/>
              <a:t>Rammy W165 Plow + ST30 Combo </a:t>
            </a:r>
          </a:p>
          <a:p>
            <a:r>
              <a:rPr lang="en-US" dirty="0"/>
              <a:t>Unfortunately it is only  118 cm (46") with ST30 mounted, which is much narrower than our gator (144 cm) – so we will not be able to advance through the field of snow.</a:t>
            </a:r>
          </a:p>
          <a:p>
            <a:r>
              <a:rPr lang="en-US" dirty="0"/>
              <a:t>Yes, it is not as heavy, but the difference in weight is only 30 kg.</a:t>
            </a:r>
          </a:p>
          <a:p>
            <a:r>
              <a:rPr lang="en-US" dirty="0"/>
              <a:t>W165 Plow + ST30 Combo - 120 kg total (plow 50kg + ST30 70kg) </a:t>
            </a:r>
          </a:p>
          <a:p>
            <a:r>
              <a:rPr lang="en-US" dirty="0"/>
              <a:t>Rammy 155 UTV PRO - 150 kg total (125 kg snowblower + 25kg frame)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C205C-5CBD-5265-16C9-2808CDFB0D2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199" y="4590948"/>
            <a:ext cx="3514382" cy="206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7715-02AD-2BF2-57F2-87946916F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D892CB-7927-59CC-01DA-D27873B98074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1B3C79-FA91-C923-FE87-66DF5C6D049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16A62944-E1DE-353F-B407-DDC9A345E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C7BD3E4-3908-F793-2263-CD32EC708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89119" y="2616090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B61F1530-92D8-0518-E869-D9328D19F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6E0EC079-8AC0-6603-B519-B6B39637A6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8BFE2132-D283-D4DB-B238-A6344AEC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69F292-8D90-D01B-935A-E6F1EEA85DCA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A10268-192D-733D-033A-56B2EBCD98C4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919BD11-3DDB-8E57-7ED5-8B6F292CD4FA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91895" y="5120248"/>
            <a:ext cx="1296910" cy="14399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F3C68C-FBD8-EB3F-6EDC-FD6E191FE74F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956800" y="4146175"/>
            <a:ext cx="2091981" cy="15633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47E8BD-2C69-3BCA-954D-D86DC2536C87}"/>
              </a:ext>
            </a:extLst>
          </p:cNvPr>
          <p:cNvSpPr txBox="1"/>
          <p:nvPr/>
        </p:nvSpPr>
        <p:spPr>
          <a:xfrm>
            <a:off x="8923868" y="5936977"/>
            <a:ext cx="31249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Our winch is Badlands  ZXR 2500 </a:t>
            </a:r>
            <a:r>
              <a:rPr lang="en-US" sz="1200" dirty="0" err="1"/>
              <a:t>lbs</a:t>
            </a:r>
            <a:r>
              <a:rPr lang="en-US" sz="1200" dirty="0"/>
              <a:t> with 50 ft  3/16 inch Synthetic Winch Line Cable Rope 8,350 LBs</a:t>
            </a:r>
          </a:p>
        </p:txBody>
      </p:sp>
    </p:spTree>
    <p:extLst>
      <p:ext uri="{BB962C8B-B14F-4D97-AF65-F5344CB8AC3E}">
        <p14:creationId xmlns:p14="http://schemas.microsoft.com/office/powerpoint/2010/main" val="3474280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60472" y="181050"/>
            <a:ext cx="4850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Solutions to prevent the winch and cable </a:t>
            </a: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breaking when plowing</a:t>
            </a:r>
          </a:p>
          <a:p>
            <a:endParaRPr lang="en-US" sz="1400" b="1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angle, brackets, pulleys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1.1 - mount the winch higher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https://www.youtube.com/watch?v=walB-pyDaYE</a:t>
            </a:r>
            <a:endParaRPr 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or change the hook point: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https://www.youtube.com/watch?v=QB3OdEiAtSg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1.2 - use brackets with blocks and pulleys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https://www.youtube.com/watch?v=xptbCmz50AE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https://www.youtube.com/watch?v=lIwT-UqNNQw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Prevent cable tangling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2.1 - use a spring to keep tension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using leaf spring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https://www.youtube.com/watch?v=MSzYsjSwWq0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commercial tensioner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https://www.youtube.com/watch?v=JiPT2l71U3U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https://zips.com/products/winches-cables/winch-parts/winch-tensioners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2.2 - use a synthetic rope or flat tow strap instead of the metal cable.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Use a "roller fairlead" for synthetic line, or use "hawse fairlead" for flat strap to avoid tangling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https://www.youtube.com/watch?v=b4dRQ-H7ffM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https://www.youtube.com/watch?v=oim648rsuI8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</p:txBody>
      </p:sp>
      <p:pic>
        <p:nvPicPr>
          <p:cNvPr id="3" name="Google Shape;60;p14">
            <a:extLst>
              <a:ext uri="{FF2B5EF4-FFF2-40B4-BE49-F238E27FC236}">
                <a16:creationId xmlns:a16="http://schemas.microsoft.com/office/drawing/2014/main" id="{2F578B0C-8343-3977-3901-9036C5560E60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6869" y="181050"/>
            <a:ext cx="2182119" cy="176751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Google Shape;64;p14">
            <a:extLst>
              <a:ext uri="{FF2B5EF4-FFF2-40B4-BE49-F238E27FC236}">
                <a16:creationId xmlns:a16="http://schemas.microsoft.com/office/drawing/2014/main" id="{ED03CE0E-4C31-C2FE-76EE-11BA0D1058EF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6389" y="181052"/>
            <a:ext cx="2601479" cy="149981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" name="Google Shape;62;p14">
            <a:extLst>
              <a:ext uri="{FF2B5EF4-FFF2-40B4-BE49-F238E27FC236}">
                <a16:creationId xmlns:a16="http://schemas.microsoft.com/office/drawing/2014/main" id="{619FD907-D758-2E58-557F-6B480801A577}"/>
              </a:ext>
            </a:extLst>
          </p:cNvPr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014" y="1863147"/>
            <a:ext cx="2440444" cy="12690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63;p14">
            <a:extLst>
              <a:ext uri="{FF2B5EF4-FFF2-40B4-BE49-F238E27FC236}">
                <a16:creationId xmlns:a16="http://schemas.microsoft.com/office/drawing/2014/main" id="{B5136630-1135-796B-C68E-967609E4DA6C}"/>
              </a:ext>
            </a:extLst>
          </p:cNvPr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3057" y="407971"/>
            <a:ext cx="1793606" cy="2787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74;p15">
            <a:extLst>
              <a:ext uri="{FF2B5EF4-FFF2-40B4-BE49-F238E27FC236}">
                <a16:creationId xmlns:a16="http://schemas.microsoft.com/office/drawing/2014/main" id="{8B6F8FE6-1E05-ED68-FA32-FBC946F46E31}"/>
              </a:ext>
            </a:extLst>
          </p:cNvPr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2483" y="3260535"/>
            <a:ext cx="2081745" cy="170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75;p15">
            <a:extLst>
              <a:ext uri="{FF2B5EF4-FFF2-40B4-BE49-F238E27FC236}">
                <a16:creationId xmlns:a16="http://schemas.microsoft.com/office/drawing/2014/main" id="{49C4225E-4E4E-E068-1BE5-FD533B8948C4}"/>
              </a:ext>
            </a:extLst>
          </p:cNvPr>
          <p:cNvPicPr preferRelativeResize="0"/>
          <p:nvPr/>
        </p:nvPicPr>
        <p:blipFill>
          <a:blip r:embed="rId1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3260536"/>
            <a:ext cx="2545099" cy="1707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" name="Google Shape;70;p15">
            <a:extLst>
              <a:ext uri="{FF2B5EF4-FFF2-40B4-BE49-F238E27FC236}">
                <a16:creationId xmlns:a16="http://schemas.microsoft.com/office/drawing/2014/main" id="{634AD339-CBF8-008F-443D-DD5AEC87A504}"/>
              </a:ext>
            </a:extLst>
          </p:cNvPr>
          <p:cNvPicPr preferRelativeResize="0"/>
          <p:nvPr/>
        </p:nvPicPr>
        <p:blipFill>
          <a:blip r:embed="rId1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64793" y="5490424"/>
            <a:ext cx="1585913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72;p15">
            <a:extLst>
              <a:ext uri="{FF2B5EF4-FFF2-40B4-BE49-F238E27FC236}">
                <a16:creationId xmlns:a16="http://schemas.microsoft.com/office/drawing/2014/main" id="{F7430E0C-EE7A-F40E-1311-44D068DE36C1}"/>
              </a:ext>
            </a:extLst>
          </p:cNvPr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6906" y="5425629"/>
            <a:ext cx="1437931" cy="112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73;p15">
            <a:extLst>
              <a:ext uri="{FF2B5EF4-FFF2-40B4-BE49-F238E27FC236}">
                <a16:creationId xmlns:a16="http://schemas.microsoft.com/office/drawing/2014/main" id="{145D0BB8-ECAE-13DF-0D0F-7FF6458944EF}"/>
              </a:ext>
            </a:extLst>
          </p:cNvPr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5425629"/>
            <a:ext cx="1122075" cy="1122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5488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CF0B-EC81-CE7E-BDE5-AE3A61EB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A2CC49-5002-C0ED-EB4A-945150499B16}"/>
              </a:ext>
            </a:extLst>
          </p:cNvPr>
          <p:cNvSpPr txBox="1"/>
          <p:nvPr/>
        </p:nvSpPr>
        <p:spPr>
          <a:xfrm>
            <a:off x="160472" y="181050"/>
            <a:ext cx="48509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Polaris Ranger UTV Winch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Auto-Stop Fairlead Kit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by </a:t>
            </a:r>
            <a:r>
              <a:rPr lang="en-US" sz="1400" b="1" dirty="0" err="1">
                <a:solidFill>
                  <a:srgbClr val="FF0000"/>
                </a:solidFill>
              </a:rPr>
              <a:t>SuperATV</a:t>
            </a:r>
            <a:endParaRPr lang="en-US" sz="1400" b="1" dirty="0">
              <a:solidFill>
                <a:srgbClr val="FF0000"/>
              </a:solidFill>
            </a:endParaRPr>
          </a:p>
          <a:p>
            <a:endParaRPr lang="en-US" sz="1400" b="1" dirty="0"/>
          </a:p>
          <a:p>
            <a:r>
              <a:rPr lang="en-US" sz="1400" dirty="0"/>
              <a:t>$223</a:t>
            </a:r>
          </a:p>
          <a:p>
            <a:endParaRPr lang="en-US" sz="1400" b="1" dirty="0"/>
          </a:p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www.everythingpolarisranger.com</a:t>
            </a:r>
            <a:r>
              <a:rPr lang="en-US" sz="1000" dirty="0">
                <a:hlinkClick r:id="rId2"/>
              </a:rPr>
              <a:t>/</a:t>
            </a:r>
            <a:r>
              <a:rPr lang="en-US" sz="1000" dirty="0" err="1">
                <a:hlinkClick r:id="rId2"/>
              </a:rPr>
              <a:t>polaris</a:t>
            </a:r>
            <a:r>
              <a:rPr lang="en-US" sz="1000" dirty="0">
                <a:hlinkClick r:id="rId2"/>
              </a:rPr>
              <a:t>-ranger-</a:t>
            </a:r>
            <a:r>
              <a:rPr lang="en-US" sz="1000" dirty="0" err="1">
                <a:hlinkClick r:id="rId2"/>
              </a:rPr>
              <a:t>utv</a:t>
            </a:r>
            <a:r>
              <a:rPr lang="en-US" sz="1000" dirty="0">
                <a:hlinkClick r:id="rId2"/>
              </a:rPr>
              <a:t>-winch-auto-stop-fairlead-kit-by-</a:t>
            </a:r>
            <a:r>
              <a:rPr lang="en-US" sz="1000" dirty="0" err="1">
                <a:hlinkClick r:id="rId2"/>
              </a:rPr>
              <a:t>superatv</a:t>
            </a:r>
            <a:r>
              <a:rPr lang="en-US" sz="1000" dirty="0">
                <a:hlinkClick r:id="rId2"/>
              </a:rPr>
              <a:t>/</a:t>
            </a:r>
            <a:endParaRPr lang="en-US" sz="1000" dirty="0"/>
          </a:p>
          <a:p>
            <a:endParaRPr lang="en-US" sz="1400" b="1" dirty="0"/>
          </a:p>
          <a:p>
            <a:r>
              <a:rPr lang="en-US" sz="1400" dirty="0"/>
              <a:t>A plastic stopper cylinder is put onto the cable.</a:t>
            </a:r>
          </a:p>
          <a:p>
            <a:r>
              <a:rPr lang="en-US" sz="1400" dirty="0"/>
              <a:t>When the stopper approaches and touches the mouth of the fairlead, the winch shuts 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E4626-BACE-EBD8-E682-DFE1A1AB42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76200"/>
            <a:ext cx="5689600" cy="3352800"/>
          </a:xfrm>
          <a:prstGeom prst="rect">
            <a:avLst/>
          </a:prstGeom>
        </p:spPr>
      </p:pic>
      <p:pic>
        <p:nvPicPr>
          <p:cNvPr id="1026" name="Picture 2" descr="Viper ATV/UTV Auto Stop Fairlead - Wide ...">
            <a:extLst>
              <a:ext uri="{FF2B5EF4-FFF2-40B4-BE49-F238E27FC236}">
                <a16:creationId xmlns:a16="http://schemas.microsoft.com/office/drawing/2014/main" id="{CD9794CF-8BBC-492A-83CC-D749F2DAD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09982" y="3000914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387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001" y="12983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642579" y="14185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43126" y="211917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603487" y="2452513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845C6-5B60-556F-C54B-C1BD0B5F903A}"/>
              </a:ext>
            </a:extLst>
          </p:cNvPr>
          <p:cNvSpPr txBox="1"/>
          <p:nvPr/>
        </p:nvSpPr>
        <p:spPr>
          <a:xfrm>
            <a:off x="7452864" y="4240577"/>
            <a:ext cx="37908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8"/>
              </a:rPr>
              <a:t>https://snoway.com</a:t>
            </a:r>
            <a:r>
              <a:rPr lang="en-US" sz="1100" dirty="0"/>
              <a:t> – Sno-Way V-plow similar to Western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F2681B-617B-95CF-5EE1-F8BC5BCC3E5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43126" y="4599108"/>
            <a:ext cx="2671837" cy="20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5F99A-9A76-0D4B-7909-5BEEC960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4FDA6-CDAC-9BCC-3C0C-F323B968C36A}"/>
              </a:ext>
            </a:extLst>
          </p:cNvPr>
          <p:cNvSpPr txBox="1"/>
          <p:nvPr/>
        </p:nvSpPr>
        <p:spPr>
          <a:xfrm>
            <a:off x="143219" y="198303"/>
            <a:ext cx="3819182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Snow Tamers</a:t>
            </a:r>
          </a:p>
          <a:p>
            <a:r>
              <a:rPr lang="en-US" sz="1200" dirty="0">
                <a:hlinkClick r:id="rId2"/>
              </a:rPr>
              <a:t>https://www.r2manufacturing.com</a:t>
            </a:r>
            <a:endParaRPr lang="en-US" sz="1200" dirty="0"/>
          </a:p>
          <a:p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www.youtube.com</a:t>
            </a:r>
            <a:r>
              <a:rPr lang="en-US" sz="1200" dirty="0">
                <a:hlinkClick r:id="rId3"/>
              </a:rPr>
              <a:t>/</a:t>
            </a:r>
            <a:r>
              <a:rPr lang="en-US" sz="1200" dirty="0" err="1">
                <a:hlinkClick r:id="rId3"/>
              </a:rPr>
              <a:t>watch?v</a:t>
            </a:r>
            <a:r>
              <a:rPr lang="en-US" sz="1200" dirty="0">
                <a:hlinkClick r:id="rId3"/>
              </a:rPr>
              <a:t>=5VuD0MhxcQ0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6C7CEA-91BC-1EA0-3719-3E53253B3B07}"/>
              </a:ext>
            </a:extLst>
          </p:cNvPr>
          <p:cNvSpPr txBox="1"/>
          <p:nvPr/>
        </p:nvSpPr>
        <p:spPr>
          <a:xfrm>
            <a:off x="76557" y="1098976"/>
            <a:ext cx="4394914" cy="44935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Plowing snow on gravel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Using tube at the bottom of the snow blade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=K8zB1X35QtI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uses 1-3/8" galvanized steel fence top rail.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It is a galvanized steel pipe.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Sizes (diameter):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1/4"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1-3/8"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1/2"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In this video he used size 1-3/8"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Even better solution - replaceable 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wCxOjqdGEjw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one ( steel pipe 2 in inner, 2 3/8 outer, and 3/16 thick):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MVhIKQvNplc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Some people attach using chain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ublecStrYAE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way to attach it.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welds steel brackets with holes to the pipe that align with the plow's existing mounting bolts.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DB6647-A377-F039-E331-124636F83F3E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42199" y="198303"/>
            <a:ext cx="4555781" cy="22945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ACB17B7-0A9F-D5C8-1F67-1EE6DF15405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3275" y="4068313"/>
            <a:ext cx="1949450" cy="166503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D48DB42-DECD-F71C-3704-5FD53587BA7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27943" y="3472745"/>
            <a:ext cx="1587500" cy="22606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0FF0DF2-89F1-C530-8C2E-FADE305D8DD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6859" y="198303"/>
            <a:ext cx="2632111" cy="13256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FF0FE5-B491-429E-D62E-0A58FD60CA4D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802" y="2029805"/>
            <a:ext cx="2579169" cy="1832568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B1E62A4-FF2B-BD7A-02E6-474C51F83960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8870" y="4174015"/>
            <a:ext cx="1234260" cy="192259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5699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1C7A-0E76-ABB4-D69F-724A22AA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23884-F214-65FC-D4DC-F6CE3A3AD4B8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Snow Shovels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3F313-C0E5-3C5B-B089-F60FD3402B3F}"/>
              </a:ext>
            </a:extLst>
          </p:cNvPr>
          <p:cNvSpPr txBox="1"/>
          <p:nvPr/>
        </p:nvSpPr>
        <p:spPr>
          <a:xfrm>
            <a:off x="76557" y="1098976"/>
            <a:ext cx="43949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=M3OsMTyofe0  - video comparison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www.amazon.com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dp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/B0G1YBMSVL - 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Litheli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40V (2×20V) Cordless Snow Shovel with Directional Plate &amp; Adjustable Handle, 14-Inch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D6872-F4B7-0819-5797-2F74EF9B2F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487" y="2036757"/>
            <a:ext cx="2347843" cy="2784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B9A2F-F19F-2AB3-026E-CA6DAEF17597}"/>
              </a:ext>
            </a:extLst>
          </p:cNvPr>
          <p:cNvSpPr txBox="1"/>
          <p:nvPr/>
        </p:nvSpPr>
        <p:spPr>
          <a:xfrm>
            <a:off x="89257" y="5759024"/>
            <a:ext cx="52193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3. EGO Power+ Electric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/WBJ5A. -expensive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2. Toro 60V Power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IYwEh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>
                <a:latin typeface="Calibri" panose="020F0502020204030204" pitchFamily="34" charset="0"/>
                <a:cs typeface="Calibri" panose="020F0502020204030204" pitchFamily="34" charset="0"/>
              </a:rPr>
              <a:t>- heavy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1. Greenworks 80V 12" Cordless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JMkppek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5F7792-7591-4CAF-A97A-FB77DF26D65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8000" y="2925622"/>
            <a:ext cx="3777322" cy="38375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EA2680-F2F0-1D47-2F79-0153005D4A6E}"/>
              </a:ext>
            </a:extLst>
          </p:cNvPr>
          <p:cNvSpPr txBox="1"/>
          <p:nvPr/>
        </p:nvSpPr>
        <p:spPr>
          <a:xfrm>
            <a:off x="6913390" y="2333152"/>
            <a:ext cx="3777323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Greenworks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80V 12" Cordless Battery LED Snow Shovel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w/ 4.0Ah Battery &amp; 6A Charger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https://www.greenworkstools.com/products/80v-12-cordless-battery-snow-shovel-w-4-0ah-battery-6a-charger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=0obvIOD0fKY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$252</a:t>
            </a:r>
          </a:p>
        </p:txBody>
      </p:sp>
    </p:spTree>
    <p:extLst>
      <p:ext uri="{BB962C8B-B14F-4D97-AF65-F5344CB8AC3E}">
        <p14:creationId xmlns:p14="http://schemas.microsoft.com/office/powerpoint/2010/main" val="353825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</TotalTime>
  <Words>1968</Words>
  <Application>Microsoft Macintosh PowerPoint</Application>
  <PresentationFormat>Widescreen</PresentationFormat>
  <Paragraphs>284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69</cp:revision>
  <dcterms:created xsi:type="dcterms:W3CDTF">2022-06-02T16:58:09Z</dcterms:created>
  <dcterms:modified xsi:type="dcterms:W3CDTF">2026-03-29T21:12:57Z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