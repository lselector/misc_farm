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1" r:id="rId2"/>
    <p:sldId id="262" r:id="rId3"/>
    <p:sldId id="263" r:id="rId4"/>
    <p:sldId id="265" r:id="rId5"/>
    <p:sldId id="267" r:id="rId6"/>
    <p:sldId id="268" r:id="rId7"/>
    <p:sldId id="264" r:id="rId8"/>
    <p:sldId id="26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00"/>
    <p:restoredTop sz="91405"/>
  </p:normalViewPr>
  <p:slideViewPr>
    <p:cSldViewPr snapToGrid="0" snapToObjects="1">
      <p:cViewPr varScale="1">
        <p:scale>
          <a:sx n="74" d="100"/>
          <a:sy n="74" d="100"/>
        </p:scale>
        <p:origin x="208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B0166-7DA8-4040-98E7-81186BCABFDE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EE96B-D67E-F041-AACE-799DE4D64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32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ckssmallengines.com/jacks-parts-lookup/manufacturer/honda/snow-blower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zips.com/products/winches-cables/winch-parts/winch-tensioners" TargetMode="External"/><Relationship Id="rId13" Type="http://schemas.openxmlformats.org/officeDocument/2006/relationships/image" Target="../media/image24.png"/><Relationship Id="rId18" Type="http://schemas.openxmlformats.org/officeDocument/2006/relationships/image" Target="../media/image29.jpeg"/><Relationship Id="rId3" Type="http://schemas.openxmlformats.org/officeDocument/2006/relationships/hyperlink" Target="https://www.youtube.com/watch?v=QB3OdEiAtSg" TargetMode="External"/><Relationship Id="rId7" Type="http://schemas.openxmlformats.org/officeDocument/2006/relationships/hyperlink" Target="https://www.youtube.com/watch?v=JiPT2l71U3U" TargetMode="External"/><Relationship Id="rId12" Type="http://schemas.openxmlformats.org/officeDocument/2006/relationships/image" Target="../media/image23.png"/><Relationship Id="rId17" Type="http://schemas.openxmlformats.org/officeDocument/2006/relationships/image" Target="../media/image28.jpeg"/><Relationship Id="rId2" Type="http://schemas.openxmlformats.org/officeDocument/2006/relationships/hyperlink" Target="https://www.youtube.com/watch?v=walB-pyDaYE" TargetMode="Externa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SzYsjSwWq0" TargetMode="External"/><Relationship Id="rId11" Type="http://schemas.openxmlformats.org/officeDocument/2006/relationships/image" Target="../media/image22.png"/><Relationship Id="rId5" Type="http://schemas.openxmlformats.org/officeDocument/2006/relationships/hyperlink" Target="https://www.youtube.com/watch?v=lIwT-UqNNQw" TargetMode="External"/><Relationship Id="rId15" Type="http://schemas.openxmlformats.org/officeDocument/2006/relationships/image" Target="../media/image26.png"/><Relationship Id="rId10" Type="http://schemas.openxmlformats.org/officeDocument/2006/relationships/hyperlink" Target="https://www.youtube.com/watch?v=oim648rsuI8" TargetMode="External"/><Relationship Id="rId19" Type="http://schemas.openxmlformats.org/officeDocument/2006/relationships/image" Target="../media/image30.png"/><Relationship Id="rId4" Type="http://schemas.openxmlformats.org/officeDocument/2006/relationships/hyperlink" Target="https://www.youtube.com/watch?v=xptbCmz50AE" TargetMode="External"/><Relationship Id="rId9" Type="http://schemas.openxmlformats.org/officeDocument/2006/relationships/hyperlink" Target="https://www.youtube.com/watch?v=b4dRQ-H7ffM" TargetMode="External"/><Relationship Id="rId1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www.everythingpolarisranger.com/polaris-ranger-utv-winch-auto-stop-fairlead-kit-by-superatv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snoway.com/" TargetMode="External"/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hyperlink" Target="https://www.tricountyequipment.net/new-equipment/residential/tractor-packages/gator-snow-packages/xuv835r-and-western-impact-hd-v-blade/" TargetMode="External"/><Relationship Id="rId9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0obvIOD0fKY" TargetMode="External"/><Relationship Id="rId4" Type="http://schemas.openxmlformats.org/officeDocument/2006/relationships/hyperlink" Target="https://www.greenworkstools.com/products/80v-12-cordless-battery-snow-shovel-w-4-0ah-battery-6a-charg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550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bought used Honda HS724 in December 2022</a:t>
            </a:r>
          </a:p>
        </p:txBody>
      </p:sp>
      <p:pic>
        <p:nvPicPr>
          <p:cNvPr id="4" name="Picture 3" descr="A red and black scooter&#10;&#10;Description automatically generated with low confidence">
            <a:extLst>
              <a:ext uri="{FF2B5EF4-FFF2-40B4-BE49-F238E27FC236}">
                <a16:creationId xmlns:a16="http://schemas.microsoft.com/office/drawing/2014/main" id="{3AABDACA-0AB8-B0D7-0329-62D866CE1A8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567636"/>
            <a:ext cx="3775494" cy="3132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36B2B5-1999-2E14-87CC-3DF7FBAA2DE6}"/>
              </a:ext>
            </a:extLst>
          </p:cNvPr>
          <p:cNvSpPr txBox="1"/>
          <p:nvPr/>
        </p:nvSpPr>
        <p:spPr>
          <a:xfrm>
            <a:off x="231355" y="3800819"/>
            <a:ext cx="502369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Missing lamp/light.</a:t>
            </a:r>
          </a:p>
          <a:p>
            <a:endParaRPr lang="en-US" sz="1400" dirty="0"/>
          </a:p>
          <a:p>
            <a:r>
              <a:rPr lang="en-US" sz="1400" dirty="0"/>
              <a:t>The manual shows copyright year 2001.</a:t>
            </a:r>
          </a:p>
          <a:p>
            <a:r>
              <a:rPr lang="en-US" sz="1400" dirty="0"/>
              <a:t>Honda Engine Serial # GCAE-2072409</a:t>
            </a:r>
          </a:p>
          <a:p>
            <a:r>
              <a:rPr lang="en-US" sz="1400" dirty="0"/>
              <a:t>The label on the frame says that </a:t>
            </a:r>
          </a:p>
          <a:p>
            <a:r>
              <a:rPr lang="en-US" sz="1400" dirty="0"/>
              <a:t>it meets the US "EPA SNRE PH2 2007",</a:t>
            </a:r>
          </a:p>
          <a:p>
            <a:r>
              <a:rPr lang="en-US" sz="1400" dirty="0"/>
              <a:t>Does "2007" mean the year?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8E506-EE81-F20C-0E9D-9AA173A05D6A}"/>
              </a:ext>
            </a:extLst>
          </p:cNvPr>
          <p:cNvSpPr txBox="1"/>
          <p:nvPr/>
        </p:nvSpPr>
        <p:spPr>
          <a:xfrm>
            <a:off x="231355" y="5689678"/>
            <a:ext cx="6097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www.jackssmallengines.com</a:t>
            </a:r>
            <a:r>
              <a:rPr lang="en-US" sz="1100" dirty="0">
                <a:hlinkClick r:id="rId3"/>
              </a:rPr>
              <a:t>/jacks-parts-lookup/manufacturer/</a:t>
            </a:r>
            <a:r>
              <a:rPr lang="en-US" sz="1100" dirty="0" err="1">
                <a:hlinkClick r:id="rId3"/>
              </a:rPr>
              <a:t>honda</a:t>
            </a:r>
            <a:r>
              <a:rPr lang="en-US" sz="1100" dirty="0">
                <a:hlinkClick r:id="rId3"/>
              </a:rPr>
              <a:t>/snow-blower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DC80F7-877D-49F6-94F9-AE43F0D044C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4630677"/>
            <a:ext cx="4605969" cy="1541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AB719C-E22E-C395-361C-38141FF68A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3356167"/>
            <a:ext cx="3683000" cy="11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267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72-inch "KFI Plow" Snow Blade </a:t>
            </a:r>
          </a:p>
          <a:p>
            <a:endParaRPr lang="en-US" sz="1200" dirty="0"/>
          </a:p>
          <a:p>
            <a:r>
              <a:rPr lang="en-US" sz="1200" dirty="0"/>
              <a:t>standard plow shoes (skid feet)</a:t>
            </a:r>
          </a:p>
          <a:p>
            <a:r>
              <a:rPr lang="en-US" sz="1200" dirty="0"/>
              <a:t>part # </a:t>
            </a:r>
            <a:r>
              <a:rPr lang="en-US" sz="1200" dirty="0" err="1"/>
              <a:t>kfi</a:t>
            </a:r>
            <a:r>
              <a:rPr lang="en-US" sz="1200" dirty="0"/>
              <a:t> 105490: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Shoe (Base) Diameter - 3.5 inches</a:t>
            </a:r>
          </a:p>
          <a:p>
            <a:r>
              <a:rPr lang="en-US" sz="1200" dirty="0"/>
              <a:t>Shaft Diameter - 0.63 inches (approx. 5/8")</a:t>
            </a:r>
          </a:p>
          <a:p>
            <a:r>
              <a:rPr lang="en-US" sz="1200" dirty="0"/>
              <a:t>Pad Thickness   0.5 inches (1/2" Grade 50 Steel)</a:t>
            </a:r>
          </a:p>
          <a:p>
            <a:r>
              <a:rPr lang="en-US" sz="1200" dirty="0"/>
              <a:t>Total Bolt Length   6.5 inches</a:t>
            </a:r>
          </a:p>
          <a:p>
            <a:endParaRPr lang="en-US" sz="1200" dirty="0"/>
          </a:p>
          <a:p>
            <a:r>
              <a:rPr lang="en-US" sz="1200" dirty="0"/>
              <a:t>KFI Plow Foot Bracket 105006-R</a:t>
            </a:r>
          </a:p>
          <a:p>
            <a:r>
              <a:rPr lang="en-US" sz="1200" dirty="0"/>
              <a:t>Attached to the blade with two 3/8"-16 x 1.00" carriage bolts and two nuts.</a:t>
            </a:r>
          </a:p>
          <a:p>
            <a:r>
              <a:rPr lang="en-US" sz="1200" dirty="0"/>
              <a:t>The distance between bolts 1.75 inches center-to-center</a:t>
            </a:r>
          </a:p>
          <a:p>
            <a:endParaRPr lang="en-US" sz="1200" dirty="0"/>
          </a:p>
          <a:p>
            <a:r>
              <a:rPr lang="en-US" sz="1200" dirty="0" err="1"/>
              <a:t>Insalation</a:t>
            </a:r>
            <a:r>
              <a:rPr lang="en-US" sz="1200" dirty="0"/>
              <a:t>: </a:t>
            </a:r>
          </a:p>
          <a:p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=jcAqaNDId9k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22E32B-7D68-F855-1A38-7E2F3729EEB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068" y="2345667"/>
            <a:ext cx="1527491" cy="237066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A8E555F-3F1A-D54E-8CDE-37B695274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78700" y="2731455"/>
            <a:ext cx="1882712" cy="2183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0FE7A0D-E597-5D1F-41D6-3848CFB21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3957735" y="2930134"/>
            <a:ext cx="1139198" cy="17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 Maverick Sport X RC MC Snow Plow Kit ...">
            <a:extLst>
              <a:ext uri="{FF2B5EF4-FFF2-40B4-BE49-F238E27FC236}">
                <a16:creationId xmlns:a16="http://schemas.microsoft.com/office/drawing/2014/main" id="{1F0BD7B1-B691-FDBC-FEB6-2FFFA946D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57600" y="233011"/>
            <a:ext cx="3721100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Plow Foot Bracket by Kfi Products Witchdoctors">
            <a:extLst>
              <a:ext uri="{FF2B5EF4-FFF2-40B4-BE49-F238E27FC236}">
                <a16:creationId xmlns:a16="http://schemas.microsoft.com/office/drawing/2014/main" id="{CC4CE11A-74DF-F297-0100-7017511580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472"/>
          <a:stretch>
            <a:fillRect/>
          </a:stretch>
        </p:blipFill>
        <p:spPr bwMode="auto">
          <a:xfrm>
            <a:off x="3929590" y="4915013"/>
            <a:ext cx="1772410" cy="1065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New KFI ATV Snow Plow Single Foot Replacement Kit, Skid Shoe for KFI Snow Blades - Picture 2 of 6">
            <a:extLst>
              <a:ext uri="{FF2B5EF4-FFF2-40B4-BE49-F238E27FC236}">
                <a16:creationId xmlns:a16="http://schemas.microsoft.com/office/drawing/2014/main" id="{23059639-D06A-EB90-A974-62AC9045C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29598" y="198303"/>
            <a:ext cx="2328917" cy="183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8CCA06-DABB-529D-1A6F-3380626DB8A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5846" y="4014469"/>
            <a:ext cx="1714500" cy="787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03C04FB-68AE-D8F6-03E5-0D9A2BADFBD1}"/>
              </a:ext>
            </a:extLst>
          </p:cNvPr>
          <p:cNvSpPr txBox="1"/>
          <p:nvPr/>
        </p:nvSpPr>
        <p:spPr>
          <a:xfrm>
            <a:off x="143219" y="3885337"/>
            <a:ext cx="19626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Spring Locking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clevis pin with a rue ring locking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R-clip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</a:t>
            </a:r>
            <a:r>
              <a:rPr lang="en-US" sz="1200" dirty="0" err="1"/>
              <a:t>TlP_BgXcdBk</a:t>
            </a:r>
            <a:r>
              <a:rPr lang="en-US" sz="1200" dirty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F78975A-933F-1DF4-5486-24B7112B0E14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0056" y="5229056"/>
            <a:ext cx="1296910" cy="143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60472" y="181050"/>
            <a:ext cx="4850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Solutions to prevent the winch and cable </a:t>
            </a: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breaking when plowing</a:t>
            </a:r>
          </a:p>
          <a:p>
            <a:endParaRPr lang="en-US" sz="1400" b="1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Better angle, brackets, pulleys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1.1 - mount the winch higher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https://www.youtube.com/watch?v=walB-pyDaYE</a:t>
            </a:r>
            <a:endParaRPr 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or change the hook point: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https://www.youtube.com/watch?v=QB3OdEiAtSg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1.2 - use brackets with blocks and pulleys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https://www.youtube.com/watch?v=xptbCmz50AE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https://www.youtube.com/watch?v=lIwT-UqNNQw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Prevent cable tangling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2.1 - use a spring to keep tension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using leaf spring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https://www.youtube.com/watch?v=MSzYsjSwWq0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commercial tensioner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https://www.youtube.com/watch?v=JiPT2l71U3U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https://zips.com/products/winches-cables/winch-parts/winch-tensioners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2.2 - use a synthetic rope or flat tow strap instead of the metal cable.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Use a "roller fairlead" for synthetic line, or use "hawse fairlead" for flat strap to avoid tangling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https://www.youtube.com/watch?v=b4dRQ-H7ffM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10"/>
              </a:rPr>
              <a:t>https://www.youtube.com/watch?v=oim648rsuI8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</p:txBody>
      </p:sp>
      <p:pic>
        <p:nvPicPr>
          <p:cNvPr id="3" name="Google Shape;60;p14">
            <a:extLst>
              <a:ext uri="{FF2B5EF4-FFF2-40B4-BE49-F238E27FC236}">
                <a16:creationId xmlns:a16="http://schemas.microsoft.com/office/drawing/2014/main" id="{2F578B0C-8343-3977-3901-9036C5560E60}"/>
              </a:ext>
            </a:extLst>
          </p:cNvPr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6869" y="181050"/>
            <a:ext cx="2182119" cy="176751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" name="Google Shape;64;p14">
            <a:extLst>
              <a:ext uri="{FF2B5EF4-FFF2-40B4-BE49-F238E27FC236}">
                <a16:creationId xmlns:a16="http://schemas.microsoft.com/office/drawing/2014/main" id="{ED03CE0E-4C31-C2FE-76EE-11BA0D1058EF}"/>
              </a:ext>
            </a:extLst>
          </p:cNvPr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6389" y="181052"/>
            <a:ext cx="2601479" cy="149981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" name="Google Shape;62;p14">
            <a:extLst>
              <a:ext uri="{FF2B5EF4-FFF2-40B4-BE49-F238E27FC236}">
                <a16:creationId xmlns:a16="http://schemas.microsoft.com/office/drawing/2014/main" id="{619FD907-D758-2E58-557F-6B480801A577}"/>
              </a:ext>
            </a:extLst>
          </p:cNvPr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3014" y="1863147"/>
            <a:ext cx="2440444" cy="12690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" name="Google Shape;63;p14">
            <a:extLst>
              <a:ext uri="{FF2B5EF4-FFF2-40B4-BE49-F238E27FC236}">
                <a16:creationId xmlns:a16="http://schemas.microsoft.com/office/drawing/2014/main" id="{B5136630-1135-796B-C68E-967609E4DA6C}"/>
              </a:ext>
            </a:extLst>
          </p:cNvPr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3057" y="407971"/>
            <a:ext cx="1793606" cy="2787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" name="Google Shape;74;p15">
            <a:extLst>
              <a:ext uri="{FF2B5EF4-FFF2-40B4-BE49-F238E27FC236}">
                <a16:creationId xmlns:a16="http://schemas.microsoft.com/office/drawing/2014/main" id="{8B6F8FE6-1E05-ED68-FA32-FBC946F46E31}"/>
              </a:ext>
            </a:extLst>
          </p:cNvPr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2483" y="3260535"/>
            <a:ext cx="2081745" cy="170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75;p15">
            <a:extLst>
              <a:ext uri="{FF2B5EF4-FFF2-40B4-BE49-F238E27FC236}">
                <a16:creationId xmlns:a16="http://schemas.microsoft.com/office/drawing/2014/main" id="{49C4225E-4E4E-E068-1BE5-FD533B8948C4}"/>
              </a:ext>
            </a:extLst>
          </p:cNvPr>
          <p:cNvPicPr preferRelativeResize="0"/>
          <p:nvPr/>
        </p:nvPicPr>
        <p:blipFill>
          <a:blip r:embed="rId1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3260536"/>
            <a:ext cx="2545099" cy="17075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" name="Google Shape;70;p15">
            <a:extLst>
              <a:ext uri="{FF2B5EF4-FFF2-40B4-BE49-F238E27FC236}">
                <a16:creationId xmlns:a16="http://schemas.microsoft.com/office/drawing/2014/main" id="{634AD339-CBF8-008F-443D-DD5AEC87A504}"/>
              </a:ext>
            </a:extLst>
          </p:cNvPr>
          <p:cNvPicPr preferRelativeResize="0"/>
          <p:nvPr/>
        </p:nvPicPr>
        <p:blipFill>
          <a:blip r:embed="rId1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64793" y="5490424"/>
            <a:ext cx="1585913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72;p15">
            <a:extLst>
              <a:ext uri="{FF2B5EF4-FFF2-40B4-BE49-F238E27FC236}">
                <a16:creationId xmlns:a16="http://schemas.microsoft.com/office/drawing/2014/main" id="{F7430E0C-EE7A-F40E-1311-44D068DE36C1}"/>
              </a:ext>
            </a:extLst>
          </p:cNvPr>
          <p:cNvPicPr preferRelativeResize="0"/>
          <p:nvPr/>
        </p:nvPicPr>
        <p:blipFill>
          <a:blip r:embed="rId1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6906" y="5425629"/>
            <a:ext cx="1437931" cy="112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73;p15">
            <a:extLst>
              <a:ext uri="{FF2B5EF4-FFF2-40B4-BE49-F238E27FC236}">
                <a16:creationId xmlns:a16="http://schemas.microsoft.com/office/drawing/2014/main" id="{145D0BB8-ECAE-13DF-0D0F-7FF6458944EF}"/>
              </a:ext>
            </a:extLst>
          </p:cNvPr>
          <p:cNvPicPr preferRelativeResize="0"/>
          <p:nvPr/>
        </p:nvPicPr>
        <p:blipFill>
          <a:blip r:embed="rId1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5425629"/>
            <a:ext cx="1122075" cy="11220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5488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4CF0B-EC81-CE7E-BDE5-AE3A61EB5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A2CC49-5002-C0ED-EB4A-945150499B16}"/>
              </a:ext>
            </a:extLst>
          </p:cNvPr>
          <p:cNvSpPr txBox="1"/>
          <p:nvPr/>
        </p:nvSpPr>
        <p:spPr>
          <a:xfrm>
            <a:off x="160472" y="181050"/>
            <a:ext cx="485099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Polaris Ranger UTV Winch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Auto-Stop Fairlead Kit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by </a:t>
            </a:r>
            <a:r>
              <a:rPr lang="en-US" sz="1400" b="1" dirty="0" err="1">
                <a:solidFill>
                  <a:srgbClr val="FF0000"/>
                </a:solidFill>
              </a:rPr>
              <a:t>SuperATV</a:t>
            </a:r>
            <a:endParaRPr lang="en-US" sz="1400" b="1" dirty="0">
              <a:solidFill>
                <a:srgbClr val="FF0000"/>
              </a:solidFill>
            </a:endParaRPr>
          </a:p>
          <a:p>
            <a:endParaRPr lang="en-US" sz="1400" b="1" dirty="0"/>
          </a:p>
          <a:p>
            <a:r>
              <a:rPr lang="en-US" sz="1400" dirty="0"/>
              <a:t>$223</a:t>
            </a:r>
          </a:p>
          <a:p>
            <a:endParaRPr lang="en-US" sz="1400" b="1" dirty="0"/>
          </a:p>
          <a:p>
            <a:r>
              <a:rPr lang="en-US" sz="1000" dirty="0">
                <a:hlinkClick r:id="rId2"/>
              </a:rPr>
              <a:t>https://</a:t>
            </a:r>
            <a:r>
              <a:rPr lang="en-US" sz="1000" dirty="0" err="1">
                <a:hlinkClick r:id="rId2"/>
              </a:rPr>
              <a:t>www.everythingpolarisranger.com</a:t>
            </a:r>
            <a:r>
              <a:rPr lang="en-US" sz="1000" dirty="0">
                <a:hlinkClick r:id="rId2"/>
              </a:rPr>
              <a:t>/</a:t>
            </a:r>
            <a:r>
              <a:rPr lang="en-US" sz="1000" dirty="0" err="1">
                <a:hlinkClick r:id="rId2"/>
              </a:rPr>
              <a:t>polaris</a:t>
            </a:r>
            <a:r>
              <a:rPr lang="en-US" sz="1000" dirty="0">
                <a:hlinkClick r:id="rId2"/>
              </a:rPr>
              <a:t>-ranger-</a:t>
            </a:r>
            <a:r>
              <a:rPr lang="en-US" sz="1000" dirty="0" err="1">
                <a:hlinkClick r:id="rId2"/>
              </a:rPr>
              <a:t>utv</a:t>
            </a:r>
            <a:r>
              <a:rPr lang="en-US" sz="1000" dirty="0">
                <a:hlinkClick r:id="rId2"/>
              </a:rPr>
              <a:t>-winch-auto-stop-fairlead-kit-by-</a:t>
            </a:r>
            <a:r>
              <a:rPr lang="en-US" sz="1000" dirty="0" err="1">
                <a:hlinkClick r:id="rId2"/>
              </a:rPr>
              <a:t>superatv</a:t>
            </a:r>
            <a:r>
              <a:rPr lang="en-US" sz="1000" dirty="0">
                <a:hlinkClick r:id="rId2"/>
              </a:rPr>
              <a:t>/</a:t>
            </a:r>
            <a:endParaRPr lang="en-US" sz="1000" dirty="0"/>
          </a:p>
          <a:p>
            <a:endParaRPr lang="en-US" sz="1400" b="1" dirty="0"/>
          </a:p>
          <a:p>
            <a:r>
              <a:rPr lang="en-US" sz="1400" dirty="0"/>
              <a:t>A plastic stopper cylinder is put onto the cable.</a:t>
            </a:r>
          </a:p>
          <a:p>
            <a:r>
              <a:rPr lang="en-US" sz="1400" dirty="0"/>
              <a:t>When the stopper approaches and touches the mouth of the fairlead, the winch shuts off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E4626-BACE-EBD8-E682-DFE1A1AB42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76200"/>
            <a:ext cx="5689600" cy="3352800"/>
          </a:xfrm>
          <a:prstGeom prst="rect">
            <a:avLst/>
          </a:prstGeom>
        </p:spPr>
      </p:pic>
      <p:pic>
        <p:nvPicPr>
          <p:cNvPr id="1026" name="Picture 2" descr="Viper ATV/UTV Auto Stop Fairlead - Wide ...">
            <a:extLst>
              <a:ext uri="{FF2B5EF4-FFF2-40B4-BE49-F238E27FC236}">
                <a16:creationId xmlns:a16="http://schemas.microsoft.com/office/drawing/2014/main" id="{CD9794CF-8BBC-492A-83CC-D749F2DAD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09982" y="3000914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3387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72" Snow Blade $1,800 - current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62F3AB-DA6C-F993-6E36-88F38D041B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1262634"/>
            <a:ext cx="2952288" cy="1258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F4FFA0-998B-03AA-C334-9995135C46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8001" y="1298390"/>
            <a:ext cx="2345981" cy="856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CB7CB-16C0-D301-A84F-364BC7B8C42D}"/>
              </a:ext>
            </a:extLst>
          </p:cNvPr>
          <p:cNvSpPr txBox="1"/>
          <p:nvPr/>
        </p:nvSpPr>
        <p:spPr>
          <a:xfrm>
            <a:off x="10642579" y="1418502"/>
            <a:ext cx="14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72" Western Impact HD Straight Blade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0D582-8ECE-13CE-3169-9B7015D626CE}"/>
              </a:ext>
            </a:extLst>
          </p:cNvPr>
          <p:cNvSpPr txBox="1"/>
          <p:nvPr/>
        </p:nvSpPr>
        <p:spPr>
          <a:xfrm>
            <a:off x="76557" y="1098976"/>
            <a:ext cx="4394914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DENALI Hydro-Turn System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motoalliance.com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denali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-snow-plow-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hydroturn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-with-joystick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Hydraulic Angle Control Systems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Western Impact Mid-Duty and HD Series:  72" HD V-Blade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www.tricountyequipment.net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/new-equipment/residential/tractor-packages/gator-snow-packages/xuv835r-and-western-impact-hd-v-blade/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Blackline Solutions: Offers hydraulic electric lift and angle plow systems with simple joystick controls and down pressure with float functionality.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www.blackline-solutions.com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SuperATV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Plow Pro Angle Actuator: This electric actuator kit delivers 1,800 pounds of force and uses a rocker switch mounted in your cab. It provides 30 degrees of angle adjustment left or right of center and can be adjusted on the move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www.everythingdeeregator.com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/john-deere-gator-plow-pro-utv-plow-angle-actuator-kit-by-superatv-hc-u-001-ejd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Kolpin High Rise Power Angle: This electric system rotates the blade 56 degrees with dash or handlebar-mounted button controls. It uses a self-locking steel gear drive and installs in under 30 minutes with just 5 bolts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www.utvsource.com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kolpin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-outdoors-high-rise-snow-plow-power-angle/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2AAD2-19BF-3D33-4143-BC3E0B65C7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3972538"/>
            <a:ext cx="1549400" cy="831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25BF70-0BFD-FADB-F281-1AEA07513FE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6592" y="5136331"/>
            <a:ext cx="2152293" cy="1258264"/>
          </a:xfrm>
          <a:prstGeom prst="rect">
            <a:avLst/>
          </a:prstGeom>
        </p:spPr>
      </p:pic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80E4F8CD-0936-8DCE-B797-92E2EED9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63010" y="2759863"/>
            <a:ext cx="1472864" cy="83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9D9810-36D8-5C6B-5D58-399895CAFE7B}"/>
              </a:ext>
            </a:extLst>
          </p:cNvPr>
          <p:cNvSpPr txBox="1"/>
          <p:nvPr/>
        </p:nvSpPr>
        <p:spPr>
          <a:xfrm>
            <a:off x="7843126" y="211917"/>
            <a:ext cx="27015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Western IMPACT UTV V-Plow </a:t>
            </a:r>
            <a:r>
              <a:rPr lang="en-US" sz="1600" dirty="0"/>
              <a:t>is the best choice because it explicitly includes back drag.</a:t>
            </a:r>
          </a:p>
          <a:p>
            <a:r>
              <a:rPr lang="en-US" sz="1600" dirty="0"/>
              <a:t>But it costs $4K+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508711-DC5F-8D94-0B31-39EBA077D262}"/>
              </a:ext>
            </a:extLst>
          </p:cNvPr>
          <p:cNvSpPr txBox="1"/>
          <p:nvPr/>
        </p:nvSpPr>
        <p:spPr>
          <a:xfrm>
            <a:off x="7603487" y="2452513"/>
            <a:ext cx="43949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Back drag solutions:</a:t>
            </a:r>
          </a:p>
          <a:p>
            <a:endParaRPr lang="en-US" sz="1100" dirty="0"/>
          </a:p>
          <a:p>
            <a:r>
              <a:rPr lang="en-US" sz="1100" dirty="0"/>
              <a:t>Back Drag Blade Can-Am</a:t>
            </a:r>
          </a:p>
          <a:p>
            <a:r>
              <a:rPr lang="en-US" sz="1100" dirty="0"/>
              <a:t>https://can-am-</a:t>
            </a:r>
            <a:r>
              <a:rPr lang="en-US" sz="1100" dirty="0" err="1"/>
              <a:t>shop.brp.com</a:t>
            </a:r>
            <a:r>
              <a:rPr lang="en-US" sz="1100" dirty="0"/>
              <a:t>/off-road/us/</a:t>
            </a:r>
            <a:r>
              <a:rPr lang="en-US" sz="1100" dirty="0" err="1"/>
              <a:t>en</a:t>
            </a:r>
            <a:r>
              <a:rPr lang="en-US" sz="1100" dirty="0"/>
              <a:t>/back-drag-blade-can-am-715007794.htm</a:t>
            </a:r>
          </a:p>
          <a:p>
            <a:endParaRPr lang="en-US" sz="1100" dirty="0"/>
          </a:p>
          <a:p>
            <a:r>
              <a:rPr lang="en-US" sz="1100" dirty="0"/>
              <a:t>Western 66892 8 ft. Back Drag Edge</a:t>
            </a:r>
          </a:p>
          <a:p>
            <a:r>
              <a:rPr lang="en-US" sz="1100" dirty="0"/>
              <a:t>https://www.4qte.com/prd-583-western-66892-8-ft.-back-drag-edge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C845C6-5B60-556F-C54B-C1BD0B5F903A}"/>
              </a:ext>
            </a:extLst>
          </p:cNvPr>
          <p:cNvSpPr txBox="1"/>
          <p:nvPr/>
        </p:nvSpPr>
        <p:spPr>
          <a:xfrm>
            <a:off x="7452864" y="4240577"/>
            <a:ext cx="37908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8"/>
              </a:rPr>
              <a:t>https://snoway.com</a:t>
            </a:r>
            <a:r>
              <a:rPr lang="en-US" sz="1100" dirty="0"/>
              <a:t> – Sno-Way V-plow similar to Western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F2681B-617B-95CF-5EE1-F8BC5BCC3E5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43126" y="4599108"/>
            <a:ext cx="2671837" cy="204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689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1C7A-0E76-ABB4-D69F-724A22AA8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23884-F214-65FC-D4DC-F6CE3A3AD4B8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Snow Shovels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3F313-C0E5-3C5B-B089-F60FD3402B3F}"/>
              </a:ext>
            </a:extLst>
          </p:cNvPr>
          <p:cNvSpPr txBox="1"/>
          <p:nvPr/>
        </p:nvSpPr>
        <p:spPr>
          <a:xfrm>
            <a:off x="76557" y="1098976"/>
            <a:ext cx="43949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=M3OsMTyofe0  - video comparison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www.amazon.com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dp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/B0G1YBMSVL - 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Litheli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40V (2×20V) Cordless Snow Shovel with Directional Plate &amp; Adjustable Handle, 14-Inch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D6872-F4B7-0819-5797-2F74EF9B2F6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487" y="2036757"/>
            <a:ext cx="2347843" cy="27844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2B9A2F-F19F-2AB3-026E-CA6DAEF17597}"/>
              </a:ext>
            </a:extLst>
          </p:cNvPr>
          <p:cNvSpPr txBox="1"/>
          <p:nvPr/>
        </p:nvSpPr>
        <p:spPr>
          <a:xfrm>
            <a:off x="89257" y="5759024"/>
            <a:ext cx="521934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3. EGO Power+ Electric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/WBJ5A. -expensive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2. Toro 60V Power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IYwEh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00">
                <a:latin typeface="Calibri" panose="020F0502020204030204" pitchFamily="34" charset="0"/>
                <a:cs typeface="Calibri" panose="020F0502020204030204" pitchFamily="34" charset="0"/>
              </a:rPr>
              <a:t>- heavy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1. Greenworks 80V 12" Cordless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JMkppek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5F7792-7591-4CAF-A97A-FB77DF26D65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28000" y="2925622"/>
            <a:ext cx="3777322" cy="38375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9EA2680-F2F0-1D47-2F79-0153005D4A6E}"/>
              </a:ext>
            </a:extLst>
          </p:cNvPr>
          <p:cNvSpPr txBox="1"/>
          <p:nvPr/>
        </p:nvSpPr>
        <p:spPr>
          <a:xfrm>
            <a:off x="6913390" y="2333152"/>
            <a:ext cx="3777323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Greenworks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80V 12" Cordless Battery LED Snow Shovel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w/ 4.0Ah Battery &amp; 6A Charger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https://www.greenworkstools.com/products/80v-12-cordless-battery-snow-shovel-w-4-0ah-battery-6a-charger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=0obvIOD0fKY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$252</a:t>
            </a:r>
          </a:p>
        </p:txBody>
      </p:sp>
    </p:spTree>
    <p:extLst>
      <p:ext uri="{BB962C8B-B14F-4D97-AF65-F5344CB8AC3E}">
        <p14:creationId xmlns:p14="http://schemas.microsoft.com/office/powerpoint/2010/main" val="3538257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931</TotalTime>
  <Words>1313</Words>
  <Application>Microsoft Macintosh PowerPoint</Application>
  <PresentationFormat>Widescreen</PresentationFormat>
  <Paragraphs>200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59</cp:revision>
  <dcterms:created xsi:type="dcterms:W3CDTF">2022-06-02T16:58:09Z</dcterms:created>
  <dcterms:modified xsi:type="dcterms:W3CDTF">2026-01-29T23:12:28Z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