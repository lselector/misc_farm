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1" r:id="rId2"/>
    <p:sldId id="262" r:id="rId3"/>
    <p:sldId id="271" r:id="rId4"/>
    <p:sldId id="263" r:id="rId5"/>
    <p:sldId id="265" r:id="rId6"/>
    <p:sldId id="269" r:id="rId7"/>
    <p:sldId id="267" r:id="rId8"/>
    <p:sldId id="268" r:id="rId9"/>
    <p:sldId id="264" r:id="rId10"/>
    <p:sldId id="270" r:id="rId11"/>
    <p:sldId id="272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62"/>
    <p:restoredTop sz="91391"/>
  </p:normalViewPr>
  <p:slideViewPr>
    <p:cSldViewPr snapToGrid="0" snapToObjects="1">
      <p:cViewPr>
        <p:scale>
          <a:sx n="100" d="100"/>
          <a:sy n="100" d="100"/>
        </p:scale>
        <p:origin x="400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BB0166-7DA8-4040-98E7-81186BCABFDE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2EE96B-D67E-F041-AACE-799DE4D64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032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A7E78-4330-193B-B423-8314C6762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80FDA-9F58-7E15-C3A0-BCA67A1B6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D1846-5607-2F80-FE77-B45D1134D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9EC29-87F8-BE2D-794A-6DA472257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40454-B433-410E-0FF8-FC3528287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508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6760B-86A2-A753-7B95-0F58C129D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6CB2F-877F-D8BF-FD37-54A9FCD98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B5966-DCE9-9278-FC75-7505EFC82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8C6C7F-3558-A2B7-B9CB-C865542E0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B692-9BC3-C542-CF13-B75CF481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29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01A7-590C-E867-7D0C-AE29A5E7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C844-B762-199D-E840-4432CFA9E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F83D9-6582-F301-0C23-DFC255494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2132C-12F6-FB49-15E9-71DC67F2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D5F5A6-E475-572D-EB19-BDCB29C26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941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7E54A-D232-E13B-03B8-197985E4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5FE80-6415-A129-A133-13F4E69631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34163-2BC5-67B8-C044-B2B91150F7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24A9F-6EBE-F2FD-B790-457A880F4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165A11-D3B2-DAF0-6C96-3A013B4B6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148667-6987-698C-D3F8-33E4C2F45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23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9EB9B-3B5A-BAA4-1104-35CFEE511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6AF77-D30B-078E-7377-864E200417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3BB66-8448-BDCE-8885-0DCCD1D2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C4BBBE-287A-8A3C-D9AC-73777D133F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EC8599-617C-397F-DC3D-826467ADF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5D750-7437-B1AA-EDBA-8CE16147A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1E2CB5-60FB-BFE3-7C57-6D71206F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2E5366-9BBC-DD63-6667-F2ABAD0CF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03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02E0-2360-8A3B-C660-0EEE2283A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761752-B6B9-B0D3-79D0-BA63B329C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49FDB9-28AA-E5EE-0E6F-1C870983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1A72C3-CCD3-E994-0553-1649E7C0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30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27FBEF-93F3-4398-ABDE-E19A2BE6E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24BDFD-B5CF-6FE3-E5D7-46013C29E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95C03-7815-0295-8D6D-6E94DCC40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5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60438-A2C9-EC42-359F-79480BBFB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AC04E-128D-0581-C7DA-E12F971BB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57F62C-C89B-1A1C-EE71-DFB3CCC88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E8FE63-1511-35E5-E243-54A541D53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8C57B-944F-63EC-027D-0775FFD31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B95C2-F629-DCC1-1A34-EFD210A3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87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1C171-16B5-30EF-DF6B-EA8297BFE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C62FB-CB34-C301-34F2-0BC3B063A2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14D87E-859D-4374-028E-34A7E096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E7CC-E810-603C-A310-365D6E2E7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811FA3-03C6-243F-1B00-D8C263B8A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B7296-43FF-9B1B-273A-D8A59A1AF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8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B347D-D077-DA5B-BCBF-255D910F8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969ED-67C2-311E-252D-6A110850A0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0FBA1-3C89-EC11-74D4-20B92AAFD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A7745B-5BAE-F9D3-47E4-0138D1CEA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30326-C5CD-0886-9BE9-A7F7DB74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50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D2BAD8-9CAB-A380-AAC3-A59F3A3256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D29A6E-D831-F47F-A2AE-F6E1AFD2D0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4713-8CBC-B5EB-3BDB-7F46E4C81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91023-0B0A-7041-9F06-D25A50EF063B}" type="datetimeFigureOut"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B814CE-5D3F-6AF3-1B95-C1BCD7CEF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4F38C-1773-F5A8-9806-A23E993F7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299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680EF-BCA9-239E-5CBB-C870C41B4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FCFB0-9A1E-EE20-9776-1EF4CAC7D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C2FEA-8E7F-70CC-474B-CC138894A0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491023-0B0A-7041-9F06-D25A50EF063B}" type="datetimeFigureOut"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8BAB-55F6-6894-580A-32AFD5780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BF367-BF67-C7BE-7EC4-9DB85C434E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E528E-3295-EB44-B5E3-209426A0E5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560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hyperlink" Target="https://powerequipment.honda.com/snowblowers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ckssmallengines.com/jacks-parts-lookup/manufacturer/honda/snow-blower" TargetMode="External"/><Relationship Id="rId7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us.bercomac.com/en_US/taxons/category/snowblower?limit=27" TargetMode="Externa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hyperlink" Target="https://erskineattachments.com/products/hydraulic-snowblower-sb300-series/" TargetMode="External"/><Relationship Id="rId4" Type="http://schemas.openxmlformats.org/officeDocument/2006/relationships/hyperlink" Target="https://rammy.fi/en/rammy-snowblower-155-utv-pro-3/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10" Type="http://schemas.openxmlformats.org/officeDocument/2006/relationships/image" Target="../media/image27.jpeg"/><Relationship Id="rId4" Type="http://schemas.openxmlformats.org/officeDocument/2006/relationships/image" Target="../media/image21.jpe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zips.com/products/winches-cables/winch-parts/winch-tensioners" TargetMode="External"/><Relationship Id="rId13" Type="http://schemas.openxmlformats.org/officeDocument/2006/relationships/image" Target="../media/image30.png"/><Relationship Id="rId18" Type="http://schemas.openxmlformats.org/officeDocument/2006/relationships/image" Target="../media/image35.jpeg"/><Relationship Id="rId3" Type="http://schemas.openxmlformats.org/officeDocument/2006/relationships/hyperlink" Target="https://www.youtube.com/watch?v=QB3OdEiAtSg" TargetMode="External"/><Relationship Id="rId7" Type="http://schemas.openxmlformats.org/officeDocument/2006/relationships/hyperlink" Target="https://www.youtube.com/watch?v=JiPT2l71U3U" TargetMode="External"/><Relationship Id="rId12" Type="http://schemas.openxmlformats.org/officeDocument/2006/relationships/image" Target="../media/image29.png"/><Relationship Id="rId17" Type="http://schemas.openxmlformats.org/officeDocument/2006/relationships/image" Target="../media/image34.jpeg"/><Relationship Id="rId2" Type="http://schemas.openxmlformats.org/officeDocument/2006/relationships/hyperlink" Target="https://www.youtube.com/watch?v=walB-pyDaYE" TargetMode="External"/><Relationship Id="rId16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MSzYsjSwWq0" TargetMode="External"/><Relationship Id="rId11" Type="http://schemas.openxmlformats.org/officeDocument/2006/relationships/image" Target="../media/image28.png"/><Relationship Id="rId5" Type="http://schemas.openxmlformats.org/officeDocument/2006/relationships/hyperlink" Target="https://www.youtube.com/watch?v=lIwT-UqNNQw" TargetMode="External"/><Relationship Id="rId15" Type="http://schemas.openxmlformats.org/officeDocument/2006/relationships/image" Target="../media/image32.png"/><Relationship Id="rId10" Type="http://schemas.openxmlformats.org/officeDocument/2006/relationships/hyperlink" Target="https://www.youtube.com/watch?v=oim648rsuI8" TargetMode="External"/><Relationship Id="rId19" Type="http://schemas.openxmlformats.org/officeDocument/2006/relationships/image" Target="../media/image36.png"/><Relationship Id="rId4" Type="http://schemas.openxmlformats.org/officeDocument/2006/relationships/hyperlink" Target="https://www.youtube.com/watch?v=xptbCmz50AE" TargetMode="External"/><Relationship Id="rId9" Type="http://schemas.openxmlformats.org/officeDocument/2006/relationships/hyperlink" Target="https://www.youtube.com/watch?v=b4dRQ-H7ffM" TargetMode="External"/><Relationship Id="rId1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www.everythingpolarisranger.com/polaris-ranger-utv-winch-auto-stop-fairlead-kit-by-superatv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snoway.com/" TargetMode="External"/><Relationship Id="rId3" Type="http://schemas.openxmlformats.org/officeDocument/2006/relationships/image" Target="../media/image40.png"/><Relationship Id="rId7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hyperlink" Target="https://www.tricountyequipment.net/new-equipment/residential/tractor-packages/gator-snow-packages/xuv835r-and-western-impact-hd-v-blade/" TargetMode="External"/><Relationship Id="rId9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hyperlink" Target="https://www.youtube.com/watch?v=5VuD0MhxcQ0" TargetMode="External"/><Relationship Id="rId7" Type="http://schemas.openxmlformats.org/officeDocument/2006/relationships/hyperlink" Target="https://www.youtube.com/watch?v=ublecStrYAE" TargetMode="External"/><Relationship Id="rId12" Type="http://schemas.openxmlformats.org/officeDocument/2006/relationships/image" Target="../media/image49.png"/><Relationship Id="rId2" Type="http://schemas.openxmlformats.org/officeDocument/2006/relationships/hyperlink" Target="https://www.r2manufacturing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MVhIKQvNplc" TargetMode="External"/><Relationship Id="rId11" Type="http://schemas.openxmlformats.org/officeDocument/2006/relationships/image" Target="../media/image48.png"/><Relationship Id="rId5" Type="http://schemas.openxmlformats.org/officeDocument/2006/relationships/hyperlink" Target="https://www.youtube.com/watch?v=wCxOjqdGEjw" TargetMode="External"/><Relationship Id="rId10" Type="http://schemas.openxmlformats.org/officeDocument/2006/relationships/image" Target="../media/image47.png"/><Relationship Id="rId4" Type="http://schemas.openxmlformats.org/officeDocument/2006/relationships/hyperlink" Target="https://www.youtube.com/watch?v=K8zB1X35QtI" TargetMode="External"/><Relationship Id="rId9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5.jpeg"/><Relationship Id="rId18" Type="http://schemas.openxmlformats.org/officeDocument/2006/relationships/image" Target="../media/image58.png"/><Relationship Id="rId3" Type="http://schemas.openxmlformats.org/officeDocument/2006/relationships/hyperlink" Target="https://www.youtube.com/watch?v=QB3OdEiAtSg" TargetMode="External"/><Relationship Id="rId7" Type="http://schemas.openxmlformats.org/officeDocument/2006/relationships/image" Target="../media/image52.png"/><Relationship Id="rId12" Type="http://schemas.openxmlformats.org/officeDocument/2006/relationships/hyperlink" Target="https://zips.com/products/winches-cables/winch-parts/winch-tensioners" TargetMode="External"/><Relationship Id="rId17" Type="http://schemas.openxmlformats.org/officeDocument/2006/relationships/image" Target="../media/image57.png"/><Relationship Id="rId2" Type="http://schemas.openxmlformats.org/officeDocument/2006/relationships/hyperlink" Target="https://www.youtube.com/watch?v=walB-pyDaYE" TargetMode="External"/><Relationship Id="rId16" Type="http://schemas.openxmlformats.org/officeDocument/2006/relationships/image" Target="../media/image56.jpe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youtube.com/watch?v=lIwT-UqNNQw" TargetMode="External"/><Relationship Id="rId11" Type="http://schemas.openxmlformats.org/officeDocument/2006/relationships/hyperlink" Target="https://www.youtube.com/watch?v=JiPT2l71U3U" TargetMode="External"/><Relationship Id="rId5" Type="http://schemas.openxmlformats.org/officeDocument/2006/relationships/hyperlink" Target="https://www.youtube.com/watch?v=xptbCmz50AE" TargetMode="External"/><Relationship Id="rId15" Type="http://schemas.openxmlformats.org/officeDocument/2006/relationships/hyperlink" Target="https://www.youtube.com/watch?v=oim648rsuI8" TargetMode="External"/><Relationship Id="rId10" Type="http://schemas.openxmlformats.org/officeDocument/2006/relationships/hyperlink" Target="https://www.youtube.com/watch?v=MSzYsjSwWq0" TargetMode="External"/><Relationship Id="rId19" Type="http://schemas.openxmlformats.org/officeDocument/2006/relationships/image" Target="../media/image59.png"/><Relationship Id="rId4" Type="http://schemas.openxmlformats.org/officeDocument/2006/relationships/image" Target="../media/image51.png"/><Relationship Id="rId9" Type="http://schemas.openxmlformats.org/officeDocument/2006/relationships/image" Target="../media/image54.png"/><Relationship Id="rId14" Type="http://schemas.openxmlformats.org/officeDocument/2006/relationships/hyperlink" Target="https://www.youtube.com/watch?v=b4dRQ-H7ffM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youtube.com/watch?v=0obvIOD0fKY" TargetMode="External"/><Relationship Id="rId4" Type="http://schemas.openxmlformats.org/officeDocument/2006/relationships/hyperlink" Target="https://www.greenworkstools.com/products/80v-12-cordless-battery-snow-shovel-w-4-0ah-battery-6a-charg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C05051-5705-F303-D201-D96165D66EF8}"/>
              </a:ext>
            </a:extLst>
          </p:cNvPr>
          <p:cNvSpPr txBox="1"/>
          <p:nvPr/>
        </p:nvSpPr>
        <p:spPr>
          <a:xfrm>
            <a:off x="150994" y="406651"/>
            <a:ext cx="5074149" cy="46166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Single-Stage Models: </a:t>
            </a:r>
            <a:br>
              <a:rPr lang="en-US" sz="1400" dirty="0"/>
            </a:br>
            <a:r>
              <a:rPr lang="en-US" sz="1400" dirty="0"/>
              <a:t>    The auger both pulls up and discharges the snow. </a:t>
            </a:r>
          </a:p>
          <a:p>
            <a:r>
              <a:rPr lang="en-US" sz="1400" dirty="0"/>
              <a:t>    The snow discharge distance is usually limited to about 3". </a:t>
            </a:r>
          </a:p>
          <a:p>
            <a:r>
              <a:rPr lang="en-US" sz="1400" dirty="0"/>
              <a:t>    Because the auger touches the ground, it is covered in rubber </a:t>
            </a:r>
          </a:p>
          <a:p>
            <a:r>
              <a:rPr lang="en-US" sz="1400" dirty="0"/>
              <a:t>    to protect the surface.</a:t>
            </a:r>
          </a:p>
          <a:p>
            <a:r>
              <a:rPr lang="en-US" sz="1400" dirty="0"/>
              <a:t>    Works only on paved surfaces.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Two-Stage Models:</a:t>
            </a:r>
            <a:r>
              <a:rPr lang="en-US" sz="1400" dirty="0"/>
              <a:t> </a:t>
            </a:r>
          </a:p>
          <a:p>
            <a:r>
              <a:rPr lang="en-US" sz="1400" dirty="0"/>
              <a:t>   The auger only pulls up the snow from the ground. </a:t>
            </a:r>
          </a:p>
          <a:p>
            <a:r>
              <a:rPr lang="en-US" sz="1400" dirty="0"/>
              <a:t>   A separate component within the snow blower, the impeller,</a:t>
            </a:r>
          </a:p>
          <a:p>
            <a:r>
              <a:rPr lang="en-US" sz="1400" dirty="0"/>
              <a:t>   discharges the snow from the chute. </a:t>
            </a:r>
          </a:p>
          <a:p>
            <a:r>
              <a:rPr lang="en-US" sz="1400" dirty="0"/>
              <a:t>   This allows the snow blower to send the snow up to 60"</a:t>
            </a:r>
          </a:p>
          <a:p>
            <a:r>
              <a:rPr lang="en-US" sz="1400" dirty="0"/>
              <a:t>  Because the auger does not touch the ground, it is all metal </a:t>
            </a:r>
          </a:p>
          <a:p>
            <a:r>
              <a:rPr lang="en-US" sz="1400" dirty="0"/>
              <a:t>   (not rubber-tipped, as with the single-stage models).</a:t>
            </a:r>
          </a:p>
          <a:p>
            <a:r>
              <a:rPr lang="en-US" sz="1400" dirty="0"/>
              <a:t>   Works on any surface (paved, gravel, dirt).</a:t>
            </a:r>
          </a:p>
          <a:p>
            <a:endParaRPr lang="en-US" sz="1400" dirty="0"/>
          </a:p>
          <a:p>
            <a:r>
              <a:rPr lang="en-US" sz="1400" b="1" dirty="0">
                <a:solidFill>
                  <a:srgbClr val="FF0000"/>
                </a:solidFill>
              </a:rPr>
              <a:t>Three-stage Models:</a:t>
            </a:r>
          </a:p>
          <a:p>
            <a:r>
              <a:rPr lang="en-US" sz="1400" dirty="0"/>
              <a:t>   same stages as the two-stage snow blower, but the addition </a:t>
            </a:r>
          </a:p>
          <a:p>
            <a:r>
              <a:rPr lang="en-US" sz="1400" dirty="0"/>
              <a:t>   of a third stage, the accelerator.</a:t>
            </a:r>
          </a:p>
          <a:p>
            <a:r>
              <a:rPr lang="en-US" sz="1400" dirty="0"/>
              <a:t>   Accelerator allows snow to be driven through the impeller</a:t>
            </a:r>
          </a:p>
          <a:p>
            <a:r>
              <a:rPr lang="en-US" sz="1400" dirty="0"/>
              <a:t>    quickly – more power, speed, heavy snow removal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24F949-E2A3-3AA8-B434-B6B99911F5A3}"/>
              </a:ext>
            </a:extLst>
          </p:cNvPr>
          <p:cNvSpPr txBox="1"/>
          <p:nvPr/>
        </p:nvSpPr>
        <p:spPr>
          <a:xfrm>
            <a:off x="4329087" y="5512464"/>
            <a:ext cx="3533825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24" width is good.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gas engine (at least 6 hp)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should be 2-stage or 3-stage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Electrical start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can have Fuel Injection, but not required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41AE53-DCC5-7CAB-C40F-6A4DEAA759E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3506" y="175985"/>
            <a:ext cx="6667500" cy="2717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18721FCB-1A8C-EEC5-6A49-84EFE5656AD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6464297" y="3021970"/>
            <a:ext cx="787400" cy="1333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0BEFE5-E869-4F07-9604-D64AB61C5365}"/>
              </a:ext>
            </a:extLst>
          </p:cNvPr>
          <p:cNvSpPr txBox="1"/>
          <p:nvPr/>
        </p:nvSpPr>
        <p:spPr>
          <a:xfrm>
            <a:off x="6407651" y="4175877"/>
            <a:ext cx="8726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auger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705067-DB9D-72B0-4D7C-CA605AE1199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7899543" y="3299734"/>
            <a:ext cx="807712" cy="6581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85516A-9314-3C09-35D3-F13419CA98E8}"/>
              </a:ext>
            </a:extLst>
          </p:cNvPr>
          <p:cNvSpPr txBox="1"/>
          <p:nvPr/>
        </p:nvSpPr>
        <p:spPr>
          <a:xfrm>
            <a:off x="7524747" y="4185279"/>
            <a:ext cx="14995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impeller </a:t>
            </a:r>
            <a:br>
              <a:rPr lang="en-US" sz="1400" dirty="0"/>
            </a:br>
            <a:r>
              <a:rPr lang="en-US" sz="1400" dirty="0"/>
              <a:t>(throws snow through the tube)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1D71E3-64C0-3C60-834F-54ACA330E3A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1022" y="3156504"/>
            <a:ext cx="804123" cy="8077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925C51-C9FD-F1A6-A242-DE44200F3383}"/>
              </a:ext>
            </a:extLst>
          </p:cNvPr>
          <p:cNvSpPr txBox="1"/>
          <p:nvPr/>
        </p:nvSpPr>
        <p:spPr>
          <a:xfrm>
            <a:off x="9506591" y="4164032"/>
            <a:ext cx="13129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accelerator (pushes snow to impeller)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E73D83-F164-32DB-D17F-E40D9CECBAB7}"/>
              </a:ext>
            </a:extLst>
          </p:cNvPr>
          <p:cNvSpPr txBox="1"/>
          <p:nvPr/>
        </p:nvSpPr>
        <p:spPr>
          <a:xfrm>
            <a:off x="5466641" y="2747288"/>
            <a:ext cx="1355344" cy="3120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single stage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9062B5-1722-D066-8A72-D5FECC3FA618}"/>
              </a:ext>
            </a:extLst>
          </p:cNvPr>
          <p:cNvSpPr txBox="1"/>
          <p:nvPr/>
        </p:nvSpPr>
        <p:spPr>
          <a:xfrm>
            <a:off x="7277123" y="2729947"/>
            <a:ext cx="1355344" cy="3120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two stage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E3211B-2093-A9AB-D281-53FE6216A329}"/>
              </a:ext>
            </a:extLst>
          </p:cNvPr>
          <p:cNvSpPr txBox="1"/>
          <p:nvPr/>
        </p:nvSpPr>
        <p:spPr>
          <a:xfrm>
            <a:off x="9464230" y="2737746"/>
            <a:ext cx="1355344" cy="3120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three stage</a:t>
            </a:r>
          </a:p>
        </p:txBody>
      </p:sp>
    </p:spTree>
    <p:extLst>
      <p:ext uri="{BB962C8B-B14F-4D97-AF65-F5344CB8AC3E}">
        <p14:creationId xmlns:p14="http://schemas.microsoft.com/office/powerpoint/2010/main" val="2058619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ED7B14-8108-A2E6-D563-B334DE537F1F}"/>
              </a:ext>
            </a:extLst>
          </p:cNvPr>
          <p:cNvSpPr txBox="1"/>
          <p:nvPr/>
        </p:nvSpPr>
        <p:spPr>
          <a:xfrm>
            <a:off x="0" y="24841"/>
            <a:ext cx="4191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Honda – best snowblowers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6670AB-3A1C-7C89-0C06-0A7A657AEE32}"/>
              </a:ext>
            </a:extLst>
          </p:cNvPr>
          <p:cNvSpPr txBox="1"/>
          <p:nvPr/>
        </p:nvSpPr>
        <p:spPr>
          <a:xfrm>
            <a:off x="0" y="437267"/>
            <a:ext cx="345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hlinkClick r:id="rId2"/>
              </a:rPr>
              <a:t>https://</a:t>
            </a:r>
            <a:r>
              <a:rPr lang="en-US" sz="1200" dirty="0" err="1">
                <a:hlinkClick r:id="rId2"/>
              </a:rPr>
              <a:t>powerequipment.honda.com</a:t>
            </a:r>
            <a:r>
              <a:rPr lang="en-US" sz="1200" dirty="0">
                <a:hlinkClick r:id="rId2"/>
              </a:rPr>
              <a:t>/snowblowers</a:t>
            </a:r>
            <a:endParaRPr lang="en-US" sz="1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C8F4E3C-34D6-B179-374A-7BC72FFBE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355" y="714266"/>
            <a:ext cx="1695037" cy="1695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139FD89-BF4F-CD2D-DA06-DDF60A3F51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09898" y="729759"/>
            <a:ext cx="1770248" cy="1770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E4D8E5A-CCAF-5DC7-0C20-0AA49A5D488D}"/>
              </a:ext>
            </a:extLst>
          </p:cNvPr>
          <p:cNvSpPr txBox="1"/>
          <p:nvPr/>
        </p:nvSpPr>
        <p:spPr>
          <a:xfrm>
            <a:off x="2041565" y="2590711"/>
            <a:ext cx="198317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HSS724AW / </a:t>
            </a:r>
            <a:r>
              <a:rPr lang="en-US" sz="1200" b="1" dirty="0">
                <a:solidFill>
                  <a:srgbClr val="FF0000"/>
                </a:solidFill>
              </a:rPr>
              <a:t>HSS724AWD</a:t>
            </a:r>
          </a:p>
          <a:p>
            <a:r>
              <a:rPr lang="en-US" sz="1200" dirty="0"/>
              <a:t>Same, but with Wheel drive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D1371F-EFA8-C63C-4730-F984D3FB9A61}"/>
              </a:ext>
            </a:extLst>
          </p:cNvPr>
          <p:cNvSpPr txBox="1"/>
          <p:nvPr/>
        </p:nvSpPr>
        <p:spPr>
          <a:xfrm>
            <a:off x="22925" y="2590711"/>
            <a:ext cx="1983179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HSS724AT / </a:t>
            </a:r>
            <a:r>
              <a:rPr lang="en-US" sz="1200" b="1" dirty="0">
                <a:solidFill>
                  <a:srgbClr val="FF0000"/>
                </a:solidFill>
              </a:rPr>
              <a:t>HSS724ATD</a:t>
            </a:r>
          </a:p>
          <a:p>
            <a:r>
              <a:rPr lang="en-US" sz="1200" dirty="0"/>
              <a:t>Two stage 24"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Track drive (better)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adjustable auger height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24" wide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1500 lb./min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Throws snow 49 feet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Self propelled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hydrostatic drive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FF0000"/>
                </a:solidFill>
              </a:rPr>
              <a:t>Electric start (ATD only)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F097ED44-5C43-C82D-5D8C-E5C5B7514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8580" y="795476"/>
            <a:ext cx="1695036" cy="1695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FD660F-58A3-333B-163B-036D0D211A2A}"/>
              </a:ext>
            </a:extLst>
          </p:cNvPr>
          <p:cNvSpPr txBox="1"/>
          <p:nvPr/>
        </p:nvSpPr>
        <p:spPr>
          <a:xfrm>
            <a:off x="4074150" y="2590711"/>
            <a:ext cx="1983179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HSS928AT / </a:t>
            </a:r>
            <a:r>
              <a:rPr lang="en-US" sz="1200" b="1" dirty="0">
                <a:solidFill>
                  <a:srgbClr val="FF0000"/>
                </a:solidFill>
              </a:rPr>
              <a:t>HSS928ATD</a:t>
            </a:r>
          </a:p>
          <a:p>
            <a:r>
              <a:rPr lang="en-US" sz="1200" dirty="0"/>
              <a:t>Two stage 28"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Track drive (better)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adjustable auger height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28" wide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1900 lb./min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Throws snow 52 feet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Self propelled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hydrostatic drive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Electric start (ATD only)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43F9F4-5703-2F46-FD94-D754D8967546}"/>
              </a:ext>
            </a:extLst>
          </p:cNvPr>
          <p:cNvSpPr txBox="1"/>
          <p:nvPr/>
        </p:nvSpPr>
        <p:spPr>
          <a:xfrm>
            <a:off x="1404257" y="2282934"/>
            <a:ext cx="736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$3,300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A7FC35-7205-2EC1-C9CF-916ADAB21F5E}"/>
              </a:ext>
            </a:extLst>
          </p:cNvPr>
          <p:cNvSpPr txBox="1"/>
          <p:nvPr/>
        </p:nvSpPr>
        <p:spPr>
          <a:xfrm>
            <a:off x="3412999" y="2282934"/>
            <a:ext cx="736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$3,100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CE9556-57C7-3857-27F1-686172C53CE9}"/>
              </a:ext>
            </a:extLst>
          </p:cNvPr>
          <p:cNvSpPr txBox="1"/>
          <p:nvPr/>
        </p:nvSpPr>
        <p:spPr>
          <a:xfrm>
            <a:off x="5455481" y="2245919"/>
            <a:ext cx="736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$3,700</a:t>
            </a:r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6F0F0AC0-6686-584E-70B6-F92576C7E4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91751" y="878170"/>
            <a:ext cx="1599375" cy="159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ABD2423-5BE4-FB48-FF74-6CD8714A4C1E}"/>
              </a:ext>
            </a:extLst>
          </p:cNvPr>
          <p:cNvSpPr txBox="1"/>
          <p:nvPr/>
        </p:nvSpPr>
        <p:spPr>
          <a:xfrm>
            <a:off x="6106735" y="2597544"/>
            <a:ext cx="1983179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HSS928AW / </a:t>
            </a:r>
            <a:r>
              <a:rPr lang="en-US" sz="1200" b="1" dirty="0">
                <a:solidFill>
                  <a:srgbClr val="FF0000"/>
                </a:solidFill>
              </a:rPr>
              <a:t>HSS928AWD</a:t>
            </a:r>
          </a:p>
          <a:p>
            <a:r>
              <a:rPr lang="en-US" sz="1200" dirty="0"/>
              <a:t>Same, but with Wheel drive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D9E21B-B953-F2D5-682C-42C851D14B5E}"/>
              </a:ext>
            </a:extLst>
          </p:cNvPr>
          <p:cNvSpPr txBox="1"/>
          <p:nvPr/>
        </p:nvSpPr>
        <p:spPr>
          <a:xfrm>
            <a:off x="9587879" y="2204259"/>
            <a:ext cx="736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$4,100</a:t>
            </a:r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57D89960-C591-D0D3-94B7-D89A70E81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05486" y="948692"/>
            <a:ext cx="1487458" cy="1487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EEB6EF5-23A3-939F-E9FD-D5140C4378C2}"/>
              </a:ext>
            </a:extLst>
          </p:cNvPr>
          <p:cNvSpPr txBox="1"/>
          <p:nvPr/>
        </p:nvSpPr>
        <p:spPr>
          <a:xfrm>
            <a:off x="8144493" y="2581216"/>
            <a:ext cx="1983179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HSS1332AT / </a:t>
            </a:r>
            <a:r>
              <a:rPr lang="en-US" sz="1200" b="1" dirty="0">
                <a:solidFill>
                  <a:srgbClr val="FF0000"/>
                </a:solidFill>
              </a:rPr>
              <a:t>HSS1332ATD</a:t>
            </a:r>
          </a:p>
          <a:p>
            <a:r>
              <a:rPr lang="en-US" sz="1200" dirty="0"/>
              <a:t>Two stage 32"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Track drive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adjustable auger height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32" wide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2750 lb./min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Throws snow 56 feet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Self propelled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hydrostatic drive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Electric start (ATD only)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71287D-14E2-0C22-AD8B-2C17C958030C}"/>
              </a:ext>
            </a:extLst>
          </p:cNvPr>
          <p:cNvSpPr txBox="1"/>
          <p:nvPr/>
        </p:nvSpPr>
        <p:spPr>
          <a:xfrm>
            <a:off x="7422991" y="2223008"/>
            <a:ext cx="736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$3,500</a:t>
            </a: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5B7744E9-EAA5-8345-945A-FD889E1ED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62792" y="968255"/>
            <a:ext cx="1293256" cy="1293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8B72CDD-2B36-0528-9773-F13D97F3179E}"/>
              </a:ext>
            </a:extLst>
          </p:cNvPr>
          <p:cNvSpPr txBox="1"/>
          <p:nvPr/>
        </p:nvSpPr>
        <p:spPr>
          <a:xfrm>
            <a:off x="11489697" y="2200546"/>
            <a:ext cx="7362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$9,300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1296FE-8B1E-1005-87E2-5584DF82A407}"/>
              </a:ext>
            </a:extLst>
          </p:cNvPr>
          <p:cNvSpPr txBox="1"/>
          <p:nvPr/>
        </p:nvSpPr>
        <p:spPr>
          <a:xfrm>
            <a:off x="10188358" y="2590622"/>
            <a:ext cx="1983179" cy="24929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HSM1336i</a:t>
            </a:r>
          </a:p>
          <a:p>
            <a:r>
              <a:rPr lang="en-US" sz="1200" dirty="0"/>
              <a:t>Two stage 36" </a:t>
            </a:r>
          </a:p>
          <a:p>
            <a:r>
              <a:rPr lang="en-US" sz="1200" dirty="0"/>
              <a:t>Hybrid: </a:t>
            </a:r>
          </a:p>
          <a:p>
            <a:r>
              <a:rPr lang="en-US" sz="1200" dirty="0"/>
              <a:t>two electrical motors: drive</a:t>
            </a:r>
          </a:p>
          <a:p>
            <a:r>
              <a:rPr lang="en-US" sz="1200" dirty="0"/>
              <a:t>gas motor: </a:t>
            </a:r>
            <a:r>
              <a:rPr lang="en-US" sz="1200" dirty="0" err="1"/>
              <a:t>auger+impeller</a:t>
            </a:r>
            <a:endParaRPr lang="en-US" sz="1200" dirty="0"/>
          </a:p>
          <a:p>
            <a:r>
              <a:rPr lang="en-US" sz="1200" dirty="0"/>
              <a:t>Mode: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   Auto,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   Semi-Auto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   Manual</a:t>
            </a:r>
          </a:p>
          <a:p>
            <a:r>
              <a:rPr lang="en-US" sz="1200" dirty="0"/>
              <a:t>36" width</a:t>
            </a:r>
          </a:p>
          <a:p>
            <a:r>
              <a:rPr lang="en-US" sz="1200" dirty="0"/>
              <a:t>up to 3000 lb./min</a:t>
            </a:r>
          </a:p>
          <a:p>
            <a:r>
              <a:rPr lang="en-US" sz="1200" dirty="0"/>
              <a:t>Track drive</a:t>
            </a:r>
          </a:p>
          <a:p>
            <a:r>
              <a:rPr lang="en-US" sz="1200" dirty="0"/>
              <a:t>Electric start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6C315E-2A94-C7A2-318A-534710C5ACBF}"/>
              </a:ext>
            </a:extLst>
          </p:cNvPr>
          <p:cNvSpPr txBox="1"/>
          <p:nvPr/>
        </p:nvSpPr>
        <p:spPr>
          <a:xfrm>
            <a:off x="259277" y="5363008"/>
            <a:ext cx="1534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Best Choice</a:t>
            </a:r>
          </a:p>
        </p:txBody>
      </p:sp>
      <p:sp>
        <p:nvSpPr>
          <p:cNvPr id="17" name="Down Arrow 16">
            <a:extLst>
              <a:ext uri="{FF2B5EF4-FFF2-40B4-BE49-F238E27FC236}">
                <a16:creationId xmlns:a16="http://schemas.microsoft.com/office/drawing/2014/main" id="{518E038A-7B03-3E79-9F28-642BA4956C86}"/>
              </a:ext>
            </a:extLst>
          </p:cNvPr>
          <p:cNvSpPr/>
          <p:nvPr/>
        </p:nvSpPr>
        <p:spPr>
          <a:xfrm rot="10800000">
            <a:off x="707571" y="4711111"/>
            <a:ext cx="533400" cy="4704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556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0FA36D-3404-1E9C-B96C-7A351AA9B517}"/>
              </a:ext>
            </a:extLst>
          </p:cNvPr>
          <p:cNvSpPr txBox="1"/>
          <p:nvPr/>
        </p:nvSpPr>
        <p:spPr>
          <a:xfrm>
            <a:off x="143219" y="198304"/>
            <a:ext cx="4767448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 bought used Honda HS724 in December 2022</a:t>
            </a:r>
          </a:p>
        </p:txBody>
      </p:sp>
      <p:pic>
        <p:nvPicPr>
          <p:cNvPr id="4" name="Picture 3" descr="A red and black scooter&#10;&#10;Description automatically generated with low confidence">
            <a:extLst>
              <a:ext uri="{FF2B5EF4-FFF2-40B4-BE49-F238E27FC236}">
                <a16:creationId xmlns:a16="http://schemas.microsoft.com/office/drawing/2014/main" id="{3AABDACA-0AB8-B0D7-0329-62D866CE1A8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1355" y="567636"/>
            <a:ext cx="3775494" cy="31329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36B2B5-1999-2E14-87CC-3DF7FBAA2DE6}"/>
              </a:ext>
            </a:extLst>
          </p:cNvPr>
          <p:cNvSpPr txBox="1"/>
          <p:nvPr/>
        </p:nvSpPr>
        <p:spPr>
          <a:xfrm>
            <a:off x="231356" y="3800819"/>
            <a:ext cx="3775494" cy="1600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Missing lamp/light.</a:t>
            </a:r>
          </a:p>
          <a:p>
            <a:endParaRPr lang="en-US" sz="1400" dirty="0"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The manual shows copyright year 2001.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Honda Engine Serial # GCAE-2072409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The label on the frame says that 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it meets the US "EPA SNRE PH2 2007",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Does "2007" mean the year?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08E506-EE81-F20C-0E9D-9AA173A05D6A}"/>
              </a:ext>
            </a:extLst>
          </p:cNvPr>
          <p:cNvSpPr txBox="1"/>
          <p:nvPr/>
        </p:nvSpPr>
        <p:spPr>
          <a:xfrm>
            <a:off x="231355" y="5501442"/>
            <a:ext cx="3775494" cy="4308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100" dirty="0">
                <a:hlinkClick r:id="rId3"/>
              </a:rPr>
              <a:t>https://</a:t>
            </a:r>
            <a:r>
              <a:rPr lang="en-US" sz="1100" dirty="0" err="1">
                <a:hlinkClick r:id="rId3"/>
              </a:rPr>
              <a:t>www.jackssmallengines.com</a:t>
            </a:r>
            <a:r>
              <a:rPr lang="en-US" sz="1100" dirty="0">
                <a:hlinkClick r:id="rId3"/>
              </a:rPr>
              <a:t>/jacks-parts-lookup/manufacturer/</a:t>
            </a:r>
            <a:r>
              <a:rPr lang="en-US" sz="1100" dirty="0" err="1">
                <a:hlinkClick r:id="rId3"/>
              </a:rPr>
              <a:t>honda</a:t>
            </a:r>
            <a:r>
              <a:rPr lang="en-US" sz="1100" dirty="0">
                <a:hlinkClick r:id="rId3"/>
              </a:rPr>
              <a:t>/snow-blower</a:t>
            </a:r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DC80F7-877D-49F6-94F9-AE43F0D044C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4661" y="2067268"/>
            <a:ext cx="3683000" cy="12323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CAB719C-E22E-C395-361C-38141FF68A6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4660" y="759728"/>
            <a:ext cx="3683000" cy="1130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CF41BD-A4BE-9A2D-EB91-09DBB06DB940}"/>
              </a:ext>
            </a:extLst>
          </p:cNvPr>
          <p:cNvSpPr txBox="1"/>
          <p:nvPr/>
        </p:nvSpPr>
        <p:spPr>
          <a:xfrm>
            <a:off x="4182626" y="3478554"/>
            <a:ext cx="3555034" cy="16004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Missing lamp/light.</a:t>
            </a:r>
          </a:p>
          <a:p>
            <a:endParaRPr lang="en-US" sz="1400" dirty="0"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The manual shows copyright year 2001.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Honda Engine Serial # GCAE-2072409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The label on the frame says that 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it meets the US "EPA SNRE PH2 2007",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Does "2007" mean the year?</a:t>
            </a:r>
          </a:p>
        </p:txBody>
      </p:sp>
      <p:pic>
        <p:nvPicPr>
          <p:cNvPr id="1026" name="Picture 2" descr="Honda HS724, HS80, HS828, HS928 Snow ...">
            <a:extLst>
              <a:ext uri="{FF2B5EF4-FFF2-40B4-BE49-F238E27FC236}">
                <a16:creationId xmlns:a16="http://schemas.microsoft.com/office/drawing/2014/main" id="{9CFF6CD0-FD95-0BC3-5DF8-FAC3B8454D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447866" y="5728614"/>
            <a:ext cx="1744133" cy="1126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FC31ABE-65CD-FE89-C7C0-CC7B9B669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50730" y="4779676"/>
            <a:ext cx="948938" cy="94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09DCCF-570B-E22A-AE41-3C77C59B6014}"/>
              </a:ext>
            </a:extLst>
          </p:cNvPr>
          <p:cNvSpPr txBox="1"/>
          <p:nvPr/>
        </p:nvSpPr>
        <p:spPr>
          <a:xfrm>
            <a:off x="8254285" y="4888798"/>
            <a:ext cx="1804114" cy="3803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Auger Shear Pins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4ACF3A-0377-1E1B-C555-8886820D3B9D}"/>
              </a:ext>
            </a:extLst>
          </p:cNvPr>
          <p:cNvSpPr txBox="1"/>
          <p:nvPr/>
        </p:nvSpPr>
        <p:spPr>
          <a:xfrm>
            <a:off x="8192483" y="6107238"/>
            <a:ext cx="2255383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Impeller Shear Bolt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CF28A1-0FE0-34E3-8C3B-5414EF415193}"/>
              </a:ext>
            </a:extLst>
          </p:cNvPr>
          <p:cNvSpPr txBox="1"/>
          <p:nvPr/>
        </p:nvSpPr>
        <p:spPr>
          <a:xfrm>
            <a:off x="7983747" y="189159"/>
            <a:ext cx="3615921" cy="41857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Auger Belt - Spins the auger/fan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Part # 22432-736-A01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5/8" x 37" (LB-33)</a:t>
            </a:r>
          </a:p>
          <a:p>
            <a:endParaRPr lang="en-US" sz="1400" dirty="0"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Drive Belt - Moves the machine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Part # 22431-767-003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1/2" x 28" (SA-27)</a:t>
            </a:r>
          </a:p>
          <a:p>
            <a:endParaRPr lang="en-US" sz="1400" dirty="0"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Auger Shear Bolts (Quantity: 2 - left &amp; right)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Size: 6mm x 16mm.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Part # 92101-06016-0A (Bolt)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Part # 90114-SA0-000  (Nut)</a:t>
            </a:r>
          </a:p>
          <a:p>
            <a:endParaRPr lang="en-US" sz="1400" dirty="0"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Blower (Impeller) Shear Bolt (Quantity: 1)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Located behind the auger on the impeller fan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Special 6mm bolt with a specific shoulder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(approx. 10mm diameter shoulder)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Part # 90102-732-010 (Bolt)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Part # 90114-SA0-000 (Nut)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4181FD-2217-C00A-9910-3DAA1743D4F0}"/>
              </a:ext>
            </a:extLst>
          </p:cNvPr>
          <p:cNvSpPr txBox="1"/>
          <p:nvPr/>
        </p:nvSpPr>
        <p:spPr>
          <a:xfrm>
            <a:off x="4182626" y="5239831"/>
            <a:ext cx="3555034" cy="13849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We may install impeller kit which uses rubber pieces to attach to the blades to reduce the spacing between the impeller and the walls – thus preventing snow accumulation.</a:t>
            </a:r>
          </a:p>
          <a:p>
            <a:r>
              <a:rPr lang="en-US" sz="1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For each blade we get pre-cut rubber paddle, stainless backing plate, bolts, washers, nuts. </a:t>
            </a:r>
          </a:p>
        </p:txBody>
      </p:sp>
    </p:spTree>
    <p:extLst>
      <p:ext uri="{BB962C8B-B14F-4D97-AF65-F5344CB8AC3E}">
        <p14:creationId xmlns:p14="http://schemas.microsoft.com/office/powerpoint/2010/main" val="541298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0FA36D-3404-1E9C-B96C-7A351AA9B517}"/>
              </a:ext>
            </a:extLst>
          </p:cNvPr>
          <p:cNvSpPr txBox="1"/>
          <p:nvPr/>
        </p:nvSpPr>
        <p:spPr>
          <a:xfrm>
            <a:off x="210952" y="1369399"/>
            <a:ext cx="3971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Kress KG471 professional-grade 60V battery-powered 2-stage snow blower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0C8BAE-3A25-33A0-B6D5-34DEB5FE733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8152" y="2283049"/>
            <a:ext cx="4754033" cy="42510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E35D5C-7AF6-7109-427A-D1F06A571E9E}"/>
              </a:ext>
            </a:extLst>
          </p:cNvPr>
          <p:cNvSpPr txBox="1"/>
          <p:nvPr/>
        </p:nvSpPr>
        <p:spPr>
          <a:xfrm>
            <a:off x="210952" y="323938"/>
            <a:ext cx="47540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bought this electric snowblower in Feb 2026</a:t>
            </a:r>
          </a:p>
        </p:txBody>
      </p:sp>
    </p:spTree>
    <p:extLst>
      <p:ext uri="{BB962C8B-B14F-4D97-AF65-F5344CB8AC3E}">
        <p14:creationId xmlns:p14="http://schemas.microsoft.com/office/powerpoint/2010/main" val="1462267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0FA36D-3404-1E9C-B96C-7A351AA9B517}"/>
              </a:ext>
            </a:extLst>
          </p:cNvPr>
          <p:cNvSpPr txBox="1"/>
          <p:nvPr/>
        </p:nvSpPr>
        <p:spPr>
          <a:xfrm>
            <a:off x="143219" y="198303"/>
            <a:ext cx="38283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UTV Snow Blower</a:t>
            </a:r>
          </a:p>
          <a:p>
            <a:r>
              <a:rPr lang="en-US" sz="2000" b="1" dirty="0"/>
              <a:t>XUV590M width: 56.5" (144 cm)</a:t>
            </a:r>
          </a:p>
          <a:p>
            <a:endParaRPr lang="en-US" sz="2000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BFB43DF-49FE-58F1-610B-E4A910C2F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7199" y="1213966"/>
            <a:ext cx="3514382" cy="2342921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DF7E30-C9D8-42C9-3C68-C919667FA0BC}"/>
              </a:ext>
            </a:extLst>
          </p:cNvPr>
          <p:cNvSpPr txBox="1"/>
          <p:nvPr/>
        </p:nvSpPr>
        <p:spPr>
          <a:xfrm>
            <a:off x="4615049" y="210002"/>
            <a:ext cx="6645618" cy="39626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==================================</a:t>
            </a:r>
          </a:p>
          <a:p>
            <a:r>
              <a:rPr lang="en-US" sz="2000" dirty="0" err="1"/>
              <a:t>Bercomac</a:t>
            </a:r>
            <a:r>
              <a:rPr lang="en-US" sz="2000" dirty="0"/>
              <a:t> from Canada:</a:t>
            </a:r>
          </a:p>
          <a:p>
            <a:r>
              <a:rPr lang="en-US" sz="1050" dirty="0">
                <a:hlinkClick r:id="rId3"/>
              </a:rPr>
              <a:t>https://us.bercomac.com/en_US/taxons/category/snowblower?limit=27</a:t>
            </a:r>
            <a:endParaRPr lang="en-US" sz="10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Bercomac</a:t>
            </a:r>
            <a:r>
              <a:rPr lang="en-US" sz="2000" dirty="0"/>
              <a:t> Versatile Plus 54" (20HP Honda engine) $7K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Bercomac</a:t>
            </a:r>
            <a:r>
              <a:rPr lang="en-US" sz="2000" dirty="0"/>
              <a:t> Premium 54" (22-24HP Honda engine) $8,500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Bercomac</a:t>
            </a:r>
            <a:r>
              <a:rPr lang="en-US" sz="2000" dirty="0"/>
              <a:t> Vantage 66" $8,500</a:t>
            </a:r>
          </a:p>
          <a:p>
            <a:r>
              <a:rPr lang="en-US" sz="2000" dirty="0"/>
              <a:t>==================================</a:t>
            </a:r>
          </a:p>
          <a:p>
            <a:r>
              <a:rPr lang="en-US" sz="2000" dirty="0"/>
              <a:t>Rammy from Finland:</a:t>
            </a:r>
          </a:p>
          <a:p>
            <a:r>
              <a:rPr lang="en-US" sz="2000" dirty="0"/>
              <a:t>Rammy 155 UTV PRO 61" (B&amp;S engine, 13HP) $6,400</a:t>
            </a:r>
          </a:p>
          <a:p>
            <a:r>
              <a:rPr lang="en-US" sz="1050" dirty="0">
                <a:hlinkClick r:id="rId4"/>
              </a:rPr>
              <a:t>https://rammy.fi/en/rammy-snowblower-155-utv-pro-3/</a:t>
            </a:r>
            <a:endParaRPr lang="en-US" sz="1050" dirty="0"/>
          </a:p>
          <a:p>
            <a:r>
              <a:rPr lang="en-US" sz="2000" dirty="0"/>
              <a:t>==================================</a:t>
            </a:r>
          </a:p>
          <a:p>
            <a:r>
              <a:rPr lang="en-US" sz="2000" dirty="0"/>
              <a:t>Erskine 60" (SB300 Hydraulic model) - USA</a:t>
            </a:r>
          </a:p>
          <a:p>
            <a:r>
              <a:rPr lang="en-US" sz="1050" dirty="0">
                <a:hlinkClick r:id="rId5"/>
              </a:rPr>
              <a:t>https://</a:t>
            </a:r>
            <a:r>
              <a:rPr lang="en-US" sz="1050" dirty="0" err="1">
                <a:hlinkClick r:id="rId5"/>
              </a:rPr>
              <a:t>erskineattachments.com</a:t>
            </a:r>
            <a:r>
              <a:rPr lang="en-US" sz="1050" dirty="0">
                <a:hlinkClick r:id="rId5"/>
              </a:rPr>
              <a:t>/products/hydraulic-snowblower-sb300-series/</a:t>
            </a:r>
            <a:endParaRPr lang="en-US" sz="1050" dirty="0"/>
          </a:p>
          <a:p>
            <a:r>
              <a:rPr lang="en-US" sz="2000" dirty="0"/>
              <a:t>==================================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468931-D2D2-A3BF-55CA-AA47A7B9FE15}"/>
              </a:ext>
            </a:extLst>
          </p:cNvPr>
          <p:cNvSpPr txBox="1"/>
          <p:nvPr/>
        </p:nvSpPr>
        <p:spPr>
          <a:xfrm>
            <a:off x="4615049" y="4460268"/>
            <a:ext cx="7407618" cy="23083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Also considered this ATV blade + snowblower combo:</a:t>
            </a:r>
            <a:br>
              <a:rPr lang="en-US" dirty="0"/>
            </a:br>
            <a:r>
              <a:rPr lang="en-US" dirty="0"/>
              <a:t>Rammy W165 Plow + ST30 Combo </a:t>
            </a:r>
          </a:p>
          <a:p>
            <a:r>
              <a:rPr lang="en-US" dirty="0"/>
              <a:t>Unfortunately it is only  118 cm (46") with ST30 mounted, which is much narrower than our gator (144 cm) – so we will not be able to advance through the field of snow.</a:t>
            </a:r>
          </a:p>
          <a:p>
            <a:r>
              <a:rPr lang="en-US" dirty="0"/>
              <a:t>Yes, it is not as heavy, but the difference in weight is only 30 kg.</a:t>
            </a:r>
          </a:p>
          <a:p>
            <a:r>
              <a:rPr lang="en-US" dirty="0"/>
              <a:t>W165 Plow + ST30 Combo - 120 kg total (plow 50kg + ST30 70kg) </a:t>
            </a:r>
          </a:p>
          <a:p>
            <a:r>
              <a:rPr lang="en-US" dirty="0"/>
              <a:t>Rammy 155 UTV PRO - 150 kg total (125 kg snowblower + 25kg frame)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DC205C-5CBD-5265-16C9-2808CDFB0D23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7199" y="4590948"/>
            <a:ext cx="3514382" cy="2068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6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E7715-02AD-2BF2-57F2-87946916F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D892CB-7927-59CC-01DA-D27873B98074}"/>
              </a:ext>
            </a:extLst>
          </p:cNvPr>
          <p:cNvSpPr txBox="1"/>
          <p:nvPr/>
        </p:nvSpPr>
        <p:spPr>
          <a:xfrm>
            <a:off x="143219" y="198303"/>
            <a:ext cx="3514381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72-inch "KFI Plow" Snow Blade </a:t>
            </a:r>
          </a:p>
          <a:p>
            <a:endParaRPr lang="en-US" sz="1200" dirty="0"/>
          </a:p>
          <a:p>
            <a:r>
              <a:rPr lang="en-US" sz="1200" dirty="0"/>
              <a:t>standard plow shoes (skid feet)</a:t>
            </a:r>
          </a:p>
          <a:p>
            <a:r>
              <a:rPr lang="en-US" sz="1200" dirty="0"/>
              <a:t>part # </a:t>
            </a:r>
            <a:r>
              <a:rPr lang="en-US" sz="1200" dirty="0" err="1"/>
              <a:t>kfi</a:t>
            </a:r>
            <a:r>
              <a:rPr lang="en-US" sz="1200" dirty="0"/>
              <a:t> 105490:</a:t>
            </a:r>
          </a:p>
          <a:p>
            <a:r>
              <a:rPr lang="en-US" sz="1200" b="1" dirty="0">
                <a:solidFill>
                  <a:srgbClr val="FF0000"/>
                </a:solidFill>
              </a:rPr>
              <a:t>Shoe (Base) Diameter - 3.5 inches</a:t>
            </a:r>
          </a:p>
          <a:p>
            <a:r>
              <a:rPr lang="en-US" sz="1200" dirty="0"/>
              <a:t>Shaft Diameter - 0.63 inches (approx. 5/8")</a:t>
            </a:r>
          </a:p>
          <a:p>
            <a:r>
              <a:rPr lang="en-US" sz="1200" dirty="0"/>
              <a:t>Pad Thickness   0.5 inches (1/2" Grade 50 Steel)</a:t>
            </a:r>
          </a:p>
          <a:p>
            <a:r>
              <a:rPr lang="en-US" sz="1200" dirty="0"/>
              <a:t>Total Bolt Length   6.5 inches</a:t>
            </a:r>
          </a:p>
          <a:p>
            <a:endParaRPr lang="en-US" sz="1200" dirty="0"/>
          </a:p>
          <a:p>
            <a:r>
              <a:rPr lang="en-US" sz="1200" dirty="0"/>
              <a:t>KFI Plow Foot Bracket 105006-R</a:t>
            </a:r>
          </a:p>
          <a:p>
            <a:r>
              <a:rPr lang="en-US" sz="1200" dirty="0"/>
              <a:t>Attached to the blade with two 3/8"-16 x 1.00" carriage bolts and two nuts.</a:t>
            </a:r>
          </a:p>
          <a:p>
            <a:r>
              <a:rPr lang="en-US" sz="1200" dirty="0"/>
              <a:t>The distance between bolts 1.75 inches center-to-center</a:t>
            </a:r>
          </a:p>
          <a:p>
            <a:endParaRPr lang="en-US" sz="1200" dirty="0"/>
          </a:p>
          <a:p>
            <a:r>
              <a:rPr lang="en-US" sz="1200" dirty="0" err="1"/>
              <a:t>Insalation</a:t>
            </a:r>
            <a:r>
              <a:rPr lang="en-US" sz="1200" dirty="0"/>
              <a:t>: </a:t>
            </a:r>
          </a:p>
          <a:p>
            <a:r>
              <a:rPr lang="en-US" sz="1200" dirty="0"/>
              <a:t>https://</a:t>
            </a:r>
            <a:r>
              <a:rPr lang="en-US" sz="1200" dirty="0" err="1"/>
              <a:t>www.youtube.com</a:t>
            </a:r>
            <a:r>
              <a:rPr lang="en-US" sz="1200" dirty="0"/>
              <a:t>/</a:t>
            </a:r>
            <a:r>
              <a:rPr lang="en-US" sz="1200" dirty="0" err="1"/>
              <a:t>watch?v</a:t>
            </a:r>
            <a:r>
              <a:rPr lang="en-US" sz="1200" dirty="0"/>
              <a:t>=jcAqaNDId9k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B3C79-FA91-C923-FE87-66DF5C6D049A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97068" y="2345667"/>
            <a:ext cx="1527491" cy="2370667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16A62944-E1DE-353F-B407-DDC9A345E2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378700" y="2731455"/>
            <a:ext cx="1882712" cy="2183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C7BD3E4-3908-F793-2263-CD32EC708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3989119" y="2616090"/>
            <a:ext cx="1139198" cy="17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m Maverick Sport X RC MC Snow Plow Kit ...">
            <a:extLst>
              <a:ext uri="{FF2B5EF4-FFF2-40B4-BE49-F238E27FC236}">
                <a16:creationId xmlns:a16="http://schemas.microsoft.com/office/drawing/2014/main" id="{B61F1530-92D8-0518-E869-D9328D19F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657600" y="233011"/>
            <a:ext cx="3721100" cy="218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Plow Foot Bracket by Kfi Products Witchdoctors">
            <a:extLst>
              <a:ext uri="{FF2B5EF4-FFF2-40B4-BE49-F238E27FC236}">
                <a16:creationId xmlns:a16="http://schemas.microsoft.com/office/drawing/2014/main" id="{6E0EC079-8AC0-6603-B519-B6B39637A6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472"/>
          <a:stretch>
            <a:fillRect/>
          </a:stretch>
        </p:blipFill>
        <p:spPr bwMode="auto">
          <a:xfrm>
            <a:off x="3929590" y="4915013"/>
            <a:ext cx="1772410" cy="1065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New KFI ATV Snow Plow Single Foot Replacement Kit, Skid Shoe for KFI Snow Blades - Picture 2 of 6">
            <a:extLst>
              <a:ext uri="{FF2B5EF4-FFF2-40B4-BE49-F238E27FC236}">
                <a16:creationId xmlns:a16="http://schemas.microsoft.com/office/drawing/2014/main" id="{8BFE2132-D283-D4DB-B238-A6344AECFF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229598" y="198303"/>
            <a:ext cx="2328917" cy="1839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B69F292-8D90-D01B-935A-E6F1EEA85DCA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5846" y="4014469"/>
            <a:ext cx="1714500" cy="787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8A10268-192D-733D-033A-56B2EBCD98C4}"/>
              </a:ext>
            </a:extLst>
          </p:cNvPr>
          <p:cNvSpPr txBox="1"/>
          <p:nvPr/>
        </p:nvSpPr>
        <p:spPr>
          <a:xfrm>
            <a:off x="143219" y="3885337"/>
            <a:ext cx="196262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Spring Locking Cotter Pin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ring cotter pin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clevis pin with a rue ring locking cotter pin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hairpin cotter pin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hairpin clip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R-clip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https://</a:t>
            </a:r>
            <a:r>
              <a:rPr lang="en-US" sz="1200" dirty="0" err="1"/>
              <a:t>www.youtube.com</a:t>
            </a:r>
            <a:r>
              <a:rPr lang="en-US" sz="1200" dirty="0"/>
              <a:t>/</a:t>
            </a:r>
            <a:r>
              <a:rPr lang="en-US" sz="1200" dirty="0" err="1"/>
              <a:t>watch?v</a:t>
            </a:r>
            <a:r>
              <a:rPr lang="en-US" sz="1200" dirty="0"/>
              <a:t>=</a:t>
            </a:r>
            <a:r>
              <a:rPr lang="en-US" sz="1200" dirty="0" err="1"/>
              <a:t>TlP_BgXcdBk</a:t>
            </a:r>
            <a:r>
              <a:rPr lang="en-US" sz="1200" dirty="0"/>
              <a:t>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19BD11-3DDB-8E57-7ED5-8B6F292CD4FA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91895" y="5120248"/>
            <a:ext cx="1296910" cy="14399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F3C68C-FBD8-EB3F-6EDC-FD6E191FE74F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56800" y="4146175"/>
            <a:ext cx="2091981" cy="15633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47E8BD-2C69-3BCA-954D-D86DC2536C87}"/>
              </a:ext>
            </a:extLst>
          </p:cNvPr>
          <p:cNvSpPr txBox="1"/>
          <p:nvPr/>
        </p:nvSpPr>
        <p:spPr>
          <a:xfrm>
            <a:off x="8923868" y="5936977"/>
            <a:ext cx="31249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Our winch is Badlands  ZXR 2500 </a:t>
            </a:r>
            <a:r>
              <a:rPr lang="en-US" sz="1200" dirty="0" err="1"/>
              <a:t>lbs</a:t>
            </a:r>
            <a:r>
              <a:rPr lang="en-US" sz="1200" dirty="0"/>
              <a:t> with 50 ft  3/16 inch Synthetic Winch Line Cable Rope 8,350 LBs</a:t>
            </a:r>
          </a:p>
        </p:txBody>
      </p:sp>
    </p:spTree>
    <p:extLst>
      <p:ext uri="{BB962C8B-B14F-4D97-AF65-F5344CB8AC3E}">
        <p14:creationId xmlns:p14="http://schemas.microsoft.com/office/powerpoint/2010/main" val="3474280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0FA36D-3404-1E9C-B96C-7A351AA9B517}"/>
              </a:ext>
            </a:extLst>
          </p:cNvPr>
          <p:cNvSpPr txBox="1"/>
          <p:nvPr/>
        </p:nvSpPr>
        <p:spPr>
          <a:xfrm>
            <a:off x="160472" y="181050"/>
            <a:ext cx="4850999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Solutions to prevent the winch and cable </a:t>
            </a:r>
          </a:p>
          <a:p>
            <a:r>
              <a:rPr lang="en-US" sz="1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from breaking when plowing</a:t>
            </a:r>
          </a:p>
          <a:p>
            <a:endParaRPr lang="en-US" sz="1400" b="1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Better angle, brackets, pulleys</a:t>
            </a:r>
          </a:p>
          <a:p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Solution 1.1 - mount the winch higher</a:t>
            </a:r>
          </a:p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1000" u="sng" dirty="0">
                <a:latin typeface="Calibri" panose="020F0502020204030204" pitchFamily="34" charset="0"/>
                <a:cs typeface="Calibri" panose="020F0502020204030204" pitchFamily="34" charset="0"/>
                <a:hlinkClick r:id="rId2"/>
              </a:rPr>
              <a:t>https://www.youtube.com/watch?v=walB-pyDaYE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or change the hook point:</a:t>
            </a:r>
          </a:p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1000" u="sng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https://www.youtube.com/watch?v=QB3OdEiAtSg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  </a:t>
            </a:r>
          </a:p>
          <a:p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Solution 1.2 - use brackets with blocks and pulleys </a:t>
            </a:r>
          </a:p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1000" u="sng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https://www.youtube.com/watch?v=xptbCmz50AE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  </a:t>
            </a:r>
          </a:p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1000" u="sng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https://www.youtube.com/watch?v=lIwT-UqNNQw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  </a:t>
            </a:r>
          </a:p>
          <a:p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Prevent cable tangling</a:t>
            </a:r>
          </a:p>
          <a:p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Solution 2.1 - use a spring to keep tension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Example - using leaf spring</a:t>
            </a:r>
          </a:p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1000" u="sng" dirty="0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https://www.youtube.com/watch?v=MSzYsjSwWq0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Example - commercial tensioner</a:t>
            </a:r>
          </a:p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1000" u="sng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https://www.youtube.com/watch?v=JiPT2l71U3U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1000" u="sng" dirty="0"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https://zips.com/products/winches-cables/winch-parts/winch-tensioners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 </a:t>
            </a:r>
          </a:p>
          <a:p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Solution 2.2 - use a synthetic rope or flat tow strap instead of the metal cable. </a:t>
            </a:r>
          </a:p>
          <a:p>
            <a:r>
              <a:rPr lang="en-US" sz="1400" dirty="0">
                <a:latin typeface="Calibri" panose="020F0502020204030204" pitchFamily="34" charset="0"/>
                <a:cs typeface="Calibri" panose="020F0502020204030204" pitchFamily="34" charset="0"/>
              </a:rPr>
              <a:t>Use a "roller fairlead" for synthetic line, or use "hawse fairlead" for flat strap to avoid tangling</a:t>
            </a:r>
          </a:p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1000" u="sng" dirty="0">
                <a:latin typeface="Calibri" panose="020F0502020204030204" pitchFamily="34" charset="0"/>
                <a:cs typeface="Calibri" panose="020F0502020204030204" pitchFamily="34" charset="0"/>
                <a:hlinkClick r:id="rId9"/>
              </a:rPr>
              <a:t>https://www.youtube.com/watch?v=b4dRQ-H7ffM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 - </a:t>
            </a:r>
            <a:r>
              <a:rPr lang="en-US" sz="1000" u="sng" dirty="0">
                <a:latin typeface="Calibri" panose="020F0502020204030204" pitchFamily="34" charset="0"/>
                <a:cs typeface="Calibri" panose="020F0502020204030204" pitchFamily="34" charset="0"/>
                <a:hlinkClick r:id="rId10"/>
              </a:rPr>
              <a:t>https://www.youtube.com/watch?v=oim648rsuI8</a:t>
            </a: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  </a:t>
            </a:r>
          </a:p>
        </p:txBody>
      </p:sp>
      <p:pic>
        <p:nvPicPr>
          <p:cNvPr id="3" name="Google Shape;60;p14">
            <a:extLst>
              <a:ext uri="{FF2B5EF4-FFF2-40B4-BE49-F238E27FC236}">
                <a16:creationId xmlns:a16="http://schemas.microsoft.com/office/drawing/2014/main" id="{2F578B0C-8343-3977-3901-9036C5560E60}"/>
              </a:ext>
            </a:extLst>
          </p:cNvPr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66869" y="181050"/>
            <a:ext cx="2182119" cy="176751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" name="Google Shape;64;p14">
            <a:extLst>
              <a:ext uri="{FF2B5EF4-FFF2-40B4-BE49-F238E27FC236}">
                <a16:creationId xmlns:a16="http://schemas.microsoft.com/office/drawing/2014/main" id="{ED03CE0E-4C31-C2FE-76EE-11BA0D1058EF}"/>
              </a:ext>
            </a:extLst>
          </p:cNvPr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6389" y="181052"/>
            <a:ext cx="2601479" cy="1499813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" name="Google Shape;62;p14">
            <a:extLst>
              <a:ext uri="{FF2B5EF4-FFF2-40B4-BE49-F238E27FC236}">
                <a16:creationId xmlns:a16="http://schemas.microsoft.com/office/drawing/2014/main" id="{619FD907-D758-2E58-557F-6B480801A577}"/>
              </a:ext>
            </a:extLst>
          </p:cNvPr>
          <p:cNvPicPr preferRelativeResize="0"/>
          <p:nvPr/>
        </p:nvPicPr>
        <p:blipFill>
          <a:blip r:embed="rId1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3014" y="1863147"/>
            <a:ext cx="2440444" cy="126902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" name="Google Shape;63;p14">
            <a:extLst>
              <a:ext uri="{FF2B5EF4-FFF2-40B4-BE49-F238E27FC236}">
                <a16:creationId xmlns:a16="http://schemas.microsoft.com/office/drawing/2014/main" id="{B5136630-1135-796B-C68E-967609E4DA6C}"/>
              </a:ext>
            </a:extLst>
          </p:cNvPr>
          <p:cNvPicPr preferRelativeResize="0"/>
          <p:nvPr/>
        </p:nvPicPr>
        <p:blipFill>
          <a:blip r:embed="rId1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53057" y="407971"/>
            <a:ext cx="1793606" cy="278799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" name="Google Shape;74;p15">
            <a:extLst>
              <a:ext uri="{FF2B5EF4-FFF2-40B4-BE49-F238E27FC236}">
                <a16:creationId xmlns:a16="http://schemas.microsoft.com/office/drawing/2014/main" id="{8B6F8FE6-1E05-ED68-FA32-FBC946F46E31}"/>
              </a:ext>
            </a:extLst>
          </p:cNvPr>
          <p:cNvPicPr preferRelativeResize="0"/>
          <p:nvPr/>
        </p:nvPicPr>
        <p:blipFill>
          <a:blip r:embed="rId1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2483" y="3260535"/>
            <a:ext cx="2081745" cy="17074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75;p15">
            <a:extLst>
              <a:ext uri="{FF2B5EF4-FFF2-40B4-BE49-F238E27FC236}">
                <a16:creationId xmlns:a16="http://schemas.microsoft.com/office/drawing/2014/main" id="{49C4225E-4E4E-E068-1BE5-FD533B8948C4}"/>
              </a:ext>
            </a:extLst>
          </p:cNvPr>
          <p:cNvPicPr preferRelativeResize="0"/>
          <p:nvPr/>
        </p:nvPicPr>
        <p:blipFill>
          <a:blip r:embed="rId1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3785" y="3260536"/>
            <a:ext cx="2545099" cy="170750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" name="Google Shape;70;p15">
            <a:extLst>
              <a:ext uri="{FF2B5EF4-FFF2-40B4-BE49-F238E27FC236}">
                <a16:creationId xmlns:a16="http://schemas.microsoft.com/office/drawing/2014/main" id="{634AD339-CBF8-008F-443D-DD5AEC87A504}"/>
              </a:ext>
            </a:extLst>
          </p:cNvPr>
          <p:cNvPicPr preferRelativeResize="0"/>
          <p:nvPr/>
        </p:nvPicPr>
        <p:blipFill>
          <a:blip r:embed="rId1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64793" y="5490424"/>
            <a:ext cx="1585913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72;p15">
            <a:extLst>
              <a:ext uri="{FF2B5EF4-FFF2-40B4-BE49-F238E27FC236}">
                <a16:creationId xmlns:a16="http://schemas.microsoft.com/office/drawing/2014/main" id="{F7430E0C-EE7A-F40E-1311-44D068DE36C1}"/>
              </a:ext>
            </a:extLst>
          </p:cNvPr>
          <p:cNvPicPr preferRelativeResize="0"/>
          <p:nvPr/>
        </p:nvPicPr>
        <p:blipFill>
          <a:blip r:embed="rId1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26906" y="5425629"/>
            <a:ext cx="1437931" cy="112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73;p15">
            <a:extLst>
              <a:ext uri="{FF2B5EF4-FFF2-40B4-BE49-F238E27FC236}">
                <a16:creationId xmlns:a16="http://schemas.microsoft.com/office/drawing/2014/main" id="{145D0BB8-ECAE-13DF-0D0F-7FF6458944EF}"/>
              </a:ext>
            </a:extLst>
          </p:cNvPr>
          <p:cNvPicPr preferRelativeResize="0"/>
          <p:nvPr/>
        </p:nvPicPr>
        <p:blipFill>
          <a:blip r:embed="rId1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3785" y="5425629"/>
            <a:ext cx="1122075" cy="1122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5488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4CF0B-EC81-CE7E-BDE5-AE3A61EB5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A2CC49-5002-C0ED-EB4A-945150499B16}"/>
              </a:ext>
            </a:extLst>
          </p:cNvPr>
          <p:cNvSpPr txBox="1"/>
          <p:nvPr/>
        </p:nvSpPr>
        <p:spPr>
          <a:xfrm>
            <a:off x="160472" y="181050"/>
            <a:ext cx="48509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FF0000"/>
                </a:solidFill>
              </a:rPr>
              <a:t>Polaris Ranger UTV Winch 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Auto-Stop Fairlead Kit 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by </a:t>
            </a:r>
            <a:r>
              <a:rPr lang="en-US" sz="1400" b="1" dirty="0" err="1">
                <a:solidFill>
                  <a:srgbClr val="FF0000"/>
                </a:solidFill>
              </a:rPr>
              <a:t>SuperATV</a:t>
            </a:r>
            <a:endParaRPr lang="en-US" sz="1400" b="1" dirty="0">
              <a:solidFill>
                <a:srgbClr val="FF0000"/>
              </a:solidFill>
            </a:endParaRPr>
          </a:p>
          <a:p>
            <a:endParaRPr lang="en-US" sz="1400" b="1" dirty="0"/>
          </a:p>
          <a:p>
            <a:r>
              <a:rPr lang="en-US" sz="1400" dirty="0"/>
              <a:t>$223</a:t>
            </a:r>
          </a:p>
          <a:p>
            <a:endParaRPr lang="en-US" sz="1400" b="1" dirty="0"/>
          </a:p>
          <a:p>
            <a:r>
              <a:rPr lang="en-US" sz="1000" dirty="0">
                <a:hlinkClick r:id="rId2"/>
              </a:rPr>
              <a:t>https://</a:t>
            </a:r>
            <a:r>
              <a:rPr lang="en-US" sz="1000" dirty="0" err="1">
                <a:hlinkClick r:id="rId2"/>
              </a:rPr>
              <a:t>www.everythingpolarisranger.com</a:t>
            </a:r>
            <a:r>
              <a:rPr lang="en-US" sz="1000" dirty="0">
                <a:hlinkClick r:id="rId2"/>
              </a:rPr>
              <a:t>/</a:t>
            </a:r>
            <a:r>
              <a:rPr lang="en-US" sz="1000" dirty="0" err="1">
                <a:hlinkClick r:id="rId2"/>
              </a:rPr>
              <a:t>polaris</a:t>
            </a:r>
            <a:r>
              <a:rPr lang="en-US" sz="1000" dirty="0">
                <a:hlinkClick r:id="rId2"/>
              </a:rPr>
              <a:t>-ranger-</a:t>
            </a:r>
            <a:r>
              <a:rPr lang="en-US" sz="1000" dirty="0" err="1">
                <a:hlinkClick r:id="rId2"/>
              </a:rPr>
              <a:t>utv</a:t>
            </a:r>
            <a:r>
              <a:rPr lang="en-US" sz="1000" dirty="0">
                <a:hlinkClick r:id="rId2"/>
              </a:rPr>
              <a:t>-winch-auto-stop-fairlead-kit-by-</a:t>
            </a:r>
            <a:r>
              <a:rPr lang="en-US" sz="1000" dirty="0" err="1">
                <a:hlinkClick r:id="rId2"/>
              </a:rPr>
              <a:t>superatv</a:t>
            </a:r>
            <a:r>
              <a:rPr lang="en-US" sz="1000" dirty="0">
                <a:hlinkClick r:id="rId2"/>
              </a:rPr>
              <a:t>/</a:t>
            </a:r>
            <a:endParaRPr lang="en-US" sz="1000" dirty="0"/>
          </a:p>
          <a:p>
            <a:endParaRPr lang="en-US" sz="1400" b="1" dirty="0"/>
          </a:p>
          <a:p>
            <a:r>
              <a:rPr lang="en-US" sz="1400" dirty="0"/>
              <a:t>A plastic stopper cylinder is put onto the cable.</a:t>
            </a:r>
          </a:p>
          <a:p>
            <a:r>
              <a:rPr lang="en-US" sz="1400" dirty="0"/>
              <a:t>When the stopper approaches and touches the mouth of the fairlead, the winch shuts off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E4626-BACE-EBD8-E682-DFE1A1AB424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76200"/>
            <a:ext cx="5689600" cy="3352800"/>
          </a:xfrm>
          <a:prstGeom prst="rect">
            <a:avLst/>
          </a:prstGeom>
        </p:spPr>
      </p:pic>
      <p:pic>
        <p:nvPicPr>
          <p:cNvPr id="1026" name="Picture 2" descr="Viper ATV/UTV Auto Stop Fairlead - Wide ...">
            <a:extLst>
              <a:ext uri="{FF2B5EF4-FFF2-40B4-BE49-F238E27FC236}">
                <a16:creationId xmlns:a16="http://schemas.microsoft.com/office/drawing/2014/main" id="{CD9794CF-8BBC-492A-83CC-D749F2DADC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09982" y="3000914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3387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0FA36D-3404-1E9C-B96C-7A351AA9B517}"/>
              </a:ext>
            </a:extLst>
          </p:cNvPr>
          <p:cNvSpPr txBox="1"/>
          <p:nvPr/>
        </p:nvSpPr>
        <p:spPr>
          <a:xfrm>
            <a:off x="143219" y="198303"/>
            <a:ext cx="3514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72" Snow Blade $1,800 - current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62F3AB-DA6C-F993-6E36-88F38D041B3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5337" y="1262634"/>
            <a:ext cx="2952288" cy="125826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4F4FFA0-998B-03AA-C334-9995135C463E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8001" y="1298390"/>
            <a:ext cx="2345981" cy="8564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6DCB7CB-16C0-D301-A84F-364BC7B8C42D}"/>
              </a:ext>
            </a:extLst>
          </p:cNvPr>
          <p:cNvSpPr txBox="1"/>
          <p:nvPr/>
        </p:nvSpPr>
        <p:spPr>
          <a:xfrm>
            <a:off x="10642579" y="1418502"/>
            <a:ext cx="14728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72" Western Impact HD Straight Blade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120D582-8ECE-13CE-3169-9B7015D626CE}"/>
              </a:ext>
            </a:extLst>
          </p:cNvPr>
          <p:cNvSpPr txBox="1"/>
          <p:nvPr/>
        </p:nvSpPr>
        <p:spPr>
          <a:xfrm>
            <a:off x="76557" y="1098976"/>
            <a:ext cx="4394914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DENALI Hydro-Turn System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http://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motoalliance.com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denali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-snow-plow-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hydroturn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-with-joystick</a:t>
            </a: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-----</a:t>
            </a: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Hydraulic Angle Control Systems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Western Impact Mid-Duty and HD Series:  72" HD V-Blade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www.tricountyequipment.net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/new-equipment/residential/tractor-packages/gator-snow-packages/xuv835r-and-western-impact-hd-v-blade/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-----</a:t>
            </a: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Blackline Solutions: Offers hydraulic electric lift and angle plow systems with simple joystick controls and down pressure with float functionality.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www.blackline-solutions.com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-----</a:t>
            </a: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SuperATV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Plow Pro Angle Actuator: This electric actuator kit delivers 1,800 pounds of force and uses a rocker switch mounted in your cab. It provides 30 degrees of angle adjustment left or right of center and can be adjusted on the move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www.everythingdeeregator.com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/john-deere-gator-plow-pro-utv-plow-angle-actuator-kit-by-superatv-hc-u-001-ejd</a:t>
            </a: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-----</a:t>
            </a: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Kolpin High Rise Power Angle: This electric system rotates the blade 56 degrees with dash or handlebar-mounted button controls. It uses a self-locking steel gear drive and installs in under 30 minutes with just 5 bolts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www.utvsource.com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kolpin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-outdoors-high-rise-snow-plow-power-angle/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132AAD2-19BF-3D33-4143-BC3E0B65C7B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5337" y="3972538"/>
            <a:ext cx="1549400" cy="8318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425BF70-0BFD-FADB-F281-1AEA07513FE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6592" y="5136331"/>
            <a:ext cx="2152293" cy="1258264"/>
          </a:xfrm>
          <a:prstGeom prst="rect">
            <a:avLst/>
          </a:prstGeom>
        </p:spPr>
      </p:pic>
      <p:pic>
        <p:nvPicPr>
          <p:cNvPr id="1026" name="Picture 2" descr="Picture">
            <a:extLst>
              <a:ext uri="{FF2B5EF4-FFF2-40B4-BE49-F238E27FC236}">
                <a16:creationId xmlns:a16="http://schemas.microsoft.com/office/drawing/2014/main" id="{80E4F8CD-0936-8DCE-B797-92E2EED9E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63010" y="2759863"/>
            <a:ext cx="1472864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9D9810-36D8-5C6B-5D58-399895CAFE7B}"/>
              </a:ext>
            </a:extLst>
          </p:cNvPr>
          <p:cNvSpPr txBox="1"/>
          <p:nvPr/>
        </p:nvSpPr>
        <p:spPr>
          <a:xfrm>
            <a:off x="7843126" y="211917"/>
            <a:ext cx="27015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</a:rPr>
              <a:t>Western IMPACT UTV V-Plow </a:t>
            </a:r>
            <a:r>
              <a:rPr lang="en-US" sz="1600" dirty="0"/>
              <a:t>is the best choice because it explicitly includes back drag.</a:t>
            </a:r>
          </a:p>
          <a:p>
            <a:r>
              <a:rPr lang="en-US" sz="1600" dirty="0"/>
              <a:t>But it costs $4K+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08711-DC5F-8D94-0B31-39EBA077D262}"/>
              </a:ext>
            </a:extLst>
          </p:cNvPr>
          <p:cNvSpPr txBox="1"/>
          <p:nvPr/>
        </p:nvSpPr>
        <p:spPr>
          <a:xfrm>
            <a:off x="7603487" y="2452513"/>
            <a:ext cx="439491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 drag solutions:</a:t>
            </a:r>
          </a:p>
          <a:p>
            <a:endParaRPr lang="en-US" sz="1100" dirty="0"/>
          </a:p>
          <a:p>
            <a:r>
              <a:rPr lang="en-US" sz="1100" dirty="0"/>
              <a:t>Back Drag Blade Can-Am</a:t>
            </a:r>
          </a:p>
          <a:p>
            <a:r>
              <a:rPr lang="en-US" sz="1100" dirty="0"/>
              <a:t>https://can-am-</a:t>
            </a:r>
            <a:r>
              <a:rPr lang="en-US" sz="1100" dirty="0" err="1"/>
              <a:t>shop.brp.com</a:t>
            </a:r>
            <a:r>
              <a:rPr lang="en-US" sz="1100" dirty="0"/>
              <a:t>/off-road/us/</a:t>
            </a:r>
            <a:r>
              <a:rPr lang="en-US" sz="1100" dirty="0" err="1"/>
              <a:t>en</a:t>
            </a:r>
            <a:r>
              <a:rPr lang="en-US" sz="1100" dirty="0"/>
              <a:t>/back-drag-blade-can-am-715007794.htm</a:t>
            </a:r>
          </a:p>
          <a:p>
            <a:endParaRPr lang="en-US" sz="1100" dirty="0"/>
          </a:p>
          <a:p>
            <a:r>
              <a:rPr lang="en-US" sz="1100" dirty="0"/>
              <a:t>Western 66892 8 ft. Back Drag Edge</a:t>
            </a:r>
          </a:p>
          <a:p>
            <a:r>
              <a:rPr lang="en-US" sz="1100" dirty="0"/>
              <a:t>https://www.4qte.com/prd-583-western-66892-8-ft.-back-drag-edge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C845C6-5B60-556F-C54B-C1BD0B5F903A}"/>
              </a:ext>
            </a:extLst>
          </p:cNvPr>
          <p:cNvSpPr txBox="1"/>
          <p:nvPr/>
        </p:nvSpPr>
        <p:spPr>
          <a:xfrm>
            <a:off x="7452864" y="4240577"/>
            <a:ext cx="37908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hlinkClick r:id="rId8"/>
              </a:rPr>
              <a:t>https://snoway.com</a:t>
            </a:r>
            <a:r>
              <a:rPr lang="en-US" sz="1100" dirty="0"/>
              <a:t> – Sno-Way V-plow similar to Western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F2681B-617B-95CF-5EE1-F8BC5BCC3E5E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43126" y="4599108"/>
            <a:ext cx="2671837" cy="204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89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5F99A-9A76-0D4B-7909-5BEEC960A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A4FDA6-CDAC-9BCC-3C0C-F323B968C36A}"/>
              </a:ext>
            </a:extLst>
          </p:cNvPr>
          <p:cNvSpPr txBox="1"/>
          <p:nvPr/>
        </p:nvSpPr>
        <p:spPr>
          <a:xfrm>
            <a:off x="143219" y="198303"/>
            <a:ext cx="3819182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Snow Tamers</a:t>
            </a:r>
          </a:p>
          <a:p>
            <a:r>
              <a:rPr lang="en-US" sz="1200" dirty="0">
                <a:hlinkClick r:id="rId2"/>
              </a:rPr>
              <a:t>https://www.r2manufacturing.com</a:t>
            </a:r>
            <a:endParaRPr lang="en-US" sz="1200" dirty="0"/>
          </a:p>
          <a:p>
            <a:r>
              <a:rPr lang="en-US" sz="1200" dirty="0">
                <a:hlinkClick r:id="rId3"/>
              </a:rPr>
              <a:t>https://</a:t>
            </a:r>
            <a:r>
              <a:rPr lang="en-US" sz="1200" dirty="0" err="1">
                <a:hlinkClick r:id="rId3"/>
              </a:rPr>
              <a:t>www.youtube.com</a:t>
            </a:r>
            <a:r>
              <a:rPr lang="en-US" sz="1200" dirty="0">
                <a:hlinkClick r:id="rId3"/>
              </a:rPr>
              <a:t>/</a:t>
            </a:r>
            <a:r>
              <a:rPr lang="en-US" sz="1200" dirty="0" err="1">
                <a:hlinkClick r:id="rId3"/>
              </a:rPr>
              <a:t>watch?v</a:t>
            </a:r>
            <a:r>
              <a:rPr lang="en-US" sz="1200" dirty="0">
                <a:hlinkClick r:id="rId3"/>
              </a:rPr>
              <a:t>=5VuD0MhxcQ0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6C7CEA-91BC-1EA0-3719-3E53253B3B07}"/>
              </a:ext>
            </a:extLst>
          </p:cNvPr>
          <p:cNvSpPr txBox="1"/>
          <p:nvPr/>
        </p:nvSpPr>
        <p:spPr>
          <a:xfrm>
            <a:off x="76557" y="1098976"/>
            <a:ext cx="4394914" cy="44935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Plowing snow on gravel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Using tube at the bottom of the snow blade</a:t>
            </a: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www.youtube.com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watch?v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=K8zB1X35QtI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He uses 1-3/8" galvanized steel fence top rail.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It is a galvanized steel pipe.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Sizes (diameter):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 1 1/4"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 1-3/8"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 1 1/2"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In this video he used size 1-3/8"</a:t>
            </a: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Even better solution - replaceable :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https://www.youtube.com/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watch?v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=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wCxOjqdGEjw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Yet another one ( steel pipe 2 in inner, 2 3/8 outer, and 3/16 thick):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https://www.youtube.com/watch?v=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MVhIKQvNplc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Some people attach using chain</a:t>
            </a: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https://www.youtube.com/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watch?v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=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  <a:hlinkClick r:id="rId7"/>
              </a:rPr>
              <a:t>ublecStrYAE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Yet another way to attach it.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He welds steel brackets with holes to the pipe that align with the plow's existing mounting bolts.</a:t>
            </a:r>
          </a:p>
          <a:p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DB6647-A377-F039-E331-124636F83F3E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42199" y="198303"/>
            <a:ext cx="4555781" cy="22945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ACB17B7-0A9F-D5C8-1F67-1EE6DF154057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23275" y="4068313"/>
            <a:ext cx="1949450" cy="16650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D48DB42-DECD-F71C-3704-5FD53587BA7B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27943" y="3472745"/>
            <a:ext cx="1587500" cy="22606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0FF0DF2-89F1-C530-8C2E-FADE305D8DD8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859" y="198303"/>
            <a:ext cx="2632111" cy="132569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DFF0FE5-B491-429E-D62E-0A58FD60CA4D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9802" y="2029805"/>
            <a:ext cx="2579169" cy="1832568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B1E62A4-FF2B-BD7A-02E6-474C51F83960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78870" y="4174015"/>
            <a:ext cx="1234260" cy="1922597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156993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5F99A-9A76-0D4B-7909-5BEEC960A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4;p13">
            <a:extLst>
              <a:ext uri="{FF2B5EF4-FFF2-40B4-BE49-F238E27FC236}">
                <a16:creationId xmlns:a16="http://schemas.microsoft.com/office/drawing/2014/main" id="{4E1CE4C6-F533-D5DF-0A47-0AC720A471FE}"/>
              </a:ext>
            </a:extLst>
          </p:cNvPr>
          <p:cNvSpPr txBox="1"/>
          <p:nvPr/>
        </p:nvSpPr>
        <p:spPr>
          <a:xfrm>
            <a:off x="174584" y="190200"/>
            <a:ext cx="3102016" cy="2419085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Solutions to prevent the winch and cable </a:t>
            </a:r>
            <a:endParaRPr sz="1200" b="1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from breaking when plowing</a:t>
            </a:r>
            <a:endParaRPr sz="1200" b="1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--------------------------------------------</a:t>
            </a:r>
            <a:endParaRPr sz="12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Better angle, brackets, pulleys</a:t>
            </a:r>
            <a:endParaRPr sz="12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Solution 1.1 - mount the winch higher. Or change the point where the hook attaches</a:t>
            </a:r>
            <a:endParaRPr sz="12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Solution 1.2 - use brackets with blocks &amp; pulleys</a:t>
            </a:r>
            <a:endParaRPr sz="12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--------------------------------------------</a:t>
            </a:r>
            <a:endParaRPr sz="12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Prevent cable tangling</a:t>
            </a:r>
            <a:endParaRPr sz="12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Solution 2.1 - use a spring to keep tension. Or use a commercial tensioner</a:t>
            </a:r>
            <a:endParaRPr sz="12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Solution 2.2 - use a synthetic rope or a flat tow strap instead of the metal cable</a:t>
            </a:r>
            <a:endParaRPr sz="12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4" name="Google Shape;59;p14">
            <a:extLst>
              <a:ext uri="{FF2B5EF4-FFF2-40B4-BE49-F238E27FC236}">
                <a16:creationId xmlns:a16="http://schemas.microsoft.com/office/drawing/2014/main" id="{7266E298-6835-C0DE-5ACD-8A766ED20F4A}"/>
              </a:ext>
            </a:extLst>
          </p:cNvPr>
          <p:cNvSpPr txBox="1"/>
          <p:nvPr/>
        </p:nvSpPr>
        <p:spPr>
          <a:xfrm>
            <a:off x="3432630" y="198925"/>
            <a:ext cx="3468639" cy="75709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1.1 - mount the winch higher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2"/>
              </a:rPr>
              <a:t>https://www.youtube.com/watch?v=walB-pyDaYE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change the hook point: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https://www.youtube.com/watch?v=QB3OdEiAtSg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Google Shape;60;p14">
            <a:extLst>
              <a:ext uri="{FF2B5EF4-FFF2-40B4-BE49-F238E27FC236}">
                <a16:creationId xmlns:a16="http://schemas.microsoft.com/office/drawing/2014/main" id="{179EB1D4-92E1-92F1-60F6-01900397AD2E}"/>
              </a:ext>
            </a:extLst>
          </p:cNvPr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5776" y="1039147"/>
            <a:ext cx="2572487" cy="19997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" name="Google Shape;61;p14">
            <a:extLst>
              <a:ext uri="{FF2B5EF4-FFF2-40B4-BE49-F238E27FC236}">
                <a16:creationId xmlns:a16="http://schemas.microsoft.com/office/drawing/2014/main" id="{307B8EF6-5F8E-E2EB-02EC-0A65C7F1EBF6}"/>
              </a:ext>
            </a:extLst>
          </p:cNvPr>
          <p:cNvSpPr txBox="1"/>
          <p:nvPr/>
        </p:nvSpPr>
        <p:spPr>
          <a:xfrm>
            <a:off x="193389" y="3819104"/>
            <a:ext cx="3252388" cy="480093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1.2 - use brackets with blocks and pulleys 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https://www.youtube.com/watch?v=xptbCmz50AE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https://www.youtube.com/watch?v=lIwT-UqNNQw</a:t>
            </a:r>
            <a:r>
              <a:rPr lang="en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62;p14">
            <a:extLst>
              <a:ext uri="{FF2B5EF4-FFF2-40B4-BE49-F238E27FC236}">
                <a16:creationId xmlns:a16="http://schemas.microsoft.com/office/drawing/2014/main" id="{6222C343-344F-9E9A-F868-0CD8F976000C}"/>
              </a:ext>
            </a:extLst>
          </p:cNvPr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1851" y="4495417"/>
            <a:ext cx="3253925" cy="169203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" name="Google Shape;63;p14">
            <a:extLst>
              <a:ext uri="{FF2B5EF4-FFF2-40B4-BE49-F238E27FC236}">
                <a16:creationId xmlns:a16="http://schemas.microsoft.com/office/drawing/2014/main" id="{4BC472D9-5CAC-DB25-3904-2543D49C913F}"/>
              </a:ext>
            </a:extLst>
          </p:cNvPr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8056" y="3819104"/>
            <a:ext cx="1572353" cy="236835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" name="Google Shape;64;p14">
            <a:extLst>
              <a:ext uri="{FF2B5EF4-FFF2-40B4-BE49-F238E27FC236}">
                <a16:creationId xmlns:a16="http://schemas.microsoft.com/office/drawing/2014/main" id="{4D89C221-4626-70A4-A709-2B97F859E0AC}"/>
              </a:ext>
            </a:extLst>
          </p:cNvPr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08131" y="1039150"/>
            <a:ext cx="2741663" cy="19997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" name="Google Shape;69;p15">
            <a:extLst>
              <a:ext uri="{FF2B5EF4-FFF2-40B4-BE49-F238E27FC236}">
                <a16:creationId xmlns:a16="http://schemas.microsoft.com/office/drawing/2014/main" id="{A11DA198-36A9-2CBF-EF11-C9A37E2BACB8}"/>
              </a:ext>
            </a:extLst>
          </p:cNvPr>
          <p:cNvSpPr txBox="1"/>
          <p:nvPr/>
        </p:nvSpPr>
        <p:spPr>
          <a:xfrm>
            <a:off x="9732800" y="260430"/>
            <a:ext cx="2355322" cy="1449589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2.1 - use a spring to keep tension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- using leaf spring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https://www.youtube.com/watch?v=MSzYsjSwWq0</a:t>
            </a:r>
            <a:r>
              <a:rPr lang="en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- commercial tensioner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https://www.youtube.com/watch?v=JiPT2l71U3U</a:t>
            </a:r>
            <a:r>
              <a:rPr lang="en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https://zips.com/products/winches-cables/winch-parts/winch-tensioners</a:t>
            </a:r>
            <a:r>
              <a:rPr lang="en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70;p15">
            <a:extLst>
              <a:ext uri="{FF2B5EF4-FFF2-40B4-BE49-F238E27FC236}">
                <a16:creationId xmlns:a16="http://schemas.microsoft.com/office/drawing/2014/main" id="{7AFB6B3D-B7D1-1D83-7DB6-C6E9420B34F0}"/>
              </a:ext>
            </a:extLst>
          </p:cNvPr>
          <p:cNvPicPr preferRelativeResize="0"/>
          <p:nvPr/>
        </p:nvPicPr>
        <p:blipFill>
          <a:blip r:embed="rId1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41435" y="5596787"/>
            <a:ext cx="1503387" cy="100225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71;p15">
            <a:extLst>
              <a:ext uri="{FF2B5EF4-FFF2-40B4-BE49-F238E27FC236}">
                <a16:creationId xmlns:a16="http://schemas.microsoft.com/office/drawing/2014/main" id="{10B91DBF-B60C-622D-5430-E7C609A04BD2}"/>
              </a:ext>
            </a:extLst>
          </p:cNvPr>
          <p:cNvSpPr txBox="1"/>
          <p:nvPr/>
        </p:nvSpPr>
        <p:spPr>
          <a:xfrm>
            <a:off x="5574429" y="4317284"/>
            <a:ext cx="3275365" cy="1034091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2.2 - use a synthetic rope or flat tow strap instead of the metal cable. 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 "roller fairlead" for synthetic line, or use "hawse fairlead" for flat strap to avoid tangling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4"/>
              </a:rPr>
              <a:t>https://www.youtube.com/watch?v=b4dRQ-H7ffM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5"/>
              </a:rPr>
              <a:t>https://www.youtube.com/watch?v=oim648rsuI8</a:t>
            </a:r>
            <a:r>
              <a:rPr lang="en" sz="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72;p15">
            <a:extLst>
              <a:ext uri="{FF2B5EF4-FFF2-40B4-BE49-F238E27FC236}">
                <a16:creationId xmlns:a16="http://schemas.microsoft.com/office/drawing/2014/main" id="{AF9875A1-0A6D-7D47-2DBB-EFC791BD07EC}"/>
              </a:ext>
            </a:extLst>
          </p:cNvPr>
          <p:cNvPicPr preferRelativeResize="0"/>
          <p:nvPr/>
        </p:nvPicPr>
        <p:blipFill>
          <a:blip r:embed="rId1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5275" y="5536820"/>
            <a:ext cx="1363106" cy="1063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73;p15">
            <a:extLst>
              <a:ext uri="{FF2B5EF4-FFF2-40B4-BE49-F238E27FC236}">
                <a16:creationId xmlns:a16="http://schemas.microsoft.com/office/drawing/2014/main" id="{9B1E111C-11E8-2678-DA38-CC17DBA4A225}"/>
              </a:ext>
            </a:extLst>
          </p:cNvPr>
          <p:cNvPicPr preferRelativeResize="0"/>
          <p:nvPr/>
        </p:nvPicPr>
        <p:blipFill>
          <a:blip r:embed="rId1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28065" y="5566073"/>
            <a:ext cx="1063686" cy="1063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74;p15">
            <a:extLst>
              <a:ext uri="{FF2B5EF4-FFF2-40B4-BE49-F238E27FC236}">
                <a16:creationId xmlns:a16="http://schemas.microsoft.com/office/drawing/2014/main" id="{47197648-FF7F-DC4B-0506-9B3588E3CF82}"/>
              </a:ext>
            </a:extLst>
          </p:cNvPr>
          <p:cNvPicPr preferRelativeResize="0"/>
          <p:nvPr/>
        </p:nvPicPr>
        <p:blipFill>
          <a:blip r:embed="rId1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3920" y="3819104"/>
            <a:ext cx="2094202" cy="171771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" name="Google Shape;75;p15">
            <a:extLst>
              <a:ext uri="{FF2B5EF4-FFF2-40B4-BE49-F238E27FC236}">
                <a16:creationId xmlns:a16="http://schemas.microsoft.com/office/drawing/2014/main" id="{4AA1D398-D03E-3A5D-D271-0B375EF2AFAE}"/>
              </a:ext>
            </a:extLst>
          </p:cNvPr>
          <p:cNvPicPr preferRelativeResize="0"/>
          <p:nvPr/>
        </p:nvPicPr>
        <p:blipFill>
          <a:blip r:embed="rId1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93920" y="2294107"/>
            <a:ext cx="2094202" cy="1405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8643616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C1C7A-0E76-ABB4-D69F-724A22AA8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823884-F214-65FC-D4DC-F6CE3A3AD4B8}"/>
              </a:ext>
            </a:extLst>
          </p:cNvPr>
          <p:cNvSpPr txBox="1"/>
          <p:nvPr/>
        </p:nvSpPr>
        <p:spPr>
          <a:xfrm>
            <a:off x="143219" y="198303"/>
            <a:ext cx="3514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Snow Shovels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C3F313-C0E5-3C5B-B089-F60FD3402B3F}"/>
              </a:ext>
            </a:extLst>
          </p:cNvPr>
          <p:cNvSpPr txBox="1"/>
          <p:nvPr/>
        </p:nvSpPr>
        <p:spPr>
          <a:xfrm>
            <a:off x="76557" y="1098976"/>
            <a:ext cx="439491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www.youtube.com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watch?v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=M3OsMTyofe0  - video comparison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www.amazon.com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dp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/B0G1YBMSVL - 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Litheli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40V (2×20V) Cordless Snow Shovel with Directional Plate &amp; Adjustable Handle, 14-Inch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FD6872-F4B7-0819-5797-2F74EF9B2F6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6487" y="2036757"/>
            <a:ext cx="2347843" cy="27844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2B9A2F-F19F-2AB3-026E-CA6DAEF17597}"/>
              </a:ext>
            </a:extLst>
          </p:cNvPr>
          <p:cNvSpPr txBox="1"/>
          <p:nvPr/>
        </p:nvSpPr>
        <p:spPr>
          <a:xfrm>
            <a:off x="89257" y="5759024"/>
            <a:ext cx="521934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► 3. EGO Power+ Electric Snow Shovel - https://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geni.us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/WBJ5A. -expensive</a:t>
            </a: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► 2. Toro 60V Power Shovel - https://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geni.us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IYwEh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>
                <a:latin typeface="Calibri" panose="020F0502020204030204" pitchFamily="34" charset="0"/>
                <a:cs typeface="Calibri" panose="020F0502020204030204" pitchFamily="34" charset="0"/>
              </a:rPr>
              <a:t>- heavy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► 1. Greenworks 80V 12" Cordless Snow Shovel - https://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geni.us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</a:rPr>
              <a:t>JMkppek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5F7792-7591-4CAF-A97A-FB77DF26D65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28000" y="2925622"/>
            <a:ext cx="3777322" cy="38375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9EA2680-F2F0-1D47-2F79-0153005D4A6E}"/>
              </a:ext>
            </a:extLst>
          </p:cNvPr>
          <p:cNvSpPr txBox="1"/>
          <p:nvPr/>
        </p:nvSpPr>
        <p:spPr>
          <a:xfrm>
            <a:off x="6913390" y="2333152"/>
            <a:ext cx="3777323" cy="1431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Greenworks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80V 12" Cordless Battery LED Snow Shovel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</a:rPr>
              <a:t>w/ 4.0Ah Battery &amp; 6A Charger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https://www.greenworkstools.com/products/80v-12-cordless-battery-snow-shovel-w-4-0ah-battery-6a-charger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https://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www.youtube.com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/</a:t>
            </a:r>
            <a:r>
              <a:rPr lang="en-US" sz="1100" dirty="0" err="1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watch?v</a:t>
            </a:r>
            <a:r>
              <a:rPr lang="en-US" sz="1100" dirty="0">
                <a:latin typeface="Calibri" panose="020F0502020204030204" pitchFamily="34" charset="0"/>
                <a:cs typeface="Calibri" panose="020F0502020204030204" pitchFamily="34" charset="0"/>
                <a:hlinkClick r:id="rId5"/>
              </a:rPr>
              <a:t>=0obvIOD0fKY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$252</a:t>
            </a:r>
          </a:p>
        </p:txBody>
      </p:sp>
    </p:spTree>
    <p:extLst>
      <p:ext uri="{BB962C8B-B14F-4D97-AF65-F5344CB8AC3E}">
        <p14:creationId xmlns:p14="http://schemas.microsoft.com/office/powerpoint/2010/main" val="3538257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</TotalTime>
  <Words>2243</Words>
  <Application>Microsoft Macintosh PowerPoint</Application>
  <PresentationFormat>Widescreen</PresentationFormat>
  <Paragraphs>311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70</cp:revision>
  <dcterms:created xsi:type="dcterms:W3CDTF">2022-06-02T16:58:09Z</dcterms:created>
  <dcterms:modified xsi:type="dcterms:W3CDTF">2026-04-07T16:14:12Z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2022-06-02T16:58:10Z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93134c22-9ab4-41e7-a5b4-b1f73aac775b</vt:lpwstr>
  </property>
  <property fmtid="{D5CDD505-2E9C-101B-9397-08002B2CF9AE}" pid="8" name="MSIP_Label_4f518368-b969-4042-91d9-8939bd921da2_ContentBits">
    <vt:lpwstr>0</vt:lpwstr>
  </property>
</Properties>
</file>