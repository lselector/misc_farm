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  <p:sldId id="265" r:id="rId5"/>
    <p:sldId id="26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44"/>
    <p:restoredTop sz="91405"/>
  </p:normalViewPr>
  <p:slideViewPr>
    <p:cSldViewPr snapToGrid="0" snapToObjects="1">
      <p:cViewPr varScale="1">
        <p:scale>
          <a:sx n="76" d="100"/>
          <a:sy n="76" d="100"/>
        </p:scale>
        <p:origin x="135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hyperlink" Target="https://powerequipment.honda.com/snowblower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ckssmallengines.com/jacks-parts-lookup/manufacturer/honda/snow-blower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hyperlink" Target="https://www.tricountyequipment.net/new-equipment/residential/tractor-packages/gator-snow-packages/xuv835r-and-western-impact-hd-v-blad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C05051-5705-F303-D201-D96165D66EF8}"/>
              </a:ext>
            </a:extLst>
          </p:cNvPr>
          <p:cNvSpPr txBox="1"/>
          <p:nvPr/>
        </p:nvSpPr>
        <p:spPr>
          <a:xfrm>
            <a:off x="150994" y="406651"/>
            <a:ext cx="5074149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Single-Stage Models: </a:t>
            </a:r>
            <a:br>
              <a:rPr lang="en-US" sz="1400" dirty="0"/>
            </a:br>
            <a:r>
              <a:rPr lang="en-US" sz="1400" dirty="0"/>
              <a:t>    The auger both pulls up and discharges the snow. </a:t>
            </a:r>
          </a:p>
          <a:p>
            <a:r>
              <a:rPr lang="en-US" sz="1400" dirty="0"/>
              <a:t>    The snow discharge distance is usually limited to about 3". </a:t>
            </a:r>
          </a:p>
          <a:p>
            <a:r>
              <a:rPr lang="en-US" sz="1400" dirty="0"/>
              <a:t>    Because the auger touches the ground, it is covered in rubber </a:t>
            </a:r>
          </a:p>
          <a:p>
            <a:r>
              <a:rPr lang="en-US" sz="1400" dirty="0"/>
              <a:t>    to protect the surface.</a:t>
            </a:r>
          </a:p>
          <a:p>
            <a:r>
              <a:rPr lang="en-US" sz="1400" dirty="0"/>
              <a:t>    Works only on paved surfaces.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Two-Stage Models:</a:t>
            </a:r>
            <a:r>
              <a:rPr lang="en-US" sz="1400" dirty="0"/>
              <a:t> </a:t>
            </a:r>
          </a:p>
          <a:p>
            <a:r>
              <a:rPr lang="en-US" sz="1400" dirty="0"/>
              <a:t>   The auger only pulls up the snow from the ground. </a:t>
            </a:r>
          </a:p>
          <a:p>
            <a:r>
              <a:rPr lang="en-US" sz="1400" dirty="0"/>
              <a:t>   A separate component within the snow blower, the impeller,</a:t>
            </a:r>
          </a:p>
          <a:p>
            <a:r>
              <a:rPr lang="en-US" sz="1400" dirty="0"/>
              <a:t>   discharges the snow from the chute. </a:t>
            </a:r>
          </a:p>
          <a:p>
            <a:r>
              <a:rPr lang="en-US" sz="1400" dirty="0"/>
              <a:t>   This allows the snow blower to send the snow up to 60"</a:t>
            </a:r>
          </a:p>
          <a:p>
            <a:r>
              <a:rPr lang="en-US" sz="1400" dirty="0"/>
              <a:t>  Because the auger does not touch the ground, it is all metal </a:t>
            </a:r>
          </a:p>
          <a:p>
            <a:r>
              <a:rPr lang="en-US" sz="1400" dirty="0"/>
              <a:t>   (not rubber-tipped, as with the single-stage models).</a:t>
            </a:r>
          </a:p>
          <a:p>
            <a:r>
              <a:rPr lang="en-US" sz="1400" dirty="0"/>
              <a:t>   Works on any surface (paved, gravel, dirt).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Three-stage Models:</a:t>
            </a:r>
          </a:p>
          <a:p>
            <a:r>
              <a:rPr lang="en-US" sz="1400" dirty="0"/>
              <a:t>   same stages as the two-stage snow blower, but the addition </a:t>
            </a:r>
          </a:p>
          <a:p>
            <a:r>
              <a:rPr lang="en-US" sz="1400" dirty="0"/>
              <a:t>   of a third stage, the accelerator.</a:t>
            </a:r>
          </a:p>
          <a:p>
            <a:r>
              <a:rPr lang="en-US" sz="1400" dirty="0"/>
              <a:t>   Accelerator allows snow to be driven through the impeller</a:t>
            </a:r>
          </a:p>
          <a:p>
            <a:r>
              <a:rPr lang="en-US" sz="1400" dirty="0"/>
              <a:t>    quickly – more power, speed, heavy snow removal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4F949-E2A3-3AA8-B434-B6B99911F5A3}"/>
              </a:ext>
            </a:extLst>
          </p:cNvPr>
          <p:cNvSpPr txBox="1"/>
          <p:nvPr/>
        </p:nvSpPr>
        <p:spPr>
          <a:xfrm>
            <a:off x="4329087" y="5512464"/>
            <a:ext cx="353382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24" width is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gas engine (at least 6 hp)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should be 2-stage or 3-stage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Electrical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have Fuel Injection, but not required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41AE53-DCC5-7CAB-C40F-6A4DEAA759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506" y="175985"/>
            <a:ext cx="6667500" cy="2717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21FCB-1A8C-EEC5-6A49-84EFE5656AD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6464297" y="3021970"/>
            <a:ext cx="787400" cy="133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BEFE5-E869-4F07-9604-D64AB61C5365}"/>
              </a:ext>
            </a:extLst>
          </p:cNvPr>
          <p:cNvSpPr txBox="1"/>
          <p:nvPr/>
        </p:nvSpPr>
        <p:spPr>
          <a:xfrm>
            <a:off x="6407651" y="4175877"/>
            <a:ext cx="872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auger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05067-DB9D-72B0-4D7C-CA605AE1199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899543" y="3299734"/>
            <a:ext cx="807712" cy="658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85516A-9314-3C09-35D3-F13419CA98E8}"/>
              </a:ext>
            </a:extLst>
          </p:cNvPr>
          <p:cNvSpPr txBox="1"/>
          <p:nvPr/>
        </p:nvSpPr>
        <p:spPr>
          <a:xfrm>
            <a:off x="7524747" y="4185279"/>
            <a:ext cx="14995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impeller </a:t>
            </a:r>
            <a:br>
              <a:rPr lang="en-US" sz="1400" dirty="0"/>
            </a:br>
            <a:r>
              <a:rPr lang="en-US" sz="1400" dirty="0"/>
              <a:t>(throws snow through the tube)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D71E3-64C0-3C60-834F-54ACA330E3A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1022" y="3156504"/>
            <a:ext cx="804123" cy="80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925C51-C9FD-F1A6-A242-DE44200F3383}"/>
              </a:ext>
            </a:extLst>
          </p:cNvPr>
          <p:cNvSpPr txBox="1"/>
          <p:nvPr/>
        </p:nvSpPr>
        <p:spPr>
          <a:xfrm>
            <a:off x="9506591" y="4164032"/>
            <a:ext cx="1312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accelerator (pushes snow to impeller)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ED7B14-8108-A2E6-D563-B334DE537F1F}"/>
              </a:ext>
            </a:extLst>
          </p:cNvPr>
          <p:cNvSpPr txBox="1"/>
          <p:nvPr/>
        </p:nvSpPr>
        <p:spPr>
          <a:xfrm>
            <a:off x="0" y="24841"/>
            <a:ext cx="4191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Honda – best snowblowers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670AB-3A1C-7C89-0C06-0A7A657AEE32}"/>
              </a:ext>
            </a:extLst>
          </p:cNvPr>
          <p:cNvSpPr txBox="1"/>
          <p:nvPr/>
        </p:nvSpPr>
        <p:spPr>
          <a:xfrm>
            <a:off x="0" y="437267"/>
            <a:ext cx="3455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powerequipment.honda.com</a:t>
            </a:r>
            <a:r>
              <a:rPr lang="en-US" sz="1200" dirty="0">
                <a:hlinkClick r:id="rId2"/>
              </a:rPr>
              <a:t>/snowblowers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8F4E3C-34D6-B179-374A-7BC72FFBE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355" y="714266"/>
            <a:ext cx="1695037" cy="169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139FD89-BF4F-CD2D-DA06-DDF60A3F5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09898" y="729759"/>
            <a:ext cx="1770248" cy="177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4D8E5A-CCAF-5DC7-0C20-0AA49A5D488D}"/>
              </a:ext>
            </a:extLst>
          </p:cNvPr>
          <p:cNvSpPr txBox="1"/>
          <p:nvPr/>
        </p:nvSpPr>
        <p:spPr>
          <a:xfrm>
            <a:off x="2041565" y="2590711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HSS724AW / </a:t>
            </a:r>
            <a:r>
              <a:rPr lang="en-US" sz="1200" b="1" dirty="0">
                <a:solidFill>
                  <a:srgbClr val="FF0000"/>
                </a:solidFill>
              </a:rPr>
              <a:t>HSS724AWD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1371F-EFA8-C63C-4730-F984D3FB9A61}"/>
              </a:ext>
            </a:extLst>
          </p:cNvPr>
          <p:cNvSpPr txBox="1"/>
          <p:nvPr/>
        </p:nvSpPr>
        <p:spPr>
          <a:xfrm>
            <a:off x="22925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HSS724AT / </a:t>
            </a:r>
            <a:r>
              <a:rPr lang="en-US" sz="1200" b="1" dirty="0">
                <a:solidFill>
                  <a:srgbClr val="FF0000"/>
                </a:solidFill>
              </a:rPr>
              <a:t>HSS724ATD</a:t>
            </a:r>
          </a:p>
          <a:p>
            <a:r>
              <a:rPr lang="en-US" sz="1200" dirty="0"/>
              <a:t>Two stage 24"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Track drive (better)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24" 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1500 lb./min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Throws snow 49 feet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Electric start (ATD only)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097ED44-5C43-C82D-5D8C-E5C5B751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28580" y="795476"/>
            <a:ext cx="1695036" cy="1695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FD660F-58A3-333B-163B-036D0D211A2A}"/>
              </a:ext>
            </a:extLst>
          </p:cNvPr>
          <p:cNvSpPr txBox="1"/>
          <p:nvPr/>
        </p:nvSpPr>
        <p:spPr>
          <a:xfrm>
            <a:off x="4074150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HSS928AT / </a:t>
            </a:r>
            <a:r>
              <a:rPr lang="en-US" sz="1200" b="1" dirty="0">
                <a:solidFill>
                  <a:srgbClr val="FF0000"/>
                </a:solidFill>
              </a:rPr>
              <a:t>HSS928ATD</a:t>
            </a:r>
          </a:p>
          <a:p>
            <a:r>
              <a:rPr lang="en-US" sz="1200" dirty="0"/>
              <a:t>Two stage 28"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 (better)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28"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1900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52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3F9F4-5703-2F46-FD94-D754D8967546}"/>
              </a:ext>
            </a:extLst>
          </p:cNvPr>
          <p:cNvSpPr txBox="1"/>
          <p:nvPr/>
        </p:nvSpPr>
        <p:spPr>
          <a:xfrm>
            <a:off x="1404257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7FC35-7205-2EC1-C9CF-916ADAB21F5E}"/>
              </a:ext>
            </a:extLst>
          </p:cNvPr>
          <p:cNvSpPr txBox="1"/>
          <p:nvPr/>
        </p:nvSpPr>
        <p:spPr>
          <a:xfrm>
            <a:off x="3412999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$3,100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E9556-57C7-3857-27F1-686172C53CE9}"/>
              </a:ext>
            </a:extLst>
          </p:cNvPr>
          <p:cNvSpPr txBox="1"/>
          <p:nvPr/>
        </p:nvSpPr>
        <p:spPr>
          <a:xfrm>
            <a:off x="5455481" y="224591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$3,700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F0F0AC0-6686-584E-70B6-F92576C7E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91751" y="878170"/>
            <a:ext cx="1599375" cy="159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BD2423-5BE4-FB48-FF74-6CD8714A4C1E}"/>
              </a:ext>
            </a:extLst>
          </p:cNvPr>
          <p:cNvSpPr txBox="1"/>
          <p:nvPr/>
        </p:nvSpPr>
        <p:spPr>
          <a:xfrm>
            <a:off x="6106735" y="2597544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HSS928AW / </a:t>
            </a:r>
            <a:r>
              <a:rPr lang="en-US" sz="1200" b="1" dirty="0">
                <a:solidFill>
                  <a:srgbClr val="FF0000"/>
                </a:solidFill>
              </a:rPr>
              <a:t>HSS928AWD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9E21B-B953-F2D5-682C-42C851D14B5E}"/>
              </a:ext>
            </a:extLst>
          </p:cNvPr>
          <p:cNvSpPr txBox="1"/>
          <p:nvPr/>
        </p:nvSpPr>
        <p:spPr>
          <a:xfrm>
            <a:off x="9587879" y="220425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$4,100</a:t>
            </a: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7D89960-C591-D0D3-94B7-D89A70E8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5486" y="948692"/>
            <a:ext cx="1487458" cy="14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EB6EF5-23A3-939F-E9FD-D5140C4378C2}"/>
              </a:ext>
            </a:extLst>
          </p:cNvPr>
          <p:cNvSpPr txBox="1"/>
          <p:nvPr/>
        </p:nvSpPr>
        <p:spPr>
          <a:xfrm>
            <a:off x="8144493" y="2581216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HSS1332AT / </a:t>
            </a:r>
            <a:r>
              <a:rPr lang="en-US" sz="1200" b="1" dirty="0">
                <a:solidFill>
                  <a:srgbClr val="FF0000"/>
                </a:solidFill>
              </a:rPr>
              <a:t>HSS1332ATD</a:t>
            </a:r>
          </a:p>
          <a:p>
            <a:r>
              <a:rPr lang="en-US" sz="1200" dirty="0"/>
              <a:t>Two stage 32"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32"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2750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56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1287D-14E2-0C22-AD8B-2C17C958030C}"/>
              </a:ext>
            </a:extLst>
          </p:cNvPr>
          <p:cNvSpPr txBox="1"/>
          <p:nvPr/>
        </p:nvSpPr>
        <p:spPr>
          <a:xfrm>
            <a:off x="7422991" y="2223008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$3,500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5B7744E9-EAA5-8345-945A-FD889E1ED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62792" y="968255"/>
            <a:ext cx="1293256" cy="1293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B72CDD-2B36-0528-9773-F13D97F3179E}"/>
              </a:ext>
            </a:extLst>
          </p:cNvPr>
          <p:cNvSpPr txBox="1"/>
          <p:nvPr/>
        </p:nvSpPr>
        <p:spPr>
          <a:xfrm>
            <a:off x="11489697" y="2200546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$9,300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1296FE-8B1E-1005-87E2-5584DF82A407}"/>
              </a:ext>
            </a:extLst>
          </p:cNvPr>
          <p:cNvSpPr txBox="1"/>
          <p:nvPr/>
        </p:nvSpPr>
        <p:spPr>
          <a:xfrm>
            <a:off x="10188358" y="2590622"/>
            <a:ext cx="1983179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HSM1336i</a:t>
            </a:r>
          </a:p>
          <a:p>
            <a:r>
              <a:rPr lang="en-US" sz="1200" dirty="0"/>
              <a:t>Two stage 36" </a:t>
            </a:r>
          </a:p>
          <a:p>
            <a:r>
              <a:rPr lang="en-US" sz="1200" dirty="0"/>
              <a:t>Hybrid: </a:t>
            </a:r>
          </a:p>
          <a:p>
            <a:r>
              <a:rPr lang="en-US" sz="1200" dirty="0"/>
              <a:t>two electrical motors: drive</a:t>
            </a:r>
          </a:p>
          <a:p>
            <a:r>
              <a:rPr lang="en-US" sz="1200" dirty="0"/>
              <a:t>gas motor: </a:t>
            </a:r>
            <a:r>
              <a:rPr lang="en-US" sz="1200" dirty="0" err="1"/>
              <a:t>auger+impeller</a:t>
            </a:r>
            <a:endParaRPr lang="en-US" sz="1200" dirty="0"/>
          </a:p>
          <a:p>
            <a:r>
              <a:rPr lang="en-US" sz="1200" dirty="0"/>
              <a:t>Mode: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Auto,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Semi-Auto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Manual</a:t>
            </a:r>
          </a:p>
          <a:p>
            <a:r>
              <a:rPr lang="en-US" sz="1200" dirty="0"/>
              <a:t>36" width</a:t>
            </a:r>
          </a:p>
          <a:p>
            <a:r>
              <a:rPr lang="en-US" sz="1200" dirty="0"/>
              <a:t>up to 3000 lb./min</a:t>
            </a:r>
          </a:p>
          <a:p>
            <a:r>
              <a:rPr lang="en-US" sz="1200" dirty="0"/>
              <a:t>Track drive</a:t>
            </a:r>
          </a:p>
          <a:p>
            <a:r>
              <a:rPr lang="en-US" sz="1200" dirty="0"/>
              <a:t>Electric start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C315E-2A94-C7A2-318A-534710C5ACBF}"/>
              </a:ext>
            </a:extLst>
          </p:cNvPr>
          <p:cNvSpPr txBox="1"/>
          <p:nvPr/>
        </p:nvSpPr>
        <p:spPr>
          <a:xfrm>
            <a:off x="259277" y="5363008"/>
            <a:ext cx="153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Choice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518E038A-7B03-3E79-9F28-642BA4956C86}"/>
              </a:ext>
            </a:extLst>
          </p:cNvPr>
          <p:cNvSpPr/>
          <p:nvPr/>
        </p:nvSpPr>
        <p:spPr>
          <a:xfrm rot="10800000">
            <a:off x="707571" y="4711111"/>
            <a:ext cx="533400" cy="4704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6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4"/>
            <a:ext cx="550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bought used Honda HS724 in December 2022</a:t>
            </a:r>
          </a:p>
        </p:txBody>
      </p:sp>
      <p:pic>
        <p:nvPicPr>
          <p:cNvPr id="4" name="Picture 3" descr="A red and black scooter&#10;&#10;Description automatically generated with low confidence">
            <a:extLst>
              <a:ext uri="{FF2B5EF4-FFF2-40B4-BE49-F238E27FC236}">
                <a16:creationId xmlns:a16="http://schemas.microsoft.com/office/drawing/2014/main" id="{3AABDACA-0AB8-B0D7-0329-62D866CE1A8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567636"/>
            <a:ext cx="3775494" cy="3132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36B2B5-1999-2E14-87CC-3DF7FBAA2DE6}"/>
              </a:ext>
            </a:extLst>
          </p:cNvPr>
          <p:cNvSpPr txBox="1"/>
          <p:nvPr/>
        </p:nvSpPr>
        <p:spPr>
          <a:xfrm>
            <a:off x="231355" y="3800819"/>
            <a:ext cx="502369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Missing lamp/light.</a:t>
            </a:r>
          </a:p>
          <a:p>
            <a:endParaRPr lang="en-US" sz="1400" dirty="0"/>
          </a:p>
          <a:p>
            <a:r>
              <a:rPr lang="en-US" sz="1400" dirty="0"/>
              <a:t>The manual shows copyright year 2001.</a:t>
            </a:r>
          </a:p>
          <a:p>
            <a:r>
              <a:rPr lang="en-US" sz="1400" dirty="0"/>
              <a:t>Honda Engine Serial # GCAE-2072409</a:t>
            </a:r>
          </a:p>
          <a:p>
            <a:r>
              <a:rPr lang="en-US" sz="1400" dirty="0"/>
              <a:t>The label on the frame says that </a:t>
            </a:r>
          </a:p>
          <a:p>
            <a:r>
              <a:rPr lang="en-US" sz="1400" dirty="0"/>
              <a:t>it meets the US "EPA SNRE PH2 2007",</a:t>
            </a:r>
          </a:p>
          <a:p>
            <a:r>
              <a:rPr lang="en-US" sz="1400" dirty="0"/>
              <a:t>Does "2007" mean the year?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8E506-EE81-F20C-0E9D-9AA173A05D6A}"/>
              </a:ext>
            </a:extLst>
          </p:cNvPr>
          <p:cNvSpPr txBox="1"/>
          <p:nvPr/>
        </p:nvSpPr>
        <p:spPr>
          <a:xfrm>
            <a:off x="231355" y="5689678"/>
            <a:ext cx="6097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www.jackssmallengines.com</a:t>
            </a:r>
            <a:r>
              <a:rPr lang="en-US" sz="1100" dirty="0">
                <a:hlinkClick r:id="rId3"/>
              </a:rPr>
              <a:t>/jacks-parts-lookup/manufacturer/</a:t>
            </a:r>
            <a:r>
              <a:rPr lang="en-US" sz="1100" dirty="0" err="1">
                <a:hlinkClick r:id="rId3"/>
              </a:rPr>
              <a:t>honda</a:t>
            </a:r>
            <a:r>
              <a:rPr lang="en-US" sz="1100" dirty="0">
                <a:hlinkClick r:id="rId3"/>
              </a:rPr>
              <a:t>/snow-blower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DC80F7-877D-49F6-94F9-AE43F0D044C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4630677"/>
            <a:ext cx="4605969" cy="1541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AB719C-E22E-C395-361C-38141FF68A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3356167"/>
            <a:ext cx="3683000" cy="11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267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72-inch "KFI Plow" Snow Blade </a:t>
            </a:r>
          </a:p>
          <a:p>
            <a:endParaRPr lang="en-US" sz="1200" dirty="0"/>
          </a:p>
          <a:p>
            <a:r>
              <a:rPr lang="en-US" sz="1200" dirty="0"/>
              <a:t>standard plow shoes (skid feet)</a:t>
            </a:r>
          </a:p>
          <a:p>
            <a:r>
              <a:rPr lang="en-US" sz="1200" dirty="0"/>
              <a:t>part # </a:t>
            </a:r>
            <a:r>
              <a:rPr lang="en-US" sz="1200" dirty="0" err="1"/>
              <a:t>kfi</a:t>
            </a:r>
            <a:r>
              <a:rPr lang="en-US" sz="1200" dirty="0"/>
              <a:t> 105490:</a:t>
            </a:r>
          </a:p>
          <a:p>
            <a:r>
              <a:rPr lang="en-US" sz="1200" b="1" dirty="0">
                <a:solidFill>
                  <a:srgbClr val="FF0000"/>
                </a:solidFill>
              </a:rPr>
              <a:t>Shoe (Base) Diameter - 3.5 inches</a:t>
            </a:r>
          </a:p>
          <a:p>
            <a:r>
              <a:rPr lang="en-US" sz="1200" dirty="0"/>
              <a:t>Shaft Diameter - 0.63 inches (approx. 5/8")</a:t>
            </a:r>
          </a:p>
          <a:p>
            <a:r>
              <a:rPr lang="en-US" sz="1200" dirty="0"/>
              <a:t>Pad Thickness   0.5 inches (1/2" Grade 50 Steel)</a:t>
            </a:r>
          </a:p>
          <a:p>
            <a:r>
              <a:rPr lang="en-US" sz="1200" dirty="0"/>
              <a:t>Total Bolt Length   6.5 inches</a:t>
            </a:r>
          </a:p>
          <a:p>
            <a:endParaRPr lang="en-US" sz="1200" dirty="0"/>
          </a:p>
          <a:p>
            <a:r>
              <a:rPr lang="en-US" sz="1200" dirty="0"/>
              <a:t>KFI Plow Foot Bracket 105006-R</a:t>
            </a:r>
          </a:p>
          <a:p>
            <a:r>
              <a:rPr lang="en-US" sz="1200" dirty="0"/>
              <a:t>Attached to the blade with two 3/8"-16 x 1.00" carriage bolts and two nuts.</a:t>
            </a:r>
          </a:p>
          <a:p>
            <a:r>
              <a:rPr lang="en-US" sz="1200" dirty="0"/>
              <a:t>The distance between bolts 1.75 inches center-to-center</a:t>
            </a:r>
          </a:p>
          <a:p>
            <a:endParaRPr lang="en-US" sz="1200" dirty="0"/>
          </a:p>
          <a:p>
            <a:r>
              <a:rPr lang="en-US" sz="1200" dirty="0" err="1"/>
              <a:t>Insalation</a:t>
            </a:r>
            <a:r>
              <a:rPr lang="en-US" sz="1200" dirty="0"/>
              <a:t>: </a:t>
            </a:r>
          </a:p>
          <a:p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=jcAqaNDId9k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22E32B-7D68-F855-1A38-7E2F3729EEB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068" y="2345667"/>
            <a:ext cx="1527491" cy="2370667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A8E555F-3F1A-D54E-8CDE-37B695274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78700" y="2731455"/>
            <a:ext cx="1882712" cy="2183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0FE7A0D-E597-5D1F-41D6-3848CFB218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3957735" y="2930134"/>
            <a:ext cx="1139198" cy="17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 Maverick Sport X RC MC Snow Plow Kit ...">
            <a:extLst>
              <a:ext uri="{FF2B5EF4-FFF2-40B4-BE49-F238E27FC236}">
                <a16:creationId xmlns:a16="http://schemas.microsoft.com/office/drawing/2014/main" id="{1F0BD7B1-B691-FDBC-FEB6-2FFFA946D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57600" y="233011"/>
            <a:ext cx="3721100" cy="218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Plow Foot Bracket by Kfi Products Witchdoctors">
            <a:extLst>
              <a:ext uri="{FF2B5EF4-FFF2-40B4-BE49-F238E27FC236}">
                <a16:creationId xmlns:a16="http://schemas.microsoft.com/office/drawing/2014/main" id="{CC4CE11A-74DF-F297-0100-7017511580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472"/>
          <a:stretch>
            <a:fillRect/>
          </a:stretch>
        </p:blipFill>
        <p:spPr bwMode="auto">
          <a:xfrm>
            <a:off x="3929590" y="4915013"/>
            <a:ext cx="1772410" cy="1065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New KFI ATV Snow Plow Single Foot Replacement Kit, Skid Shoe for KFI Snow Blades - Picture 2 of 6">
            <a:extLst>
              <a:ext uri="{FF2B5EF4-FFF2-40B4-BE49-F238E27FC236}">
                <a16:creationId xmlns:a16="http://schemas.microsoft.com/office/drawing/2014/main" id="{23059639-D06A-EB90-A974-62AC9045C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29598" y="198303"/>
            <a:ext cx="2328917" cy="183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8CCA06-DABB-529D-1A6F-3380626DB8A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5846" y="4014469"/>
            <a:ext cx="1714500" cy="787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03C04FB-68AE-D8F6-03E5-0D9A2BADFBD1}"/>
              </a:ext>
            </a:extLst>
          </p:cNvPr>
          <p:cNvSpPr txBox="1"/>
          <p:nvPr/>
        </p:nvSpPr>
        <p:spPr>
          <a:xfrm>
            <a:off x="143219" y="3885337"/>
            <a:ext cx="19626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Spring Locking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clevis pin with a rue ring locking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R-clip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</a:t>
            </a:r>
            <a:r>
              <a:rPr lang="en-US" sz="1200" dirty="0" err="1"/>
              <a:t>TlP_BgXcdBk</a:t>
            </a:r>
            <a:r>
              <a:rPr lang="en-US" sz="1200" dirty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F78975A-933F-1DF4-5486-24B7112B0E14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0056" y="5229056"/>
            <a:ext cx="1296910" cy="143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72" Snow Blade $1,800 - current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62F3AB-DA6C-F993-6E36-88F38D041B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1262634"/>
            <a:ext cx="2952288" cy="1258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F4FFA0-998B-03AA-C334-9995135C46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20926" y="2612690"/>
            <a:ext cx="2345981" cy="856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DCB7CB-16C0-D301-A84F-364BC7B8C42D}"/>
              </a:ext>
            </a:extLst>
          </p:cNvPr>
          <p:cNvSpPr txBox="1"/>
          <p:nvPr/>
        </p:nvSpPr>
        <p:spPr>
          <a:xfrm>
            <a:off x="10595504" y="2732802"/>
            <a:ext cx="14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72" Western Impact HD Straight Blade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0D582-8ECE-13CE-3169-9B7015D626CE}"/>
              </a:ext>
            </a:extLst>
          </p:cNvPr>
          <p:cNvSpPr txBox="1"/>
          <p:nvPr/>
        </p:nvSpPr>
        <p:spPr>
          <a:xfrm>
            <a:off x="76557" y="1098976"/>
            <a:ext cx="4394914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DENALI Hydro-Turn System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motoalliance.com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denali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-snow-plow-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hydroturn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-with-joystick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Hydraulic Angle Control Systems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Western Impact Mid-Duty and HD Series:  72" HD V-Blade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www.tricountyequipment.net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/new-equipment/residential/tractor-packages/gator-snow-packages/xuv835r-and-western-impact-hd-v-blade/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Blackline Solutions: Offers hydraulic electric lift and angle plow systems with simple joystick controls and down pressure with float functionality.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www.blackline-solutions.com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SuperATV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Plow Pro Angle Actuator: This electric actuator kit delivers 1,800 pounds of force and uses a rocker switch mounted in your cab. It provides 30 degrees of angle adjustment left or right of center and can be adjusted on the move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www.everythingdeeregator.com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/john-deere-gator-plow-pro-utv-plow-angle-actuator-kit-by-superatv-hc-u-001-ejd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Kolpin High Rise Power Angle: This electric system rotates the blade 56 degrees with dash or handlebar-mounted button controls. It uses a self-locking steel gear drive and installs in under 30 minutes with just 5 bolts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www.utvsource.com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kolpin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-outdoors-high-rise-snow-plow-power-angle/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2AAD2-19BF-3D33-4143-BC3E0B65C7B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3972538"/>
            <a:ext cx="1549400" cy="831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425BF70-0BFD-FADB-F281-1AEA07513FE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46592" y="5136331"/>
            <a:ext cx="2152293" cy="1258264"/>
          </a:xfrm>
          <a:prstGeom prst="rect">
            <a:avLst/>
          </a:prstGeom>
        </p:spPr>
      </p:pic>
      <p:pic>
        <p:nvPicPr>
          <p:cNvPr id="1026" name="Picture 2" descr="Picture">
            <a:extLst>
              <a:ext uri="{FF2B5EF4-FFF2-40B4-BE49-F238E27FC236}">
                <a16:creationId xmlns:a16="http://schemas.microsoft.com/office/drawing/2014/main" id="{80E4F8CD-0936-8DCE-B797-92E2EED9E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63010" y="2759863"/>
            <a:ext cx="1472864" cy="83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9D9810-36D8-5C6B-5D58-399895CAFE7B}"/>
              </a:ext>
            </a:extLst>
          </p:cNvPr>
          <p:cNvSpPr txBox="1"/>
          <p:nvPr/>
        </p:nvSpPr>
        <p:spPr>
          <a:xfrm>
            <a:off x="7893924" y="1262634"/>
            <a:ext cx="27015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Western IMPACT UTV V-Plow </a:t>
            </a:r>
            <a:r>
              <a:rPr lang="en-US" sz="1600" dirty="0"/>
              <a:t>is the best choice because it explicitly includes back drag.</a:t>
            </a:r>
          </a:p>
          <a:p>
            <a:r>
              <a:rPr lang="en-US" sz="1600" dirty="0"/>
              <a:t>But it costs $4K+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508711-DC5F-8D94-0B31-39EBA077D262}"/>
              </a:ext>
            </a:extLst>
          </p:cNvPr>
          <p:cNvSpPr txBox="1"/>
          <p:nvPr/>
        </p:nvSpPr>
        <p:spPr>
          <a:xfrm>
            <a:off x="7545999" y="4270937"/>
            <a:ext cx="43949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Back drag solutions:</a:t>
            </a:r>
          </a:p>
          <a:p>
            <a:endParaRPr lang="en-US" sz="1100" dirty="0"/>
          </a:p>
          <a:p>
            <a:r>
              <a:rPr lang="en-US" sz="1100" dirty="0"/>
              <a:t>Back Drag Blade Can-Am</a:t>
            </a:r>
          </a:p>
          <a:p>
            <a:r>
              <a:rPr lang="en-US" sz="1100" dirty="0"/>
              <a:t>https://can-am-</a:t>
            </a:r>
            <a:r>
              <a:rPr lang="en-US" sz="1100" dirty="0" err="1"/>
              <a:t>shop.brp.com</a:t>
            </a:r>
            <a:r>
              <a:rPr lang="en-US" sz="1100" dirty="0"/>
              <a:t>/off-road/us/</a:t>
            </a:r>
            <a:r>
              <a:rPr lang="en-US" sz="1100" dirty="0" err="1"/>
              <a:t>en</a:t>
            </a:r>
            <a:r>
              <a:rPr lang="en-US" sz="1100" dirty="0"/>
              <a:t>/back-drag-blade-can-am-715007794.htm</a:t>
            </a:r>
          </a:p>
          <a:p>
            <a:endParaRPr lang="en-US" sz="1100" dirty="0"/>
          </a:p>
          <a:p>
            <a:r>
              <a:rPr lang="en-US" sz="1100" dirty="0"/>
              <a:t>Western 66892 8 ft. Back Drag Edge</a:t>
            </a:r>
          </a:p>
          <a:p>
            <a:r>
              <a:rPr lang="en-US" sz="1100" dirty="0"/>
              <a:t>https://www.4qte.com/prd-583-western-66892-8-ft.-back-drag-edge</a:t>
            </a:r>
          </a:p>
        </p:txBody>
      </p:sp>
    </p:spTree>
    <p:extLst>
      <p:ext uri="{BB962C8B-B14F-4D97-AF65-F5344CB8AC3E}">
        <p14:creationId xmlns:p14="http://schemas.microsoft.com/office/powerpoint/2010/main" val="2159689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738</TotalTime>
  <Words>877</Words>
  <Application>Microsoft Macintosh PowerPoint</Application>
  <PresentationFormat>Widescreen</PresentationFormat>
  <Paragraphs>149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54</cp:revision>
  <dcterms:created xsi:type="dcterms:W3CDTF">2022-06-02T16:58:09Z</dcterms:created>
  <dcterms:modified xsi:type="dcterms:W3CDTF">2026-01-03T02:52:17Z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