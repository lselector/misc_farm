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6" r:id="rId2"/>
    <p:sldId id="277" r:id="rId3"/>
    <p:sldId id="27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/>
    <p:restoredTop sz="94769"/>
  </p:normalViewPr>
  <p:slideViewPr>
    <p:cSldViewPr snapToGrid="0" snapToObjects="1">
      <p:cViewPr varScale="1">
        <p:scale>
          <a:sx n="106" d="100"/>
          <a:sy n="106" d="100"/>
        </p:scale>
        <p:origin x="2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811CC-6321-BF4C-AA9B-846696B364A6}" type="datetimeFigureOut">
              <a:t>8/17/23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92BD9-63A1-134F-B654-3B9CE90911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2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8/17/23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hyperlink" Target="https://roadsforwater.org/guideline/water-harvesting-and-drainage-from-unpaved-roads/use-basic-road-surface-drainage/" TargetMode="External"/><Relationship Id="rId9" Type="http://schemas.openxmlformats.org/officeDocument/2006/relationships/hyperlink" Target="https://www.metalsdepot.com/product/326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en.wikipedia.org/wiki/Grave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belt.com/waterbars.php" TargetMode="External"/><Relationship Id="rId2" Type="http://schemas.openxmlformats.org/officeDocument/2006/relationships/hyperlink" Target="https://awwatersheds.org/rubber-razors-do-it-yourself-conservation-practices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3A29CC6-BDE5-3C43-4113-ECCD1C68D852}"/>
              </a:ext>
            </a:extLst>
          </p:cNvPr>
          <p:cNvSpPr txBox="1"/>
          <p:nvPr/>
        </p:nvSpPr>
        <p:spPr>
          <a:xfrm>
            <a:off x="159007" y="34881"/>
            <a:ext cx="7797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Drain or Divert Water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AAEC05-C8E0-D4D2-D00C-62AA892AA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0110" y="803132"/>
            <a:ext cx="3549212" cy="208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077DF-8809-29AF-DE1E-738C9C52AD44}"/>
              </a:ext>
            </a:extLst>
          </p:cNvPr>
          <p:cNvSpPr txBox="1"/>
          <p:nvPr/>
        </p:nvSpPr>
        <p:spPr>
          <a:xfrm>
            <a:off x="565917" y="2905780"/>
            <a:ext cx="3627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Water running down the road makes deep grooves in it.</a:t>
            </a:r>
          </a:p>
        </p:txBody>
      </p:sp>
      <p:pic>
        <p:nvPicPr>
          <p:cNvPr id="1028" name="Picture 4" descr="Figure 9.1 Water bar in place (Source: United States Forest Service 2017)">
            <a:extLst>
              <a:ext uri="{FF2B5EF4-FFF2-40B4-BE49-F238E27FC236}">
                <a16:creationId xmlns:a16="http://schemas.microsoft.com/office/drawing/2014/main" id="{CC8404E3-CB42-5B4B-D718-401C9129E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110" y="3463655"/>
            <a:ext cx="3549212" cy="236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DEDE5-F6DF-AD24-BF5A-82A221373B46}"/>
              </a:ext>
            </a:extLst>
          </p:cNvPr>
          <p:cNvSpPr txBox="1"/>
          <p:nvPr/>
        </p:nvSpPr>
        <p:spPr>
          <a:xfrm>
            <a:off x="565917" y="5797500"/>
            <a:ext cx="36277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Water bars and drainage dips every ~10 meters diagonally to divert water to the side. You can use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soil+gravel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or a log</a:t>
            </a:r>
          </a:p>
          <a:p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roadsforwater.org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/guideline/water-harvesting-and-drainage-from-unpaved-roads/use-basic-road-surface-drainage/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7A9E1-90C6-A1B1-C20C-D6520F9C9FE2}"/>
              </a:ext>
            </a:extLst>
          </p:cNvPr>
          <p:cNvSpPr txBox="1"/>
          <p:nvPr/>
        </p:nvSpPr>
        <p:spPr>
          <a:xfrm>
            <a:off x="10522226" y="2650182"/>
            <a:ext cx="1669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Drainage Groove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Water Drain Ditch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0C1DEA-4E25-9904-625D-445308E4E36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4245" y="185529"/>
            <a:ext cx="1458991" cy="2464653"/>
          </a:xfrm>
          <a:prstGeom prst="rect">
            <a:avLst/>
          </a:prstGeom>
        </p:spPr>
      </p:pic>
      <p:pic>
        <p:nvPicPr>
          <p:cNvPr id="1030" name="Picture 6" descr="Polymer Concrete Drain">
            <a:extLst>
              <a:ext uri="{FF2B5EF4-FFF2-40B4-BE49-F238E27FC236}">
                <a16:creationId xmlns:a16="http://schemas.microsoft.com/office/drawing/2014/main" id="{41EF63E1-9428-FC16-FD39-6DDD23BA8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99276" y="185529"/>
            <a:ext cx="2268709" cy="208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4DE143-2DC3-85BC-EA52-ED6F8B4509EB}"/>
              </a:ext>
            </a:extLst>
          </p:cNvPr>
          <p:cNvSpPr txBox="1"/>
          <p:nvPr/>
        </p:nvSpPr>
        <p:spPr>
          <a:xfrm>
            <a:off x="7879356" y="2272741"/>
            <a:ext cx="190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Polymer Concrete Drain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3DF546-CBFD-A562-EC26-2E9DFA4AB3F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0853" y="39718"/>
            <a:ext cx="2150294" cy="16827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2F5E82-ED7A-E59D-52CD-31FB4606E3B9}"/>
              </a:ext>
            </a:extLst>
          </p:cNvPr>
          <p:cNvSpPr txBox="1"/>
          <p:nvPr/>
        </p:nvSpPr>
        <p:spPr>
          <a:xfrm>
            <a:off x="4797524" y="1719678"/>
            <a:ext cx="220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Perforated Drain Pipe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Advance Drainage Systems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4E88BB-2314-B8C9-1A5D-626D66C1BB1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0091" y="2877716"/>
            <a:ext cx="2971800" cy="12319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9BA2F1E-D908-7129-F08C-21B7EBDA59BC}"/>
              </a:ext>
            </a:extLst>
          </p:cNvPr>
          <p:cNvSpPr txBox="1"/>
          <p:nvPr/>
        </p:nvSpPr>
        <p:spPr>
          <a:xfrm>
            <a:off x="8121869" y="3972769"/>
            <a:ext cx="1165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drain grate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trench grate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EC0530-1A88-1501-D8A5-71F2F8F785B8}"/>
              </a:ext>
            </a:extLst>
          </p:cNvPr>
          <p:cNvSpPr txBox="1"/>
          <p:nvPr/>
        </p:nvSpPr>
        <p:spPr>
          <a:xfrm>
            <a:off x="9079969" y="5466218"/>
            <a:ext cx="31120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Steel Trench Grating "Sold by the Foot"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1" Thick x 12" Wide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https://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www.metalsdepot.com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/product/3266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86458B5-3318-EF68-DD6B-43B078E9565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5486" y="3351899"/>
            <a:ext cx="2117750" cy="1981121"/>
          </a:xfrm>
          <a:prstGeom prst="rect">
            <a:avLst/>
          </a:prstGeom>
        </p:spPr>
      </p:pic>
      <p:pic>
        <p:nvPicPr>
          <p:cNvPr id="1034" name="Picture 10" descr="Sewer Cover Rainwater Grate Trench Cover Resin Manhole Cover 1">
            <a:extLst>
              <a:ext uri="{FF2B5EF4-FFF2-40B4-BE49-F238E27FC236}">
                <a16:creationId xmlns:a16="http://schemas.microsoft.com/office/drawing/2014/main" id="{C4DBFAC5-32BE-9A92-9027-F26C3D9E0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383228" y="3002990"/>
            <a:ext cx="2667356" cy="172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F5ED26C-F562-FEF2-A4B0-EB9B5DD8D069}"/>
              </a:ext>
            </a:extLst>
          </p:cNvPr>
          <p:cNvSpPr txBox="1"/>
          <p:nvPr/>
        </p:nvSpPr>
        <p:spPr>
          <a:xfrm>
            <a:off x="4687462" y="4342459"/>
            <a:ext cx="2205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Sewer Cover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Rainwater Grate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Trench Cover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Resin Manhole Cover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50cm x 30 cm x 2 cm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$44 at Walmart &amp; Amazon</a:t>
            </a:r>
          </a:p>
        </p:txBody>
      </p:sp>
    </p:spTree>
    <p:extLst>
      <p:ext uri="{BB962C8B-B14F-4D97-AF65-F5344CB8AC3E}">
        <p14:creationId xmlns:p14="http://schemas.microsoft.com/office/powerpoint/2010/main" val="415247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EB572-F487-FC73-F6EC-60FA71F69600}"/>
              </a:ext>
            </a:extLst>
          </p:cNvPr>
          <p:cNvSpPr txBox="1"/>
          <p:nvPr/>
        </p:nvSpPr>
        <p:spPr>
          <a:xfrm>
            <a:off x="185530" y="145774"/>
            <a:ext cx="2040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Gravel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A5D6E-BC77-518D-79CF-0DC86B0572AE}"/>
              </a:ext>
            </a:extLst>
          </p:cNvPr>
          <p:cNvSpPr txBox="1"/>
          <p:nvPr/>
        </p:nvSpPr>
        <p:spPr>
          <a:xfrm>
            <a:off x="424070" y="861391"/>
            <a:ext cx="3697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/wiki/Gravel</a:t>
            </a:r>
            <a:r>
              <a:rPr lang="en-US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261750-39AB-55EF-4944-0CBAA3E70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044" y="571500"/>
            <a:ext cx="2472267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2DE7E9-3352-CC5A-54EF-EBCD0330E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044" y="2621721"/>
            <a:ext cx="2472267" cy="164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FB0E8-F301-9BA0-E2A3-8CBEF9076CA7}"/>
              </a:ext>
            </a:extLst>
          </p:cNvPr>
          <p:cNvSpPr txBox="1"/>
          <p:nvPr/>
        </p:nvSpPr>
        <p:spPr>
          <a:xfrm>
            <a:off x="7262191" y="1230723"/>
            <a:ext cx="223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32D49-A7EF-93C3-4D40-8094DE6A56DD}"/>
              </a:ext>
            </a:extLst>
          </p:cNvPr>
          <p:cNvSpPr txBox="1"/>
          <p:nvPr/>
        </p:nvSpPr>
        <p:spPr>
          <a:xfrm>
            <a:off x="7262191" y="3205297"/>
            <a:ext cx="223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Crushed Stone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15854-7A7C-733B-2601-4A7CB6943C59}"/>
              </a:ext>
            </a:extLst>
          </p:cNvPr>
          <p:cNvSpPr txBox="1"/>
          <p:nvPr/>
        </p:nvSpPr>
        <p:spPr>
          <a:xfrm>
            <a:off x="424069" y="1600055"/>
            <a:ext cx="3697355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gravel is categorized into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granular gravel (2–4 mm or 0.079–0.157 in)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pebble gravel (4–64 mm or 0.2–2.5 in)</a:t>
            </a:r>
          </a:p>
          <a:p>
            <a:endParaRPr lang="en-US" dirty="0"/>
          </a:p>
          <a:p>
            <a:r>
              <a:rPr lang="en-US" dirty="0"/>
              <a:t>ISO 14688 grades gravels 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fine - 2–6.3 mm (0.079–0.248 in)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medium - 6.3 – 20mm (0.248 – 0.79 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coarse - 20–63 mm (0.79–2.48 in)</a:t>
            </a:r>
          </a:p>
          <a:p>
            <a:endParaRPr lang="en-US" dirty="0"/>
          </a:p>
          <a:p>
            <a:r>
              <a:rPr lang="en-US" dirty="0"/>
              <a:t>One cubic meter of gravel ~ 1,800 kg = 4,000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one cubic yard ~ 1,400 kg  = 3,000 </a:t>
            </a:r>
            <a:r>
              <a:rPr lang="en-US" dirty="0" err="1"/>
              <a:t>lb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F5E4E-8CF1-776B-FE83-FCCED1C72993}"/>
              </a:ext>
            </a:extLst>
          </p:cNvPr>
          <p:cNvSpPr txBox="1"/>
          <p:nvPr/>
        </p:nvSpPr>
        <p:spPr>
          <a:xfrm>
            <a:off x="424069" y="4993329"/>
            <a:ext cx="523077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For 2 inches depth: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1/4 to 1/2 inch gravel (medium size): 100 square feet per 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1/2 to 1 inch gravel  (more coarse): 90 square feet per 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1.5-2 inch gravel (coarse): 80 square feet per ton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B527B-CA88-533E-ADF3-09A02AE0A3A0}"/>
              </a:ext>
            </a:extLst>
          </p:cNvPr>
          <p:cNvSpPr txBox="1"/>
          <p:nvPr/>
        </p:nvSpPr>
        <p:spPr>
          <a:xfrm>
            <a:off x="9295664" y="3109457"/>
            <a:ext cx="2472267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1/2 inch pebble gravel:</a:t>
            </a:r>
          </a:p>
          <a:p>
            <a:r>
              <a:rPr lang="en-US" sz="1400" dirty="0"/>
              <a:t>  $15-75 per cubic yard </a:t>
            </a:r>
          </a:p>
          <a:p>
            <a:r>
              <a:rPr lang="en-US" sz="1400" dirty="0"/>
              <a:t>  $25-53 per ton</a:t>
            </a:r>
          </a:p>
          <a:p>
            <a:r>
              <a:rPr lang="en-US" sz="1400" dirty="0"/>
              <a:t>  $5-20 per bag</a:t>
            </a:r>
          </a:p>
          <a:p>
            <a:endParaRPr lang="en-US" sz="1400" dirty="0"/>
          </a:p>
          <a:p>
            <a:r>
              <a:rPr lang="en-US" sz="1400" dirty="0"/>
              <a:t>2" Lava Rock (red/brown)</a:t>
            </a:r>
          </a:p>
          <a:p>
            <a:r>
              <a:rPr lang="en-US" sz="1400" dirty="0"/>
              <a:t>  $75-165 per cubic yard</a:t>
            </a:r>
          </a:p>
          <a:p>
            <a:r>
              <a:rPr lang="en-US" sz="1400" dirty="0"/>
              <a:t>  $115-220 per ton</a:t>
            </a:r>
          </a:p>
          <a:p>
            <a:r>
              <a:rPr lang="en-US" sz="1400" dirty="0"/>
              <a:t>  $5-22 per bag</a:t>
            </a:r>
          </a:p>
          <a:p>
            <a:endParaRPr lang="en-US" sz="1400" dirty="0"/>
          </a:p>
          <a:p>
            <a:r>
              <a:rPr lang="en-US" sz="1400" dirty="0"/>
              <a:t>2" River Rock</a:t>
            </a:r>
          </a:p>
          <a:p>
            <a:r>
              <a:rPr lang="en-US" sz="1400" dirty="0"/>
              <a:t>  $45-140 per cubic yard</a:t>
            </a:r>
          </a:p>
          <a:p>
            <a:r>
              <a:rPr lang="en-US" sz="1400" dirty="0"/>
              <a:t>  $60-170 per ton</a:t>
            </a:r>
          </a:p>
          <a:p>
            <a:r>
              <a:rPr lang="en-US" sz="1400" dirty="0"/>
              <a:t>  $5-17 per bag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924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9DF33E-03C1-6C1C-0CB5-1574BB778BE3}"/>
              </a:ext>
            </a:extLst>
          </p:cNvPr>
          <p:cNvSpPr txBox="1"/>
          <p:nvPr/>
        </p:nvSpPr>
        <p:spPr>
          <a:xfrm>
            <a:off x="1064795" y="1289067"/>
            <a:ext cx="61000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u="none" strike="noStrike" dirty="0">
                <a:effectLst/>
                <a:latin typeface="Google Sans"/>
                <a:hlinkClick r:id="rId2"/>
              </a:rPr>
              <a:t>https://awwatersheds.org/rubber-razors-do-it-yourself-conservation-practices/</a:t>
            </a:r>
          </a:p>
          <a:p>
            <a:pPr algn="l"/>
            <a:endParaRPr lang="en-US" dirty="0">
              <a:latin typeface="Google Sans"/>
              <a:hlinkClick r:id="rId2"/>
            </a:endParaRPr>
          </a:p>
          <a:p>
            <a:pPr algn="l"/>
            <a:r>
              <a:rPr lang="en-US" b="0" i="0" u="none" strike="noStrike" dirty="0">
                <a:effectLst/>
                <a:latin typeface="Google Sans"/>
                <a:hlinkClick r:id="rId2"/>
              </a:rPr>
              <a:t>Rubber Razors: Do-It-Yourself Conservation Practices - Acton Wakefield Watersheds Alliance</a:t>
            </a:r>
          </a:p>
          <a:p>
            <a:pPr algn="l"/>
            <a:endParaRPr lang="en-US" dirty="0">
              <a:latin typeface="Google Sans"/>
              <a:hlinkClick r:id="rId2"/>
            </a:endParaRPr>
          </a:p>
          <a:p>
            <a:r>
              <a:rPr lang="en-US" b="0" i="0" u="none" strike="noStrike" dirty="0">
                <a:effectLst/>
                <a:latin typeface="Google Sans"/>
                <a:hlinkClick r:id="rId3"/>
              </a:rPr>
              <a:t>Waterbars: DIY erosion prevention for roads, paths and trails</a:t>
            </a:r>
          </a:p>
          <a:p>
            <a:pPr algn="l"/>
            <a:endParaRPr lang="en-US" b="0" i="0" u="none" strike="noStrike" dirty="0">
              <a:effectLst/>
              <a:latin typeface="Google Sans"/>
              <a:hlinkClick r:id="rId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36A96-B4CD-DEDA-B3CC-11337F54CDD6}"/>
              </a:ext>
            </a:extLst>
          </p:cNvPr>
          <p:cNvSpPr txBox="1"/>
          <p:nvPr/>
        </p:nvSpPr>
        <p:spPr>
          <a:xfrm>
            <a:off x="715878" y="392850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water divert bar</a:t>
            </a:r>
          </a:p>
        </p:txBody>
      </p:sp>
    </p:spTree>
    <p:extLst>
      <p:ext uri="{BB962C8B-B14F-4D97-AF65-F5344CB8AC3E}">
        <p14:creationId xmlns:p14="http://schemas.microsoft.com/office/powerpoint/2010/main" val="111161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359</Words>
  <Application>Microsoft Macintosh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116</cp:revision>
  <dcterms:created xsi:type="dcterms:W3CDTF">2022-05-02T00:38:22Z</dcterms:created>
  <dcterms:modified xsi:type="dcterms:W3CDTF">2023-08-17T14:49:57Z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