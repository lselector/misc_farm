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8" r:id="rId2"/>
    <p:sldId id="281" r:id="rId3"/>
    <p:sldId id="279" r:id="rId4"/>
    <p:sldId id="277" r:id="rId5"/>
    <p:sldId id="276" r:id="rId6"/>
    <p:sldId id="28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11"/>
    <p:restoredTop sz="94833"/>
  </p:normalViewPr>
  <p:slideViewPr>
    <p:cSldViewPr snapToGrid="0" snapToObjects="1">
      <p:cViewPr varScale="1">
        <p:scale>
          <a:sx n="93" d="100"/>
          <a:sy n="93" d="100"/>
        </p:scale>
        <p:origin x="10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811CC-6321-BF4C-AA9B-846696B364A6}" type="datetimeFigureOut">
              <a:t>6/30/26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92BD9-63A1-134F-B654-3B9CE909116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25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8DD0-F5B2-15C1-96C2-359AABC4B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79889-D132-4397-0547-895A6BD28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E4CA-9799-18AE-D4BA-5EFDB262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BB017-65CA-D094-EA2F-FAFBC1BF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27274-3826-028B-64DD-856AA98C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F12F-3D3D-6A09-2E35-EAD0C90A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8E21-870B-193E-8931-72FD7C38A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93E1-1A44-D49B-EE6B-0C6F2140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64A9-6EAD-6647-B6CB-F24B6F70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46CF0-740D-F941-2552-93AF0220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6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D88C-E684-0092-0D27-0A9FFD17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4D4E3-9349-5B4E-DEFB-7ADB22929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33B29-2069-185B-154E-83B43279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8DB26-E691-EBF7-87CA-8BD4D97E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CFEAD-6332-0882-351E-3AD7AFFF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9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FA89-7A8C-2BF1-56CD-508B1E3A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41508-596D-D8B8-26A5-1B6CEF8D4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1378C-B8B8-D5FE-0A75-376AA5292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08E7F-3616-927D-844D-CBA72BC6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8E9C8-FE23-8D40-43FF-7818A026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E8D37-47EA-3C05-517B-2F85706E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4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0495-D3B5-8FE7-8A3A-C5B2727B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AB79-3B1C-0ED7-23AF-4A8ADD429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B6335-12A0-B132-55DA-56997016F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792DF-BF6E-04E5-BFF5-08BD5B478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99D652-4C1F-B377-280F-5B572A11F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AB3D8-A558-F32C-0F6C-8E229513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19288-AD7A-3282-E5DF-333FFFC4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91949-9DF7-7EFE-416F-D6305FF0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2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3D81-55BB-5F96-1196-26A57034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9AC36-FAC6-A4C4-5460-EEAEC1B5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B1433-EF97-53CD-FFA5-599DF825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68FD2-26E5-FFE6-4ACD-83B09598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2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D5769-FB8F-7676-6B25-5EBA32B2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92E3F-F71A-D744-45DE-85B27103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E25D8-219F-7305-3844-4703C5E5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8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D570-06BE-22E1-B810-4D69936F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FEFE4-BB75-6E65-2899-3703E92ED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EB9C2-F3DB-B576-224D-3FDA3DDFF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924BA-FA14-81E6-46BF-4DC0ACFE7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ACD7B-C82D-408A-896E-02E718FB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B12BD-21E4-1209-4294-DF6CA4FB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1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B197-43DE-26A9-FBD5-F922DB56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49AB21-2CEA-875A-6CBF-75B078D3A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183E7-34CA-DF9E-984A-606380071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D1642-EBDC-1BB8-58FC-14A4C3AC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60FC4-1F32-B58B-D652-941B433D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C0798-2750-3A94-2B3A-695DA7AB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3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7D9F-C985-C4AB-ED45-B78B858B7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AC969-2D60-1CB3-6799-FB9ED2553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8186-263E-FD4A-53F8-A165DADB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315FA-BCCC-2ABC-ACA2-5E0C6CEF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603C4-A76D-7A84-168E-060D2B06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0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AB02FF-EECD-334D-5725-B39C40CD3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68F00-C914-3B13-0367-6D8129282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E1A78-ED9B-3691-96EB-5C0EB704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E0378-2403-D8A8-54CC-05A3BEE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54D63-4319-317A-696B-C3EA4B47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1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58682-75F9-C5EA-F27F-548F0630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2A268-0258-C17B-1F8F-68BA2735B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2A94D-D8D6-D318-7837-4C19ED151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86276-9013-2A43-82D1-BA4685C95117}" type="datetimeFigureOut"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D65C9-1B5B-5F28-B659-EB418FAC6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0E21-0F36-45EE-1A56-BB99C66DA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7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mart.com/ip/KFFKFF-Gravel-Grid-3-Inch-Depth-17-06-x-8-86-FT-1880-LBS-Per-Sq-ft-Ground-Stabilizer-Permeable-Geo-Grids-Driveways-Gardens-Patios-Walkways-RV-Parking/18012059456" TargetMode="External"/><Relationship Id="rId2" Type="http://schemas.openxmlformats.org/officeDocument/2006/relationships/hyperlink" Target="https://www.youtube.com/shorts/LEGPP-MS05E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facebook.com/RutledgeExcavating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purposedmaterialsinc.com/conveyor-belt/ohio-conveyor-inventory/" TargetMode="External"/><Relationship Id="rId3" Type="http://schemas.openxmlformats.org/officeDocument/2006/relationships/image" Target="../media/image6.jpeg"/><Relationship Id="rId7" Type="http://schemas.openxmlformats.org/officeDocument/2006/relationships/hyperlink" Target="https://www.repurposedmaterialsinc.com/conveyor-belt/" TargetMode="External"/><Relationship Id="rId2" Type="http://schemas.openxmlformats.org/officeDocument/2006/relationships/hyperlink" Target="https://awwatersheds.org/rubber-razors-do-it-yourself-conservation-practices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miprcorp.com/conveyor-belts/used-belts/" TargetMode="External"/><Relationship Id="rId11" Type="http://schemas.openxmlformats.org/officeDocument/2006/relationships/image" Target="../media/image9.png"/><Relationship Id="rId5" Type="http://schemas.openxmlformats.org/officeDocument/2006/relationships/hyperlink" Target="https://www.google.com/search?q=buy+recycled+conveyor+belt" TargetMode="External"/><Relationship Id="rId10" Type="http://schemas.openxmlformats.org/officeDocument/2006/relationships/image" Target="../media/image8.png"/><Relationship Id="rId4" Type="http://schemas.openxmlformats.org/officeDocument/2006/relationships/image" Target="../media/image7.jpeg"/><Relationship Id="rId9" Type="http://schemas.openxmlformats.org/officeDocument/2006/relationships/hyperlink" Target="https://www.atlasbelt.com/TB_Conveyor_Belt_Diversion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Gravel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jpeg"/><Relationship Id="rId7" Type="http://schemas.openxmlformats.org/officeDocument/2006/relationships/image" Target="../media/image16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11" Type="http://schemas.openxmlformats.org/officeDocument/2006/relationships/image" Target="../media/image19.jpe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hyperlink" Target="https://roadsforwater.org/guideline/water-harvesting-and-drainage-from-unpaved-roads/use-basic-road-surface-drainage/" TargetMode="External"/><Relationship Id="rId9" Type="http://schemas.openxmlformats.org/officeDocument/2006/relationships/hyperlink" Target="https://www.metalsdepot.com/product/3266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736A96-B4CD-DEDA-B3CC-11337F54CDD6}"/>
              </a:ext>
            </a:extLst>
          </p:cNvPr>
          <p:cNvSpPr txBox="1"/>
          <p:nvPr/>
        </p:nvSpPr>
        <p:spPr>
          <a:xfrm>
            <a:off x="227965" y="138647"/>
            <a:ext cx="5771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plastic geogrid / reinforcement mesh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6F8755-33CF-55DF-41F4-B65BE0855BF0}"/>
              </a:ext>
            </a:extLst>
          </p:cNvPr>
          <p:cNvSpPr txBox="1"/>
          <p:nvPr/>
        </p:nvSpPr>
        <p:spPr>
          <a:xfrm>
            <a:off x="75561" y="1074472"/>
            <a:ext cx="3574492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dirty="0"/>
              <a:t>A plastic geogrid / reinforcement mesh for soil or gravel stabilization under light-use tracks (farm roads, gateways, grass parking, erosion control).</a:t>
            </a:r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www.youtube.com</a:t>
            </a:r>
            <a:r>
              <a:rPr lang="en-US" dirty="0">
                <a:hlinkClick r:id="rId2"/>
              </a:rPr>
              <a:t>/shorts/LEGPP-MS05E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www.walmart.com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ip</a:t>
            </a:r>
            <a:r>
              <a:rPr lang="en-US" dirty="0">
                <a:hlinkClick r:id="rId3"/>
              </a:rPr>
              <a:t>/KFFKFF-Gravel-Grid-3-Inch-Depth-17-06-x-8-86-FT-1880-LBS-Per-Sq-ft-Ground-Stabilizer-Permeable-Geo-Grids-Driveways-Gardens-Patios-Walkways-RV-Parking/18012059456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F52295-7C4B-7934-CC4A-A8FDA6615A21}"/>
              </a:ext>
            </a:extLst>
          </p:cNvPr>
          <p:cNvSpPr txBox="1"/>
          <p:nvPr/>
        </p:nvSpPr>
        <p:spPr>
          <a:xfrm>
            <a:off x="71788" y="3927768"/>
            <a:ext cx="3574492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  <a:latin typeface="Google Sans"/>
              </a:rPr>
              <a:t>3-Inch Ground Stabilization Grid.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  <a:latin typeface="Google Sans"/>
              </a:rPr>
              <a:t>Sold in sections 17' x 9'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  <a:latin typeface="Google Sans"/>
              </a:rPr>
              <a:t>Stabilize gravel or soil within each cell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  <a:latin typeface="Google Sans"/>
              </a:rPr>
              <a:t>The 3-inch depth of the grid is perfect for establishing a solid surface on inclines or level ground, particularly in soft or unstable areas</a:t>
            </a:r>
          </a:p>
          <a:p>
            <a:pPr marL="122238" indent="-122238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  <a:latin typeface="Google Sans"/>
              </a:rPr>
              <a:t>It also prevents erosion and supports immediate pedestrian or vehicle movement.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0296CD-9707-119A-2F00-1870A99FA83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3200" y="703528"/>
            <a:ext cx="5080000" cy="50800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EF04A3-D7E7-223B-D4A8-6BF297AF97F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3682" y="3829809"/>
            <a:ext cx="2717800" cy="273050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111612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76BCA-2215-E38F-7800-8BCCFE35E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0E340B-C07C-D29B-7E9B-3A4244045CBA}"/>
              </a:ext>
            </a:extLst>
          </p:cNvPr>
          <p:cNvSpPr txBox="1"/>
          <p:nvPr/>
        </p:nvSpPr>
        <p:spPr>
          <a:xfrm>
            <a:off x="227965" y="138647"/>
            <a:ext cx="14009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Gravel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046E9-2060-0637-C0FB-BBFBE532C93A}"/>
              </a:ext>
            </a:extLst>
          </p:cNvPr>
          <p:cNvSpPr txBox="1"/>
          <p:nvPr/>
        </p:nvSpPr>
        <p:spPr>
          <a:xfrm>
            <a:off x="75561" y="1074472"/>
            <a:ext cx="3574492" cy="22006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dirty="0">
                <a:solidFill>
                  <a:srgbClr val="1F1F1F"/>
                </a:solidFill>
                <a:latin typeface="Google Sans"/>
              </a:rPr>
              <a:t>R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utledge 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E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xcavating 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G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ravel</a:t>
            </a:r>
          </a:p>
          <a:p>
            <a:endParaRPr lang="en-US" dirty="0">
              <a:solidFill>
                <a:srgbClr val="1F1F1F"/>
              </a:solidFill>
              <a:latin typeface="Google Sans"/>
            </a:endParaRPr>
          </a:p>
          <a:p>
            <a:r>
              <a:rPr lang="en-US" dirty="0"/>
              <a:t>570-224-4720•Jen_load_area – main phone</a:t>
            </a:r>
          </a:p>
          <a:p>
            <a:r>
              <a:rPr lang="en-US" dirty="0"/>
              <a:t>570-224-8042•Main_Office</a:t>
            </a:r>
          </a:p>
          <a:p>
            <a:r>
              <a:rPr lang="en-US" dirty="0"/>
              <a:t>570-224-4002•Driver_Toby_Johannes</a:t>
            </a:r>
          </a:p>
          <a:p>
            <a:endParaRPr lang="en-US" dirty="0"/>
          </a:p>
          <a:p>
            <a:r>
              <a:rPr lang="en-US" dirty="0"/>
              <a:t>2434 Hancock Hwy, </a:t>
            </a:r>
            <a:r>
              <a:rPr lang="en-US" dirty="0" err="1"/>
              <a:t>Equinunk</a:t>
            </a:r>
            <a:r>
              <a:rPr lang="en-US" dirty="0"/>
              <a:t>, PA 18417</a:t>
            </a:r>
          </a:p>
          <a:p>
            <a:r>
              <a:rPr lang="en-US" dirty="0"/>
              <a:t>2496 Hancock Hwy, </a:t>
            </a:r>
            <a:r>
              <a:rPr lang="en-US" dirty="0" err="1"/>
              <a:t>Equinunk</a:t>
            </a:r>
            <a:r>
              <a:rPr lang="en-US" dirty="0"/>
              <a:t>, PA 18469</a:t>
            </a:r>
          </a:p>
          <a:p>
            <a:r>
              <a:rPr lang="en-US" sz="1100" dirty="0">
                <a:hlinkClick r:id="rId2"/>
              </a:rPr>
              <a:t>https://</a:t>
            </a:r>
            <a:r>
              <a:rPr lang="en-US" sz="1100" dirty="0" err="1">
                <a:hlinkClick r:id="rId2"/>
              </a:rPr>
              <a:t>www.facebook.com</a:t>
            </a:r>
            <a:r>
              <a:rPr lang="en-US" sz="1100" dirty="0">
                <a:hlinkClick r:id="rId2"/>
              </a:rPr>
              <a:t>/</a:t>
            </a:r>
            <a:r>
              <a:rPr lang="en-US" sz="1100" dirty="0" err="1">
                <a:hlinkClick r:id="rId2"/>
              </a:rPr>
              <a:t>RutledgeExcavating</a:t>
            </a:r>
            <a:r>
              <a:rPr lang="en-US" sz="1100" dirty="0">
                <a:hlinkClick r:id="rId2"/>
              </a:rPr>
              <a:t>/</a:t>
            </a:r>
            <a:endParaRPr lang="en-US" sz="1100" dirty="0"/>
          </a:p>
          <a:p>
            <a:r>
              <a:rPr lang="en-US" b="0" i="0" dirty="0">
                <a:solidFill>
                  <a:srgbClr val="080809"/>
                </a:solidFill>
                <a:effectLst/>
                <a:latin typeface="system-ui"/>
              </a:rPr>
              <a:t>email: </a:t>
            </a:r>
            <a:r>
              <a:rPr lang="en-US" b="0" i="0" dirty="0" err="1">
                <a:solidFill>
                  <a:srgbClr val="080809"/>
                </a:solidFill>
                <a:effectLst/>
                <a:latin typeface="system-ui"/>
              </a:rPr>
              <a:t>info@rutledgeexcavating.com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0F5CA5-F7EB-B282-4689-9A0D4A078C75}"/>
              </a:ext>
            </a:extLst>
          </p:cNvPr>
          <p:cNvSpPr txBox="1"/>
          <p:nvPr/>
        </p:nvSpPr>
        <p:spPr>
          <a:xfrm>
            <a:off x="71788" y="3429000"/>
            <a:ext cx="3574492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Brian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"/>
              </a:rPr>
              <a:t>Hillriegel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. (d.b.a.  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B P Construction)</a:t>
            </a:r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endParaRPr lang="en-US" dirty="0"/>
          </a:p>
          <a:p>
            <a:r>
              <a:rPr lang="en-US" dirty="0"/>
              <a:t>845-807-8592 - mobile</a:t>
            </a:r>
          </a:p>
          <a:p>
            <a:endParaRPr lang="en-US" dirty="0"/>
          </a:p>
          <a:p>
            <a:r>
              <a:rPr lang="en-US" dirty="0"/>
              <a:t>Co Rd 131, Callicoon, NY 12723</a:t>
            </a:r>
          </a:p>
          <a:p>
            <a:r>
              <a:rPr lang="en-US" dirty="0"/>
              <a:t>66 </a:t>
            </a:r>
            <a:r>
              <a:rPr lang="en-US" dirty="0" err="1"/>
              <a:t>Hillriegel</a:t>
            </a:r>
            <a:r>
              <a:rPr lang="en-US" dirty="0"/>
              <a:t> Dr, Callicoon, NY 12723-5338</a:t>
            </a:r>
          </a:p>
        </p:txBody>
      </p:sp>
      <p:pic>
        <p:nvPicPr>
          <p:cNvPr id="11" name="Picture 10" descr="A pile of rocks and a note&#10;&#10;AI-generated content may be incorrect.">
            <a:extLst>
              <a:ext uri="{FF2B5EF4-FFF2-40B4-BE49-F238E27FC236}">
                <a16:creationId xmlns:a16="http://schemas.microsoft.com/office/drawing/2014/main" id="{19E03B18-0712-395C-2B83-0A5F04A8BFF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293048" y="1513851"/>
            <a:ext cx="3566057" cy="2674543"/>
          </a:xfrm>
          <a:prstGeom prst="rect">
            <a:avLst/>
          </a:prstGeom>
        </p:spPr>
      </p:pic>
      <p:pic>
        <p:nvPicPr>
          <p:cNvPr id="13" name="Picture 12" descr="A hand holding a note with a pile of rocks&#10;&#10;AI-generated content may be incorrect.">
            <a:extLst>
              <a:ext uri="{FF2B5EF4-FFF2-40B4-BE49-F238E27FC236}">
                <a16:creationId xmlns:a16="http://schemas.microsoft.com/office/drawing/2014/main" id="{1BF882DB-7C1A-30A2-02BE-E1AB6C6BC69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119995" y="1515923"/>
            <a:ext cx="3566057" cy="2674542"/>
          </a:xfrm>
          <a:prstGeom prst="rect">
            <a:avLst/>
          </a:prstGeom>
        </p:spPr>
      </p:pic>
      <p:pic>
        <p:nvPicPr>
          <p:cNvPr id="15" name="Picture 14" descr="A person holding a price tag with rocks in it&#10;&#10;AI-generated content may be incorrect.">
            <a:extLst>
              <a:ext uri="{FF2B5EF4-FFF2-40B4-BE49-F238E27FC236}">
                <a16:creationId xmlns:a16="http://schemas.microsoft.com/office/drawing/2014/main" id="{B52EB75F-8EB2-FD6E-8972-C9C1DCCECFF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8979589" y="1520228"/>
            <a:ext cx="3566058" cy="26745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9176F9A-E801-9182-969F-7CE7506846D1}"/>
              </a:ext>
            </a:extLst>
          </p:cNvPr>
          <p:cNvSpPr txBox="1"/>
          <p:nvPr/>
        </p:nvSpPr>
        <p:spPr>
          <a:xfrm>
            <a:off x="3738805" y="4755614"/>
            <a:ext cx="2674543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algn="ctr"/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2-A Mod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6EBF4B-5A27-D8E0-8910-80CB586726A9}"/>
              </a:ext>
            </a:extLst>
          </p:cNvPr>
          <p:cNvSpPr txBox="1"/>
          <p:nvPr/>
        </p:nvSpPr>
        <p:spPr>
          <a:xfrm>
            <a:off x="6565752" y="4755614"/>
            <a:ext cx="2674543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algn="ctr"/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AASHTO # 3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A86848-B64C-65BD-4A8F-5318F4F4B59C}"/>
              </a:ext>
            </a:extLst>
          </p:cNvPr>
          <p:cNvSpPr txBox="1"/>
          <p:nvPr/>
        </p:nvSpPr>
        <p:spPr>
          <a:xfrm>
            <a:off x="9392699" y="4755614"/>
            <a:ext cx="2674543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algn="ctr"/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2B - 57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673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09F3E-6FB6-2374-CA26-C1E7D6AD9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357A4D-83F6-71EB-B7E4-2A47F0DF0A63}"/>
              </a:ext>
            </a:extLst>
          </p:cNvPr>
          <p:cNvSpPr txBox="1"/>
          <p:nvPr/>
        </p:nvSpPr>
        <p:spPr>
          <a:xfrm>
            <a:off x="79540" y="627326"/>
            <a:ext cx="6357353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sz="1400" b="1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DIY Rubber Razors, </a:t>
            </a:r>
            <a:r>
              <a:rPr lang="en-US" sz="1400" b="1" i="0" u="none" strike="noStrike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Waterbars</a:t>
            </a:r>
            <a:r>
              <a:rPr lang="en-US" sz="1400" b="1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erosion prevention for roads, paths and trails</a:t>
            </a:r>
            <a:endParaRPr lang="en-US" sz="1400" b="1" i="0" u="none" strike="noStrike" dirty="0">
              <a:solidFill>
                <a:srgbClr val="FF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https://awwatersheds.org/rubber-razors-do-it-yourself-conservation-practices/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  <a:hlinkClick r:id="rId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https://www.atlasbelt.com/waterbars.php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954F7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https://www.atlasbelt.com/conveyor-belt-water-diversions-instructions.php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DE23EF-C6D5-9982-736E-FEEB940A57A1}"/>
              </a:ext>
            </a:extLst>
          </p:cNvPr>
          <p:cNvSpPr txBox="1"/>
          <p:nvPr/>
        </p:nvSpPr>
        <p:spPr>
          <a:xfrm>
            <a:off x="79542" y="84218"/>
            <a:ext cx="44202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Water Divert Bar, Rubber Razors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A0F2E4-883C-3BF2-85AC-A96EC5C63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91502" y="86005"/>
            <a:ext cx="3573965" cy="2355742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asy sketch of how to build a waterbar">
            <a:extLst>
              <a:ext uri="{FF2B5EF4-FFF2-40B4-BE49-F238E27FC236}">
                <a16:creationId xmlns:a16="http://schemas.microsoft.com/office/drawing/2014/main" id="{CB08C6CC-55D9-B4CF-D6D4-20B855624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88828" y="86005"/>
            <a:ext cx="1657015" cy="165701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CFBE6E-C2DA-489C-F2DE-58CCE001C6D7}"/>
              </a:ext>
            </a:extLst>
          </p:cNvPr>
          <p:cNvSpPr txBox="1"/>
          <p:nvPr/>
        </p:nvSpPr>
        <p:spPr>
          <a:xfrm>
            <a:off x="79540" y="4925054"/>
            <a:ext cx="610001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Google for "buy recycled conveyor belt"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0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</a:t>
            </a:r>
            <a:r>
              <a:rPr lang="en-US" sz="10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www.google.com</a:t>
            </a:r>
            <a:r>
              <a:rPr lang="en-US" sz="10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/</a:t>
            </a:r>
            <a:r>
              <a:rPr lang="en-US" sz="10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search?q</a:t>
            </a:r>
            <a:r>
              <a:rPr lang="en-US" sz="10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=</a:t>
            </a:r>
            <a:r>
              <a:rPr lang="en-US" sz="10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buy+recycled+conveyor+belt</a:t>
            </a:r>
            <a:endParaRPr lang="en-US" sz="1000" b="0" i="0" u="none" strike="noStrike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0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https://</a:t>
            </a:r>
            <a:r>
              <a:rPr lang="en-US" sz="10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www.miprcorp.com</a:t>
            </a:r>
            <a:r>
              <a:rPr lang="en-US" sz="10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/conveyor-belts/used-belts/</a:t>
            </a:r>
            <a:endParaRPr lang="en-US" sz="1000" b="0" i="0" u="none" strike="noStrike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https://www.repurposedmaterialsinc.com/conveyor-belt/</a:t>
            </a:r>
            <a:endParaRPr lang="en-US" sz="10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https://</a:t>
            </a:r>
            <a:r>
              <a:rPr lang="en-US" sz="1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www.repurposedmaterialsinc.com</a:t>
            </a: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/conveyor-belt/</a:t>
            </a:r>
            <a:r>
              <a:rPr lang="en-US" sz="1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ohio</a:t>
            </a: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-conveyor-inventory/ </a:t>
            </a:r>
            <a:endParaRPr lang="en-US" sz="1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14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CF4AE3-AAAB-282D-46EB-251A04D5067C}"/>
              </a:ext>
            </a:extLst>
          </p:cNvPr>
          <p:cNvSpPr txBox="1"/>
          <p:nvPr/>
        </p:nvSpPr>
        <p:spPr>
          <a:xfrm>
            <a:off x="79540" y="1698972"/>
            <a:ext cx="6100010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l" fontAlgn="base"/>
            <a:r>
              <a:rPr lang="en-US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Instructions:</a:t>
            </a:r>
          </a:p>
          <a:p>
            <a:pPr fontAlgn="base"/>
            <a:r>
              <a:rPr lang="en-US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https://www.atlasbelt.com/TB_Conveyor_Belt_Diversion.pdf</a:t>
            </a:r>
            <a:endParaRPr lang="en-US" sz="14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fontAlgn="base"/>
            <a:r>
              <a:rPr lang="en-US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Recycled c</a:t>
            </a:r>
            <a:r>
              <a:rPr lang="en-US" sz="1400" dirty="0"/>
              <a:t>onveyor belt (0.5" x ~15" x road width+30%) </a:t>
            </a:r>
          </a:p>
          <a:p>
            <a:pPr algn="l" fontAlgn="base"/>
            <a:r>
              <a:rPr lang="en-US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2x6" treated lumber. </a:t>
            </a:r>
          </a:p>
          <a:p>
            <a:pPr algn="l" fontAlgn="base"/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corrosion resistant bolts, washers, and nuts</a:t>
            </a:r>
            <a:endParaRPr lang="en-US" sz="14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fontAlgn="base"/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12 Bolts 3/8" diam ( 8 short (4"), 4 long (6"))</a:t>
            </a:r>
          </a:p>
          <a:p>
            <a:pPr algn="l" fontAlgn="base"/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24 wide washers </a:t>
            </a:r>
          </a:p>
          <a:p>
            <a:pPr algn="l" fontAlgn="base"/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12 nuts</a:t>
            </a:r>
          </a:p>
          <a:p>
            <a:pPr algn="l" fontAlgn="base"/>
            <a:endParaRPr lang="en-US" sz="14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fontAlgn="base"/>
            <a:r>
              <a:rPr lang="en-US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You then dig a trench diagonally across the road deep enough to leave approximately 4" of the rubber belt exposed above your gravel road.</a:t>
            </a:r>
          </a:p>
          <a:p>
            <a:pPr algn="l" fontAlgn="base"/>
            <a:endParaRPr lang="en-US" sz="14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fontAlgn="base"/>
            <a:r>
              <a:rPr lang="en-US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Once installed, trucks and other machinery can easily drive over the rubber and will spring back to its original position once they have passed.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433943-FFA1-1CBE-7177-0D4FC26DF484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91502" y="2553597"/>
            <a:ext cx="3573965" cy="201414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A1DA56-562F-8597-06DF-89E6088561AE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91501" y="4671193"/>
            <a:ext cx="3573965" cy="212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925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DEB572-F487-FC73-F6EC-60FA71F69600}"/>
              </a:ext>
            </a:extLst>
          </p:cNvPr>
          <p:cNvSpPr txBox="1"/>
          <p:nvPr/>
        </p:nvSpPr>
        <p:spPr>
          <a:xfrm>
            <a:off x="185530" y="145774"/>
            <a:ext cx="2040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Gravel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261750-39AB-55EF-4944-0CBAA3E70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56044" y="571500"/>
            <a:ext cx="2472267" cy="185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02DE7E9-3352-CC5A-54EF-EBCD0330E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56044" y="2621721"/>
            <a:ext cx="2472267" cy="1640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FB0E8-F301-9BA0-E2A3-8CBEF9076CA7}"/>
              </a:ext>
            </a:extLst>
          </p:cNvPr>
          <p:cNvSpPr txBox="1"/>
          <p:nvPr/>
        </p:nvSpPr>
        <p:spPr>
          <a:xfrm>
            <a:off x="7262191" y="1230723"/>
            <a:ext cx="223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32D49-A7EF-93C3-4D40-8094DE6A56DD}"/>
              </a:ext>
            </a:extLst>
          </p:cNvPr>
          <p:cNvSpPr txBox="1"/>
          <p:nvPr/>
        </p:nvSpPr>
        <p:spPr>
          <a:xfrm>
            <a:off x="7262191" y="3205297"/>
            <a:ext cx="223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Crushed Stone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15854-7A7C-733B-2601-4A7CB6943C59}"/>
              </a:ext>
            </a:extLst>
          </p:cNvPr>
          <p:cNvSpPr txBox="1"/>
          <p:nvPr/>
        </p:nvSpPr>
        <p:spPr>
          <a:xfrm>
            <a:off x="240013" y="816415"/>
            <a:ext cx="3697355" cy="2893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dirty="0">
                <a:hlinkClick r:id="rId4"/>
              </a:rPr>
              <a:t>https://en.wikipedia.org/wiki/Gravel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gravel is categorized into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granular gravel (2–4 mm or 0.079–0.157 in)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pebble gravel (4–64 mm or 0.2–2.5 in)</a:t>
            </a:r>
          </a:p>
          <a:p>
            <a:endParaRPr lang="en-US" dirty="0"/>
          </a:p>
          <a:p>
            <a:r>
              <a:rPr lang="en-US" dirty="0"/>
              <a:t>ISO 14688 grades gravels 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fine - 2–6.3 mm (0.079–0.248 in)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medium - 6.3 – 20mm (0.248 – 0.79 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coarse - 20–63 mm (0.79–2.48 in)</a:t>
            </a:r>
          </a:p>
          <a:p>
            <a:endParaRPr lang="en-US" dirty="0"/>
          </a:p>
          <a:p>
            <a:r>
              <a:rPr lang="en-US" dirty="0"/>
              <a:t>One cubic meter of gravel ~ 1,800 kg = 4,000 </a:t>
            </a:r>
            <a:r>
              <a:rPr lang="en-US" dirty="0" err="1"/>
              <a:t>lb</a:t>
            </a:r>
            <a:endParaRPr lang="en-US" dirty="0"/>
          </a:p>
          <a:p>
            <a:r>
              <a:rPr lang="en-US" dirty="0"/>
              <a:t>one cubic yard ~ 1,400 kg  = 3,000 </a:t>
            </a:r>
            <a:r>
              <a:rPr lang="en-US" dirty="0" err="1"/>
              <a:t>lb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4F5E4E-8CF1-776B-FE83-FCCED1C72993}"/>
              </a:ext>
            </a:extLst>
          </p:cNvPr>
          <p:cNvSpPr txBox="1"/>
          <p:nvPr/>
        </p:nvSpPr>
        <p:spPr>
          <a:xfrm>
            <a:off x="227964" y="5004215"/>
            <a:ext cx="5230773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dirty="0"/>
              <a:t>For 2 inches depth: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1/4 to 1/2 inch gravel (medium size): 100 square feet per 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1/2 to 1 inch gravel  (more coarse): 90 square feet per 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1.5-2 inch gravel (coarse): 80 square feet per ton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B527B-CA88-533E-ADF3-09A02AE0A3A0}"/>
              </a:ext>
            </a:extLst>
          </p:cNvPr>
          <p:cNvSpPr txBox="1"/>
          <p:nvPr/>
        </p:nvSpPr>
        <p:spPr>
          <a:xfrm>
            <a:off x="9295664" y="3109457"/>
            <a:ext cx="2472267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1/2 inch pebble gravel:</a:t>
            </a:r>
          </a:p>
          <a:p>
            <a:r>
              <a:rPr lang="en-US" sz="1400" dirty="0"/>
              <a:t>  $15-75 per cubic yard </a:t>
            </a:r>
          </a:p>
          <a:p>
            <a:r>
              <a:rPr lang="en-US" sz="1400" dirty="0"/>
              <a:t>  $25-53 per ton</a:t>
            </a:r>
          </a:p>
          <a:p>
            <a:r>
              <a:rPr lang="en-US" sz="1400" dirty="0"/>
              <a:t>  $5-20 per bag</a:t>
            </a:r>
          </a:p>
          <a:p>
            <a:endParaRPr lang="en-US" sz="1400" dirty="0"/>
          </a:p>
          <a:p>
            <a:r>
              <a:rPr lang="en-US" sz="1400" dirty="0"/>
              <a:t>2" Lava Rock (red/brown)</a:t>
            </a:r>
          </a:p>
          <a:p>
            <a:r>
              <a:rPr lang="en-US" sz="1400" dirty="0"/>
              <a:t>  $75-165 per cubic yard</a:t>
            </a:r>
          </a:p>
          <a:p>
            <a:r>
              <a:rPr lang="en-US" sz="1400" dirty="0"/>
              <a:t>  $115-220 per ton</a:t>
            </a:r>
          </a:p>
          <a:p>
            <a:r>
              <a:rPr lang="en-US" sz="1400" dirty="0"/>
              <a:t>  $5-22 per bag</a:t>
            </a:r>
          </a:p>
          <a:p>
            <a:endParaRPr lang="en-US" sz="1400" dirty="0"/>
          </a:p>
          <a:p>
            <a:r>
              <a:rPr lang="en-US" sz="1400" dirty="0"/>
              <a:t>2" River Rock</a:t>
            </a:r>
          </a:p>
          <a:p>
            <a:r>
              <a:rPr lang="en-US" sz="1400" dirty="0"/>
              <a:t>  $45-140 per cubic yard</a:t>
            </a:r>
          </a:p>
          <a:p>
            <a:r>
              <a:rPr lang="en-US" sz="1400" dirty="0"/>
              <a:t>  $60-170 per ton</a:t>
            </a:r>
          </a:p>
          <a:p>
            <a:r>
              <a:rPr lang="en-US" sz="1400" dirty="0"/>
              <a:t>  $5-17 per bag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19245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3A29CC6-BDE5-3C43-4113-ECCD1C68D852}"/>
              </a:ext>
            </a:extLst>
          </p:cNvPr>
          <p:cNvSpPr txBox="1"/>
          <p:nvPr/>
        </p:nvSpPr>
        <p:spPr>
          <a:xfrm>
            <a:off x="159007" y="34881"/>
            <a:ext cx="7797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Drain or Divert Water</a:t>
            </a: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AAEC05-C8E0-D4D2-D00C-62AA892AA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0110" y="803132"/>
            <a:ext cx="3549212" cy="2087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3077DF-8809-29AF-DE1E-738C9C52AD44}"/>
              </a:ext>
            </a:extLst>
          </p:cNvPr>
          <p:cNvSpPr txBox="1"/>
          <p:nvPr/>
        </p:nvSpPr>
        <p:spPr>
          <a:xfrm>
            <a:off x="565917" y="2905780"/>
            <a:ext cx="3627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Water running down the road makes deep grooves in it.</a:t>
            </a:r>
          </a:p>
        </p:txBody>
      </p:sp>
      <p:pic>
        <p:nvPicPr>
          <p:cNvPr id="1028" name="Picture 4" descr="Figure 9.1 Water bar in place (Source: United States Forest Service 2017)">
            <a:extLst>
              <a:ext uri="{FF2B5EF4-FFF2-40B4-BE49-F238E27FC236}">
                <a16:creationId xmlns:a16="http://schemas.microsoft.com/office/drawing/2014/main" id="{CC8404E3-CB42-5B4B-D718-401C9129E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0110" y="3463655"/>
            <a:ext cx="3549212" cy="236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DDEDE5-F6DF-AD24-BF5A-82A221373B46}"/>
              </a:ext>
            </a:extLst>
          </p:cNvPr>
          <p:cNvSpPr txBox="1"/>
          <p:nvPr/>
        </p:nvSpPr>
        <p:spPr>
          <a:xfrm>
            <a:off x="565917" y="5797500"/>
            <a:ext cx="36277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Water bars and drainage dips every ~10 meters diagonally to divert water to the side. You can use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soil+gravel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or a log</a:t>
            </a:r>
          </a:p>
          <a:p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roadsforwater.org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/guideline/water-harvesting-and-drainage-from-unpaved-roads/use-basic-road-surface-drainage/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7A9E1-90C6-A1B1-C20C-D6520F9C9FE2}"/>
              </a:ext>
            </a:extLst>
          </p:cNvPr>
          <p:cNvSpPr txBox="1"/>
          <p:nvPr/>
        </p:nvSpPr>
        <p:spPr>
          <a:xfrm>
            <a:off x="10522226" y="2650182"/>
            <a:ext cx="1669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Drainage Groove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Water Drain Ditch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0C1DEA-4E25-9904-625D-445308E4E36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4245" y="185529"/>
            <a:ext cx="1458991" cy="2464653"/>
          </a:xfrm>
          <a:prstGeom prst="rect">
            <a:avLst/>
          </a:prstGeom>
        </p:spPr>
      </p:pic>
      <p:pic>
        <p:nvPicPr>
          <p:cNvPr id="1030" name="Picture 6" descr="Polymer Concrete Drain">
            <a:extLst>
              <a:ext uri="{FF2B5EF4-FFF2-40B4-BE49-F238E27FC236}">
                <a16:creationId xmlns:a16="http://schemas.microsoft.com/office/drawing/2014/main" id="{41EF63E1-9428-FC16-FD39-6DDD23BA8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99276" y="185529"/>
            <a:ext cx="2268709" cy="2087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44DE143-2DC3-85BC-EA52-ED6F8B4509EB}"/>
              </a:ext>
            </a:extLst>
          </p:cNvPr>
          <p:cNvSpPr txBox="1"/>
          <p:nvPr/>
        </p:nvSpPr>
        <p:spPr>
          <a:xfrm>
            <a:off x="7879356" y="2272741"/>
            <a:ext cx="190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Polymer Concrete Drain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43DF546-CBFD-A562-EC26-2E9DFA4AB3F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0853" y="39718"/>
            <a:ext cx="2150294" cy="16827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62F5E82-ED7A-E59D-52CD-31FB4606E3B9}"/>
              </a:ext>
            </a:extLst>
          </p:cNvPr>
          <p:cNvSpPr txBox="1"/>
          <p:nvPr/>
        </p:nvSpPr>
        <p:spPr>
          <a:xfrm>
            <a:off x="4797524" y="1719678"/>
            <a:ext cx="2207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Perforated Drain Pipe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Advance Drainage Systems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4E88BB-2314-B8C9-1A5D-626D66C1BB1C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0091" y="2877716"/>
            <a:ext cx="2971800" cy="12319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9BA2F1E-D908-7129-F08C-21B7EBDA59BC}"/>
              </a:ext>
            </a:extLst>
          </p:cNvPr>
          <p:cNvSpPr txBox="1"/>
          <p:nvPr/>
        </p:nvSpPr>
        <p:spPr>
          <a:xfrm>
            <a:off x="8121869" y="3972769"/>
            <a:ext cx="1165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drain grate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trench grate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EC0530-1A88-1501-D8A5-71F2F8F785B8}"/>
              </a:ext>
            </a:extLst>
          </p:cNvPr>
          <p:cNvSpPr txBox="1"/>
          <p:nvPr/>
        </p:nvSpPr>
        <p:spPr>
          <a:xfrm>
            <a:off x="9079969" y="5466218"/>
            <a:ext cx="31120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Steel Trench Grating "Sold by the Foot"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1" Thick x 12" Wide</a:t>
            </a:r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https://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www.metalsdepot.com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/product/3266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86458B5-3318-EF68-DD6B-43B078E95651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5486" y="3351899"/>
            <a:ext cx="2117750" cy="1981121"/>
          </a:xfrm>
          <a:prstGeom prst="rect">
            <a:avLst/>
          </a:prstGeom>
        </p:spPr>
      </p:pic>
      <p:pic>
        <p:nvPicPr>
          <p:cNvPr id="1034" name="Picture 10" descr="Sewer Cover Rainwater Grate Trench Cover Resin Manhole Cover 1">
            <a:extLst>
              <a:ext uri="{FF2B5EF4-FFF2-40B4-BE49-F238E27FC236}">
                <a16:creationId xmlns:a16="http://schemas.microsoft.com/office/drawing/2014/main" id="{C4DBFAC5-32BE-9A92-9027-F26C3D9E09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383228" y="3002990"/>
            <a:ext cx="2667356" cy="172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F5ED26C-F562-FEF2-A4B0-EB9B5DD8D069}"/>
              </a:ext>
            </a:extLst>
          </p:cNvPr>
          <p:cNvSpPr txBox="1"/>
          <p:nvPr/>
        </p:nvSpPr>
        <p:spPr>
          <a:xfrm>
            <a:off x="4687462" y="4342459"/>
            <a:ext cx="22055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Sewer Cover 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Rainwater Grate 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Trench Cover 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Resin Manhole Cover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50cm x 30 cm x 2 cm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$44 at Walmart &amp; Amazon</a:t>
            </a:r>
          </a:p>
        </p:txBody>
      </p:sp>
    </p:spTree>
    <p:extLst>
      <p:ext uri="{BB962C8B-B14F-4D97-AF65-F5344CB8AC3E}">
        <p14:creationId xmlns:p14="http://schemas.microsoft.com/office/powerpoint/2010/main" val="415247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FBA670-62E3-791F-9E5E-8E9044AB0357}"/>
              </a:ext>
            </a:extLst>
          </p:cNvPr>
          <p:cNvSpPr txBox="1"/>
          <p:nvPr/>
        </p:nvSpPr>
        <p:spPr>
          <a:xfrm>
            <a:off x="140779" y="315687"/>
            <a:ext cx="9743450" cy="62786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To stabilize your steep gravel road and prevent erosion, </a:t>
            </a:r>
          </a:p>
          <a:p>
            <a:r>
              <a:rPr lang="en-US" sz="1400" dirty="0"/>
              <a:t>focus on creating a reinforced foundation </a:t>
            </a:r>
          </a:p>
          <a:p>
            <a:r>
              <a:rPr lang="en-US" sz="1400" dirty="0"/>
              <a:t>with proper drainage and anchoring. </a:t>
            </a:r>
          </a:p>
          <a:p>
            <a:r>
              <a:rPr lang="en-US" sz="1400" dirty="0"/>
              <a:t>Here's a solution combining gravel stabilization techniques </a:t>
            </a:r>
          </a:p>
          <a:p>
            <a:r>
              <a:rPr lang="en-US" sz="1400" dirty="0"/>
              <a:t>with cement plate preparation:</a:t>
            </a:r>
          </a:p>
          <a:p>
            <a:endParaRPr lang="en-US" sz="1400" dirty="0"/>
          </a:p>
          <a:p>
            <a:r>
              <a:rPr lang="en-US" sz="1400" dirty="0"/>
              <a:t>Foundation and Stabilization Approach</a:t>
            </a:r>
          </a:p>
          <a:p>
            <a:endParaRPr lang="en-US" sz="1400" dirty="0"/>
          </a:p>
          <a:p>
            <a:r>
              <a:rPr lang="en-US" sz="1400" dirty="0"/>
              <a:t>1. Excavate 12-18" depth across the road width (minimum 8' for single lane); Install geotextile fabric over compacted subgrade to prevent soil mixing. Add 8-12" base layer of angular crushed gravel (¾" clean stone) compacted in 4" lifts.</a:t>
            </a:r>
          </a:p>
          <a:p>
            <a:endParaRPr lang="en-US" sz="1400" dirty="0"/>
          </a:p>
          <a:p>
            <a:r>
              <a:rPr lang="en-US" sz="1400" dirty="0"/>
              <a:t>2. Slope Anchoring System</a:t>
            </a:r>
          </a:p>
          <a:p>
            <a:endParaRPr lang="en-US" sz="1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| Method               | Implementation                               | Benefit                         |</a:t>
            </a:r>
          </a:p>
          <a:p>
            <a:r>
              <a:rPr lang="en-US" sz="11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|----------------------|----------------------------------------------|---------------------------------|</a:t>
            </a:r>
          </a:p>
          <a:p>
            <a:r>
              <a:rPr lang="en-US" sz="11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| Ground anchors       | Install 2.5' rebar anchors every 6'          | Secures foundation perimeter    |</a:t>
            </a:r>
          </a:p>
          <a:p>
            <a:r>
              <a:rPr lang="en-US" sz="11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| Retaining structures | Build concrete curb/block wall on lower edge | Prevents downhill slippage      |</a:t>
            </a:r>
          </a:p>
          <a:p>
            <a:r>
              <a:rPr lang="en-US" sz="11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| Soil nails           | 1/2" steel rebars grouted into slope         | Adds shear resistance           |</a:t>
            </a:r>
          </a:p>
          <a:p>
            <a:endParaRPr lang="en-US" sz="1400" dirty="0"/>
          </a:p>
          <a:p>
            <a:r>
              <a:rPr lang="en-US" sz="1400" dirty="0"/>
              <a:t>3. Gravel Locking Layer -  Install geocell panels (</a:t>
            </a:r>
            <a:r>
              <a:rPr lang="en-US" sz="1400" dirty="0" err="1"/>
              <a:t>BaseCore</a:t>
            </a:r>
            <a:r>
              <a:rPr lang="en-US" sz="1400" dirty="0"/>
              <a:t> HD or TRUEGRID) over base gravel. Fill cells with 20mm angular gravel, compacting to create interlocked surface; Cap with 4" layer of finer crushed stone (5-10mm) for smooth finish. </a:t>
            </a:r>
          </a:p>
          <a:p>
            <a:endParaRPr lang="en-US" sz="1400" dirty="0"/>
          </a:p>
          <a:p>
            <a:r>
              <a:rPr lang="en-US" sz="1400" dirty="0"/>
              <a:t>4. Cement Plate Installation - Pour 6" reinforced concrete slabs (4000psi mix) with: 6×6 W2.9 welded wire mesh at mid-depth;  ½" rebar dowels extending 18" into slope every 4'; Expansion joints every 10' with sealant; Texture surface with broom finish for water runoff</a:t>
            </a:r>
          </a:p>
          <a:p>
            <a:endParaRPr lang="en-US" sz="1400" dirty="0"/>
          </a:p>
          <a:p>
            <a:r>
              <a:rPr lang="en-US" sz="1400" dirty="0"/>
              <a:t>Critical Drainage Features</a:t>
            </a:r>
          </a:p>
          <a:p>
            <a:r>
              <a:rPr lang="en-US" sz="1400" dirty="0"/>
              <a:t>•   Crowned surface: 2% cross-slope minimum for water runoff</a:t>
            </a:r>
          </a:p>
          <a:p>
            <a:r>
              <a:rPr lang="en-US" sz="1400" dirty="0"/>
              <a:t>•   French drains: Perforated PVC pipes in gravel trenches along edges</a:t>
            </a:r>
          </a:p>
          <a:p>
            <a:r>
              <a:rPr lang="en-US" sz="1400" dirty="0"/>
              <a:t>•   Check dams: Concrete barriers every 15m on steeper sections</a:t>
            </a:r>
          </a:p>
        </p:txBody>
      </p:sp>
    </p:spTree>
    <p:extLst>
      <p:ext uri="{BB962C8B-B14F-4D97-AF65-F5344CB8AC3E}">
        <p14:creationId xmlns:p14="http://schemas.microsoft.com/office/powerpoint/2010/main" val="412915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2221</TotalTime>
  <Words>1061</Words>
  <Application>Microsoft Macintosh PowerPoint</Application>
  <PresentationFormat>Widescreen</PresentationFormat>
  <Paragraphs>129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Google Sans</vt:lpstr>
      <vt:lpstr>Google Sans Text</vt:lpstr>
      <vt:lpstr>Menlo</vt:lpstr>
      <vt:lpstr>system-ui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122</cp:revision>
  <dcterms:created xsi:type="dcterms:W3CDTF">2022-05-02T00:38:22Z</dcterms:created>
  <dcterms:modified xsi:type="dcterms:W3CDTF">2026-06-30T19:22:14Z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2022-05-02T00:38:23Z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24169d7b-7067-4cc0-93f0-4d109a136a7c</vt:lpwstr>
  </property>
  <property fmtid="{D5CDD505-2E9C-101B-9397-08002B2CF9AE}" pid="8" name="MSIP_Label_4f518368-b969-4042-91d9-8939bd921da2_ContentBits">
    <vt:lpwstr>0</vt:lpwstr>
  </property>
</Properties>
</file>