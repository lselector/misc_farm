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2" r:id="rId3"/>
    <p:sldId id="26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49"/>
    <p:restoredTop sz="94762"/>
  </p:normalViewPr>
  <p:slideViewPr>
    <p:cSldViewPr snapToGrid="0" snapToObjects="1">
      <p:cViewPr varScale="1">
        <p:scale>
          <a:sx n="121" d="100"/>
          <a:sy n="121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8DD0-F5B2-15C1-96C2-359AABC4B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889-D132-4397-0547-895A6BD2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E4CA-9799-18AE-D4BA-5EFDB262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8/26/22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B017-65CA-D094-EA2F-FAFBC1BF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27274-3826-028B-64DD-856AA98C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12F-3D3D-6A09-2E35-EAD0C90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E21-870B-193E-8931-72FD7C38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93E1-1A44-D49B-EE6B-0C6F2140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8/26/22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64A9-6EAD-6647-B6CB-F24B6F70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6CF0-740D-F941-2552-93AF0220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6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D88C-E684-0092-0D27-0A9FFD17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D4E3-9349-5B4E-DEFB-7ADB2292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3B29-2069-185B-154E-83B43279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8/26/22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DB26-E691-EBF7-87CA-8BD4D97E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FEAD-6332-0882-351E-3AD7AFFF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FA89-7A8C-2BF1-56CD-508B1E3A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1508-596D-D8B8-26A5-1B6CEF8D4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1378C-B8B8-D5FE-0A75-376AA5292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08E7F-3616-927D-844D-CBA72BC6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8/26/22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E9C8-FE23-8D40-43FF-7818A02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E8D37-47EA-3C05-517B-2F85706E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0495-D3B5-8FE7-8A3A-C5B2727B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AB79-3B1C-0ED7-23AF-4A8ADD42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6335-12A0-B132-55DA-56997016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792DF-BF6E-04E5-BFF5-08BD5B478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D652-4C1F-B377-280F-5B572A11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AB3D8-A558-F32C-0F6C-8E229513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8/26/22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19288-AD7A-3282-E5DF-333FFFC4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91949-9DF7-7EFE-416F-D6305FF0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3D81-55BB-5F96-1196-26A57034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9AC36-FAC6-A4C4-5460-EEAEC1B5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8/26/22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B1433-EF97-53CD-FFA5-599DF825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68FD2-26E5-FFE6-4ACD-83B09598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D5769-FB8F-7676-6B25-5EBA32B2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8/26/22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92E3F-F71A-D744-45DE-85B27103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25D8-219F-7305-3844-4703C5E5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D570-06BE-22E1-B810-4D69936F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EFE4-BB75-6E65-2899-3703E92E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B9C2-F3DB-B576-224D-3FDA3DDF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24BA-FA14-81E6-46BF-4DC0ACFE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8/26/22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CD7B-C82D-408A-896E-02E718FB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12BD-21E4-1209-4294-DF6CA4FB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B197-43DE-26A9-FBD5-F922DB56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9AB21-2CEA-875A-6CBF-75B078D3A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183E7-34CA-DF9E-984A-60638007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D1642-EBDC-1BB8-58FC-14A4C3AC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8/26/22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60FC4-1F32-B58B-D652-941B433D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C0798-2750-3A94-2B3A-695DA7AB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7D9F-C985-C4AB-ED45-B78B858B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AC969-2D60-1CB3-6799-FB9ED2553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8186-263E-FD4A-53F8-A165DADB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8/26/22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15FA-BCCC-2ABC-ACA2-5E0C6CEF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03C4-A76D-7A84-168E-060D2B06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B02FF-EECD-334D-5725-B39C40CD3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68F00-C914-3B13-0367-6D812928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A78-ED9B-3691-96EB-5C0EB704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8/26/22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0378-2403-D8A8-54CC-05A3BEE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54D63-4319-317A-696B-C3EA4B47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58682-75F9-C5EA-F27F-548F0630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A268-0258-C17B-1F8F-68BA2735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A94D-D8D6-D318-7837-4C19ED151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86276-9013-2A43-82D1-BA4685C95117}" type="datetimeFigureOut">
              <a:t>8/26/22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65C9-1B5B-5F28-B659-EB418FAC6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0E21-0F36-45EE-1A56-BB99C66DA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familyhandyman.com/list/best-riding-lawnmowers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deere.com/en/campaigns/ag-turf/mower-decks/mulching-mower-decks/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www.deere.com/en/mowers/lawn-tractors/x300-series/x350-lawn-tractor-48-in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j5_tsp1cQeI" TargetMode="External"/><Relationship Id="rId5" Type="http://schemas.openxmlformats.org/officeDocument/2006/relationships/hyperlink" Target="https://www.deere.com/en/attachments-accessories-and-implements/attachments-search-tool/#/detail/LPSTS42JD" TargetMode="External"/><Relationship Id="rId10" Type="http://schemas.openxmlformats.org/officeDocument/2006/relationships/image" Target="../media/image9.png"/><Relationship Id="rId4" Type="http://schemas.openxmlformats.org/officeDocument/2006/relationships/hyperlink" Target="https://www.deere.com/en/attachments-accessories-and-implements/riding-mower-attachments/" TargetMode="External"/><Relationship Id="rId9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ww.tractordata.com/lawn-tractors/000/0/4/43-john-deere-425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hyperlink" Target="https://www.youtube.com/watch?v=eQMdzvXnxpg" TargetMode="External"/><Relationship Id="rId7" Type="http://schemas.openxmlformats.org/officeDocument/2006/relationships/image" Target="../media/image14.png"/><Relationship Id="rId2" Type="http://schemas.openxmlformats.org/officeDocument/2006/relationships/hyperlink" Target="https://www.toro.com/en/professional-contractor/commercial-mowers/6000-series-60-38-hp-999cc-horizon-technology-72946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hyperlink" Target="https://www.wrightmfg.com/download/sales/pricing/Wright_Power_MSRP_2023_Rev02_2022_06_22a.pdf" TargetMode="External"/><Relationship Id="rId4" Type="http://schemas.openxmlformats.org/officeDocument/2006/relationships/image" Target="../media/image12.png"/><Relationship Id="rId9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deere.com/en/mowers/commercial-mowers/commercial-zero-turn-ztrak-mowers/z970r-mower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arcolawn.com/products/pro-z-960-s-kw-steering-wheel-commercial-zero-turn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gp/product/B07KMX858N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hyperlink" Target="https://www.amazon.com/dp/B08R95SSTJ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xioutdoorpower.com/beast-22-hp-100-in-tow-behind-mower-convertible-into-a-52-in-finish-cut-or-brush-mower-powered-by-a-22-hp-subaru-engine-not-sold-in-california-reconditioned/" TargetMode="External"/><Relationship Id="rId3" Type="http://schemas.openxmlformats.org/officeDocument/2006/relationships/hyperlink" Target="https://www.mowersdirect.com/Earthquake-RC4432/p70906.html" TargetMode="External"/><Relationship Id="rId7" Type="http://schemas.openxmlformats.org/officeDocument/2006/relationships/image" Target="../media/image38.png"/><Relationship Id="rId2" Type="http://schemas.openxmlformats.org/officeDocument/2006/relationships/hyperlink" Target="https://www.drpower.com/Power-Equipment/Field-%26-Brush-Mowers-/Tow-Behind/DR-Field-and-Brush-Mower/p/TB23044BEN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hyperlink" Target="https://meg-mo.com/" TargetMode="External"/><Relationship Id="rId7" Type="http://schemas.openxmlformats.org/officeDocument/2006/relationships/hyperlink" Target="https://www.greenpartstore.com/John-Deere-Blade-Bolt-19M7788.html" TargetMode="Externa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rtscatalog.deere.com/jdrc/sidebyside/equipment/78976/referrer/navigation/pgId/2341197" TargetMode="External"/><Relationship Id="rId5" Type="http://schemas.openxmlformats.org/officeDocument/2006/relationships/hyperlink" Target="https://partscatalog.deere.com/jdrc/navigation/equipment/78976" TargetMode="External"/><Relationship Id="rId10" Type="http://schemas.openxmlformats.org/officeDocument/2006/relationships/image" Target="../media/image43.png"/><Relationship Id="rId4" Type="http://schemas.openxmlformats.org/officeDocument/2006/relationships/hyperlink" Target="https://partscatalog.deere.com/jdrc/navigation/equipment/73515" TargetMode="External"/><Relationship Id="rId9" Type="http://schemas.openxmlformats.org/officeDocument/2006/relationships/hyperlink" Target="https://www.amazon.com/LEXIVON-2-Inch-Torque-13-6-203-5-LX-183/dp/B07MP1Q3W8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WIVh1qrUUAY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352B1D-F2C0-956D-3A24-EFE98AE0B887}"/>
              </a:ext>
            </a:extLst>
          </p:cNvPr>
          <p:cNvSpPr txBox="1"/>
          <p:nvPr/>
        </p:nvSpPr>
        <p:spPr>
          <a:xfrm>
            <a:off x="0" y="0"/>
            <a:ext cx="4929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Riding Lawn Mower ($3-$4K)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F039BD-762A-4617-DEDD-4E4C33E7409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851" y="1050714"/>
            <a:ext cx="1666813" cy="12174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148297-7342-0443-B1B2-59A98289A78C}"/>
              </a:ext>
            </a:extLst>
          </p:cNvPr>
          <p:cNvSpPr txBox="1"/>
          <p:nvPr/>
        </p:nvSpPr>
        <p:spPr>
          <a:xfrm>
            <a:off x="308578" y="2268125"/>
            <a:ext cx="25622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John Deere S100</a:t>
            </a:r>
          </a:p>
          <a:p>
            <a:pPr algn="ctr"/>
            <a:r>
              <a:rPr lang="en-US" sz="1400" b="1">
                <a:solidFill>
                  <a:srgbClr val="FF0000"/>
                </a:solidFill>
              </a:rPr>
              <a:t>Gas</a:t>
            </a:r>
            <a:r>
              <a:rPr lang="en-US" sz="1400"/>
              <a:t> Hydrostatic Lawn Tractor </a:t>
            </a:r>
          </a:p>
          <a:p>
            <a:pPr algn="ctr"/>
            <a:r>
              <a:rPr lang="en-US" sz="1400"/>
              <a:t>42 in. 17.5 HP </a:t>
            </a:r>
          </a:p>
          <a:p>
            <a:pPr algn="ctr"/>
            <a:r>
              <a:rPr lang="en-US" sz="1400"/>
              <a:t>$2,300 at Home Depot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C6760-9CE3-D80F-36F6-16D0E7FB4CBB}"/>
              </a:ext>
            </a:extLst>
          </p:cNvPr>
          <p:cNvSpPr txBox="1"/>
          <p:nvPr/>
        </p:nvSpPr>
        <p:spPr>
          <a:xfrm>
            <a:off x="9827235" y="5600654"/>
            <a:ext cx="26574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Ryobi RY48111</a:t>
            </a:r>
          </a:p>
          <a:p>
            <a:pPr algn="ctr"/>
            <a:r>
              <a:rPr lang="en-US" sz="1400" b="1">
                <a:solidFill>
                  <a:srgbClr val="FF0000"/>
                </a:solidFill>
              </a:rPr>
              <a:t>Electric</a:t>
            </a:r>
            <a:r>
              <a:rPr lang="en-US" sz="1400"/>
              <a:t> Engine  </a:t>
            </a:r>
            <a:br>
              <a:rPr lang="en-US" sz="1400"/>
            </a:br>
            <a:r>
              <a:rPr lang="en-US" sz="1400"/>
              <a:t>38 inches </a:t>
            </a:r>
            <a:br>
              <a:rPr lang="en-US" sz="1400"/>
            </a:br>
            <a:r>
              <a:rPr lang="en-US" sz="1400"/>
              <a:t>100 Ah Battery </a:t>
            </a:r>
          </a:p>
          <a:p>
            <a:pPr algn="ctr"/>
            <a:r>
              <a:rPr lang="en-US" sz="1400"/>
              <a:t>$2,700 at Home Depot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B0057E-E2CD-9AD1-8788-847A0CFABD5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84219" y="4130245"/>
            <a:ext cx="1268100" cy="12609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E5A6EC-3DFF-3082-4CE6-C0220CA1EB87}"/>
              </a:ext>
            </a:extLst>
          </p:cNvPr>
          <p:cNvSpPr txBox="1"/>
          <p:nvPr/>
        </p:nvSpPr>
        <p:spPr>
          <a:xfrm>
            <a:off x="0" y="456158"/>
            <a:ext cx="5127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hlinkClick r:id="rId4"/>
              </a:rPr>
              <a:t>https://www.familyhandyman.com/list/best-riding-lawnmowers/</a:t>
            </a:r>
            <a:endParaRPr lang="en-US" sz="1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6B86A6-9D1C-668C-3304-7B2CC4798B7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6439" y="1236319"/>
            <a:ext cx="2043371" cy="1275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ABF657-7FE2-E6F5-9086-B93E0FB73E66}"/>
              </a:ext>
            </a:extLst>
          </p:cNvPr>
          <p:cNvSpPr txBox="1"/>
          <p:nvPr/>
        </p:nvSpPr>
        <p:spPr>
          <a:xfrm>
            <a:off x="3976439" y="2514044"/>
            <a:ext cx="20433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Husqvarna TS 248XD</a:t>
            </a:r>
            <a:br>
              <a:rPr lang="en-US" sz="1400"/>
            </a:br>
            <a:r>
              <a:rPr lang="en-US" sz="1400"/>
              <a:t>Lawn Tractor </a:t>
            </a:r>
          </a:p>
          <a:p>
            <a:pPr algn="ctr"/>
            <a:r>
              <a:rPr lang="en-US" sz="1400"/>
              <a:t>$3,600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CE6A28-780B-0A4E-B235-D0B43BAF611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578" y="3485536"/>
            <a:ext cx="3389697" cy="2344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DB2FA5-C982-B6CF-204D-A3F055EB23D0}"/>
              </a:ext>
            </a:extLst>
          </p:cNvPr>
          <p:cNvSpPr txBox="1"/>
          <p:nvPr/>
        </p:nvSpPr>
        <p:spPr>
          <a:xfrm>
            <a:off x="851547" y="5878622"/>
            <a:ext cx="2303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John Deere Lawn Tractor </a:t>
            </a:r>
          </a:p>
          <a:p>
            <a:pPr algn="ctr"/>
            <a:r>
              <a:rPr lang="en-US" sz="1400"/>
              <a:t>with sweeper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A23FB2-85EF-9708-4179-408B078EF6B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45821" y="1181694"/>
            <a:ext cx="1698734" cy="13297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0EA8F6-40B7-08D2-0B9E-531EF56547F7}"/>
              </a:ext>
            </a:extLst>
          </p:cNvPr>
          <p:cNvSpPr txBox="1"/>
          <p:nvPr/>
        </p:nvSpPr>
        <p:spPr>
          <a:xfrm>
            <a:off x="7773502" y="2717423"/>
            <a:ext cx="2043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cub cadet lawn mower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C403C-15DE-277D-069E-53EA4631260B}"/>
              </a:ext>
            </a:extLst>
          </p:cNvPr>
          <p:cNvSpPr txBox="1"/>
          <p:nvPr/>
        </p:nvSpPr>
        <p:spPr>
          <a:xfrm>
            <a:off x="4845269" y="3657600"/>
            <a:ext cx="2638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Husqvarna YTA24V48 and the Cub Cadet XT1 LT42</a:t>
            </a:r>
          </a:p>
        </p:txBody>
      </p:sp>
    </p:spTree>
    <p:extLst>
      <p:ext uri="{BB962C8B-B14F-4D97-AF65-F5344CB8AC3E}">
        <p14:creationId xmlns:p14="http://schemas.microsoft.com/office/powerpoint/2010/main" val="2531720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38FDC5-E8CF-CA01-2DF8-CD8817BF907D}"/>
              </a:ext>
            </a:extLst>
          </p:cNvPr>
          <p:cNvSpPr txBox="1"/>
          <p:nvPr/>
        </p:nvSpPr>
        <p:spPr>
          <a:xfrm>
            <a:off x="-1" y="0"/>
            <a:ext cx="6621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John Deere Lawn Mowers - comparison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0BC1DD7-7557-8989-C17A-EFD848286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057947"/>
              </p:ext>
            </p:extLst>
          </p:nvPr>
        </p:nvGraphicFramePr>
        <p:xfrm>
          <a:off x="380726" y="1132840"/>
          <a:ext cx="7463112" cy="4592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65778">
                  <a:extLst>
                    <a:ext uri="{9D8B030D-6E8A-4147-A177-3AD203B41FA5}">
                      <a16:colId xmlns:a16="http://schemas.microsoft.com/office/drawing/2014/main" val="4254233299"/>
                    </a:ext>
                  </a:extLst>
                </a:gridCol>
                <a:gridCol w="1865778">
                  <a:extLst>
                    <a:ext uri="{9D8B030D-6E8A-4147-A177-3AD203B41FA5}">
                      <a16:colId xmlns:a16="http://schemas.microsoft.com/office/drawing/2014/main" val="386650388"/>
                    </a:ext>
                  </a:extLst>
                </a:gridCol>
                <a:gridCol w="1865778">
                  <a:extLst>
                    <a:ext uri="{9D8B030D-6E8A-4147-A177-3AD203B41FA5}">
                      <a16:colId xmlns:a16="http://schemas.microsoft.com/office/drawing/2014/main" val="1852379895"/>
                    </a:ext>
                  </a:extLst>
                </a:gridCol>
                <a:gridCol w="1865778">
                  <a:extLst>
                    <a:ext uri="{9D8B030D-6E8A-4147-A177-3AD203B41FA5}">
                      <a16:colId xmlns:a16="http://schemas.microsoft.com/office/drawing/2014/main" val="39310870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580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3.3K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985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18.5HP, 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v-twin cylindrical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22HP, </a:t>
                      </a:r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v-twin cylindrical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21.5HP iTorque 2-cyl gasoline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366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Cutting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42", cuts evenly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42", cuts evenly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956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Frame strength and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strong</a:t>
                      </a: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361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18" turning radius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16" turning radius, very low-effort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16" turning radius, very low-effort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945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Fuel tank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9.1 liter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12.5 liter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12.5 liter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925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Main differences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Cheaper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Better for bigger area, bigger tank, better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Better for bigger area, bigger tank, better protection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0284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9BC6E4B-C48B-2B0A-9099-85F7C592AFD0}"/>
              </a:ext>
            </a:extLst>
          </p:cNvPr>
          <p:cNvSpPr txBox="1"/>
          <p:nvPr/>
        </p:nvSpPr>
        <p:spPr>
          <a:xfrm>
            <a:off x="8101013" y="523220"/>
            <a:ext cx="3800475" cy="59093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Mullally Tractor Sales</a:t>
            </a:r>
          </a:p>
          <a:p>
            <a:r>
              <a:rPr lang="en-US"/>
              <a:t>16 miles, deliver</a:t>
            </a:r>
          </a:p>
          <a:p>
            <a:r>
              <a:rPr lang="en-US"/>
              <a:t>M-F, Sat 8-5, Sun 8-12</a:t>
            </a:r>
          </a:p>
          <a:p>
            <a:r>
              <a:rPr lang="en-US"/>
              <a:t>4510 NY-52, Jeffersonville, NY 12748</a:t>
            </a:r>
          </a:p>
          <a:p>
            <a:r>
              <a:rPr lang="en-US"/>
              <a:t>Phone: (845) 482-5222</a:t>
            </a:r>
          </a:p>
          <a:p>
            <a:endParaRPr lang="en-US"/>
          </a:p>
          <a:p>
            <a:r>
              <a:rPr lang="en-US"/>
              <a:t>Lindsey Equipment</a:t>
            </a:r>
          </a:p>
          <a:p>
            <a:r>
              <a:rPr lang="en-US"/>
              <a:t>27.4 miles</a:t>
            </a:r>
          </a:p>
          <a:p>
            <a:r>
              <a:rPr lang="en-US"/>
              <a:t>M-F 8-5, Sat 8-12, Sun closed</a:t>
            </a:r>
          </a:p>
          <a:p>
            <a:r>
              <a:rPr lang="en-US"/>
              <a:t>237 Sunrise Avenue, Honesdale, PA 18431</a:t>
            </a:r>
          </a:p>
          <a:p>
            <a:r>
              <a:rPr lang="en-US"/>
              <a:t>(570) 253-3334</a:t>
            </a:r>
          </a:p>
          <a:p>
            <a:r>
              <a:rPr lang="en-US"/>
              <a:t>in-store pickup only</a:t>
            </a:r>
          </a:p>
          <a:p>
            <a:endParaRPr lang="en-US"/>
          </a:p>
          <a:p>
            <a:r>
              <a:rPr lang="en-US"/>
              <a:t>Delaware Sport Center LLC</a:t>
            </a:r>
          </a:p>
          <a:p>
            <a:r>
              <a:rPr lang="en-US"/>
              <a:t>27.8 miles</a:t>
            </a:r>
          </a:p>
          <a:p>
            <a:r>
              <a:rPr lang="en-US"/>
              <a:t>M-F 8-5, Sat 8-2pm, Sun closed</a:t>
            </a:r>
          </a:p>
          <a:p>
            <a:r>
              <a:rPr lang="en-US"/>
              <a:t>30104 State Highway 10, Walton, NY 13856</a:t>
            </a:r>
          </a:p>
          <a:p>
            <a:r>
              <a:rPr lang="en-US"/>
              <a:t>(607) 865-8888</a:t>
            </a:r>
          </a:p>
          <a:p>
            <a:r>
              <a:rPr lang="en-US"/>
              <a:t>in-store pickup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DAEA6-1675-8E37-185B-FC03B1A818BA}"/>
              </a:ext>
            </a:extLst>
          </p:cNvPr>
          <p:cNvSpPr txBox="1"/>
          <p:nvPr/>
        </p:nvSpPr>
        <p:spPr>
          <a:xfrm>
            <a:off x="3241964" y="62761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48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EEEBCE-232E-6C2F-8EDE-089E31D95417}"/>
              </a:ext>
            </a:extLst>
          </p:cNvPr>
          <p:cNvSpPr txBox="1"/>
          <p:nvPr/>
        </p:nvSpPr>
        <p:spPr>
          <a:xfrm>
            <a:off x="4424767" y="676827"/>
            <a:ext cx="770265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21.5-hp (16.0-kW)* iTorque™ Power System</a:t>
            </a:r>
          </a:p>
          <a:p>
            <a:r>
              <a:rPr lang="en-US" sz="1400"/>
              <a:t>48-in. (122 cm) Accel™ Deep Deck, </a:t>
            </a:r>
            <a:br>
              <a:rPr lang="en-US" sz="1400"/>
            </a:br>
            <a:r>
              <a:rPr lang="en-US" sz="1400"/>
              <a:t>MulchControl™ kit (close side door to cut grass and mulch it instead of throwing it to the side)</a:t>
            </a:r>
          </a:p>
          <a:p>
            <a:r>
              <a:rPr lang="en-US" sz="1400"/>
              <a:t>Twin Touch™ forward and reverse foot pedals</a:t>
            </a:r>
          </a:p>
          <a:p>
            <a:r>
              <a:rPr lang="en-US" sz="1400"/>
              <a:t>4 year/300 hour bumper-to-bumper warranty</a:t>
            </a:r>
          </a:p>
          <a:p>
            <a:r>
              <a:rPr lang="en-US" sz="1400" b="1">
                <a:solidFill>
                  <a:srgbClr val="FF0000"/>
                </a:solidFill>
              </a:rPr>
              <a:t>X350: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2"/>
              </a:rPr>
              <a:t>https://www.deere.com/en/mowers/lawn-tractors/x300-series/x350-lawn-tractor-48-in/</a:t>
            </a:r>
            <a:r>
              <a:rPr lang="en-US" sz="1400"/>
              <a:t> </a:t>
            </a:r>
          </a:p>
          <a:p>
            <a:r>
              <a:rPr lang="en-US" sz="1400" b="1">
                <a:solidFill>
                  <a:srgbClr val="FF0000"/>
                </a:solidFill>
              </a:rPr>
              <a:t>MulchControl™ Kit:</a:t>
            </a:r>
          </a:p>
          <a:p>
            <a:r>
              <a:rPr lang="en-US" sz="1400"/>
              <a:t>.. </a:t>
            </a:r>
            <a:r>
              <a:rPr lang="en-US" sz="1400">
                <a:hlinkClick r:id="rId3"/>
              </a:rPr>
              <a:t>https://www.deere.com/en/campaigns/ag-turf/mower-decks/mulching-mower-decks/</a:t>
            </a:r>
            <a:r>
              <a:rPr lang="en-US" sz="1400"/>
              <a:t> </a:t>
            </a:r>
          </a:p>
          <a:p>
            <a:r>
              <a:rPr lang="en-US" sz="1400" b="1">
                <a:solidFill>
                  <a:srgbClr val="FF0000"/>
                </a:solidFill>
              </a:rPr>
              <a:t>Attachments:</a:t>
            </a:r>
          </a:p>
          <a:p>
            <a:r>
              <a:rPr lang="en-US" sz="1400"/>
              <a:t>.. </a:t>
            </a:r>
            <a:r>
              <a:rPr lang="en-US" sz="1400">
                <a:hlinkClick r:id="rId4"/>
              </a:rPr>
              <a:t>https://www.deere.com/en/attachments-accessories-and-implements/riding-mower-attachments/</a:t>
            </a:r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Lawn Sweeper 42" $580:</a:t>
            </a:r>
          </a:p>
          <a:p>
            <a:r>
              <a:rPr lang="en-US" sz="1400"/>
              <a:t>.. </a:t>
            </a:r>
            <a:r>
              <a:rPr lang="en-US" sz="1400">
                <a:hlinkClick r:id="rId5"/>
              </a:rPr>
              <a:t>https://www.deere.com/en/attachments-accessories-and-implements/attachments-search-tool/#/detail/LPSTS42JD</a:t>
            </a:r>
            <a:r>
              <a:rPr lang="en-US" sz="1400"/>
              <a:t>. </a:t>
            </a:r>
          </a:p>
          <a:p>
            <a:r>
              <a:rPr lang="en-US" sz="1400" b="1">
                <a:solidFill>
                  <a:srgbClr val="FF0000"/>
                </a:solidFill>
              </a:rPr>
              <a:t>X350 cuts tall grass (video):</a:t>
            </a:r>
          </a:p>
          <a:p>
            <a:r>
              <a:rPr lang="en-US" sz="1400"/>
              <a:t>.. </a:t>
            </a:r>
            <a:r>
              <a:rPr lang="en-US" sz="1400">
                <a:hlinkClick r:id="rId6"/>
              </a:rPr>
              <a:t>https://www.youtube.com/watch?v=j5_tsp1cQeI</a:t>
            </a:r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09C21D-7C03-37AE-3F1D-D57236058B2B}"/>
              </a:ext>
            </a:extLst>
          </p:cNvPr>
          <p:cNvSpPr txBox="1"/>
          <p:nvPr/>
        </p:nvSpPr>
        <p:spPr>
          <a:xfrm>
            <a:off x="-18726" y="-42322"/>
            <a:ext cx="7702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John Deere X350 Lawn Tractor with 48-inch Deck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7D5847-BCA2-F77D-0532-C634285A90E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694" y="864762"/>
            <a:ext cx="3188854" cy="27248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0D6988-D70E-3DD8-2588-94E22FCB0FD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694" y="3914096"/>
            <a:ext cx="2766448" cy="1712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4FB767-DD5C-A94F-8F62-B724953F3FFE}"/>
              </a:ext>
            </a:extLst>
          </p:cNvPr>
          <p:cNvSpPr txBox="1"/>
          <p:nvPr/>
        </p:nvSpPr>
        <p:spPr>
          <a:xfrm>
            <a:off x="122695" y="5631722"/>
            <a:ext cx="28528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Accel Deep™ Mower Deck (included)</a:t>
            </a:r>
          </a:p>
          <a:p>
            <a:r>
              <a:rPr lang="en-US" sz="1400"/>
              <a:t>Deep draw and flat-top design </a:t>
            </a:r>
          </a:p>
          <a:p>
            <a:r>
              <a:rPr lang="en-US" sz="1400"/>
              <a:t>better quality of cut </a:t>
            </a:r>
          </a:p>
          <a:p>
            <a:r>
              <a:rPr lang="en-US" sz="1400"/>
              <a:t>at faster ground speeds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7C6EE1-E267-40B8-EFDC-D6D8CBC50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80350" y="4205227"/>
            <a:ext cx="1695450" cy="113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1865E2-A975-5500-62BD-ECB0A4F6801C}"/>
              </a:ext>
            </a:extLst>
          </p:cNvPr>
          <p:cNvSpPr txBox="1"/>
          <p:nvPr/>
        </p:nvSpPr>
        <p:spPr>
          <a:xfrm>
            <a:off x="3240439" y="673809"/>
            <a:ext cx="118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$4,500.00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97BF6C-CF7F-927B-F152-7657C9335272}"/>
              </a:ext>
            </a:extLst>
          </p:cNvPr>
          <p:cNvSpPr txBox="1"/>
          <p:nvPr/>
        </p:nvSpPr>
        <p:spPr>
          <a:xfrm>
            <a:off x="11075800" y="4401046"/>
            <a:ext cx="99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$580.00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E4F659-A762-AFCF-BB9F-2FB9FC16123C}"/>
              </a:ext>
            </a:extLst>
          </p:cNvPr>
          <p:cNvSpPr txBox="1"/>
          <p:nvPr/>
        </p:nvSpPr>
        <p:spPr>
          <a:xfrm>
            <a:off x="3512712" y="5335527"/>
            <a:ext cx="2937555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Mulch</a:t>
            </a:r>
            <a:r>
              <a:rPr lang="en-US" sz="1400"/>
              <a:t> = a layer of (organic) material</a:t>
            </a:r>
          </a:p>
          <a:p>
            <a:r>
              <a:rPr lang="en-US" sz="1400"/>
              <a:t>applied to the surface of soil</a:t>
            </a:r>
          </a:p>
          <a:p>
            <a:endParaRPr lang="en-US" sz="1400"/>
          </a:p>
          <a:p>
            <a:r>
              <a:rPr lang="en-US" sz="1400" b="1">
                <a:solidFill>
                  <a:srgbClr val="FF0000"/>
                </a:solidFill>
              </a:rPr>
              <a:t>Mulching</a:t>
            </a:r>
            <a:r>
              <a:rPr lang="en-US" sz="1400"/>
              <a:t> = spreading a layer of (cut)</a:t>
            </a:r>
          </a:p>
          <a:p>
            <a:r>
              <a:rPr lang="en-US" sz="1400"/>
              <a:t>material on the ground around plants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F45E0D-9F90-08FE-7E04-6046EA2A3837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6958" y="5113852"/>
            <a:ext cx="2311400" cy="1612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18FD9A-E0D2-1D18-73BA-D7BA69171E9A}"/>
              </a:ext>
            </a:extLst>
          </p:cNvPr>
          <p:cNvSpPr txBox="1"/>
          <p:nvPr/>
        </p:nvSpPr>
        <p:spPr>
          <a:xfrm>
            <a:off x="10339587" y="5366427"/>
            <a:ext cx="847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sweeper</a:t>
            </a:r>
          </a:p>
        </p:txBody>
      </p:sp>
    </p:spTree>
    <p:extLst>
      <p:ext uri="{BB962C8B-B14F-4D97-AF65-F5344CB8AC3E}">
        <p14:creationId xmlns:p14="http://schemas.microsoft.com/office/powerpoint/2010/main" val="308261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170C2-C55C-F926-847D-CE9811CB83B6}"/>
              </a:ext>
            </a:extLst>
          </p:cNvPr>
          <p:cNvSpPr txBox="1"/>
          <p:nvPr/>
        </p:nvSpPr>
        <p:spPr>
          <a:xfrm>
            <a:off x="-1" y="0"/>
            <a:ext cx="4942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John Deere 425 (and 445)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FCE01-521A-5BFC-274E-0CED7BE03889}"/>
              </a:ext>
            </a:extLst>
          </p:cNvPr>
          <p:cNvSpPr txBox="1"/>
          <p:nvPr/>
        </p:nvSpPr>
        <p:spPr>
          <a:xfrm>
            <a:off x="203372" y="751724"/>
            <a:ext cx="412330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1992 - 2001</a:t>
            </a:r>
          </a:p>
          <a:p>
            <a:r>
              <a:rPr lang="en-US" sz="1400"/>
              <a:t>Built in Horicon, Wisconsin, USA</a:t>
            </a:r>
          </a:p>
          <a:p>
            <a:r>
              <a:rPr lang="en-US" sz="1400"/>
              <a:t>Original price was $8,995 in 1995</a:t>
            </a:r>
          </a:p>
          <a:p>
            <a:r>
              <a:rPr lang="en-US" sz="1400"/>
              <a:t>Engine: 20HP Kawasaki 617cc 2-cyl gasoline</a:t>
            </a:r>
          </a:p>
          <a:p>
            <a:r>
              <a:rPr lang="en-US" sz="1400"/>
              <a:t>   carburetor</a:t>
            </a:r>
          </a:p>
          <a:p>
            <a:r>
              <a:rPr lang="en-US" sz="1400"/>
              <a:t>   (model 445 has 22 hp and fuel injection)</a:t>
            </a:r>
          </a:p>
          <a:p>
            <a:r>
              <a:rPr lang="en-US" sz="1400"/>
              <a:t>Fuel tank: 6.5 gal</a:t>
            </a:r>
          </a:p>
          <a:p>
            <a:r>
              <a:rPr lang="en-US" sz="1400"/>
              <a:t>Transmission: hydrostatic</a:t>
            </a:r>
          </a:p>
          <a:p>
            <a:r>
              <a:rPr lang="en-US" sz="1400"/>
              <a:t>Two-wheel drive, differential lock (mechanical rear)</a:t>
            </a:r>
          </a:p>
          <a:p>
            <a:r>
              <a:rPr lang="en-US" sz="1400"/>
              <a:t>Power Steering</a:t>
            </a:r>
          </a:p>
          <a:p>
            <a:endParaRPr lang="en-US" sz="1400"/>
          </a:p>
          <a:p>
            <a:r>
              <a:rPr lang="en-US" sz="1400"/>
              <a:t>425 Serial Numbers </a:t>
            </a:r>
          </a:p>
          <a:p>
            <a:r>
              <a:rPr lang="en-US" sz="1400">
                <a:hlinkClick r:id="rId2"/>
              </a:rPr>
              <a:t>https://www.tractordata.com/lawn-tractors/000/0/4/43-john-deere-425.html</a:t>
            </a:r>
            <a:endParaRPr lang="en-US" sz="1400"/>
          </a:p>
          <a:p>
            <a:r>
              <a:rPr lang="en-US" sz="1400"/>
              <a:t>Year.     First tractor</a:t>
            </a:r>
          </a:p>
          <a:p>
            <a:r>
              <a:rPr lang="en-US" sz="1400"/>
              <a:t>1993    010001</a:t>
            </a:r>
          </a:p>
          <a:p>
            <a:r>
              <a:rPr lang="en-US" sz="1400"/>
              <a:t>1994    020001</a:t>
            </a:r>
          </a:p>
          <a:p>
            <a:r>
              <a:rPr lang="en-US" sz="1400"/>
              <a:t>1995    030001     M00425A-036065</a:t>
            </a:r>
          </a:p>
          <a:p>
            <a:r>
              <a:rPr lang="en-US" sz="1400"/>
              <a:t>1996    040001</a:t>
            </a:r>
          </a:p>
          <a:p>
            <a:r>
              <a:rPr lang="en-US" sz="1400"/>
              <a:t>1997    050001</a:t>
            </a:r>
          </a:p>
          <a:p>
            <a:r>
              <a:rPr lang="en-US" sz="1400"/>
              <a:t>1998    060001</a:t>
            </a:r>
          </a:p>
          <a:p>
            <a:r>
              <a:rPr lang="en-US" sz="1400"/>
              <a:t>1999    070001</a:t>
            </a:r>
          </a:p>
          <a:p>
            <a:r>
              <a:rPr lang="en-US" sz="1400"/>
              <a:t>2000    080001</a:t>
            </a:r>
          </a:p>
          <a:p>
            <a:r>
              <a:rPr lang="en-US" sz="1400"/>
              <a:t>2001    090001</a:t>
            </a:r>
          </a:p>
        </p:txBody>
      </p:sp>
      <p:pic>
        <p:nvPicPr>
          <p:cNvPr id="1028" name="Picture 4" descr="John Deere 425 with mower and three-point hitch.">
            <a:extLst>
              <a:ext uri="{FF2B5EF4-FFF2-40B4-BE49-F238E27FC236}">
                <a16:creationId xmlns:a16="http://schemas.microsoft.com/office/drawing/2014/main" id="{D4471E49-4A8A-A73F-2713-55E07C810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00" y="261610"/>
            <a:ext cx="3816431" cy="2862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ohn Deere 425 with chains and front blade, rear view.">
            <a:extLst>
              <a:ext uri="{FF2B5EF4-FFF2-40B4-BE49-F238E27FC236}">
                <a16:creationId xmlns:a16="http://schemas.microsoft.com/office/drawing/2014/main" id="{C46AE3F6-086C-2A64-62B8-063DB3036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00" y="3231776"/>
            <a:ext cx="3816431" cy="286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724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811951-2E88-C017-207C-87D5711A4D3C}"/>
              </a:ext>
            </a:extLst>
          </p:cNvPr>
          <p:cNvSpPr txBox="1"/>
          <p:nvPr/>
        </p:nvSpPr>
        <p:spPr>
          <a:xfrm>
            <a:off x="33834" y="2800709"/>
            <a:ext cx="397646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TORO Z-MASTER (38 hp) – $17K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2"/>
              </a:rPr>
              <a:t>https://www.toro.com/en/professional-contractor/commercial-mowers/6000-series-60-38-hp-999cc-horizon-technology-72946</a:t>
            </a: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3"/>
              </a:rPr>
              <a:t>https://www.youtube.com/watch?v=eQMdzvXnxpg</a:t>
            </a:r>
            <a:endParaRPr lang="en-US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62037A-F1FF-0FD9-0601-DB5ED886C5F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576" y="621446"/>
            <a:ext cx="2375097" cy="2081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0DF7FC-32DA-4CB6-6495-FEE91BBD5B00}"/>
              </a:ext>
            </a:extLst>
          </p:cNvPr>
          <p:cNvSpPr txBox="1"/>
          <p:nvPr/>
        </p:nvSpPr>
        <p:spPr>
          <a:xfrm>
            <a:off x="1" y="0"/>
            <a:ext cx="2103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Pro Mowers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40F1A-D5F9-6D66-827B-17D913442603}"/>
              </a:ext>
            </a:extLst>
          </p:cNvPr>
          <p:cNvSpPr txBox="1"/>
          <p:nvPr/>
        </p:nvSpPr>
        <p:spPr>
          <a:xfrm>
            <a:off x="7537268" y="2951946"/>
            <a:ext cx="42151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Wright ZK (37hp, 61") - $16K price</a:t>
            </a:r>
          </a:p>
          <a:p>
            <a:r>
              <a:rPr lang="en-US" sz="1400"/>
              <a:t>model WSZK61S61E8E-49S</a:t>
            </a:r>
          </a:p>
          <a:p>
            <a:r>
              <a:rPr lang="en-US" sz="1400">
                <a:hlinkClick r:id="rId5"/>
              </a:rPr>
              <a:t>https://www.wrightmfg.com/download/sales/pricing/Wright_Power_MSRP_2023_Rev02_2022_06_22a.pdf</a:t>
            </a:r>
            <a:endParaRPr lang="en-US" sz="1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617977-AA00-8F82-7550-29406B2289B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7268" y="139670"/>
            <a:ext cx="2820719" cy="27062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98E41B-D055-5A88-57F2-469C0B63437F}"/>
              </a:ext>
            </a:extLst>
          </p:cNvPr>
          <p:cNvSpPr txBox="1"/>
          <p:nvPr/>
        </p:nvSpPr>
        <p:spPr>
          <a:xfrm>
            <a:off x="33834" y="6242835"/>
            <a:ext cx="3550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John Deere 648R Quiktrak (22hp) – $10K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F8D06D-49B0-5982-4955-5E7B396D2B8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158" y="4007319"/>
            <a:ext cx="1831636" cy="22292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DA1C04-B814-ECDB-46FE-C6C24E10EC6F}"/>
              </a:ext>
            </a:extLst>
          </p:cNvPr>
          <p:cNvSpPr txBox="1"/>
          <p:nvPr/>
        </p:nvSpPr>
        <p:spPr>
          <a:xfrm>
            <a:off x="2487898" y="13264"/>
            <a:ext cx="21031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Top 3 Stand On Mowers: 1. Ferris Z3X </a:t>
            </a:r>
          </a:p>
          <a:p>
            <a:r>
              <a:rPr lang="en-US" sz="1400"/>
              <a:t>2. Wright ZK </a:t>
            </a:r>
          </a:p>
          <a:p>
            <a:r>
              <a:rPr lang="en-US" sz="1400"/>
              <a:t>3. Scag V-Ride II</a:t>
            </a:r>
          </a:p>
        </p:txBody>
      </p:sp>
      <p:pic>
        <p:nvPicPr>
          <p:cNvPr id="1026" name="Picture 2" descr="Ferris Z3X Stand-On Mowers - OPE Reviews">
            <a:extLst>
              <a:ext uri="{FF2B5EF4-FFF2-40B4-BE49-F238E27FC236}">
                <a16:creationId xmlns:a16="http://schemas.microsoft.com/office/drawing/2014/main" id="{5D027558-3768-48C7-5996-6AB2F278F1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687786" y="144393"/>
            <a:ext cx="2522329" cy="270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4FF227-4B4B-2F70-EE80-C597426B5C86}"/>
              </a:ext>
            </a:extLst>
          </p:cNvPr>
          <p:cNvSpPr txBox="1"/>
          <p:nvPr/>
        </p:nvSpPr>
        <p:spPr>
          <a:xfrm>
            <a:off x="4792886" y="2850681"/>
            <a:ext cx="2312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Ferris Z3X (37hp, 61") - $12K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E21C2D-121A-5F4E-651F-52D05A1CCC33}"/>
              </a:ext>
            </a:extLst>
          </p:cNvPr>
          <p:cNvSpPr txBox="1"/>
          <p:nvPr/>
        </p:nvSpPr>
        <p:spPr>
          <a:xfrm>
            <a:off x="4792885" y="6342485"/>
            <a:ext cx="2744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Scag V-Ride II (37hp, 61") - $11K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83DF7FF-6325-2FFD-16E5-7369EC3DED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686888" y="3455207"/>
            <a:ext cx="2522329" cy="2878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4E5998-0470-E946-68FE-91BB8A85207C}"/>
              </a:ext>
            </a:extLst>
          </p:cNvPr>
          <p:cNvSpPr txBox="1"/>
          <p:nvPr/>
        </p:nvSpPr>
        <p:spPr>
          <a:xfrm>
            <a:off x="7885807" y="5121936"/>
            <a:ext cx="39912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Top brands for "Stand On" mowers:</a:t>
            </a:r>
          </a:p>
          <a:p>
            <a:r>
              <a:rPr lang="en-US" sz="1400"/>
              <a:t>1. (best) Wright ZK</a:t>
            </a:r>
          </a:p>
          <a:p>
            <a:r>
              <a:rPr lang="en-US" sz="1400"/>
              <a:t>2, 3, 4 – Exmark Staris, Scag Vride 2, Feris Z3X. </a:t>
            </a:r>
          </a:p>
          <a:p>
            <a:r>
              <a:rPr lang="en-US" sz="1400"/>
              <a:t>5. Cub Cadet Pro X600</a:t>
            </a:r>
          </a:p>
        </p:txBody>
      </p:sp>
    </p:spTree>
    <p:extLst>
      <p:ext uri="{BB962C8B-B14F-4D97-AF65-F5344CB8AC3E}">
        <p14:creationId xmlns:p14="http://schemas.microsoft.com/office/powerpoint/2010/main" val="311477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E6F57D-F0E7-E151-415F-89049B2357E5}"/>
              </a:ext>
            </a:extLst>
          </p:cNvPr>
          <p:cNvSpPr txBox="1"/>
          <p:nvPr/>
        </p:nvSpPr>
        <p:spPr>
          <a:xfrm>
            <a:off x="0" y="4233"/>
            <a:ext cx="6944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John Deere Z970R Zero-Turn Mower (35hp)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E4F299-0FC3-CFE2-2173-0CCDCB4BF0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3046" y="1952371"/>
            <a:ext cx="3715838" cy="35587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F1C10-DAF2-90DD-F6CC-AD59D20685F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1333" y="1952371"/>
            <a:ext cx="4217326" cy="35587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FA0F89-16B6-9E8F-5CEC-340936919D66}"/>
              </a:ext>
            </a:extLst>
          </p:cNvPr>
          <p:cNvSpPr txBox="1"/>
          <p:nvPr/>
        </p:nvSpPr>
        <p:spPr>
          <a:xfrm>
            <a:off x="86498" y="547414"/>
            <a:ext cx="4264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hlinkClick r:id="rId4"/>
              </a:rPr>
              <a:t>https://www.deere.com/en/mowers/commercial-mowers/commercial-zero-turn-ztrak-mowers/z970r-mower/</a:t>
            </a:r>
            <a:endParaRPr 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40E39-C60C-68F3-5373-6BC79AE8D653}"/>
              </a:ext>
            </a:extLst>
          </p:cNvPr>
          <p:cNvSpPr txBox="1"/>
          <p:nvPr/>
        </p:nvSpPr>
        <p:spPr>
          <a:xfrm>
            <a:off x="4498884" y="639747"/>
            <a:ext cx="1914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Base Price - $19K</a:t>
            </a:r>
          </a:p>
        </p:txBody>
      </p:sp>
    </p:spTree>
    <p:extLst>
      <p:ext uri="{BB962C8B-B14F-4D97-AF65-F5344CB8AC3E}">
        <p14:creationId xmlns:p14="http://schemas.microsoft.com/office/powerpoint/2010/main" val="328291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BA67B4-0667-4780-76C0-261A4F9892B2}"/>
              </a:ext>
            </a:extLst>
          </p:cNvPr>
          <p:cNvSpPr txBox="1"/>
          <p:nvPr/>
        </p:nvSpPr>
        <p:spPr>
          <a:xfrm>
            <a:off x="98854" y="98854"/>
            <a:ext cx="4559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Steering Wheel Zero Turn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010BC8-962F-F685-4525-3974F27F8B32}"/>
              </a:ext>
            </a:extLst>
          </p:cNvPr>
          <p:cNvSpPr txBox="1"/>
          <p:nvPr/>
        </p:nvSpPr>
        <p:spPr>
          <a:xfrm>
            <a:off x="210066" y="622074"/>
            <a:ext cx="5980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CUB CADET</a:t>
            </a:r>
            <a:br>
              <a:rPr lang="en-US" sz="1400"/>
            </a:br>
            <a:r>
              <a:rPr lang="en-US" sz="1400"/>
              <a:t>PRO Z 960 S KW Steering Wheel Commercial Zero Turn</a:t>
            </a:r>
          </a:p>
          <a:p>
            <a:r>
              <a:rPr lang="en-US" sz="1200"/>
              <a:t>.. </a:t>
            </a:r>
            <a:r>
              <a:rPr lang="en-US" sz="1200">
                <a:hlinkClick r:id="rId2"/>
              </a:rPr>
              <a:t>https://www.arcolawn.com/products/pro-z-960-s-kw-steering-wheel-commercial-zero-turn</a:t>
            </a:r>
            <a:endParaRPr lang="en-US" sz="1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AD368-D7C8-50D6-F8E3-DBDA556FC9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2429" y="1480065"/>
            <a:ext cx="45466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96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EE655C-1959-1757-47E0-4E6CC8EAC0E0}"/>
              </a:ext>
            </a:extLst>
          </p:cNvPr>
          <p:cNvSpPr txBox="1"/>
          <p:nvPr/>
        </p:nvSpPr>
        <p:spPr>
          <a:xfrm>
            <a:off x="0" y="0"/>
            <a:ext cx="3668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Brush Hog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1B499-87FE-7810-945D-DDD54106E5BC}"/>
              </a:ext>
            </a:extLst>
          </p:cNvPr>
          <p:cNvSpPr txBox="1"/>
          <p:nvPr/>
        </p:nvSpPr>
        <p:spPr>
          <a:xfrm>
            <a:off x="199696" y="573570"/>
            <a:ext cx="6936828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brush = scrub vegetation = low woody plants (between grass or heath and high forest).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Bush hogging, a.k.a. brush hogging - clearing lands of tall grass, small trees and brush.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bush hog is a rotary cutter usually attached to the back of a farm tractor using the three-point hitch and are driven via the power take-off (PTO). No belts 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bush hog has blades that are not rigidly attached to the drive like a lawnmower blade but are on hinges. This way, if the blade hits a rock or a stump, then it can bounce backward or inward. The centrifugal force will then make it go outwards again.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tractor need to have a hydraulic system and a PTO shaft</a:t>
            </a:r>
          </a:p>
        </p:txBody>
      </p:sp>
      <p:pic>
        <p:nvPicPr>
          <p:cNvPr id="1026" name="Picture 2" descr="Mower - Brush Hog - Tractor Mount - Rental-World">
            <a:extLst>
              <a:ext uri="{FF2B5EF4-FFF2-40B4-BE49-F238E27FC236}">
                <a16:creationId xmlns:a16="http://schemas.microsoft.com/office/drawing/2014/main" id="{9769C4D9-8EBB-1EC9-6FF3-3100C8932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9696" y="2824596"/>
            <a:ext cx="4859130" cy="364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move Bushhog Blades And Baseplate With No impact wrench - YouTube">
            <a:extLst>
              <a:ext uri="{FF2B5EF4-FFF2-40B4-BE49-F238E27FC236}">
                <a16:creationId xmlns:a16="http://schemas.microsoft.com/office/drawing/2014/main" id="{A8C77F7B-1AEF-A0D8-F166-B6BF7539D3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371546" y="2824596"/>
            <a:ext cx="4859131" cy="3183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abota Brush Hogging - YouTube">
            <a:extLst>
              <a:ext uri="{FF2B5EF4-FFF2-40B4-BE49-F238E27FC236}">
                <a16:creationId xmlns:a16="http://schemas.microsoft.com/office/drawing/2014/main" id="{2124B89D-7D5D-C897-04C5-C2C8CDAE3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01111" y="239423"/>
            <a:ext cx="32893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745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3DFFE4-25CC-0B67-4FDD-E9483BB17B69}"/>
              </a:ext>
            </a:extLst>
          </p:cNvPr>
          <p:cNvSpPr txBox="1"/>
          <p:nvPr/>
        </p:nvSpPr>
        <p:spPr>
          <a:xfrm>
            <a:off x="0" y="0"/>
            <a:ext cx="2199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Flail Mower</a:t>
            </a:r>
          </a:p>
        </p:txBody>
      </p:sp>
      <p:pic>
        <p:nvPicPr>
          <p:cNvPr id="2050" name="Picture 2" descr="Skid-Steer Flail Mower Attachments - Diamond Mowers®">
            <a:extLst>
              <a:ext uri="{FF2B5EF4-FFF2-40B4-BE49-F238E27FC236}">
                <a16:creationId xmlns:a16="http://schemas.microsoft.com/office/drawing/2014/main" id="{70000F55-9391-43AC-8E27-968EBF142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11548" y="33027"/>
            <a:ext cx="40386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lail Mowers">
            <a:extLst>
              <a:ext uri="{FF2B5EF4-FFF2-40B4-BE49-F238E27FC236}">
                <a16:creationId xmlns:a16="http://schemas.microsoft.com/office/drawing/2014/main" id="{4D05548C-1BB0-733E-1213-D26535EEE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00668" y="3112520"/>
            <a:ext cx="4691636" cy="351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E2C93A-8E25-862C-7C5C-463B5894D4E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836" y="2541002"/>
            <a:ext cx="2686102" cy="2124213"/>
          </a:xfrm>
          <a:prstGeom prst="rect">
            <a:avLst/>
          </a:prstGeom>
        </p:spPr>
      </p:pic>
      <p:pic>
        <p:nvPicPr>
          <p:cNvPr id="2054" name="Picture 6" descr="Large Diameter Flail Drum">
            <a:extLst>
              <a:ext uri="{FF2B5EF4-FFF2-40B4-BE49-F238E27FC236}">
                <a16:creationId xmlns:a16="http://schemas.microsoft.com/office/drawing/2014/main" id="{5F9F1597-C034-7235-BC67-2BD7FA6325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108091" y="4871883"/>
            <a:ext cx="3922644" cy="167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E4EC2B-C2DA-B6E0-948B-7DBD492557E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696" y="3298325"/>
            <a:ext cx="1397854" cy="33329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6DB221-034D-D294-9568-F0B940346872}"/>
              </a:ext>
            </a:extLst>
          </p:cNvPr>
          <p:cNvSpPr txBox="1"/>
          <p:nvPr/>
        </p:nvSpPr>
        <p:spPr>
          <a:xfrm>
            <a:off x="199696" y="573570"/>
            <a:ext cx="459759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flail - a deadly medieval age weapon - a wooden staff with a short heavy stick or ball swinging from it.</a:t>
            </a:r>
          </a:p>
        </p:txBody>
      </p:sp>
      <p:pic>
        <p:nvPicPr>
          <p:cNvPr id="2056" name="Picture 8" descr="Medieval Bishops Flail">
            <a:extLst>
              <a:ext uri="{FF2B5EF4-FFF2-40B4-BE49-F238E27FC236}">
                <a16:creationId xmlns:a16="http://schemas.microsoft.com/office/drawing/2014/main" id="{76799EB3-7C9C-F5B2-21C9-B33EC2BBE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97211" y="1409889"/>
            <a:ext cx="816757" cy="2484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770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18FA5D-BD2C-0774-A06E-D5104A395EB2}"/>
              </a:ext>
            </a:extLst>
          </p:cNvPr>
          <p:cNvSpPr txBox="1"/>
          <p:nvPr/>
        </p:nvSpPr>
        <p:spPr>
          <a:xfrm>
            <a:off x="1" y="0"/>
            <a:ext cx="21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Tractor Saw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79BB4E-A8E6-57EA-A9D9-630680C00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8813" y="1355835"/>
            <a:ext cx="3233683" cy="2425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urbosaw">
            <a:extLst>
              <a:ext uri="{FF2B5EF4-FFF2-40B4-BE49-F238E27FC236}">
                <a16:creationId xmlns:a16="http://schemas.microsoft.com/office/drawing/2014/main" id="{FFDC7046-C38F-F936-290D-5D3FD60C0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09848" y="1457498"/>
            <a:ext cx="3492391" cy="232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59CD7F-6CB3-5801-CEC3-BF865FE6A95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4782" y="261609"/>
            <a:ext cx="3828405" cy="24252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CE52F6-4E24-064E-3423-67E0B043D14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4781" y="3679828"/>
            <a:ext cx="3830735" cy="289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84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B9B836-28F9-422A-F700-BCB256EF61BC}"/>
              </a:ext>
            </a:extLst>
          </p:cNvPr>
          <p:cNvSpPr txBox="1"/>
          <p:nvPr/>
        </p:nvSpPr>
        <p:spPr>
          <a:xfrm>
            <a:off x="0" y="0"/>
            <a:ext cx="1996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Sweeper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F558E4-0A66-D9E2-A5E5-D38E2E8292A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309" y="2265382"/>
            <a:ext cx="4672944" cy="28367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EFB1A7-51B9-A3EB-86E4-0C0F6337BDB9}"/>
              </a:ext>
            </a:extLst>
          </p:cNvPr>
          <p:cNvSpPr txBox="1"/>
          <p:nvPr/>
        </p:nvSpPr>
        <p:spPr>
          <a:xfrm>
            <a:off x="315309" y="5244257"/>
            <a:ext cx="42041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Agri-Fab Inc 45-0546 52" Lawn Sweeper, Black</a:t>
            </a:r>
          </a:p>
          <a:p>
            <a:endParaRPr lang="en-US" sz="1400"/>
          </a:p>
          <a:p>
            <a:r>
              <a:rPr lang="en-US" sz="1400">
                <a:hlinkClick r:id="rId3"/>
              </a:rPr>
              <a:t>https://www.amazon.com/gp/product/B07KMX858N/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864CA-A3E4-F5AA-7FF7-7AE95298D8A7}"/>
              </a:ext>
            </a:extLst>
          </p:cNvPr>
          <p:cNvSpPr txBox="1"/>
          <p:nvPr/>
        </p:nvSpPr>
        <p:spPr>
          <a:xfrm>
            <a:off x="6537434" y="5244257"/>
            <a:ext cx="49398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10 Cubic Feet Steel Dump Cart</a:t>
            </a:r>
          </a:p>
          <a:p>
            <a:endParaRPr lang="en-US" sz="1400"/>
          </a:p>
          <a:p>
            <a:r>
              <a:rPr lang="en-US" sz="1400">
                <a:hlinkClick r:id="rId4"/>
              </a:rPr>
              <a:t>https://www.amazon.com/dp/B08R95SSTJ</a:t>
            </a:r>
            <a:endParaRPr lang="en-US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85604-9374-0FFF-0CE2-7340BF5A210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1438" y="2243754"/>
            <a:ext cx="4567865" cy="28800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391762-C22A-4BA5-C8BC-BCA7C7847B78}"/>
              </a:ext>
            </a:extLst>
          </p:cNvPr>
          <p:cNvSpPr txBox="1"/>
          <p:nvPr/>
        </p:nvSpPr>
        <p:spPr>
          <a:xfrm>
            <a:off x="6281438" y="93444"/>
            <a:ext cx="302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Dump Cart</a:t>
            </a:r>
          </a:p>
        </p:txBody>
      </p:sp>
    </p:spTree>
    <p:extLst>
      <p:ext uri="{BB962C8B-B14F-4D97-AF65-F5344CB8AC3E}">
        <p14:creationId xmlns:p14="http://schemas.microsoft.com/office/powerpoint/2010/main" val="3901153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90E3A9-C101-4252-4274-0F88AD4A9557}"/>
              </a:ext>
            </a:extLst>
          </p:cNvPr>
          <p:cNvSpPr txBox="1"/>
          <p:nvPr/>
        </p:nvSpPr>
        <p:spPr>
          <a:xfrm>
            <a:off x="0" y="0"/>
            <a:ext cx="4234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Pull-Behind Mower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66A1D-E215-CA31-1BA0-DA2BA2818792}"/>
              </a:ext>
            </a:extLst>
          </p:cNvPr>
          <p:cNvSpPr txBox="1"/>
          <p:nvPr/>
        </p:nvSpPr>
        <p:spPr>
          <a:xfrm>
            <a:off x="223630" y="5264261"/>
            <a:ext cx="3786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DR Field and Brush Mower PRO XL44T (20HP) </a:t>
            </a:r>
            <a:r>
              <a:rPr lang="en-US" sz="1400" b="1">
                <a:solidFill>
                  <a:srgbClr val="FF0000"/>
                </a:solidFill>
              </a:rPr>
              <a:t>$3,800.00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795BE5-B4B9-1419-4A74-1B41F2D2B99A}"/>
              </a:ext>
            </a:extLst>
          </p:cNvPr>
          <p:cNvSpPr txBox="1"/>
          <p:nvPr/>
        </p:nvSpPr>
        <p:spPr>
          <a:xfrm>
            <a:off x="239503" y="6150005"/>
            <a:ext cx="37868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hlinkClick r:id="rId2"/>
              </a:rPr>
              <a:t>https://www.drpower.com/Power-Equipment/Field-%26-Brush-Mowers-/Tow-Behind/DR-Field-and-Brush-Mower/p/TB23044BEN</a:t>
            </a:r>
            <a:endParaRPr lang="en-US" sz="11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0D947-73CC-B240-5BF7-8880313620A1}"/>
              </a:ext>
            </a:extLst>
          </p:cNvPr>
          <p:cNvSpPr txBox="1"/>
          <p:nvPr/>
        </p:nvSpPr>
        <p:spPr>
          <a:xfrm>
            <a:off x="4498203" y="6319282"/>
            <a:ext cx="42440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hlinkClick r:id="rId3"/>
              </a:rPr>
              <a:t>https://www.mowersdirect.com/Earthquake-RC4432/p70906.html</a:t>
            </a:r>
            <a:endParaRPr 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4760A5-91EC-D75B-83E5-94F5118D6115}"/>
              </a:ext>
            </a:extLst>
          </p:cNvPr>
          <p:cNvSpPr txBox="1"/>
          <p:nvPr/>
        </p:nvSpPr>
        <p:spPr>
          <a:xfrm>
            <a:off x="4482330" y="4980453"/>
            <a:ext cx="41545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Earthquake (44") 17.5HP Briggs Tow-Behind Rough Cut Mower w/ Electric Start</a:t>
            </a:r>
          </a:p>
          <a:p>
            <a:r>
              <a:rPr lang="en-US" sz="1400" b="1">
                <a:solidFill>
                  <a:srgbClr val="FF0000"/>
                </a:solidFill>
              </a:rPr>
              <a:t>$2,500.00 </a:t>
            </a:r>
          </a:p>
          <a:p>
            <a:r>
              <a:rPr lang="en-US" sz="1050"/>
              <a:t>Acreage™, Division of Ardisam, Inc.</a:t>
            </a:r>
          </a:p>
          <a:p>
            <a:r>
              <a:rPr lang="en-US" sz="1050"/>
              <a:t>1160 8th Avenue, PO Box 666, Cumberland, WI 54829</a:t>
            </a:r>
          </a:p>
          <a:p>
            <a:r>
              <a:rPr lang="en-US" sz="1050"/>
              <a:t>800-345-6007 | Fax 715-822-2223</a:t>
            </a:r>
          </a:p>
          <a:p>
            <a:r>
              <a:rPr lang="en-US" sz="1050"/>
              <a:t>acreageimplements.com = https://www.getearthquake.com/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4426EB-A9A3-CD9A-76D4-33339A8F563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0102" y="167615"/>
            <a:ext cx="3271796" cy="2200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2BA1F-34EE-D96B-45F6-8B62C60B14E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1701" y="1805795"/>
            <a:ext cx="2044700" cy="1308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858BAF-2A74-0391-C8F5-5FDEAE87C9C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4827" y="3045428"/>
            <a:ext cx="3314700" cy="16954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E2A68A-967B-8862-4A26-C0A50AC991A4}"/>
              </a:ext>
            </a:extLst>
          </p:cNvPr>
          <p:cNvSpPr txBox="1"/>
          <p:nvPr/>
        </p:nvSpPr>
        <p:spPr>
          <a:xfrm>
            <a:off x="8961648" y="4395677"/>
            <a:ext cx="31109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Beast 22 HP 100 in. Tow-Behind Mower, Convertible into a 52 in. Finish Cut or Brush Mower, Powered by a 22 HP Subaru Engine, RECONDITIONED</a:t>
            </a:r>
          </a:p>
          <a:p>
            <a:r>
              <a:rPr lang="en-US" sz="1400" b="1">
                <a:solidFill>
                  <a:srgbClr val="FF0000"/>
                </a:solidFill>
              </a:rPr>
              <a:t>$2,090.00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389660-E3E1-4A07-071D-57021B8FA0D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48312" y="167615"/>
            <a:ext cx="3109665" cy="24650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BCDE26-6895-A671-56E7-7D097F88C0F1}"/>
              </a:ext>
            </a:extLst>
          </p:cNvPr>
          <p:cNvSpPr txBox="1"/>
          <p:nvPr/>
        </p:nvSpPr>
        <p:spPr>
          <a:xfrm>
            <a:off x="9070979" y="5643943"/>
            <a:ext cx="2902226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>
                <a:hlinkClick r:id="rId8"/>
              </a:rPr>
              <a:t>https://www.gxioutdoorpower.com/beast-22-hp-100-in-tow-behind-mower-convertible-into-a-52-in-finish-cut-or-brush-mower-powered-by-a-22-hp-subaru-engine-not-sold-in-california-reconditioned/</a:t>
            </a:r>
            <a:endParaRPr lang="en-US" sz="10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922ABA-FCC3-ED2E-A5C4-AFB7165BB279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404" y="3640745"/>
            <a:ext cx="1516822" cy="15098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5B7D284-F8C3-2A10-0840-21CFB15DD0F7}"/>
              </a:ext>
            </a:extLst>
          </p:cNvPr>
          <p:cNvSpPr txBox="1"/>
          <p:nvPr/>
        </p:nvSpPr>
        <p:spPr>
          <a:xfrm>
            <a:off x="1759226" y="4433101"/>
            <a:ext cx="1516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Pivoting Blades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D6EDAE-82D6-7EFC-C660-28A76FBA663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633" y="821673"/>
            <a:ext cx="2728558" cy="256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24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F723A6-746F-9725-14BD-F67FA71999D9}"/>
              </a:ext>
            </a:extLst>
          </p:cNvPr>
          <p:cNvSpPr txBox="1"/>
          <p:nvPr/>
        </p:nvSpPr>
        <p:spPr>
          <a:xfrm>
            <a:off x="0" y="0"/>
            <a:ext cx="4234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Meg-Mo blades</a:t>
            </a:r>
          </a:p>
        </p:txBody>
      </p:sp>
      <p:pic>
        <p:nvPicPr>
          <p:cNvPr id="1028" name="Picture 4" descr="Meg-Mo Systems | High-Performance Rotary Mulching Blades">
            <a:extLst>
              <a:ext uri="{FF2B5EF4-FFF2-40B4-BE49-F238E27FC236}">
                <a16:creationId xmlns:a16="http://schemas.microsoft.com/office/drawing/2014/main" id="{731F5F83-859B-5910-413C-4CA835EE0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037" y="1413622"/>
            <a:ext cx="3836276" cy="215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200BB3-D2A2-F174-B263-AF0A9720273B}"/>
              </a:ext>
            </a:extLst>
          </p:cNvPr>
          <p:cNvSpPr txBox="1"/>
          <p:nvPr/>
        </p:nvSpPr>
        <p:spPr>
          <a:xfrm>
            <a:off x="266416" y="599089"/>
            <a:ext cx="46455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3"/>
              </a:rPr>
              <a:t>https://meg-mo.com</a:t>
            </a:r>
            <a:endParaRPr lang="en-US" sz="1400"/>
          </a:p>
          <a:p>
            <a:endParaRPr lang="en-US" sz="1400"/>
          </a:p>
          <a:p>
            <a:r>
              <a:rPr lang="en-US" sz="1400"/>
              <a:t>The MEG-MO™ Rotary Mulching Blade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A6AC1-660D-994D-CD24-175AA4B0405A}"/>
              </a:ext>
            </a:extLst>
          </p:cNvPr>
          <p:cNvSpPr txBox="1"/>
          <p:nvPr/>
        </p:nvSpPr>
        <p:spPr>
          <a:xfrm>
            <a:off x="6096000" y="368184"/>
            <a:ext cx="310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Center hole - round</a:t>
            </a:r>
          </a:p>
          <a:p>
            <a:r>
              <a:rPr lang="en-US" sz="1400"/>
              <a:t>Current Blade OEM Part #      M115495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24E6A-2C6A-EAFB-9E70-6106D3606AEE}"/>
              </a:ext>
            </a:extLst>
          </p:cNvPr>
          <p:cNvSpPr txBox="1"/>
          <p:nvPr/>
        </p:nvSpPr>
        <p:spPr>
          <a:xfrm>
            <a:off x="5729738" y="105103"/>
            <a:ext cx="355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 order I need to provide this info: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2D038-DE19-28BB-E573-D9A019DCD6BB}"/>
              </a:ext>
            </a:extLst>
          </p:cNvPr>
          <p:cNvSpPr txBox="1"/>
          <p:nvPr/>
        </p:nvSpPr>
        <p:spPr>
          <a:xfrm>
            <a:off x="6096000" y="891404"/>
            <a:ext cx="4456387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John Deere Standard Mower Blade for 48" deck</a:t>
            </a:r>
          </a:p>
          <a:p>
            <a:r>
              <a:rPr lang="en-US" sz="1400"/>
              <a:t>Part Number: M115495</a:t>
            </a:r>
          </a:p>
          <a:p>
            <a:r>
              <a:rPr lang="en-US" sz="1400"/>
              <a:t>Hole in the center – round, 13/16 inch</a:t>
            </a:r>
          </a:p>
          <a:p>
            <a:r>
              <a:rPr lang="en-US" sz="1400"/>
              <a:t>Length of the blade (rotating diameter) 16 5/8 inch</a:t>
            </a:r>
          </a:p>
          <a:p>
            <a:r>
              <a:rPr lang="en-US" sz="1400"/>
              <a:t>Nut M18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2F24B-073F-BCC7-CDC5-5BECC88B62E0}"/>
              </a:ext>
            </a:extLst>
          </p:cNvPr>
          <p:cNvSpPr txBox="1"/>
          <p:nvPr/>
        </p:nvSpPr>
        <p:spPr>
          <a:xfrm>
            <a:off x="439837" y="3762703"/>
            <a:ext cx="34069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E-Mail: sales@meg-mo.com</a:t>
            </a:r>
            <a:br>
              <a:rPr lang="en-US" sz="1400"/>
            </a:br>
            <a:r>
              <a:rPr lang="en-US" sz="1400"/>
              <a:t>Call (877) 625-0125</a:t>
            </a:r>
          </a:p>
          <a:p>
            <a:r>
              <a:rPr lang="en-US" sz="1400"/>
              <a:t>Received call from 815-625-0125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2FE5A-9BE8-486A-8867-5454E9BA3D7E}"/>
              </a:ext>
            </a:extLst>
          </p:cNvPr>
          <p:cNvSpPr txBox="1"/>
          <p:nvPr/>
        </p:nvSpPr>
        <p:spPr>
          <a:xfrm>
            <a:off x="4289821" y="2169062"/>
            <a:ext cx="77671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Searching John Deere Parts:</a:t>
            </a:r>
          </a:p>
          <a:p>
            <a:r>
              <a:rPr lang="en-US" sz="1400"/>
              <a:t> .. </a:t>
            </a:r>
            <a:r>
              <a:rPr lang="en-US" sz="1400">
                <a:hlinkClick r:id="rId4"/>
              </a:rPr>
              <a:t>https://partscatalog.deere.com/jdrc/navigation/equipment/73515</a:t>
            </a:r>
            <a:endParaRPr lang="en-US" sz="1400"/>
          </a:p>
          <a:p>
            <a:r>
              <a:rPr lang="en-US" sz="1400"/>
              <a:t>Then go to mower deck attachment:</a:t>
            </a:r>
          </a:p>
          <a:p>
            <a:r>
              <a:rPr lang="en-US" sz="1400"/>
              <a:t> .. </a:t>
            </a:r>
            <a:r>
              <a:rPr lang="en-US" sz="1400">
                <a:hlinkClick r:id="rId5"/>
              </a:rPr>
              <a:t>https://partscatalog.deere.com/jdrc/navigation/equipment/78976</a:t>
            </a:r>
            <a:endParaRPr lang="en-US" sz="1400"/>
          </a:p>
          <a:p>
            <a:r>
              <a:rPr lang="en-US" sz="1400"/>
              <a:t>Then select "20 Mid-Mount Mower Decks 48-Inch and 54-Inch (For 425, 445 and 455 LGT)"</a:t>
            </a:r>
          </a:p>
          <a:p>
            <a:r>
              <a:rPr lang="en-US" sz="1400"/>
              <a:t>Then select "Belt Drive, Blades, Idlers and Spindles - ST561860"</a:t>
            </a:r>
          </a:p>
          <a:p>
            <a:r>
              <a:rPr lang="en-US" sz="1400"/>
              <a:t> .. </a:t>
            </a:r>
            <a:r>
              <a:rPr lang="en-US" sz="1400">
                <a:hlinkClick r:id="rId6"/>
              </a:rPr>
              <a:t>https://partscatalog.deere.com/jdrc/sidebyside/equipment/78976/referrer/navigation/pgId/2341197</a:t>
            </a:r>
            <a:endParaRPr lang="en-US" sz="1400"/>
          </a:p>
          <a:p>
            <a:r>
              <a:rPr lang="en-US" sz="1400"/>
              <a:t>The John Deere Blade Bolt - 19M7788 (requires M18 nut driver (18mm)): </a:t>
            </a:r>
          </a:p>
          <a:p>
            <a:r>
              <a:rPr lang="en-US" sz="1400"/>
              <a:t> .. </a:t>
            </a:r>
            <a:r>
              <a:rPr lang="en-US" sz="1400">
                <a:hlinkClick r:id="rId7"/>
              </a:rPr>
              <a:t>https://www.greenpartstore.com/John-Deere-Blade-Bolt-19M7788.html</a:t>
            </a:r>
            <a:endParaRPr lang="en-US" sz="1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051A58-8260-44FA-BDA6-4B5FA463DE16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961" y="3898526"/>
            <a:ext cx="1136650" cy="1041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088724-09EB-3EDC-61D5-E34A74BDA580}"/>
              </a:ext>
            </a:extLst>
          </p:cNvPr>
          <p:cNvSpPr txBox="1"/>
          <p:nvPr/>
        </p:nvSpPr>
        <p:spPr>
          <a:xfrm>
            <a:off x="4289820" y="5031696"/>
            <a:ext cx="26049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Riding mower blades should be installed between </a:t>
            </a:r>
          </a:p>
          <a:p>
            <a:r>
              <a:rPr lang="en-US" sz="1400"/>
              <a:t>70 and 90 foot pounds of torque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B542B-A1C7-5F98-F30A-6CD2F41E6E63}"/>
              </a:ext>
            </a:extLst>
          </p:cNvPr>
          <p:cNvSpPr txBox="1"/>
          <p:nvPr/>
        </p:nvSpPr>
        <p:spPr>
          <a:xfrm>
            <a:off x="4289821" y="6255136"/>
            <a:ext cx="525517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LEXIVON 1/2-Inch Drive LX-183 (10-150 Ft-lb)</a:t>
            </a:r>
          </a:p>
          <a:p>
            <a:r>
              <a:rPr lang="en-US" sz="1050">
                <a:hlinkClick r:id="rId9"/>
              </a:rPr>
              <a:t>https://www.amazon.com/LEXIVON-2-Inch-Torque-13-6-203-5-LX-183/dp/B07MP1Q3W8/</a:t>
            </a:r>
            <a:endParaRPr lang="en-US" sz="10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B5B537-9FEE-0ED2-5E80-E1576E95B5B6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130" y="4685163"/>
            <a:ext cx="1524429" cy="145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06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F723A6-746F-9725-14BD-F67FA71999D9}"/>
              </a:ext>
            </a:extLst>
          </p:cNvPr>
          <p:cNvSpPr txBox="1"/>
          <p:nvPr/>
        </p:nvSpPr>
        <p:spPr>
          <a:xfrm>
            <a:off x="0" y="0"/>
            <a:ext cx="4234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Self-made rotary cutter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32D038-DE19-28BB-E573-D9A019DCD6BB}"/>
              </a:ext>
            </a:extLst>
          </p:cNvPr>
          <p:cNvSpPr txBox="1"/>
          <p:nvPr/>
        </p:nvSpPr>
        <p:spPr>
          <a:xfrm>
            <a:off x="278295" y="928410"/>
            <a:ext cx="7606748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hlinkClick r:id="rId2"/>
              </a:rPr>
              <a:t>https://www.youtube.com/watch?v=WIVh1qrUUAY</a:t>
            </a:r>
            <a:endParaRPr lang="en-US" sz="1400" b="1"/>
          </a:p>
          <a:p>
            <a:r>
              <a:rPr lang="en-US" sz="1400" b="1"/>
              <a:t>ATV Mower With three Harbor Freight Predator 173cc engines!</a:t>
            </a:r>
          </a:p>
          <a:p>
            <a:r>
              <a:rPr lang="en-US" sz="1400" b="1"/>
              <a:t>2017</a:t>
            </a:r>
          </a:p>
        </p:txBody>
      </p:sp>
    </p:spTree>
    <p:extLst>
      <p:ext uri="{BB962C8B-B14F-4D97-AF65-F5344CB8AC3E}">
        <p14:creationId xmlns:p14="http://schemas.microsoft.com/office/powerpoint/2010/main" val="3744406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1451</Words>
  <Application>Microsoft Macintosh PowerPoint</Application>
  <PresentationFormat>Widescreen</PresentationFormat>
  <Paragraphs>201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77</cp:revision>
  <dcterms:created xsi:type="dcterms:W3CDTF">2022-05-02T00:38:22Z</dcterms:created>
  <dcterms:modified xsi:type="dcterms:W3CDTF">2022-08-27T00:36:07Z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2022-05-02T00:38:23Z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24169d7b-7067-4cc0-93f0-4d109a136a7c</vt:lpwstr>
  </property>
  <property fmtid="{D5CDD505-2E9C-101B-9397-08002B2CF9AE}" pid="8" name="MSIP_Label_4f518368-b969-4042-91d9-8939bd921da2_ContentBits">
    <vt:lpwstr>0</vt:lpwstr>
  </property>
</Properties>
</file>