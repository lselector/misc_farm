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1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4"/>
    <p:restoredTop sz="91438"/>
  </p:normalViewPr>
  <p:slideViewPr>
    <p:cSldViewPr snapToGrid="0" snapToObjects="1">
      <p:cViewPr varScale="1">
        <p:scale>
          <a:sx n="122" d="100"/>
          <a:sy n="122" d="100"/>
        </p:scale>
        <p:origin x="26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43BDE-B8C0-934E-9704-CBA3B88C1FB8}" type="datetimeFigureOut">
              <a:rPr lang="en-US" smtClean="0"/>
              <a:t>6/14/23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B91EE-EA77-074C-ABDE-BAE6359B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1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B91EE-EA77-074C-ABDE-BAE6359B4E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6/14/23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6/14/23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6/14/23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6/14/23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3.jpe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11" Type="http://schemas.openxmlformats.org/officeDocument/2006/relationships/image" Target="../media/image7.png"/><Relationship Id="rId5" Type="http://schemas.openxmlformats.org/officeDocument/2006/relationships/hyperlink" Target="https://www.thespruce.com/electrical-code-for-outlets-1821513" TargetMode="Externa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hyperlink" Target="https://www.youtube.com/watch?v=9hlo87E_GdQ" TargetMode="Externa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63547-3461-AE07-C75E-7594C61EA810}"/>
              </a:ext>
            </a:extLst>
          </p:cNvPr>
          <p:cNvSpPr txBox="1"/>
          <p:nvPr/>
        </p:nvSpPr>
        <p:spPr>
          <a:xfrm>
            <a:off x="0" y="9719"/>
            <a:ext cx="3570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1111"/>
                </a:solidFill>
                <a:effectLst/>
              </a:rPr>
              <a:t>Electric Work</a:t>
            </a:r>
            <a:endParaRPr lang="en-US" sz="2800" b="1" dirty="0">
              <a:solidFill>
                <a:srgbClr val="00B0F0"/>
              </a:solidFill>
            </a:endParaRPr>
          </a:p>
        </p:txBody>
      </p:sp>
      <p:pic>
        <p:nvPicPr>
          <p:cNvPr id="1026" name="Picture 2" descr="87pcs Electrical Wire Connectors Screw Terminals,with Spring Insert Twist  Nuts Caps Connection Assortment Kit 4 Colors - Terminals - AliExpress">
            <a:extLst>
              <a:ext uri="{FF2B5EF4-FFF2-40B4-BE49-F238E27FC236}">
                <a16:creationId xmlns:a16="http://schemas.microsoft.com/office/drawing/2014/main" id="{A8AE9434-336D-BA2A-EE0B-F73BE50F52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95941" y="1239973"/>
            <a:ext cx="4069213" cy="33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D401DB-5AB2-400C-5B93-D899333AB40A}"/>
              </a:ext>
            </a:extLst>
          </p:cNvPr>
          <p:cNvSpPr txBox="1"/>
          <p:nvPr/>
        </p:nvSpPr>
        <p:spPr>
          <a:xfrm>
            <a:off x="128578" y="729007"/>
            <a:ext cx="4069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Twist Wire Connectors </a:t>
            </a:r>
          </a:p>
          <a:p>
            <a:r>
              <a:rPr lang="en-US" sz="1400" dirty="0"/>
              <a:t>(a.k.a. </a:t>
            </a:r>
            <a:r>
              <a:rPr lang="en-US" sz="1400" dirty="0" err="1"/>
              <a:t>marettes</a:t>
            </a:r>
            <a:r>
              <a:rPr lang="en-US" sz="1400" dirty="0"/>
              <a:t>, wing nuts, wire caps, wire twists)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356FF-2252-1315-D9A9-CB7664BE394F}"/>
              </a:ext>
            </a:extLst>
          </p:cNvPr>
          <p:cNvSpPr txBox="1"/>
          <p:nvPr/>
        </p:nvSpPr>
        <p:spPr>
          <a:xfrm>
            <a:off x="7086600" y="4662021"/>
            <a:ext cx="5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4"/>
              </a:rPr>
              <a:t>https://www.youtube.com/watch?v=9hlo87E_GdQ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5"/>
              </a:rPr>
              <a:t>https://</a:t>
            </a:r>
            <a:r>
              <a:rPr lang="en-US" sz="1200" dirty="0" err="1">
                <a:hlinkClick r:id="rId5"/>
              </a:rPr>
              <a:t>www.thespruce.com</a:t>
            </a:r>
            <a:r>
              <a:rPr lang="en-US" sz="1200" dirty="0">
                <a:hlinkClick r:id="rId5"/>
              </a:rPr>
              <a:t>/electrical-code-for-outlets-1821513</a:t>
            </a:r>
            <a:endParaRPr lang="en-US" sz="1200" dirty="0"/>
          </a:p>
        </p:txBody>
      </p:sp>
      <p:pic>
        <p:nvPicPr>
          <p:cNvPr id="6" name="Picture 2" descr="Image result for circuit breaker">
            <a:extLst>
              <a:ext uri="{FF2B5EF4-FFF2-40B4-BE49-F238E27FC236}">
                <a16:creationId xmlns:a16="http://schemas.microsoft.com/office/drawing/2014/main" id="{B3D15451-65D6-11E6-071E-E15FB2BCD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19945" y="4662021"/>
            <a:ext cx="1454734" cy="1815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DFD895-B2D8-F822-5FB6-0CFD856A8419}"/>
              </a:ext>
            </a:extLst>
          </p:cNvPr>
          <p:cNvSpPr txBox="1"/>
          <p:nvPr/>
        </p:nvSpPr>
        <p:spPr>
          <a:xfrm>
            <a:off x="1903027" y="6470362"/>
            <a:ext cx="1524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circuit breaker </a:t>
            </a:r>
          </a:p>
        </p:txBody>
      </p:sp>
      <p:pic>
        <p:nvPicPr>
          <p:cNvPr id="1028" name="Picture 4" descr="load center or service panel">
            <a:extLst>
              <a:ext uri="{FF2B5EF4-FFF2-40B4-BE49-F238E27FC236}">
                <a16:creationId xmlns:a16="http://schemas.microsoft.com/office/drawing/2014/main" id="{6701D2A0-6BB4-235D-2BB1-8047F1574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5943" y="4654385"/>
            <a:ext cx="1365346" cy="1815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B0EEC4-C598-7D82-4517-7AC3FC4117B3}"/>
              </a:ext>
            </a:extLst>
          </p:cNvPr>
          <p:cNvSpPr txBox="1"/>
          <p:nvPr/>
        </p:nvSpPr>
        <p:spPr>
          <a:xfrm>
            <a:off x="195941" y="6508725"/>
            <a:ext cx="1524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electrical panel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03D68-C478-3DFE-7959-296AC4173743}"/>
              </a:ext>
            </a:extLst>
          </p:cNvPr>
          <p:cNvSpPr txBox="1"/>
          <p:nvPr/>
        </p:nvSpPr>
        <p:spPr>
          <a:xfrm>
            <a:off x="6054510" y="111294"/>
            <a:ext cx="5959926" cy="39857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Maximum current in cables (in Amperes):</a:t>
            </a:r>
          </a:p>
          <a:p>
            <a:r>
              <a:rPr lang="en-US" sz="1200" dirty="0">
                <a:solidFill>
                  <a:srgbClr val="20212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gauge\</a:t>
            </a:r>
            <a:r>
              <a:rPr lang="en-US" sz="1200" dirty="0" err="1">
                <a:solidFill>
                  <a:srgbClr val="20212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sz="1200" dirty="0">
                <a:solidFill>
                  <a:srgbClr val="20212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50ft   100ft   150ft</a:t>
            </a:r>
          </a:p>
          <a:p>
            <a:r>
              <a:rPr lang="en-US" sz="1200" dirty="0">
                <a:solidFill>
                  <a:srgbClr val="20212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16          1-13    1-10 </a:t>
            </a:r>
          </a:p>
          <a:p>
            <a:r>
              <a:rPr lang="en-US" sz="1200" dirty="0">
                <a:solidFill>
                  <a:srgbClr val="20212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14  white  14-15   11-13     1-7</a:t>
            </a:r>
          </a:p>
          <a:p>
            <a:r>
              <a:rPr lang="en-US" sz="1200" dirty="0">
                <a:solidFill>
                  <a:srgbClr val="20212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12  yellow 16-20   14-15    8-10</a:t>
            </a:r>
          </a:p>
          <a:p>
            <a:r>
              <a:rPr lang="en-US" sz="1200" dirty="0">
                <a:solidFill>
                  <a:srgbClr val="20212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  orange 16-20   16-20   11-15</a:t>
            </a:r>
          </a:p>
          <a:p>
            <a:r>
              <a:rPr lang="en-US" sz="1200" b="0" i="0" dirty="0">
                <a:solidFill>
                  <a:srgbClr val="202124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8  black    up to 40</a:t>
            </a:r>
          </a:p>
          <a:p>
            <a:r>
              <a:rPr lang="en-US" sz="1200" dirty="0">
                <a:solidFill>
                  <a:srgbClr val="20212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6           up to 55</a:t>
            </a:r>
          </a:p>
          <a:p>
            <a:endParaRPr lang="en-US" sz="1300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13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Cable types:</a:t>
            </a:r>
          </a:p>
          <a:p>
            <a:r>
              <a:rPr lang="en-US" sz="13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NM-cable = Non-metallic (</a:t>
            </a:r>
            <a:r>
              <a:rPr lang="en-US" sz="1300" b="0" i="0" dirty="0" err="1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a.k.a</a:t>
            </a:r>
            <a:r>
              <a:rPr lang="en-US" sz="13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 Romex cable):</a:t>
            </a:r>
            <a:endParaRPr lang="en-US" sz="1300" dirty="0">
              <a:solidFill>
                <a:srgbClr val="202124"/>
              </a:solidFill>
              <a:latin typeface="Roboto" panose="02000000000000000000" pitchFamily="2" charset="0"/>
            </a:endParaRPr>
          </a:p>
          <a:p>
            <a:r>
              <a:rPr lang="en-US" sz="1300" dirty="0">
                <a:solidFill>
                  <a:srgbClr val="202124"/>
                </a:solidFill>
                <a:latin typeface="Roboto" panose="02000000000000000000" pitchFamily="2" charset="0"/>
              </a:rPr>
              <a:t>AC-cable = </a:t>
            </a:r>
            <a:r>
              <a:rPr lang="en-US" sz="13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Armored Cable (a.k.a. BX cable) – flexible metallic sheathing. </a:t>
            </a:r>
          </a:p>
          <a:p>
            <a:r>
              <a:rPr lang="en-US" sz="1300" dirty="0">
                <a:solidFill>
                  <a:srgbClr val="202124"/>
                </a:solidFill>
                <a:latin typeface="Roboto" panose="02000000000000000000" pitchFamily="2" charset="0"/>
              </a:rPr>
              <a:t>UF-cable = </a:t>
            </a:r>
            <a:r>
              <a:rPr lang="en-US" sz="13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Underground Feeder Cable – outdoors, underground. Non-</a:t>
            </a:r>
            <a:r>
              <a:rPr lang="en-US" sz="1300" b="0" i="0" dirty="0" err="1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metalic</a:t>
            </a:r>
            <a:r>
              <a:rPr lang="en-US" sz="13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, solid plastic sheathing, gray color.</a:t>
            </a:r>
          </a:p>
          <a:p>
            <a:r>
              <a:rPr lang="en-US" sz="13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Metal-Clad Cable - running through unfinished areas like basements.</a:t>
            </a:r>
          </a:p>
          <a:p>
            <a:endParaRPr lang="en-US" sz="1300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13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Wires inside cables:</a:t>
            </a:r>
          </a:p>
          <a:p>
            <a:r>
              <a:rPr lang="en-US" sz="13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 - one hot (black or red)</a:t>
            </a:r>
          </a:p>
          <a:p>
            <a:r>
              <a:rPr lang="en-US" sz="1300" dirty="0">
                <a:solidFill>
                  <a:srgbClr val="202124"/>
                </a:solidFill>
                <a:latin typeface="Roboto" panose="02000000000000000000" pitchFamily="2" charset="0"/>
              </a:rPr>
              <a:t> - one neutral (white)</a:t>
            </a:r>
          </a:p>
          <a:p>
            <a:r>
              <a:rPr lang="en-US" sz="13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 - one bare ground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926FAC-372D-2494-792A-0AF8CDD4B2E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4544" y="3127400"/>
            <a:ext cx="3951515" cy="11963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26B4A7-1BFA-8955-2AE0-D44FCE8A08AE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3900" y="4037104"/>
            <a:ext cx="682127" cy="14882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279227-FD16-2B6E-41EE-D63A5354FC71}"/>
              </a:ext>
            </a:extLst>
          </p:cNvPr>
          <p:cNvSpPr txBox="1"/>
          <p:nvPr/>
        </p:nvSpPr>
        <p:spPr>
          <a:xfrm>
            <a:off x="5248945" y="5556415"/>
            <a:ext cx="666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outlet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5D80CE-47F4-FEFB-A604-90455A2E8EB7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9781" y="4037104"/>
            <a:ext cx="631010" cy="14347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1A71534-C955-3CAD-C021-6B1E098A58AF}"/>
              </a:ext>
            </a:extLst>
          </p:cNvPr>
          <p:cNvSpPr txBox="1"/>
          <p:nvPr/>
        </p:nvSpPr>
        <p:spPr>
          <a:xfrm>
            <a:off x="6106539" y="5521678"/>
            <a:ext cx="1047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Toggle Light Switch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679E79-C53E-1283-7602-6FC87E9D3F3F}"/>
              </a:ext>
            </a:extLst>
          </p:cNvPr>
          <p:cNvSpPr txBox="1"/>
          <p:nvPr/>
        </p:nvSpPr>
        <p:spPr>
          <a:xfrm>
            <a:off x="4760843" y="1481202"/>
            <a:ext cx="1101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WAGO Lever-Nuts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6C5FF2-F12C-52E1-3C02-04CBFB4D63F8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51" y="326911"/>
            <a:ext cx="1101812" cy="10667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4695F8-140F-2383-6509-4874BFBA889C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70112" y="5471822"/>
            <a:ext cx="1711287" cy="86715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D48B2FA-3BEE-F803-EB0C-B127E76F6998}"/>
              </a:ext>
            </a:extLst>
          </p:cNvPr>
          <p:cNvSpPr txBox="1"/>
          <p:nvPr/>
        </p:nvSpPr>
        <p:spPr>
          <a:xfrm>
            <a:off x="8666463" y="6358355"/>
            <a:ext cx="1711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Knot wires together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A3175F-8E1E-7B61-6B96-200AD1AF88B6}"/>
              </a:ext>
            </a:extLst>
          </p:cNvPr>
          <p:cNvSpPr txBox="1"/>
          <p:nvPr/>
        </p:nvSpPr>
        <p:spPr>
          <a:xfrm>
            <a:off x="10804124" y="6508725"/>
            <a:ext cx="1352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Wire Strippers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0572274-EE99-3665-99F7-E72A7A00035F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0535552" y="5529577"/>
            <a:ext cx="896301" cy="3591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C96FB5D-F730-16B8-7635-9A9586980A20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77851" y="5195563"/>
            <a:ext cx="592465" cy="12747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B568F98-A6B3-B5C6-27D5-762843A8BEFA}"/>
              </a:ext>
            </a:extLst>
          </p:cNvPr>
          <p:cNvSpPr txBox="1"/>
          <p:nvPr/>
        </p:nvSpPr>
        <p:spPr>
          <a:xfrm>
            <a:off x="5576546" y="6017663"/>
            <a:ext cx="1286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screw colors:</a:t>
            </a:r>
          </a:p>
          <a:p>
            <a:r>
              <a:rPr lang="en-US" sz="12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brass</a:t>
            </a:r>
            <a:r>
              <a:rPr lang="en-US" sz="1200" dirty="0"/>
              <a:t> – hot, </a:t>
            </a:r>
          </a:p>
          <a:p>
            <a:r>
              <a:rPr lang="en-US" sz="1200" dirty="0"/>
              <a:t>silver – neutral, </a:t>
            </a:r>
          </a:p>
          <a:p>
            <a:r>
              <a:rPr lang="en-US" sz="1200" b="1" dirty="0">
                <a:solidFill>
                  <a:srgbClr val="00B050"/>
                </a:solidFill>
              </a:rPr>
              <a:t>green</a:t>
            </a:r>
            <a:r>
              <a:rPr lang="en-US" sz="1200" dirty="0"/>
              <a:t> - ground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653592-1637-A760-8943-36E2BA166728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15678" t="13597" r="14286" b="11921"/>
          <a:stretch/>
        </p:blipFill>
        <p:spPr>
          <a:xfrm>
            <a:off x="3803229" y="4920377"/>
            <a:ext cx="547518" cy="102966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046FF60-6C47-370B-CF15-A74FD3812963}"/>
              </a:ext>
            </a:extLst>
          </p:cNvPr>
          <p:cNvSpPr txBox="1"/>
          <p:nvPr/>
        </p:nvSpPr>
        <p:spPr>
          <a:xfrm>
            <a:off x="3265065" y="5930891"/>
            <a:ext cx="1726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GFCI = Ground Fault Circuit Interrupter</a:t>
            </a:r>
          </a:p>
        </p:txBody>
      </p:sp>
    </p:spTree>
    <p:extLst>
      <p:ext uri="{BB962C8B-B14F-4D97-AF65-F5344CB8AC3E}">
        <p14:creationId xmlns:p14="http://schemas.microsoft.com/office/powerpoint/2010/main" val="2058619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F7C244-2B21-9F46-FFD4-C3E1F30429F1}"/>
              </a:ext>
            </a:extLst>
          </p:cNvPr>
          <p:cNvSpPr txBox="1"/>
          <p:nvPr/>
        </p:nvSpPr>
        <p:spPr>
          <a:xfrm>
            <a:off x="174170" y="3069099"/>
            <a:ext cx="5203371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232629"/>
                </a:solidFill>
                <a:effectLst/>
                <a:latin typeface="-apple-system"/>
              </a:rPr>
              <a:t>Push-in wiring, sometimes branded "</a:t>
            </a:r>
            <a:r>
              <a:rPr lang="en-US" sz="1400" b="1" i="0" dirty="0" err="1">
                <a:solidFill>
                  <a:srgbClr val="00B050"/>
                </a:solidFill>
                <a:effectLst/>
                <a:latin typeface="-apple-system"/>
              </a:rPr>
              <a:t>QuickWire</a:t>
            </a:r>
            <a:r>
              <a:rPr lang="en-US" sz="1400" b="0" i="0" dirty="0">
                <a:solidFill>
                  <a:srgbClr val="232629"/>
                </a:solidFill>
                <a:effectLst/>
                <a:latin typeface="-apple-system"/>
              </a:rPr>
              <a:t>", uses holes in the plastic casing, underneath which are sharp spring-loaded cleats that catch and hold the wire when you put it in. It compresses on the wire more when </a:t>
            </a:r>
            <a:r>
              <a:rPr lang="en-US" sz="1400" dirty="0"/>
              <a:t>the side screw is tightened. </a:t>
            </a:r>
          </a:p>
          <a:p>
            <a:endParaRPr lang="en-US" sz="1400" dirty="0"/>
          </a:p>
          <a:p>
            <a:r>
              <a:rPr lang="en-US" sz="1400" dirty="0"/>
              <a:t>Most electrician I know uses the back connections on GFI's and side wires regular receptacles. </a:t>
            </a:r>
          </a:p>
          <a:p>
            <a:endParaRPr lang="en-US" sz="1400" dirty="0"/>
          </a:p>
          <a:p>
            <a:r>
              <a:rPr lang="en-US" sz="1400" dirty="0"/>
              <a:t>When inserting the wire, release the screw and tip the device so the grab plates would open. </a:t>
            </a:r>
          </a:p>
          <a:p>
            <a:endParaRPr lang="en-US" sz="1400" dirty="0"/>
          </a:p>
          <a:p>
            <a:r>
              <a:rPr lang="en-US" sz="1400" b="0" i="0" dirty="0">
                <a:solidFill>
                  <a:srgbClr val="232629"/>
                </a:solidFill>
                <a:effectLst/>
                <a:latin typeface="-apple-system"/>
              </a:rPr>
              <a:t>To remove them, you take a jeweler's screwdriver or a small pick or probe and push into a square tab nearby, which pushes the cleat away allowing you to withdraw the wire.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75C12B-403E-7DA9-E744-63A5BF8FBC8C}"/>
              </a:ext>
            </a:extLst>
          </p:cNvPr>
          <p:cNvSpPr txBox="1"/>
          <p:nvPr/>
        </p:nvSpPr>
        <p:spPr>
          <a:xfrm>
            <a:off x="5519058" y="3077097"/>
            <a:ext cx="6400801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 fontAlgn="base"/>
            <a:r>
              <a:rPr lang="en-US" sz="1400" b="0" i="0" dirty="0">
                <a:solidFill>
                  <a:srgbClr val="232629"/>
                </a:solidFill>
                <a:effectLst/>
                <a:latin typeface="-apple-system"/>
              </a:rPr>
              <a:t>Many people hate "push-in"</a:t>
            </a:r>
            <a:r>
              <a:rPr lang="en-US" sz="1400" dirty="0">
                <a:solidFill>
                  <a:srgbClr val="232629"/>
                </a:solidFill>
                <a:latin typeface="-apple-system"/>
              </a:rPr>
              <a:t> because:</a:t>
            </a:r>
          </a:p>
          <a:p>
            <a:pPr algn="l" fontAlgn="base"/>
            <a:r>
              <a:rPr lang="en-US" sz="1400" b="0" i="0" dirty="0">
                <a:solidFill>
                  <a:srgbClr val="232629"/>
                </a:solidFill>
                <a:effectLst/>
                <a:latin typeface="-apple-system"/>
              </a:rPr>
              <a:t> .. they are designed to work only with one gauge of wire (either 12 or 14AWG depending on the type of switch or outlet). </a:t>
            </a:r>
          </a:p>
          <a:p>
            <a:pPr algn="l" fontAlgn="base"/>
            <a:r>
              <a:rPr lang="en-US" sz="1400" dirty="0">
                <a:solidFill>
                  <a:srgbClr val="232629"/>
                </a:solidFill>
                <a:latin typeface="-apple-system"/>
              </a:rPr>
              <a:t> .. getting the wire out of the hole without damaging it is difficult</a:t>
            </a:r>
          </a:p>
          <a:p>
            <a:pPr algn="l" fontAlgn="base"/>
            <a:endParaRPr lang="en-US" sz="1400" dirty="0">
              <a:solidFill>
                <a:srgbClr val="232629"/>
              </a:solidFill>
              <a:latin typeface="-apple-system"/>
            </a:endParaRPr>
          </a:p>
          <a:p>
            <a:pPr algn="l" fontAlgn="base"/>
            <a:r>
              <a:rPr lang="en-US" sz="1400" dirty="0">
                <a:solidFill>
                  <a:srgbClr val="232629"/>
                </a:solidFill>
                <a:latin typeface="-apple-system"/>
              </a:rPr>
              <a:t>It is safer to use the side-clamping. Make sure to add isolation tape to prevent shorting on metal parts of bare ground.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A6CAE-EAAF-6008-F358-9E14866A0059}"/>
              </a:ext>
            </a:extLst>
          </p:cNvPr>
          <p:cNvSpPr txBox="1"/>
          <p:nvPr/>
        </p:nvSpPr>
        <p:spPr>
          <a:xfrm>
            <a:off x="-19959" y="0"/>
            <a:ext cx="5029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232629"/>
                </a:solidFill>
                <a:effectLst/>
              </a:rPr>
              <a:t>"Push-in" </a:t>
            </a:r>
            <a:r>
              <a:rPr lang="en-US" sz="2800" b="1" i="0" dirty="0" err="1">
                <a:solidFill>
                  <a:srgbClr val="232629"/>
                </a:solidFill>
                <a:effectLst/>
              </a:rPr>
              <a:t>QuickWire</a:t>
            </a:r>
            <a:r>
              <a:rPr lang="en-US" sz="2800" b="1" i="0" dirty="0">
                <a:solidFill>
                  <a:srgbClr val="232629"/>
                </a:solidFill>
                <a:effectLst/>
              </a:rPr>
              <a:t> terminals</a:t>
            </a:r>
            <a:endParaRPr lang="en-US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C42EFB-0833-F87B-7B76-A38CD6C29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0" y="680358"/>
            <a:ext cx="2320472" cy="213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53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408</Words>
  <Application>Microsoft Macintosh PowerPoint</Application>
  <PresentationFormat>Widescreen</PresentationFormat>
  <Paragraphs>50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-apple-system</vt:lpstr>
      <vt:lpstr>Arial</vt:lpstr>
      <vt:lpstr>Calibri</vt:lpstr>
      <vt:lpstr>Calibri Light</vt:lpstr>
      <vt:lpstr>Menlo</vt:lpstr>
      <vt:lpstr>Roboto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65</cp:revision>
  <dcterms:created xsi:type="dcterms:W3CDTF">2022-06-02T16:58:09Z</dcterms:created>
  <dcterms:modified xsi:type="dcterms:W3CDTF">2023-06-14T16:44:10Z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