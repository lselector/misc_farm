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2" r:id="rId2"/>
    <p:sldId id="258" r:id="rId3"/>
    <p:sldId id="264" r:id="rId4"/>
    <p:sldId id="266" r:id="rId5"/>
    <p:sldId id="270" r:id="rId6"/>
    <p:sldId id="269" r:id="rId7"/>
    <p:sldId id="261" r:id="rId8"/>
    <p:sldId id="268" r:id="rId9"/>
    <p:sldId id="267" r:id="rId10"/>
    <p:sldId id="271" r:id="rId11"/>
    <p:sldId id="265" r:id="rId12"/>
    <p:sldId id="27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2794"/>
  </p:normalViewPr>
  <p:slideViewPr>
    <p:cSldViewPr snapToGrid="0" snapToObjects="1">
      <p:cViewPr varScale="1">
        <p:scale>
          <a:sx n="73" d="100"/>
          <a:sy n="73" d="100"/>
        </p:scale>
        <p:origin x="20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8DD0-F5B2-15C1-96C2-359AABC4B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79889-D132-4397-0547-895A6BD28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84E4CA-9799-18AE-D4BA-5EFDB2627B56}"/>
              </a:ext>
            </a:extLst>
          </p:cNvPr>
          <p:cNvSpPr>
            <a:spLocks noGrp="1"/>
          </p:cNvSpPr>
          <p:nvPr>
            <p:ph type="dt" sz="half" idx="10"/>
          </p:nvPr>
        </p:nvSpPr>
        <p:spPr/>
        <p:txBody>
          <a:bodyPr/>
          <a:lstStyle/>
          <a:p>
            <a:fld id="{16286276-9013-2A43-82D1-BA4685C95117}" type="datetimeFigureOut">
              <a:t>6/13/26</a:t>
            </a:fld>
            <a:endParaRPr lang="en-US"/>
          </a:p>
        </p:txBody>
      </p:sp>
      <p:sp>
        <p:nvSpPr>
          <p:cNvPr id="5" name="Footer Placeholder 4">
            <a:extLst>
              <a:ext uri="{FF2B5EF4-FFF2-40B4-BE49-F238E27FC236}">
                <a16:creationId xmlns:a16="http://schemas.microsoft.com/office/drawing/2014/main" id="{5DEBB017-65CA-D094-EA2F-FAFBC1BF4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27274-3826-028B-64DD-856AA98C7A45}"/>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6313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12F-3D3D-6A09-2E35-EAD0C90AC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68E21-870B-193E-8931-72FD7C38A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E93E1-1A44-D49B-EE6B-0C6F21404F05}"/>
              </a:ext>
            </a:extLst>
          </p:cNvPr>
          <p:cNvSpPr>
            <a:spLocks noGrp="1"/>
          </p:cNvSpPr>
          <p:nvPr>
            <p:ph type="dt" sz="half" idx="10"/>
          </p:nvPr>
        </p:nvSpPr>
        <p:spPr/>
        <p:txBody>
          <a:bodyPr/>
          <a:lstStyle/>
          <a:p>
            <a:fld id="{16286276-9013-2A43-82D1-BA4685C95117}" type="datetimeFigureOut">
              <a:t>6/13/26</a:t>
            </a:fld>
            <a:endParaRPr lang="en-US"/>
          </a:p>
        </p:txBody>
      </p:sp>
      <p:sp>
        <p:nvSpPr>
          <p:cNvPr id="5" name="Footer Placeholder 4">
            <a:extLst>
              <a:ext uri="{FF2B5EF4-FFF2-40B4-BE49-F238E27FC236}">
                <a16:creationId xmlns:a16="http://schemas.microsoft.com/office/drawing/2014/main" id="{877064A9-6EAD-6647-B6CB-F24B6F708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46CF0-740D-F941-2552-93AF02201266}"/>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8861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D88C-E684-0092-0D27-0A9FFD171D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04D4E3-9349-5B4E-DEFB-7ADB22929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33B29-2069-185B-154E-83B4327982C4}"/>
              </a:ext>
            </a:extLst>
          </p:cNvPr>
          <p:cNvSpPr>
            <a:spLocks noGrp="1"/>
          </p:cNvSpPr>
          <p:nvPr>
            <p:ph type="dt" sz="half" idx="10"/>
          </p:nvPr>
        </p:nvSpPr>
        <p:spPr/>
        <p:txBody>
          <a:bodyPr/>
          <a:lstStyle/>
          <a:p>
            <a:fld id="{16286276-9013-2A43-82D1-BA4685C95117}" type="datetimeFigureOut">
              <a:t>6/13/26</a:t>
            </a:fld>
            <a:endParaRPr lang="en-US"/>
          </a:p>
        </p:txBody>
      </p:sp>
      <p:sp>
        <p:nvSpPr>
          <p:cNvPr id="5" name="Footer Placeholder 4">
            <a:extLst>
              <a:ext uri="{FF2B5EF4-FFF2-40B4-BE49-F238E27FC236}">
                <a16:creationId xmlns:a16="http://schemas.microsoft.com/office/drawing/2014/main" id="{0428DB26-E691-EBF7-87CA-8BD4D97E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CFEAD-6332-0882-351E-3AD7AFFFECA7}"/>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46009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A89-7A8C-2BF1-56CD-508B1E3AE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41508-596D-D8B8-26A5-1B6CEF8D4A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81378C-B8B8-D5FE-0A75-376AA5292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A08E7F-3616-927D-844D-CBA72BC67592}"/>
              </a:ext>
            </a:extLst>
          </p:cNvPr>
          <p:cNvSpPr>
            <a:spLocks noGrp="1"/>
          </p:cNvSpPr>
          <p:nvPr>
            <p:ph type="dt" sz="half" idx="10"/>
          </p:nvPr>
        </p:nvSpPr>
        <p:spPr/>
        <p:txBody>
          <a:bodyPr/>
          <a:lstStyle/>
          <a:p>
            <a:fld id="{16286276-9013-2A43-82D1-BA4685C95117}" type="datetimeFigureOut">
              <a:t>6/13/26</a:t>
            </a:fld>
            <a:endParaRPr lang="en-US"/>
          </a:p>
        </p:txBody>
      </p:sp>
      <p:sp>
        <p:nvSpPr>
          <p:cNvPr id="6" name="Footer Placeholder 5">
            <a:extLst>
              <a:ext uri="{FF2B5EF4-FFF2-40B4-BE49-F238E27FC236}">
                <a16:creationId xmlns:a16="http://schemas.microsoft.com/office/drawing/2014/main" id="{6558E9C8-FE23-8D40-43FF-7818A026A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E8D37-47EA-3C05-517B-2F85706E13B0}"/>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222441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0495-D3B5-8FE7-8A3A-C5B2727B1B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5AB79-3B1C-0ED7-23AF-4A8ADD4296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B6335-12A0-B132-55DA-56997016F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792DF-BF6E-04E5-BFF5-08BD5B478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99D652-4C1F-B377-280F-5B572A11F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3AB3D8-A558-F32C-0F6C-8E2295130683}"/>
              </a:ext>
            </a:extLst>
          </p:cNvPr>
          <p:cNvSpPr>
            <a:spLocks noGrp="1"/>
          </p:cNvSpPr>
          <p:nvPr>
            <p:ph type="dt" sz="half" idx="10"/>
          </p:nvPr>
        </p:nvSpPr>
        <p:spPr/>
        <p:txBody>
          <a:bodyPr/>
          <a:lstStyle/>
          <a:p>
            <a:fld id="{16286276-9013-2A43-82D1-BA4685C95117}" type="datetimeFigureOut">
              <a:t>6/13/26</a:t>
            </a:fld>
            <a:endParaRPr lang="en-US"/>
          </a:p>
        </p:txBody>
      </p:sp>
      <p:sp>
        <p:nvSpPr>
          <p:cNvPr id="8" name="Footer Placeholder 7">
            <a:extLst>
              <a:ext uri="{FF2B5EF4-FFF2-40B4-BE49-F238E27FC236}">
                <a16:creationId xmlns:a16="http://schemas.microsoft.com/office/drawing/2014/main" id="{8C219288-AD7A-3282-E5DF-333FFFC4C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E91949-9DF7-7EFE-416F-D6305FF02DDA}"/>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682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23D81-55BB-5F96-1196-26A5703482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A9AC36-FAC6-A4C4-5460-EEAEC1B5CD49}"/>
              </a:ext>
            </a:extLst>
          </p:cNvPr>
          <p:cNvSpPr>
            <a:spLocks noGrp="1"/>
          </p:cNvSpPr>
          <p:nvPr>
            <p:ph type="dt" sz="half" idx="10"/>
          </p:nvPr>
        </p:nvSpPr>
        <p:spPr/>
        <p:txBody>
          <a:bodyPr/>
          <a:lstStyle/>
          <a:p>
            <a:fld id="{16286276-9013-2A43-82D1-BA4685C95117}" type="datetimeFigureOut">
              <a:t>6/13/26</a:t>
            </a:fld>
            <a:endParaRPr lang="en-US"/>
          </a:p>
        </p:txBody>
      </p:sp>
      <p:sp>
        <p:nvSpPr>
          <p:cNvPr id="4" name="Footer Placeholder 3">
            <a:extLst>
              <a:ext uri="{FF2B5EF4-FFF2-40B4-BE49-F238E27FC236}">
                <a16:creationId xmlns:a16="http://schemas.microsoft.com/office/drawing/2014/main" id="{ACEB1433-EF97-53CD-FFA5-599DF825D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E68FD2-26E5-FFE6-4ACD-83B09598131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25742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5D5769-FB8F-7676-6B25-5EBA32B25F72}"/>
              </a:ext>
            </a:extLst>
          </p:cNvPr>
          <p:cNvSpPr>
            <a:spLocks noGrp="1"/>
          </p:cNvSpPr>
          <p:nvPr>
            <p:ph type="dt" sz="half" idx="10"/>
          </p:nvPr>
        </p:nvSpPr>
        <p:spPr/>
        <p:txBody>
          <a:bodyPr/>
          <a:lstStyle/>
          <a:p>
            <a:fld id="{16286276-9013-2A43-82D1-BA4685C95117}" type="datetimeFigureOut">
              <a:t>6/13/26</a:t>
            </a:fld>
            <a:endParaRPr lang="en-US"/>
          </a:p>
        </p:txBody>
      </p:sp>
      <p:sp>
        <p:nvSpPr>
          <p:cNvPr id="3" name="Footer Placeholder 2">
            <a:extLst>
              <a:ext uri="{FF2B5EF4-FFF2-40B4-BE49-F238E27FC236}">
                <a16:creationId xmlns:a16="http://schemas.microsoft.com/office/drawing/2014/main" id="{B6792E3F-F71A-D744-45DE-85B2710390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E25D8-219F-7305-3844-4703C5E5F54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17178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D570-06BE-22E1-B810-4D69936FD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BFEFE4-BB75-6E65-2899-3703E92ED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FEB9C2-F3DB-B576-224D-3FDA3DDFF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B924BA-FA14-81E6-46BF-4DC0ACFE74DC}"/>
              </a:ext>
            </a:extLst>
          </p:cNvPr>
          <p:cNvSpPr>
            <a:spLocks noGrp="1"/>
          </p:cNvSpPr>
          <p:nvPr>
            <p:ph type="dt" sz="half" idx="10"/>
          </p:nvPr>
        </p:nvSpPr>
        <p:spPr/>
        <p:txBody>
          <a:bodyPr/>
          <a:lstStyle/>
          <a:p>
            <a:fld id="{16286276-9013-2A43-82D1-BA4685C95117}" type="datetimeFigureOut">
              <a:t>6/13/26</a:t>
            </a:fld>
            <a:endParaRPr lang="en-US"/>
          </a:p>
        </p:txBody>
      </p:sp>
      <p:sp>
        <p:nvSpPr>
          <p:cNvPr id="6" name="Footer Placeholder 5">
            <a:extLst>
              <a:ext uri="{FF2B5EF4-FFF2-40B4-BE49-F238E27FC236}">
                <a16:creationId xmlns:a16="http://schemas.microsoft.com/office/drawing/2014/main" id="{4BFACD7B-C82D-408A-896E-02E718FB5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B12BD-21E4-1209-4294-DF6CA4FB3DBE}"/>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741213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B197-43DE-26A9-FBD5-F922DB56A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9AB21-2CEA-875A-6CBF-75B078D3A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7183E7-34CA-DF9E-984A-606380071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D1642-EBDC-1BB8-58FC-14A4C3ACEBE6}"/>
              </a:ext>
            </a:extLst>
          </p:cNvPr>
          <p:cNvSpPr>
            <a:spLocks noGrp="1"/>
          </p:cNvSpPr>
          <p:nvPr>
            <p:ph type="dt" sz="half" idx="10"/>
          </p:nvPr>
        </p:nvSpPr>
        <p:spPr/>
        <p:txBody>
          <a:bodyPr/>
          <a:lstStyle/>
          <a:p>
            <a:fld id="{16286276-9013-2A43-82D1-BA4685C95117}" type="datetimeFigureOut">
              <a:t>6/13/26</a:t>
            </a:fld>
            <a:endParaRPr lang="en-US"/>
          </a:p>
        </p:txBody>
      </p:sp>
      <p:sp>
        <p:nvSpPr>
          <p:cNvPr id="6" name="Footer Placeholder 5">
            <a:extLst>
              <a:ext uri="{FF2B5EF4-FFF2-40B4-BE49-F238E27FC236}">
                <a16:creationId xmlns:a16="http://schemas.microsoft.com/office/drawing/2014/main" id="{A7660FC4-1F32-B58B-D652-941B433D0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C0798-2750-3A94-2B3A-695DA7ABEFD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57753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7D9F-C985-C4AB-ED45-B78B858B7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6AC969-2D60-1CB3-6799-FB9ED2553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8186-263E-FD4A-53F8-A165DADB419A}"/>
              </a:ext>
            </a:extLst>
          </p:cNvPr>
          <p:cNvSpPr>
            <a:spLocks noGrp="1"/>
          </p:cNvSpPr>
          <p:nvPr>
            <p:ph type="dt" sz="half" idx="10"/>
          </p:nvPr>
        </p:nvSpPr>
        <p:spPr/>
        <p:txBody>
          <a:bodyPr/>
          <a:lstStyle/>
          <a:p>
            <a:fld id="{16286276-9013-2A43-82D1-BA4685C95117}" type="datetimeFigureOut">
              <a:t>6/13/26</a:t>
            </a:fld>
            <a:endParaRPr lang="en-US"/>
          </a:p>
        </p:txBody>
      </p:sp>
      <p:sp>
        <p:nvSpPr>
          <p:cNvPr id="5" name="Footer Placeholder 4">
            <a:extLst>
              <a:ext uri="{FF2B5EF4-FFF2-40B4-BE49-F238E27FC236}">
                <a16:creationId xmlns:a16="http://schemas.microsoft.com/office/drawing/2014/main" id="{227315FA-BCCC-2ABC-ACA2-5E0C6CEF1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603C4-A76D-7A84-168E-060D2B06890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93740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02FF-EECD-334D-5725-B39C40CD3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768F00-C914-3B13-0367-6D8129282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E1A78-ED9B-3691-96EB-5C0EB704CC80}"/>
              </a:ext>
            </a:extLst>
          </p:cNvPr>
          <p:cNvSpPr>
            <a:spLocks noGrp="1"/>
          </p:cNvSpPr>
          <p:nvPr>
            <p:ph type="dt" sz="half" idx="10"/>
          </p:nvPr>
        </p:nvSpPr>
        <p:spPr/>
        <p:txBody>
          <a:bodyPr/>
          <a:lstStyle/>
          <a:p>
            <a:fld id="{16286276-9013-2A43-82D1-BA4685C95117}" type="datetimeFigureOut">
              <a:t>6/13/26</a:t>
            </a:fld>
            <a:endParaRPr lang="en-US"/>
          </a:p>
        </p:txBody>
      </p:sp>
      <p:sp>
        <p:nvSpPr>
          <p:cNvPr id="5" name="Footer Placeholder 4">
            <a:extLst>
              <a:ext uri="{FF2B5EF4-FFF2-40B4-BE49-F238E27FC236}">
                <a16:creationId xmlns:a16="http://schemas.microsoft.com/office/drawing/2014/main" id="{CD3E0378-2403-D8A8-54CC-05A3BEED2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54D63-4319-317A-696B-C3EA4B47E06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85561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58682-75F9-C5EA-F27F-548F06300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2A268-0258-C17B-1F8F-68BA2735B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2A94D-D8D6-D318-7837-4C19ED151B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86276-9013-2A43-82D1-BA4685C95117}" type="datetimeFigureOut">
              <a:t>6/13/26</a:t>
            </a:fld>
            <a:endParaRPr lang="en-US"/>
          </a:p>
        </p:txBody>
      </p:sp>
      <p:sp>
        <p:nvSpPr>
          <p:cNvPr id="5" name="Footer Placeholder 4">
            <a:extLst>
              <a:ext uri="{FF2B5EF4-FFF2-40B4-BE49-F238E27FC236}">
                <a16:creationId xmlns:a16="http://schemas.microsoft.com/office/drawing/2014/main" id="{483D65C9-1B5B-5F28-B659-EB418FAC67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100E21-0F36-45EE-1A56-BB99C66DA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A1A7C-04A5-B94C-8298-87E642159084}" type="slidenum">
              <a:t>‹#›</a:t>
            </a:fld>
            <a:endParaRPr lang="en-US"/>
          </a:p>
        </p:txBody>
      </p:sp>
    </p:spTree>
    <p:extLst>
      <p:ext uri="{BB962C8B-B14F-4D97-AF65-F5344CB8AC3E}">
        <p14:creationId xmlns:p14="http://schemas.microsoft.com/office/powerpoint/2010/main" val="4229570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https://www.deere.com/en/tractors/compact-tractors/1-series-sub-compact-tractors/1023e/" TargetMode="External"/><Relationship Id="rId7"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hyperlink" Target="https://www.youtube.com/watch?v=TeHIpRNJ3LU" TargetMode="External"/><Relationship Id="rId10" Type="http://schemas.openxmlformats.org/officeDocument/2006/relationships/image" Target="../media/image6.jpeg"/><Relationship Id="rId4" Type="http://schemas.openxmlformats.org/officeDocument/2006/relationships/hyperlink" Target="https://www.deere.com/en/tractors/compact-tractors/1-series-sub-compact-tractors/1025r/" TargetMode="External"/><Relationship Id="rId9"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hyperlink" Target="https://www.tractordata.com/lawn-tractors/000/1/2/120-john-deere-x748.html" TargetMode="External"/><Relationship Id="rId3" Type="http://schemas.openxmlformats.org/officeDocument/2006/relationships/image" Target="../media/image13.jpeg"/><Relationship Id="rId7" Type="http://schemas.openxmlformats.org/officeDocument/2006/relationships/hyperlink" Target="https://www.tractordata.com/lawn-tractors/000/1/1/113-john-deere-x595.html" TargetMode="External"/><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hyperlink" Target="https://www.tractordata.com/lawn-tractors/000/1/0/106-john-deere-x495.html" TargetMode="External"/><Relationship Id="rId5" Type="http://schemas.openxmlformats.org/officeDocument/2006/relationships/hyperlink" Target="https://www.tractordata.com/lawn-tractors/000/0/4/46-john-deere-455.html" TargetMode="External"/><Relationship Id="rId4" Type="http://schemas.openxmlformats.org/officeDocument/2006/relationships/hyperlink" Target="https://www.deere.com/en/mowers/lawn-tractors/x700-series/" TargetMode="External"/><Relationship Id="rId9" Type="http://schemas.openxmlformats.org/officeDocument/2006/relationships/hyperlink" Target="https://www.tractordata.com/lawn-tractors/001/3/5/1355-john-deere-x758.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youtube.com/watch?v=ymtZBvOIQdw"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jpeg"/><Relationship Id="rId7" Type="http://schemas.openxmlformats.org/officeDocument/2006/relationships/hyperlink" Target="https://shop.deere.com/us/product/MIA885144%3A-Pressure-Relief-Valve/p/MIA885144" TargetMode="External"/><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hyperlink" Target="https://www.littlebuckloader.com/shop/p/little-bull-loader-front-end-loader-john-deere" TargetMode="External"/><Relationship Id="rId5" Type="http://schemas.openxmlformats.org/officeDocument/2006/relationships/image" Target="../media/image18.jpeg"/><Relationship Id="rId10" Type="http://schemas.openxmlformats.org/officeDocument/2006/relationships/image" Target="../media/image21.png"/><Relationship Id="rId4" Type="http://schemas.openxmlformats.org/officeDocument/2006/relationships/image" Target="../media/image17.jpeg"/><Relationship Id="rId9" Type="http://schemas.openxmlformats.org/officeDocument/2006/relationships/image" Target="../media/image20.jpeg"/></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5bkI9KLGFZ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usfiltermaxx.com/en/home/55--12-volt-fuel-and-oil-filter-heater-for-wvo-and-biodiesel.html" TargetMode="External"/><Relationship Id="rId7" Type="http://schemas.openxmlformats.org/officeDocument/2006/relationships/image" Target="../media/image26.png"/><Relationship Id="rId2" Type="http://schemas.openxmlformats.org/officeDocument/2006/relationships/hyperlink" Target="https://www.drivetrainamerica.com/3400037-zerostart-flexible-diesel-fuel-warmer-100w-120v-12-x-4/" TargetMode="External"/><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gif"/><Relationship Id="rId4" Type="http://schemas.openxmlformats.org/officeDocument/2006/relationships/hyperlink" Target="https://keenovo.store/products/keenovo-silicone-heating-pad-wvo-svo-fuel-filter-diesel-heater-nos-bottle-heater"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image" Target="../media/image27.jpeg"/><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facebook.com/groups/781254733349946/posts/803478744460878/" TargetMode="Externa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oDdR-KLIF-Q" TargetMode="External"/><Relationship Id="rId2" Type="http://schemas.openxmlformats.org/officeDocument/2006/relationships/image" Target="../media/image36.jpeg"/><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12.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png"/><Relationship Id="rId2" Type="http://schemas.openxmlformats.org/officeDocument/2006/relationships/image" Target="../media/image38.jpeg"/><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png"/><Relationship Id="rId4" Type="http://schemas.openxmlformats.org/officeDocument/2006/relationships/image" Target="../media/image40.jpe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www.tractor.com/news/5-of-the-best-compact-tractor-choices/" TargetMode="Externa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0" y="0"/>
            <a:ext cx="4434212" cy="1200329"/>
          </a:xfrm>
          <a:prstGeom prst="rect">
            <a:avLst/>
          </a:prstGeom>
          <a:noFill/>
        </p:spPr>
        <p:txBody>
          <a:bodyPr wrap="square" rtlCol="0">
            <a:spAutoFit/>
          </a:bodyPr>
          <a:lstStyle/>
          <a:p>
            <a:r>
              <a:rPr lang="en-US" sz="2400" b="1" dirty="0"/>
              <a:t>John Deere </a:t>
            </a:r>
            <a:r>
              <a:rPr lang="en-US" sz="2400" b="1" i="0" dirty="0">
                <a:solidFill>
                  <a:srgbClr val="333333"/>
                </a:solidFill>
                <a:effectLst/>
              </a:rPr>
              <a:t>Sub-Compact Tractor </a:t>
            </a:r>
          </a:p>
          <a:p>
            <a:r>
              <a:rPr lang="en-US" sz="1200" b="1" i="0" dirty="0">
                <a:solidFill>
                  <a:srgbClr val="FF0000"/>
                </a:solidFill>
                <a:effectLst/>
              </a:rPr>
              <a:t>Prices in 2023:</a:t>
            </a:r>
          </a:p>
          <a:p>
            <a:r>
              <a:rPr lang="en-US" sz="1200" b="1" i="0" dirty="0">
                <a:solidFill>
                  <a:srgbClr val="FF0000"/>
                </a:solidFill>
                <a:effectLst/>
              </a:rPr>
              <a:t>1023E - $15,600. </a:t>
            </a:r>
          </a:p>
          <a:p>
            <a:r>
              <a:rPr lang="en-US" sz="1200" b="1" dirty="0">
                <a:solidFill>
                  <a:srgbClr val="FF0000"/>
                </a:solidFill>
              </a:rPr>
              <a:t>1025R - $18,400 </a:t>
            </a:r>
          </a:p>
          <a:p>
            <a:r>
              <a:rPr lang="en-US" sz="1200" b="1" dirty="0">
                <a:solidFill>
                  <a:srgbClr val="FF0000"/>
                </a:solidFill>
              </a:rPr>
              <a:t>2025R - bigger wheels, longer, heavier)</a:t>
            </a:r>
          </a:p>
        </p:txBody>
      </p:sp>
      <p:pic>
        <p:nvPicPr>
          <p:cNvPr id="1028" name="Picture 4" descr="A Review of the Key Features of the John Deere 1023E Sub-Compact Tractor">
            <a:extLst>
              <a:ext uri="{FF2B5EF4-FFF2-40B4-BE49-F238E27FC236}">
                <a16:creationId xmlns:a16="http://schemas.microsoft.com/office/drawing/2014/main" id="{6F3D58B2-F45F-3598-9B8F-5F056C3FBB9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429537" y="2987093"/>
            <a:ext cx="2652054" cy="1901473"/>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7F2F999-0791-BA74-78AD-0B5B443629CA}"/>
              </a:ext>
            </a:extLst>
          </p:cNvPr>
          <p:cNvSpPr txBox="1"/>
          <p:nvPr/>
        </p:nvSpPr>
        <p:spPr>
          <a:xfrm>
            <a:off x="245841" y="1520645"/>
            <a:ext cx="3630511" cy="3416320"/>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Engine - </a:t>
            </a:r>
            <a:r>
              <a:rPr lang="en-US" dirty="0">
                <a:solidFill>
                  <a:srgbClr val="FF0000"/>
                </a:solidFill>
              </a:rPr>
              <a:t>diesel</a:t>
            </a:r>
            <a:r>
              <a:rPr lang="en-US" dirty="0"/>
              <a:t> , 21.5 or 24 hp</a:t>
            </a:r>
          </a:p>
          <a:p>
            <a:r>
              <a:rPr lang="en-US" dirty="0"/>
              <a:t>PTO – 14.5 or 17.2 hp</a:t>
            </a:r>
          </a:p>
          <a:p>
            <a:r>
              <a:rPr lang="en-US" dirty="0"/>
              <a:t>weight: 610 kg or 654 kg</a:t>
            </a:r>
          </a:p>
          <a:p>
            <a:r>
              <a:rPr lang="en-US" dirty="0"/>
              <a:t>mower deck, 120R loader, ...</a:t>
            </a:r>
          </a:p>
          <a:p>
            <a:endParaRPr lang="en-US" dirty="0"/>
          </a:p>
          <a:p>
            <a:r>
              <a:rPr lang="en-US" dirty="0"/>
              <a:t>1025R is better – more PTO power, can use 3-point hitch implement, PTO precision handling, better seat, better steering</a:t>
            </a:r>
          </a:p>
          <a:p>
            <a:endParaRPr lang="en-US" dirty="0"/>
          </a:p>
          <a:p>
            <a:r>
              <a:rPr lang="en-US" dirty="0"/>
              <a:t>1025R base weight – 1,440 </a:t>
            </a:r>
            <a:r>
              <a:rPr lang="en-US" dirty="0" err="1"/>
              <a:t>lbs</a:t>
            </a:r>
            <a:endParaRPr lang="en-US" dirty="0"/>
          </a:p>
          <a:p>
            <a:r>
              <a:rPr lang="en-US" dirty="0"/>
              <a:t>(compare with 805 </a:t>
            </a:r>
            <a:r>
              <a:rPr lang="en-US" dirty="0" err="1"/>
              <a:t>lbs</a:t>
            </a:r>
            <a:r>
              <a:rPr lang="en-US" dirty="0"/>
              <a:t> for jd-425)</a:t>
            </a:r>
          </a:p>
        </p:txBody>
      </p:sp>
      <p:sp>
        <p:nvSpPr>
          <p:cNvPr id="10" name="TextBox 9">
            <a:extLst>
              <a:ext uri="{FF2B5EF4-FFF2-40B4-BE49-F238E27FC236}">
                <a16:creationId xmlns:a16="http://schemas.microsoft.com/office/drawing/2014/main" id="{9944A156-B590-1201-FCB9-1A6AB95CC9B7}"/>
              </a:ext>
            </a:extLst>
          </p:cNvPr>
          <p:cNvSpPr txBox="1"/>
          <p:nvPr/>
        </p:nvSpPr>
        <p:spPr>
          <a:xfrm>
            <a:off x="5950334" y="76238"/>
            <a:ext cx="6138100" cy="646331"/>
          </a:xfrm>
          <a:prstGeom prst="rect">
            <a:avLst/>
          </a:prstGeom>
          <a:noFill/>
        </p:spPr>
        <p:txBody>
          <a:bodyPr wrap="square" rtlCol="0">
            <a:spAutoFit/>
          </a:bodyPr>
          <a:lstStyle/>
          <a:p>
            <a:r>
              <a:rPr lang="en-US" sz="1200" dirty="0">
                <a:hlinkClick r:id="rId3"/>
              </a:rPr>
              <a:t>https://</a:t>
            </a:r>
            <a:r>
              <a:rPr lang="en-US" sz="1200" dirty="0" err="1">
                <a:hlinkClick r:id="rId3"/>
              </a:rPr>
              <a:t>www.deere.com</a:t>
            </a:r>
            <a:r>
              <a:rPr lang="en-US" sz="1200" dirty="0">
                <a:hlinkClick r:id="rId3"/>
              </a:rPr>
              <a:t>/</a:t>
            </a:r>
            <a:r>
              <a:rPr lang="en-US" sz="1200" dirty="0" err="1">
                <a:hlinkClick r:id="rId3"/>
              </a:rPr>
              <a:t>en</a:t>
            </a:r>
            <a:r>
              <a:rPr lang="en-US" sz="1200" dirty="0">
                <a:hlinkClick r:id="rId3"/>
              </a:rPr>
              <a:t>/tractors/compact-tractors/1-series-sub-compact-tractors/1023e/</a:t>
            </a:r>
            <a:endParaRPr lang="en-US" sz="1200" dirty="0"/>
          </a:p>
          <a:p>
            <a:r>
              <a:rPr lang="en-US" sz="1200" dirty="0">
                <a:hlinkClick r:id="rId4"/>
              </a:rPr>
              <a:t>https://</a:t>
            </a:r>
            <a:r>
              <a:rPr lang="en-US" sz="1200" dirty="0" err="1">
                <a:hlinkClick r:id="rId4"/>
              </a:rPr>
              <a:t>www.deere.com</a:t>
            </a:r>
            <a:r>
              <a:rPr lang="en-US" sz="1200" dirty="0">
                <a:hlinkClick r:id="rId4"/>
              </a:rPr>
              <a:t>/</a:t>
            </a:r>
            <a:r>
              <a:rPr lang="en-US" sz="1200" dirty="0" err="1">
                <a:hlinkClick r:id="rId4"/>
              </a:rPr>
              <a:t>en</a:t>
            </a:r>
            <a:r>
              <a:rPr lang="en-US" sz="1200" dirty="0">
                <a:hlinkClick r:id="rId4"/>
              </a:rPr>
              <a:t>/tractors/compact-tractors/1-series-sub-compact-tractors/1025r/</a:t>
            </a:r>
            <a:endParaRPr lang="en-US" sz="1200" dirty="0"/>
          </a:p>
          <a:p>
            <a:r>
              <a:rPr lang="en-US" sz="1200" dirty="0">
                <a:hlinkClick r:id="rId5"/>
              </a:rPr>
              <a:t>https://www.youtube.com/watch?v=TeHIpRNJ3LU</a:t>
            </a:r>
            <a:endParaRPr lang="en-US" sz="1200" dirty="0"/>
          </a:p>
        </p:txBody>
      </p:sp>
      <p:pic>
        <p:nvPicPr>
          <p:cNvPr id="1030" name="Picture 6" descr="1023E Compact Utility Tractor | Explore John Deere">
            <a:extLst>
              <a:ext uri="{FF2B5EF4-FFF2-40B4-BE49-F238E27FC236}">
                <a16:creationId xmlns:a16="http://schemas.microsoft.com/office/drawing/2014/main" id="{ECD513EA-4836-83C9-A47F-D2F269773E44}"/>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3940712" y="1519149"/>
            <a:ext cx="1556574" cy="1435286"/>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4" name="Picture 10" descr="John Deere 1023E Sub-Compact Tractor | wordpress.soegel.de">
            <a:extLst>
              <a:ext uri="{FF2B5EF4-FFF2-40B4-BE49-F238E27FC236}">
                <a16:creationId xmlns:a16="http://schemas.microsoft.com/office/drawing/2014/main" id="{70ED0C30-7549-F8BA-D4CA-6CFCE8D6E9BC}"/>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150024" y="5050814"/>
            <a:ext cx="2459435" cy="1756739"/>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6" name="Picture 12" descr="Marissa Mann on X: &quot;Anybody in Twitter-land looking for a small acreage  tractor? We're looking to sell ours to upgrade to something larger so we  can move round bales for my hay">
            <a:extLst>
              <a:ext uri="{FF2B5EF4-FFF2-40B4-BE49-F238E27FC236}">
                <a16:creationId xmlns:a16="http://schemas.microsoft.com/office/drawing/2014/main" id="{E69E1B8C-C34E-819C-34CF-E2A2400F22C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9233584" y="976760"/>
            <a:ext cx="2854850" cy="1901473"/>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8" name="Picture 14" descr="John Deere 1023e backhoe usage for myself and the boys - YouTube">
            <a:extLst>
              <a:ext uri="{FF2B5EF4-FFF2-40B4-BE49-F238E27FC236}">
                <a16:creationId xmlns:a16="http://schemas.microsoft.com/office/drawing/2014/main" id="{65AE8BB0-FA56-E493-B5AA-349B09F298D3}"/>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3941472" y="2998351"/>
            <a:ext cx="3733458" cy="1938614"/>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CAF9AA-7188-244D-4207-3D6194A6A33F}"/>
              </a:ext>
            </a:extLst>
          </p:cNvPr>
          <p:cNvSpPr txBox="1"/>
          <p:nvPr/>
        </p:nvSpPr>
        <p:spPr>
          <a:xfrm>
            <a:off x="60784" y="5050814"/>
            <a:ext cx="3032686" cy="1754326"/>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dirty="0"/>
              <a:t>Front loader</a:t>
            </a:r>
          </a:p>
          <a:p>
            <a:pPr marL="285750" indent="-285750">
              <a:buFont typeface="Arial" panose="020B0604020202020204" pitchFamily="34" charset="0"/>
              <a:buChar char="•"/>
            </a:pPr>
            <a:r>
              <a:rPr lang="en-US" dirty="0"/>
              <a:t>Quick attach</a:t>
            </a:r>
          </a:p>
          <a:p>
            <a:pPr marL="285750" indent="-285750">
              <a:buFont typeface="Arial" panose="020B0604020202020204" pitchFamily="34" charset="0"/>
              <a:buChar char="•"/>
            </a:pPr>
            <a:r>
              <a:rPr lang="en-US" dirty="0"/>
              <a:t>back counter-weight</a:t>
            </a:r>
          </a:p>
          <a:p>
            <a:pPr marL="285750" indent="-285750">
              <a:buFont typeface="Arial" panose="020B0604020202020204" pitchFamily="34" charset="0"/>
              <a:buChar char="•"/>
            </a:pPr>
            <a:r>
              <a:rPr lang="en-US" dirty="0"/>
              <a:t>mower platform + bagger</a:t>
            </a:r>
          </a:p>
          <a:p>
            <a:pPr marL="285750" indent="-285750">
              <a:buFont typeface="Arial" panose="020B0604020202020204" pitchFamily="34" charset="0"/>
              <a:buChar char="•"/>
            </a:pPr>
            <a:r>
              <a:rPr lang="en-US" dirty="0"/>
              <a:t>tires, dual-tires</a:t>
            </a:r>
          </a:p>
          <a:p>
            <a:pPr marL="285750" indent="-285750">
              <a:buFont typeface="Arial" panose="020B0604020202020204" pitchFamily="34" charset="0"/>
              <a:buChar char="•"/>
            </a:pPr>
            <a:r>
              <a:rPr lang="en-US" dirty="0"/>
              <a:t>additional hydraulics</a:t>
            </a:r>
          </a:p>
        </p:txBody>
      </p:sp>
      <p:pic>
        <p:nvPicPr>
          <p:cNvPr id="1026" name="Picture 2" descr="It's Mow Time: Here are Three Tips for Buying, Maintaining and Operating  Mid-Mount or Rear-Mount Mowers - Compact Equipment Magazine">
            <a:extLst>
              <a:ext uri="{FF2B5EF4-FFF2-40B4-BE49-F238E27FC236}">
                <a16:creationId xmlns:a16="http://schemas.microsoft.com/office/drawing/2014/main" id="{E686C925-F3E8-F724-6E6D-7834F4452248}"/>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9436379" y="4983451"/>
            <a:ext cx="2652055" cy="1818841"/>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13D5CF-25CC-2C60-6834-D2E4CA048AE5}"/>
              </a:ext>
            </a:extLst>
          </p:cNvPr>
          <p:cNvSpPr txBox="1"/>
          <p:nvPr/>
        </p:nvSpPr>
        <p:spPr>
          <a:xfrm>
            <a:off x="7808126" y="5795074"/>
            <a:ext cx="1566971"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Auto-connect mower platform</a:t>
            </a:r>
          </a:p>
        </p:txBody>
      </p:sp>
    </p:spTree>
    <p:extLst>
      <p:ext uri="{BB962C8B-B14F-4D97-AF65-F5344CB8AC3E}">
        <p14:creationId xmlns:p14="http://schemas.microsoft.com/office/powerpoint/2010/main" val="3381841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1" y="0"/>
            <a:ext cx="5795011" cy="461665"/>
          </a:xfrm>
          <a:prstGeom prst="rect">
            <a:avLst/>
          </a:prstGeom>
          <a:noFill/>
        </p:spPr>
        <p:txBody>
          <a:bodyPr wrap="square" rtlCol="0">
            <a:spAutoFit/>
          </a:bodyPr>
          <a:lstStyle/>
          <a:p>
            <a:r>
              <a:rPr lang="en-US" sz="2400" b="1" dirty="0"/>
              <a:t>Backhoe 260b – use with 1025R</a:t>
            </a:r>
            <a:endParaRPr lang="en-US" sz="2400" b="1" i="0" dirty="0">
              <a:solidFill>
                <a:srgbClr val="333333"/>
              </a:solidFill>
              <a:effectLst/>
            </a:endParaRPr>
          </a:p>
        </p:txBody>
      </p:sp>
      <p:pic>
        <p:nvPicPr>
          <p:cNvPr id="3" name="Picture 4" descr="Backhoe Storage Dolly John Deere 260 and 260B Back Hoe">
            <a:extLst>
              <a:ext uri="{FF2B5EF4-FFF2-40B4-BE49-F238E27FC236}">
                <a16:creationId xmlns:a16="http://schemas.microsoft.com/office/drawing/2014/main" id="{3E020E38-F6F1-90B7-5CF4-DED18B6B7296}"/>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94310" y="3620079"/>
            <a:ext cx="3141240" cy="2176219"/>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4" name="Picture 6" descr="John Deere Backhoe Trencher Bucket - BXX10246">
            <a:extLst>
              <a:ext uri="{FF2B5EF4-FFF2-40B4-BE49-F238E27FC236}">
                <a16:creationId xmlns:a16="http://schemas.microsoft.com/office/drawing/2014/main" id="{A40DB4D0-0B65-E474-FAA9-89F49AE0BA2E}"/>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771525" y="201753"/>
            <a:ext cx="1394364" cy="1174025"/>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2" name="Picture 8" descr="Here's Everything You Need to Know About the 1025R | Lasseter Tractor  Company - Lasseter Equipment Group LLC">
            <a:extLst>
              <a:ext uri="{FF2B5EF4-FFF2-40B4-BE49-F238E27FC236}">
                <a16:creationId xmlns:a16="http://schemas.microsoft.com/office/drawing/2014/main" id="{77A051F0-1F54-EC8D-A775-6AB6A44A4F6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94310" y="971550"/>
            <a:ext cx="3141241" cy="2512992"/>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76C1E76-B84C-10BD-8368-BAEB43AEB16F}"/>
              </a:ext>
            </a:extLst>
          </p:cNvPr>
          <p:cNvSpPr txBox="1"/>
          <p:nvPr/>
        </p:nvSpPr>
        <p:spPr>
          <a:xfrm>
            <a:off x="2897504" y="442117"/>
            <a:ext cx="3785442" cy="923330"/>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b="1" dirty="0">
                <a:solidFill>
                  <a:srgbClr val="FF0000"/>
                </a:solidFill>
              </a:rPr>
              <a:t>$6K</a:t>
            </a:r>
          </a:p>
          <a:p>
            <a:pPr marL="285750" indent="-285750">
              <a:buFont typeface="Arial" panose="020B0604020202020204" pitchFamily="34" charset="0"/>
              <a:buChar char="•"/>
            </a:pPr>
            <a:r>
              <a:rPr lang="en-US" dirty="0"/>
              <a:t>has its own seat</a:t>
            </a:r>
          </a:p>
          <a:p>
            <a:pPr marL="285750" indent="-285750">
              <a:buFont typeface="Arial" panose="020B0604020202020204" pitchFamily="34" charset="0"/>
              <a:buChar char="•"/>
            </a:pPr>
            <a:r>
              <a:rPr lang="en-US" dirty="0"/>
              <a:t>regular bucket, trenching bucket</a:t>
            </a:r>
          </a:p>
        </p:txBody>
      </p:sp>
      <p:sp>
        <p:nvSpPr>
          <p:cNvPr id="7" name="TextBox 6">
            <a:extLst>
              <a:ext uri="{FF2B5EF4-FFF2-40B4-BE49-F238E27FC236}">
                <a16:creationId xmlns:a16="http://schemas.microsoft.com/office/drawing/2014/main" id="{BD458471-78CB-CF4F-AC46-8213A5687A8C}"/>
              </a:ext>
            </a:extLst>
          </p:cNvPr>
          <p:cNvSpPr txBox="1"/>
          <p:nvPr/>
        </p:nvSpPr>
        <p:spPr>
          <a:xfrm>
            <a:off x="8254468" y="313789"/>
            <a:ext cx="1394363" cy="646331"/>
          </a:xfrm>
          <a:prstGeom prst="rect">
            <a:avLst/>
          </a:prstGeom>
          <a:noFill/>
          <a:ln>
            <a:noFill/>
          </a:ln>
        </p:spPr>
        <p:txBody>
          <a:bodyPr wrap="square" rtlCol="0">
            <a:spAutoFit/>
          </a:bodyPr>
          <a:lstStyle/>
          <a:p>
            <a:pPr algn="ctr"/>
            <a:r>
              <a:rPr lang="en-US" dirty="0"/>
              <a:t>trenching bucket</a:t>
            </a:r>
          </a:p>
        </p:txBody>
      </p:sp>
      <p:pic>
        <p:nvPicPr>
          <p:cNvPr id="1026" name="Picture 2" descr="Backhoe VS Excavator : u/Friendly-Explosive">
            <a:extLst>
              <a:ext uri="{FF2B5EF4-FFF2-40B4-BE49-F238E27FC236}">
                <a16:creationId xmlns:a16="http://schemas.microsoft.com/office/drawing/2014/main" id="{59CC2E99-AD62-6227-8CBE-9DCBABB5DCD7}"/>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9862454" y="4179062"/>
            <a:ext cx="2242459" cy="26035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0429E4-AF4E-72D3-2146-DBFDE94382D0}"/>
              </a:ext>
            </a:extLst>
          </p:cNvPr>
          <p:cNvSpPr txBox="1"/>
          <p:nvPr/>
        </p:nvSpPr>
        <p:spPr>
          <a:xfrm>
            <a:off x="6018778" y="5897880"/>
            <a:ext cx="3785442" cy="646331"/>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Tracked Excavator - heavier duty, can dig more, father and deeper</a:t>
            </a:r>
          </a:p>
        </p:txBody>
      </p:sp>
      <p:sp>
        <p:nvSpPr>
          <p:cNvPr id="8" name="TextBox 7">
            <a:extLst>
              <a:ext uri="{FF2B5EF4-FFF2-40B4-BE49-F238E27FC236}">
                <a16:creationId xmlns:a16="http://schemas.microsoft.com/office/drawing/2014/main" id="{2EF4C58F-A0F2-6DE0-54B2-1F5894122D66}"/>
              </a:ext>
            </a:extLst>
          </p:cNvPr>
          <p:cNvSpPr txBox="1"/>
          <p:nvPr/>
        </p:nvSpPr>
        <p:spPr>
          <a:xfrm>
            <a:off x="6018778" y="4778455"/>
            <a:ext cx="3785442" cy="646331"/>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Wheeled Backhoe – smaller, lighter, more agile</a:t>
            </a:r>
          </a:p>
        </p:txBody>
      </p:sp>
      <p:pic>
        <p:nvPicPr>
          <p:cNvPr id="9" name="Picture 2" descr="1025R vs 2025R spec comparison graphic | Green Tractor Talk">
            <a:extLst>
              <a:ext uri="{FF2B5EF4-FFF2-40B4-BE49-F238E27FC236}">
                <a16:creationId xmlns:a16="http://schemas.microsoft.com/office/drawing/2014/main" id="{6EE92ACC-3C05-CEFE-7668-731BEC0696F5}"/>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499776" y="2033512"/>
            <a:ext cx="4693634" cy="26035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16BDBF8-78D7-2C01-01B7-8F1BC417A9C6}"/>
              </a:ext>
            </a:extLst>
          </p:cNvPr>
          <p:cNvSpPr txBox="1"/>
          <p:nvPr/>
        </p:nvSpPr>
        <p:spPr>
          <a:xfrm>
            <a:off x="4953872" y="1639625"/>
            <a:ext cx="3785442" cy="369332"/>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 1025R                    vs                     2025R</a:t>
            </a:r>
          </a:p>
        </p:txBody>
      </p:sp>
      <p:sp>
        <p:nvSpPr>
          <p:cNvPr id="11" name="TextBox 10">
            <a:extLst>
              <a:ext uri="{FF2B5EF4-FFF2-40B4-BE49-F238E27FC236}">
                <a16:creationId xmlns:a16="http://schemas.microsoft.com/office/drawing/2014/main" id="{75618DCE-DC57-E6AF-91F2-A8276D2F428D}"/>
              </a:ext>
            </a:extLst>
          </p:cNvPr>
          <p:cNvSpPr txBox="1"/>
          <p:nvPr/>
        </p:nvSpPr>
        <p:spPr>
          <a:xfrm>
            <a:off x="454375" y="5886450"/>
            <a:ext cx="2621109" cy="307777"/>
          </a:xfrm>
          <a:prstGeom prst="rect">
            <a:avLst/>
          </a:prstGeom>
          <a:noFill/>
        </p:spPr>
        <p:txBody>
          <a:bodyPr wrap="square" rtlCol="0">
            <a:spAutoFit/>
          </a:bodyPr>
          <a:lstStyle/>
          <a:p>
            <a:r>
              <a:rPr lang="en-US" sz="1400" b="1" dirty="0"/>
              <a:t>Backhoe 260b – use with 1025R</a:t>
            </a:r>
            <a:endParaRPr lang="en-US" sz="1400" b="1" i="0" dirty="0">
              <a:solidFill>
                <a:srgbClr val="333333"/>
              </a:solidFill>
              <a:effectLst/>
            </a:endParaRPr>
          </a:p>
        </p:txBody>
      </p:sp>
    </p:spTree>
    <p:extLst>
      <p:ext uri="{BB962C8B-B14F-4D97-AF65-F5344CB8AC3E}">
        <p14:creationId xmlns:p14="http://schemas.microsoft.com/office/powerpoint/2010/main" val="1823851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F6C77-9DF7-270C-CAF5-1425679466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56900E-1F44-5200-4B48-801051E08C91}"/>
              </a:ext>
            </a:extLst>
          </p:cNvPr>
          <p:cNvSpPr txBox="1"/>
          <p:nvPr/>
        </p:nvSpPr>
        <p:spPr>
          <a:xfrm>
            <a:off x="-1" y="0"/>
            <a:ext cx="2788921" cy="461665"/>
          </a:xfrm>
          <a:prstGeom prst="rect">
            <a:avLst/>
          </a:prstGeom>
          <a:noFill/>
        </p:spPr>
        <p:txBody>
          <a:bodyPr wrap="square" rtlCol="0">
            <a:spAutoFit/>
          </a:bodyPr>
          <a:lstStyle/>
          <a:p>
            <a:r>
              <a:rPr lang="en-US" sz="2400" b="1" dirty="0"/>
              <a:t>1025R   vs    X758</a:t>
            </a:r>
            <a:endParaRPr lang="en-US" sz="2400" b="1" i="0" dirty="0">
              <a:solidFill>
                <a:srgbClr val="333333"/>
              </a:solidFill>
              <a:effectLst/>
            </a:endParaRPr>
          </a:p>
        </p:txBody>
      </p:sp>
      <p:sp>
        <p:nvSpPr>
          <p:cNvPr id="8" name="TextBox 7">
            <a:extLst>
              <a:ext uri="{FF2B5EF4-FFF2-40B4-BE49-F238E27FC236}">
                <a16:creationId xmlns:a16="http://schemas.microsoft.com/office/drawing/2014/main" id="{021FCEF9-3A32-8081-FC7A-EE3CAB7FCD67}"/>
              </a:ext>
            </a:extLst>
          </p:cNvPr>
          <p:cNvSpPr txBox="1"/>
          <p:nvPr/>
        </p:nvSpPr>
        <p:spPr>
          <a:xfrm>
            <a:off x="262129" y="4908477"/>
            <a:ext cx="3785442" cy="1169551"/>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a:t>Both have diesel engine.</a:t>
            </a:r>
          </a:p>
          <a:p>
            <a:pPr marL="285750" indent="-285750">
              <a:buFont typeface="Arial" panose="020B0604020202020204" pitchFamily="34" charset="0"/>
              <a:buChar char="•"/>
            </a:pPr>
            <a:r>
              <a:rPr lang="en-US" sz="1400" dirty="0"/>
              <a:t>X758 is a garden tractor (mowing, with optional 3-point hitch and PTO)</a:t>
            </a:r>
          </a:p>
          <a:p>
            <a:pPr marL="285750" indent="-285750">
              <a:buFont typeface="Arial" panose="020B0604020202020204" pitchFamily="34" charset="0"/>
              <a:buChar char="•"/>
            </a:pPr>
            <a:r>
              <a:rPr lang="en-US" sz="1400" dirty="0"/>
              <a:t>1025R is a true sub-compact utility tractor (loader, backhoe, ...), heavier</a:t>
            </a:r>
          </a:p>
        </p:txBody>
      </p:sp>
      <p:sp>
        <p:nvSpPr>
          <p:cNvPr id="10" name="TextBox 9">
            <a:extLst>
              <a:ext uri="{FF2B5EF4-FFF2-40B4-BE49-F238E27FC236}">
                <a16:creationId xmlns:a16="http://schemas.microsoft.com/office/drawing/2014/main" id="{2EACD354-3FD4-BB1F-4646-02FD15077B14}"/>
              </a:ext>
            </a:extLst>
          </p:cNvPr>
          <p:cNvSpPr txBox="1"/>
          <p:nvPr/>
        </p:nvSpPr>
        <p:spPr>
          <a:xfrm>
            <a:off x="262129" y="775454"/>
            <a:ext cx="3785442" cy="646331"/>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 </a:t>
            </a:r>
            <a:r>
              <a:rPr lang="en-US" b="1" dirty="0"/>
              <a:t>1025R                vs                 X758</a:t>
            </a:r>
          </a:p>
          <a:p>
            <a:r>
              <a:rPr lang="en-US" dirty="0">
                <a:solidFill>
                  <a:srgbClr val="00B0F0"/>
                </a:solidFill>
              </a:rPr>
              <a:t>1,444 </a:t>
            </a:r>
            <a:r>
              <a:rPr lang="en-US" dirty="0" err="1">
                <a:solidFill>
                  <a:srgbClr val="00B0F0"/>
                </a:solidFill>
              </a:rPr>
              <a:t>lbs</a:t>
            </a:r>
            <a:r>
              <a:rPr lang="en-US" dirty="0">
                <a:solidFill>
                  <a:srgbClr val="00B0F0"/>
                </a:solidFill>
              </a:rPr>
              <a:t>                              1,038 </a:t>
            </a:r>
            <a:r>
              <a:rPr lang="en-US" dirty="0" err="1">
                <a:solidFill>
                  <a:srgbClr val="00B0F0"/>
                </a:solidFill>
              </a:rPr>
              <a:t>lbs</a:t>
            </a:r>
            <a:endParaRPr lang="en-US" dirty="0">
              <a:solidFill>
                <a:srgbClr val="00B0F0"/>
              </a:solidFill>
            </a:endParaRPr>
          </a:p>
        </p:txBody>
      </p:sp>
      <p:pic>
        <p:nvPicPr>
          <p:cNvPr id="12" name="Picture 11">
            <a:extLst>
              <a:ext uri="{FF2B5EF4-FFF2-40B4-BE49-F238E27FC236}">
                <a16:creationId xmlns:a16="http://schemas.microsoft.com/office/drawing/2014/main" id="{EE86A2F8-C2FD-D027-ABEC-F050AC6B85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01890" y="230832"/>
            <a:ext cx="1530350" cy="1200150"/>
          </a:xfrm>
          <a:prstGeom prst="rect">
            <a:avLst/>
          </a:prstGeom>
        </p:spPr>
      </p:pic>
      <p:pic>
        <p:nvPicPr>
          <p:cNvPr id="1028" name="Picture 4" descr="x758 vs 1025r: new owner impressions | My Tractor Forum">
            <a:extLst>
              <a:ext uri="{FF2B5EF4-FFF2-40B4-BE49-F238E27FC236}">
                <a16:creationId xmlns:a16="http://schemas.microsoft.com/office/drawing/2014/main" id="{454F66C4-2B11-96E3-1FC1-489106CE95D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62128" y="1908858"/>
            <a:ext cx="3785443" cy="28390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00305A7-914B-7488-5C71-E229D10278CE}"/>
              </a:ext>
            </a:extLst>
          </p:cNvPr>
          <p:cNvSpPr txBox="1"/>
          <p:nvPr/>
        </p:nvSpPr>
        <p:spPr>
          <a:xfrm>
            <a:off x="6086560" y="139392"/>
            <a:ext cx="5980472" cy="2046714"/>
          </a:xfrm>
          <a:prstGeom prst="rect">
            <a:avLst/>
          </a:prstGeom>
          <a:solidFill>
            <a:schemeClr val="accent4">
              <a:lumMod val="20000"/>
              <a:lumOff val="80000"/>
            </a:schemeClr>
          </a:solidFill>
          <a:ln>
            <a:solidFill>
              <a:srgbClr val="FF0000"/>
            </a:solidFill>
          </a:ln>
        </p:spPr>
        <p:txBody>
          <a:bodyPr wrap="square" rtlCol="0">
            <a:spAutoFit/>
          </a:bodyPr>
          <a:lstStyle/>
          <a:p>
            <a:r>
              <a:rPr lang="en-US" dirty="0"/>
              <a:t>X700 series 4WD models:  X738, X739, X758</a:t>
            </a:r>
          </a:p>
          <a:p>
            <a:r>
              <a:rPr lang="en-US" sz="1100" dirty="0">
                <a:hlinkClick r:id="rId4"/>
              </a:rPr>
              <a:t>https://www.deere.com/en/mowers/lawn-tractors/x700-series/ </a:t>
            </a:r>
            <a:endParaRPr lang="en-US" dirty="0"/>
          </a:p>
          <a:p>
            <a:pPr marL="285750" indent="-285750">
              <a:buFont typeface="Arial" panose="020B0604020202020204" pitchFamily="34" charset="0"/>
              <a:buChar char="•"/>
            </a:pPr>
            <a:r>
              <a:rPr lang="en-US" sz="1400" dirty="0"/>
              <a:t>All accept mowing decks 48, 54, 60 inches</a:t>
            </a:r>
          </a:p>
          <a:p>
            <a:pPr marL="285750" indent="-285750">
              <a:buFont typeface="Arial" panose="020B0604020202020204" pitchFamily="34" charset="0"/>
              <a:buChar char="•"/>
            </a:pPr>
            <a:r>
              <a:rPr lang="en-US" sz="1400" dirty="0"/>
              <a:t>All have power lift - two-function hydraulic lift system to raise and lower attachments (mower decks, front blades, snow blowers, or rotary brooms)</a:t>
            </a:r>
          </a:p>
          <a:p>
            <a:pPr marL="285750" indent="-285750">
              <a:buFont typeface="Arial" panose="020B0604020202020204" pitchFamily="34" charset="0"/>
              <a:buChar char="•"/>
            </a:pPr>
            <a:r>
              <a:rPr lang="en-US" sz="1400" dirty="0"/>
              <a:t>Prices: $17..$19K</a:t>
            </a:r>
          </a:p>
          <a:p>
            <a:pPr marL="285750" indent="-285750">
              <a:buFont typeface="Arial" panose="020B0604020202020204" pitchFamily="34" charset="0"/>
              <a:buChar char="•"/>
            </a:pPr>
            <a:r>
              <a:rPr lang="en-US" sz="1400" dirty="0"/>
              <a:t>X738 4wd, gas, fuel injection, V-twin, power lift, 947 </a:t>
            </a:r>
            <a:r>
              <a:rPr lang="en-US" sz="1400" dirty="0" err="1"/>
              <a:t>lbs</a:t>
            </a:r>
            <a:endParaRPr lang="en-US" sz="1400" dirty="0"/>
          </a:p>
          <a:p>
            <a:pPr marL="285750" indent="-285750">
              <a:buFont typeface="Arial" panose="020B0604020202020204" pitchFamily="34" charset="0"/>
              <a:buChar char="•"/>
            </a:pPr>
            <a:r>
              <a:rPr lang="en-US" sz="1400" dirty="0"/>
              <a:t>X739 4wd, gas, fuel injection, V-twin, power lift, 4-wheel steer</a:t>
            </a:r>
          </a:p>
          <a:p>
            <a:pPr marL="285750" indent="-285750">
              <a:buFont typeface="Arial" panose="020B0604020202020204" pitchFamily="34" charset="0"/>
              <a:buChar char="•"/>
            </a:pPr>
            <a:r>
              <a:rPr lang="en-US" sz="1400" dirty="0"/>
              <a:t>X758 4wd, diesel, power lift , 1,038 </a:t>
            </a:r>
            <a:r>
              <a:rPr lang="en-US" sz="1400" dirty="0" err="1"/>
              <a:t>lbs</a:t>
            </a:r>
            <a:endParaRPr lang="en-US" sz="1400" dirty="0"/>
          </a:p>
        </p:txBody>
      </p:sp>
      <p:sp>
        <p:nvSpPr>
          <p:cNvPr id="5" name="TextBox 4">
            <a:extLst>
              <a:ext uri="{FF2B5EF4-FFF2-40B4-BE49-F238E27FC236}">
                <a16:creationId xmlns:a16="http://schemas.microsoft.com/office/drawing/2014/main" id="{B4C867C9-7A27-AA35-EB7C-6B97B448BD44}"/>
              </a:ext>
            </a:extLst>
          </p:cNvPr>
          <p:cNvSpPr txBox="1"/>
          <p:nvPr/>
        </p:nvSpPr>
        <p:spPr>
          <a:xfrm>
            <a:off x="6086560" y="2323154"/>
            <a:ext cx="4093760" cy="2800767"/>
          </a:xfrm>
          <a:prstGeom prst="rect">
            <a:avLst/>
          </a:prstGeom>
          <a:solidFill>
            <a:schemeClr val="accent4">
              <a:lumMod val="20000"/>
              <a:lumOff val="80000"/>
            </a:schemeClr>
          </a:solidFill>
          <a:ln>
            <a:solidFill>
              <a:srgbClr val="FF0000"/>
            </a:solidFill>
          </a:ln>
        </p:spPr>
        <p:txBody>
          <a:bodyPr wrap="square" rtlCol="0">
            <a:spAutoFit/>
          </a:bodyPr>
          <a:lstStyle/>
          <a:p>
            <a:r>
              <a:rPr lang="en-US" sz="1100" dirty="0">
                <a:latin typeface="Menlo" panose="020B0609030804020204" pitchFamily="49" charset="0"/>
                <a:ea typeface="Menlo" panose="020B0609030804020204" pitchFamily="49" charset="0"/>
                <a:cs typeface="Menlo" panose="020B0609030804020204" pitchFamily="49" charset="0"/>
              </a:rPr>
              <a:t>JD-425 2wd gas carburetor</a:t>
            </a:r>
          </a:p>
          <a:p>
            <a:r>
              <a:rPr lang="en-US" sz="1100" dirty="0">
                <a:latin typeface="Menlo" panose="020B0609030804020204" pitchFamily="49" charset="0"/>
                <a:ea typeface="Menlo" panose="020B0609030804020204" pitchFamily="49" charset="0"/>
                <a:cs typeface="Menlo" panose="020B0609030804020204" pitchFamily="49" charset="0"/>
              </a:rPr>
              <a:t>JD-445 2wd gas fuel injection</a:t>
            </a:r>
          </a:p>
          <a:p>
            <a:r>
              <a:rPr lang="en-US" sz="1100" b="1" dirty="0">
                <a:solidFill>
                  <a:srgbClr val="FF0000"/>
                </a:solidFill>
                <a:latin typeface="Menlo" panose="020B0609030804020204" pitchFamily="49" charset="0"/>
                <a:ea typeface="Menlo" panose="020B0609030804020204" pitchFamily="49" charset="0"/>
                <a:cs typeface="Menlo" panose="020B0609030804020204" pitchFamily="49" charset="0"/>
              </a:rPr>
              <a:t>JD-455 2wd diesel</a:t>
            </a:r>
            <a:r>
              <a:rPr lang="en-US" sz="1100" dirty="0">
                <a:latin typeface="Menlo" panose="020B0609030804020204" pitchFamily="49" charset="0"/>
                <a:ea typeface="Menlo" panose="020B0609030804020204" pitchFamily="49" charset="0"/>
                <a:cs typeface="Menlo" panose="020B0609030804020204" pitchFamily="49" charset="0"/>
              </a:rPr>
              <a:t> - </a:t>
            </a:r>
            <a:r>
              <a:rPr lang="en-US" sz="1100" dirty="0">
                <a:latin typeface="Menlo" panose="020B0609030804020204" pitchFamily="49" charset="0"/>
                <a:ea typeface="Menlo" panose="020B0609030804020204" pitchFamily="49" charset="0"/>
                <a:cs typeface="Menlo" panose="020B0609030804020204" pitchFamily="49" charset="0"/>
                <a:hlinkClick r:id="rId5"/>
              </a:rPr>
              <a:t>link</a:t>
            </a:r>
            <a:endParaRPr lang="en-US" sz="1100" b="1" dirty="0">
              <a:solidFill>
                <a:srgbClr val="FF0000"/>
              </a:solidFill>
              <a:latin typeface="Menlo" panose="020B0609030804020204" pitchFamily="49" charset="0"/>
              <a:ea typeface="Menlo" panose="020B0609030804020204" pitchFamily="49" charset="0"/>
              <a:cs typeface="Menlo" panose="020B0609030804020204" pitchFamily="49" charset="0"/>
            </a:endParaRPr>
          </a:p>
          <a:p>
            <a:r>
              <a:rPr lang="en-US" sz="1100" dirty="0">
                <a:latin typeface="Menlo" panose="020B0609030804020204" pitchFamily="49" charset="0"/>
                <a:ea typeface="Menlo" panose="020B0609030804020204" pitchFamily="49" charset="0"/>
                <a:cs typeface="Menlo" panose="020B0609030804020204" pitchFamily="49" charset="0"/>
              </a:rPr>
              <a:t>---------</a:t>
            </a:r>
          </a:p>
          <a:p>
            <a:r>
              <a:rPr lang="en-US" sz="1100" dirty="0">
                <a:latin typeface="Menlo" panose="020B0609030804020204" pitchFamily="49" charset="0"/>
                <a:ea typeface="Menlo" panose="020B0609030804020204" pitchFamily="49" charset="0"/>
                <a:cs typeface="Menlo" panose="020B0609030804020204" pitchFamily="49" charset="0"/>
              </a:rPr>
              <a:t>X485 4wd gas fuel injection</a:t>
            </a:r>
          </a:p>
          <a:p>
            <a:r>
              <a:rPr lang="en-US" sz="1100" b="1" dirty="0">
                <a:solidFill>
                  <a:srgbClr val="FF0000"/>
                </a:solidFill>
                <a:latin typeface="Menlo" panose="020B0609030804020204" pitchFamily="49" charset="0"/>
                <a:ea typeface="Menlo" panose="020B0609030804020204" pitchFamily="49" charset="0"/>
                <a:cs typeface="Menlo" panose="020B0609030804020204" pitchFamily="49" charset="0"/>
              </a:rPr>
              <a:t>X495 2wd diesel  (2002-2005)</a:t>
            </a:r>
            <a:r>
              <a:rPr lang="en-US" sz="1100" dirty="0">
                <a:latin typeface="Menlo" panose="020B0609030804020204" pitchFamily="49" charset="0"/>
                <a:ea typeface="Menlo" panose="020B0609030804020204" pitchFamily="49" charset="0"/>
                <a:cs typeface="Menlo" panose="020B0609030804020204" pitchFamily="49" charset="0"/>
              </a:rPr>
              <a:t> - </a:t>
            </a:r>
            <a:r>
              <a:rPr lang="en-US" sz="1100" dirty="0">
                <a:latin typeface="Menlo" panose="020B0609030804020204" pitchFamily="49" charset="0"/>
                <a:ea typeface="Menlo" panose="020B0609030804020204" pitchFamily="49" charset="0"/>
                <a:cs typeface="Menlo" panose="020B0609030804020204" pitchFamily="49" charset="0"/>
                <a:hlinkClick r:id="rId6"/>
              </a:rPr>
              <a:t>link</a:t>
            </a:r>
            <a:r>
              <a:rPr lang="en-US" sz="1100" dirty="0">
                <a:latin typeface="Menlo" panose="020B0609030804020204" pitchFamily="49" charset="0"/>
                <a:ea typeface="Menlo" panose="020B0609030804020204" pitchFamily="49" charset="0"/>
                <a:cs typeface="Menlo" panose="020B0609030804020204" pitchFamily="49" charset="0"/>
              </a:rPr>
              <a:t> </a:t>
            </a:r>
          </a:p>
          <a:p>
            <a:r>
              <a:rPr lang="en-US" sz="1100" dirty="0">
                <a:latin typeface="Menlo" panose="020B0609030804020204" pitchFamily="49" charset="0"/>
                <a:ea typeface="Menlo" panose="020B0609030804020204" pitchFamily="49" charset="0"/>
                <a:cs typeface="Menlo" panose="020B0609030804020204" pitchFamily="49" charset="0"/>
              </a:rPr>
              <a:t>---------</a:t>
            </a:r>
          </a:p>
          <a:p>
            <a:r>
              <a:rPr lang="en-US" sz="1100" dirty="0">
                <a:latin typeface="Menlo" panose="020B0609030804020204" pitchFamily="49" charset="0"/>
                <a:ea typeface="Menlo" panose="020B0609030804020204" pitchFamily="49" charset="0"/>
                <a:cs typeface="Menlo" panose="020B0609030804020204" pitchFamily="49" charset="0"/>
              </a:rPr>
              <a:t>X590 2wd gas fuel injection</a:t>
            </a:r>
          </a:p>
          <a:p>
            <a:r>
              <a:rPr lang="en-US" sz="1100" b="1" dirty="0">
                <a:solidFill>
                  <a:srgbClr val="FF0000"/>
                </a:solidFill>
                <a:highlight>
                  <a:srgbClr val="FFFF00"/>
                </a:highlight>
                <a:latin typeface="Menlo" panose="020B0609030804020204" pitchFamily="49" charset="0"/>
                <a:ea typeface="Menlo" panose="020B0609030804020204" pitchFamily="49" charset="0"/>
                <a:cs typeface="Menlo" panose="020B0609030804020204" pitchFamily="49" charset="0"/>
              </a:rPr>
              <a:t>X595 4wd diesel (2002-2005) </a:t>
            </a:r>
            <a:r>
              <a:rPr lang="en-US" sz="1100" dirty="0">
                <a:highlight>
                  <a:srgbClr val="FFFF00"/>
                </a:highlight>
                <a:latin typeface="Menlo" panose="020B0609030804020204" pitchFamily="49" charset="0"/>
                <a:ea typeface="Menlo" panose="020B0609030804020204" pitchFamily="49" charset="0"/>
                <a:cs typeface="Menlo" panose="020B0609030804020204" pitchFamily="49" charset="0"/>
              </a:rPr>
              <a:t> - </a:t>
            </a:r>
            <a:r>
              <a:rPr lang="en-US" sz="1100" dirty="0">
                <a:highlight>
                  <a:srgbClr val="FFFF00"/>
                </a:highlight>
                <a:latin typeface="Menlo" panose="020B0609030804020204" pitchFamily="49" charset="0"/>
                <a:ea typeface="Menlo" panose="020B0609030804020204" pitchFamily="49" charset="0"/>
                <a:cs typeface="Menlo" panose="020B0609030804020204" pitchFamily="49" charset="0"/>
                <a:hlinkClick r:id="rId7"/>
              </a:rPr>
              <a:t>link</a:t>
            </a:r>
            <a:endParaRPr lang="en-US" sz="1100" b="1" dirty="0">
              <a:solidFill>
                <a:srgbClr val="FF0000"/>
              </a:solidFill>
              <a:highlight>
                <a:srgbClr val="FFFF00"/>
              </a:highlight>
              <a:latin typeface="Menlo" panose="020B0609030804020204" pitchFamily="49" charset="0"/>
              <a:ea typeface="Menlo" panose="020B0609030804020204" pitchFamily="49" charset="0"/>
              <a:cs typeface="Menlo" panose="020B0609030804020204" pitchFamily="49" charset="0"/>
            </a:endParaRPr>
          </a:p>
          <a:p>
            <a:r>
              <a:rPr lang="en-US" sz="1100" dirty="0">
                <a:latin typeface="Menlo" panose="020B0609030804020204" pitchFamily="49" charset="0"/>
                <a:ea typeface="Menlo" panose="020B0609030804020204" pitchFamily="49" charset="0"/>
                <a:cs typeface="Menlo" panose="020B0609030804020204" pitchFamily="49" charset="0"/>
              </a:rPr>
              <a:t>---------</a:t>
            </a:r>
          </a:p>
          <a:p>
            <a:r>
              <a:rPr lang="en-US" sz="1100" dirty="0">
                <a:latin typeface="Menlo" panose="020B0609030804020204" pitchFamily="49" charset="0"/>
                <a:ea typeface="Menlo" panose="020B0609030804020204" pitchFamily="49" charset="0"/>
                <a:cs typeface="Menlo" panose="020B0609030804020204" pitchFamily="49" charset="0"/>
              </a:rPr>
              <a:t>X738, X739 4wd gas fuel injection</a:t>
            </a:r>
          </a:p>
          <a:p>
            <a:r>
              <a:rPr lang="en-US" sz="1100" b="1" dirty="0">
                <a:solidFill>
                  <a:srgbClr val="FF0000"/>
                </a:solidFill>
                <a:latin typeface="Menlo" panose="020B0609030804020204" pitchFamily="49" charset="0"/>
                <a:ea typeface="Menlo" panose="020B0609030804020204" pitchFamily="49" charset="0"/>
                <a:cs typeface="Menlo" panose="020B0609030804020204" pitchFamily="49" charset="0"/>
              </a:rPr>
              <a:t>X740, X744 </a:t>
            </a:r>
            <a:r>
              <a:rPr lang="en-US" sz="1100" dirty="0">
                <a:latin typeface="Menlo" panose="020B0609030804020204" pitchFamily="49" charset="0"/>
                <a:ea typeface="Menlo" panose="020B0609030804020204" pitchFamily="49" charset="0"/>
                <a:cs typeface="Menlo" panose="020B0609030804020204" pitchFamily="49" charset="0"/>
              </a:rPr>
              <a:t>2wd diesel (2006-12)</a:t>
            </a:r>
          </a:p>
          <a:p>
            <a:r>
              <a:rPr lang="en-US" sz="1100" b="1" dirty="0">
                <a:solidFill>
                  <a:srgbClr val="FF0000"/>
                </a:solidFill>
                <a:highlight>
                  <a:srgbClr val="FFFF00"/>
                </a:highlight>
                <a:latin typeface="Menlo" panose="020B0609030804020204" pitchFamily="49" charset="0"/>
                <a:ea typeface="Menlo" panose="020B0609030804020204" pitchFamily="49" charset="0"/>
                <a:cs typeface="Menlo" panose="020B0609030804020204" pitchFamily="49" charset="0"/>
              </a:rPr>
              <a:t>X748, X749</a:t>
            </a:r>
            <a:r>
              <a:rPr lang="en-US" sz="1100" dirty="0">
                <a:highlight>
                  <a:srgbClr val="FFFF00"/>
                </a:highlight>
                <a:latin typeface="Menlo" panose="020B0609030804020204" pitchFamily="49" charset="0"/>
                <a:ea typeface="Menlo" panose="020B0609030804020204" pitchFamily="49" charset="0"/>
                <a:cs typeface="Menlo" panose="020B0609030804020204" pitchFamily="49" charset="0"/>
              </a:rPr>
              <a:t> 4wd diesel (2006-12) - </a:t>
            </a:r>
            <a:r>
              <a:rPr lang="en-US" sz="1100" dirty="0">
                <a:highlight>
                  <a:srgbClr val="FFFF00"/>
                </a:highlight>
                <a:latin typeface="Menlo" panose="020B0609030804020204" pitchFamily="49" charset="0"/>
                <a:ea typeface="Menlo" panose="020B0609030804020204" pitchFamily="49" charset="0"/>
                <a:cs typeface="Menlo" panose="020B0609030804020204" pitchFamily="49" charset="0"/>
                <a:hlinkClick r:id="rId8"/>
              </a:rPr>
              <a:t>link</a:t>
            </a:r>
            <a:endParaRPr lang="en-US" sz="1100" dirty="0">
              <a:highlight>
                <a:srgbClr val="FFFF00"/>
              </a:highlight>
              <a:latin typeface="Menlo" panose="020B0609030804020204" pitchFamily="49" charset="0"/>
              <a:ea typeface="Menlo" panose="020B0609030804020204" pitchFamily="49" charset="0"/>
              <a:cs typeface="Menlo" panose="020B0609030804020204" pitchFamily="49" charset="0"/>
            </a:endParaRPr>
          </a:p>
          <a:p>
            <a:r>
              <a:rPr lang="en-US" sz="1100" b="1" dirty="0">
                <a:solidFill>
                  <a:srgbClr val="FF0000"/>
                </a:solidFill>
                <a:latin typeface="Menlo" panose="020B0609030804020204" pitchFamily="49" charset="0"/>
                <a:ea typeface="Menlo" panose="020B0609030804020204" pitchFamily="49" charset="0"/>
                <a:cs typeface="Menlo" panose="020B0609030804020204" pitchFamily="49" charset="0"/>
              </a:rPr>
              <a:t>X750, X754</a:t>
            </a:r>
            <a:r>
              <a:rPr lang="en-US" sz="1100" dirty="0">
                <a:latin typeface="Menlo" panose="020B0609030804020204" pitchFamily="49" charset="0"/>
                <a:ea typeface="Menlo" panose="020B0609030804020204" pitchFamily="49" charset="0"/>
                <a:cs typeface="Menlo" panose="020B0609030804020204" pitchFamily="49" charset="0"/>
              </a:rPr>
              <a:t> 2wd diesel (2013-present) - </a:t>
            </a:r>
            <a:r>
              <a:rPr lang="en-US" sz="1100" dirty="0">
                <a:latin typeface="Menlo" panose="020B0609030804020204" pitchFamily="49" charset="0"/>
                <a:ea typeface="Menlo" panose="020B0609030804020204" pitchFamily="49" charset="0"/>
                <a:cs typeface="Menlo" panose="020B0609030804020204" pitchFamily="49" charset="0"/>
                <a:hlinkClick r:id="rId9"/>
              </a:rPr>
              <a:t>link</a:t>
            </a:r>
            <a:endParaRPr lang="en-US" sz="1100" dirty="0">
              <a:latin typeface="Menlo" panose="020B0609030804020204" pitchFamily="49" charset="0"/>
              <a:ea typeface="Menlo" panose="020B0609030804020204" pitchFamily="49" charset="0"/>
              <a:cs typeface="Menlo" panose="020B0609030804020204" pitchFamily="49" charset="0"/>
            </a:endParaRPr>
          </a:p>
          <a:p>
            <a:r>
              <a:rPr lang="en-US" sz="1100" b="1" dirty="0">
                <a:solidFill>
                  <a:srgbClr val="FF0000"/>
                </a:solidFill>
                <a:highlight>
                  <a:srgbClr val="FFFF00"/>
                </a:highlight>
                <a:latin typeface="Menlo" panose="020B0609030804020204" pitchFamily="49" charset="0"/>
                <a:ea typeface="Menlo" panose="020B0609030804020204" pitchFamily="49" charset="0"/>
                <a:cs typeface="Menlo" panose="020B0609030804020204" pitchFamily="49" charset="0"/>
              </a:rPr>
              <a:t>X758</a:t>
            </a:r>
            <a:r>
              <a:rPr lang="en-US" sz="1100" dirty="0">
                <a:highlight>
                  <a:srgbClr val="FFFF00"/>
                </a:highlight>
                <a:latin typeface="Menlo" panose="020B0609030804020204" pitchFamily="49" charset="0"/>
                <a:ea typeface="Menlo" panose="020B0609030804020204" pitchFamily="49" charset="0"/>
                <a:cs typeface="Menlo" panose="020B0609030804020204" pitchFamily="49" charset="0"/>
              </a:rPr>
              <a:t>       4wd diesel (2013-present) - </a:t>
            </a:r>
            <a:r>
              <a:rPr lang="en-US" sz="1100" dirty="0">
                <a:highlight>
                  <a:srgbClr val="FFFF00"/>
                </a:highlight>
                <a:latin typeface="Menlo" panose="020B0609030804020204" pitchFamily="49" charset="0"/>
                <a:ea typeface="Menlo" panose="020B0609030804020204" pitchFamily="49" charset="0"/>
                <a:cs typeface="Menlo" panose="020B0609030804020204" pitchFamily="49" charset="0"/>
                <a:hlinkClick r:id="rId9"/>
              </a:rPr>
              <a:t>link</a:t>
            </a:r>
            <a:endParaRPr lang="en-US" sz="1100" dirty="0">
              <a:highlight>
                <a:srgbClr val="FFFF00"/>
              </a:highlight>
              <a:latin typeface="Menlo" panose="020B0609030804020204" pitchFamily="49" charset="0"/>
              <a:ea typeface="Menlo" panose="020B0609030804020204" pitchFamily="49" charset="0"/>
              <a:cs typeface="Menlo" panose="020B0609030804020204" pitchFamily="49" charset="0"/>
            </a:endParaRPr>
          </a:p>
          <a:p>
            <a:r>
              <a:rPr lang="en-US" sz="1100" dirty="0">
                <a:latin typeface="Menlo" panose="020B0609030804020204" pitchFamily="49" charset="0"/>
                <a:ea typeface="Menlo" panose="020B0609030804020204" pitchFamily="49" charset="0"/>
                <a:cs typeface="Menlo" panose="020B0609030804020204" pitchFamily="49" charset="0"/>
              </a:rPr>
              <a:t>---------</a:t>
            </a:r>
          </a:p>
        </p:txBody>
      </p:sp>
    </p:spTree>
    <p:extLst>
      <p:ext uri="{BB962C8B-B14F-4D97-AF65-F5344CB8AC3E}">
        <p14:creationId xmlns:p14="http://schemas.microsoft.com/office/powerpoint/2010/main" val="701099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3D31-ECE5-9365-93A5-EADC758474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D0C96E-112C-9AD5-4197-E7D6921D9754}"/>
              </a:ext>
            </a:extLst>
          </p:cNvPr>
          <p:cNvSpPr txBox="1"/>
          <p:nvPr/>
        </p:nvSpPr>
        <p:spPr>
          <a:xfrm>
            <a:off x="-1" y="0"/>
            <a:ext cx="6096001" cy="523220"/>
          </a:xfrm>
          <a:prstGeom prst="rect">
            <a:avLst/>
          </a:prstGeom>
          <a:noFill/>
        </p:spPr>
        <p:txBody>
          <a:bodyPr wrap="square" rtlCol="0">
            <a:spAutoFit/>
          </a:bodyPr>
          <a:lstStyle/>
          <a:p>
            <a:r>
              <a:rPr lang="en-US" sz="2800" b="1" dirty="0"/>
              <a:t>John Deere X758</a:t>
            </a:r>
          </a:p>
        </p:txBody>
      </p:sp>
      <p:sp>
        <p:nvSpPr>
          <p:cNvPr id="8" name="TextBox 7">
            <a:extLst>
              <a:ext uri="{FF2B5EF4-FFF2-40B4-BE49-F238E27FC236}">
                <a16:creationId xmlns:a16="http://schemas.microsoft.com/office/drawing/2014/main" id="{40B1DAD5-098B-A626-FB87-CBFF942DA840}"/>
              </a:ext>
            </a:extLst>
          </p:cNvPr>
          <p:cNvSpPr txBox="1"/>
          <p:nvPr/>
        </p:nvSpPr>
        <p:spPr>
          <a:xfrm>
            <a:off x="255183" y="832299"/>
            <a:ext cx="5181598" cy="5693866"/>
          </a:xfrm>
          <a:prstGeom prst="rect">
            <a:avLst/>
          </a:prstGeom>
          <a:noFill/>
        </p:spPr>
        <p:txBody>
          <a:bodyPr wrap="square" rtlCol="0">
            <a:spAutoFit/>
          </a:bodyPr>
          <a:lstStyle/>
          <a:p>
            <a:pPr marL="285750" indent="-285750">
              <a:buFont typeface="Courier New" panose="02070309020205020404" pitchFamily="49" charset="0"/>
              <a:buChar char="o"/>
            </a:pPr>
            <a:r>
              <a:rPr lang="en-US" sz="1400" dirty="0"/>
              <a:t>Attachments: mower deck, snow plow, snow blower, snow broom, aerators, thatchers, material collection systems, utility carts, spreaders</a:t>
            </a:r>
            <a:endParaRPr lang="en-US" sz="1400" dirty="0">
              <a:hlinkClick r:id="rId2"/>
            </a:endParaRPr>
          </a:p>
          <a:p>
            <a:pPr marL="285750" indent="-285750">
              <a:buFont typeface="Courier New" panose="02070309020205020404" pitchFamily="49" charset="0"/>
              <a:buChar char="o"/>
            </a:pPr>
            <a:r>
              <a:rPr lang="en-US" sz="1400" dirty="0">
                <a:hlinkClick r:id="rId2"/>
              </a:rPr>
              <a:t>https://www.youtube.com/watch?v=ymtZBvOIQdw</a:t>
            </a:r>
            <a:endParaRPr lang="en-US" sz="1400" dirty="0"/>
          </a:p>
          <a:p>
            <a:pPr marL="285750" indent="-285750">
              <a:buFont typeface="Courier New" panose="02070309020205020404" pitchFamily="49" charset="0"/>
              <a:buChar char="o"/>
            </a:pPr>
            <a:r>
              <a:rPr lang="en-US" sz="1400" dirty="0"/>
              <a:t>54-inch mowing deck - shaft driven (no belt)</a:t>
            </a:r>
          </a:p>
          <a:p>
            <a:pPr marL="285750" indent="-285750">
              <a:buFont typeface="Courier New" panose="02070309020205020404" pitchFamily="49" charset="0"/>
              <a:buChar char="o"/>
            </a:pPr>
            <a:r>
              <a:rPr lang="en-US" sz="1400" dirty="0"/>
              <a:t>Power Flow Bagger System (3 bags)</a:t>
            </a:r>
          </a:p>
          <a:p>
            <a:pPr marL="285750" indent="-285750">
              <a:buFont typeface="Courier New" panose="02070309020205020404" pitchFamily="49" charset="0"/>
              <a:buChar char="o"/>
            </a:pPr>
            <a:r>
              <a:rPr lang="en-US" sz="1400" dirty="0"/>
              <a:t>Little Buck Loader (Aftermarket, front-mounted)</a:t>
            </a:r>
          </a:p>
          <a:p>
            <a:pPr marL="285750" indent="-285750">
              <a:buFont typeface="Courier New" panose="02070309020205020404" pitchFamily="49" charset="0"/>
              <a:buChar char="o"/>
            </a:pPr>
            <a:r>
              <a:rPr lang="en-US" sz="1400" dirty="0"/>
              <a:t>Grapple - mechanically controlled (closes when the bucket is curled and opens when tilted)</a:t>
            </a:r>
          </a:p>
          <a:p>
            <a:pPr marL="285750" indent="-285750">
              <a:buFont typeface="Courier New" panose="02070309020205020404" pitchFamily="49" charset="0"/>
              <a:buChar char="o"/>
            </a:pPr>
            <a:r>
              <a:rPr lang="en-US" sz="1400" dirty="0"/>
              <a:t>Piranha Bar - A jagged tooth bar bolted to the bucket edge to improve digging in dirt and rock</a:t>
            </a:r>
          </a:p>
          <a:p>
            <a:pPr marL="285750" indent="-285750">
              <a:buFont typeface="Courier New" panose="02070309020205020404" pitchFamily="49" charset="0"/>
              <a:buChar char="o"/>
            </a:pPr>
            <a:r>
              <a:rPr lang="en-US" sz="1400" dirty="0"/>
              <a:t>54-inch Blade (snow plowing or pushing dirt/leaves)</a:t>
            </a:r>
          </a:p>
          <a:p>
            <a:pPr marL="285750" indent="-285750">
              <a:buFont typeface="Courier New" panose="02070309020205020404" pitchFamily="49" charset="0"/>
              <a:buChar char="o"/>
            </a:pPr>
            <a:r>
              <a:rPr lang="en-US" sz="1400" dirty="0"/>
              <a:t>Click-and-Go System - a bracket system that allows for very fast switching of rear attachments</a:t>
            </a:r>
          </a:p>
          <a:p>
            <a:pPr marL="285750" indent="-285750">
              <a:buFont typeface="Courier New" panose="02070309020205020404" pitchFamily="49" charset="0"/>
              <a:buChar char="o"/>
            </a:pPr>
            <a:r>
              <a:rPr lang="en-US" sz="1400" dirty="0"/>
              <a:t> (like the bagger or weight brackets) without a full 3-point hitch</a:t>
            </a:r>
          </a:p>
          <a:p>
            <a:pPr marL="285750" indent="-285750">
              <a:buFont typeface="Courier New" panose="02070309020205020404" pitchFamily="49" charset="0"/>
              <a:buChar char="o"/>
            </a:pPr>
            <a:r>
              <a:rPr lang="en-US" sz="1400" dirty="0"/>
              <a:t>Weights - used on the rear for traction</a:t>
            </a:r>
          </a:p>
          <a:p>
            <a:pPr marL="285750" indent="-285750">
              <a:buFont typeface="Courier New" panose="02070309020205020404" pitchFamily="49" charset="0"/>
              <a:buChar char="o"/>
            </a:pPr>
            <a:r>
              <a:rPr lang="en-US" sz="1400" dirty="0"/>
              <a:t>Spreader - a 125lb electronic spreader for salt, seed, or fertilizer</a:t>
            </a:r>
          </a:p>
          <a:p>
            <a:pPr marL="285750" indent="-285750">
              <a:buFont typeface="Courier New" panose="02070309020205020404" pitchFamily="49" charset="0"/>
              <a:buChar char="o"/>
            </a:pPr>
            <a:endParaRPr lang="en-US" sz="1400" dirty="0"/>
          </a:p>
          <a:p>
            <a:pPr marL="285750" indent="-285750">
              <a:buFont typeface="Courier New" panose="02070309020205020404" pitchFamily="49" charset="0"/>
              <a:buChar char="o"/>
            </a:pPr>
            <a:r>
              <a:rPr lang="en-US" sz="1400" dirty="0"/>
              <a:t>Tires - HDAP (Heavy-Duty All-Purpose) tires</a:t>
            </a:r>
          </a:p>
          <a:p>
            <a:pPr marL="285750" indent="-285750">
              <a:buFont typeface="Courier New" panose="02070309020205020404" pitchFamily="49" charset="0"/>
              <a:buChar char="o"/>
            </a:pPr>
            <a:r>
              <a:rPr lang="en-US" sz="1400" dirty="0"/>
              <a:t>Bulbs - change to LED (</a:t>
            </a:r>
            <a:r>
              <a:rPr lang="en-US" sz="1400" dirty="0" err="1"/>
              <a:t>ebay</a:t>
            </a:r>
            <a:r>
              <a:rPr lang="en-US" sz="1400" dirty="0"/>
              <a:t>)</a:t>
            </a:r>
          </a:p>
          <a:p>
            <a:pPr marL="285750" indent="-285750">
              <a:buFont typeface="Courier New" panose="02070309020205020404" pitchFamily="49" charset="0"/>
              <a:buChar char="o"/>
            </a:pPr>
            <a:r>
              <a:rPr lang="en-US" sz="1400" dirty="0"/>
              <a:t>The user "shimmed" the Implement Relief Valve to increase hydraulic pressure from roughly 1,000 PSI to 1,350 PSI to improve the lifting power of the loader</a:t>
            </a:r>
          </a:p>
          <a:p>
            <a:pPr marL="285750" indent="-285750">
              <a:buFont typeface="Courier New" panose="02070309020205020404" pitchFamily="49" charset="0"/>
              <a:buChar char="o"/>
            </a:pPr>
            <a:r>
              <a:rPr lang="en-US" sz="1400" dirty="0"/>
              <a:t>"</a:t>
            </a:r>
            <a:r>
              <a:rPr lang="en-US" sz="1400" dirty="0" err="1"/>
              <a:t>Autoconnect</a:t>
            </a:r>
            <a:r>
              <a:rPr lang="en-US" sz="1400" dirty="0"/>
              <a:t>" drive shaft for the deck is noisy and vibrate. Better swap it for a manual shaft connection for a smoother, quieter ride.</a:t>
            </a:r>
          </a:p>
        </p:txBody>
      </p:sp>
      <p:pic>
        <p:nvPicPr>
          <p:cNvPr id="4" name="Picture 3">
            <a:extLst>
              <a:ext uri="{FF2B5EF4-FFF2-40B4-BE49-F238E27FC236}">
                <a16:creationId xmlns:a16="http://schemas.microsoft.com/office/drawing/2014/main" id="{B42ACF02-2E18-B107-ECBC-A3BE9CACFC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57850" y="261610"/>
            <a:ext cx="5464920" cy="4374185"/>
          </a:xfrm>
          <a:prstGeom prst="rect">
            <a:avLst/>
          </a:prstGeom>
          <a:ln>
            <a:solidFill>
              <a:srgbClr val="FF0000"/>
            </a:solidFill>
          </a:ln>
        </p:spPr>
      </p:pic>
      <p:sp>
        <p:nvSpPr>
          <p:cNvPr id="3" name="TextBox 2">
            <a:extLst>
              <a:ext uri="{FF2B5EF4-FFF2-40B4-BE49-F238E27FC236}">
                <a16:creationId xmlns:a16="http://schemas.microsoft.com/office/drawing/2014/main" id="{615BF802-DEE9-AC91-C7F2-89B574D2C872}"/>
              </a:ext>
            </a:extLst>
          </p:cNvPr>
          <p:cNvSpPr txBox="1"/>
          <p:nvPr/>
        </p:nvSpPr>
        <p:spPr>
          <a:xfrm>
            <a:off x="7010402" y="4897405"/>
            <a:ext cx="5181598" cy="954107"/>
          </a:xfrm>
          <a:prstGeom prst="rect">
            <a:avLst/>
          </a:prstGeom>
          <a:noFill/>
        </p:spPr>
        <p:txBody>
          <a:bodyPr wrap="square" rtlCol="0">
            <a:spAutoFit/>
          </a:bodyPr>
          <a:lstStyle/>
          <a:p>
            <a:pPr marL="285750" indent="-285750">
              <a:buFont typeface="Courier New" panose="02070309020205020404" pitchFamily="49" charset="0"/>
              <a:buChar char="o"/>
            </a:pPr>
            <a:r>
              <a:rPr lang="en-US" sz="1400" dirty="0"/>
              <a:t>Note: It is possible to install the a CAT‑1 style hitch kit at the back. This will give ability to attach standard 3-point attachments, like a compact 3‑point log splitter powered by tractor’s hydraulics</a:t>
            </a:r>
          </a:p>
        </p:txBody>
      </p:sp>
    </p:spTree>
    <p:extLst>
      <p:ext uri="{BB962C8B-B14F-4D97-AF65-F5344CB8AC3E}">
        <p14:creationId xmlns:p14="http://schemas.microsoft.com/office/powerpoint/2010/main" val="1825921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3D31-ECE5-9365-93A5-EADC758474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D0C96E-112C-9AD5-4197-E7D6921D9754}"/>
              </a:ext>
            </a:extLst>
          </p:cNvPr>
          <p:cNvSpPr txBox="1"/>
          <p:nvPr/>
        </p:nvSpPr>
        <p:spPr>
          <a:xfrm>
            <a:off x="-1" y="0"/>
            <a:ext cx="6096001" cy="523220"/>
          </a:xfrm>
          <a:prstGeom prst="rect">
            <a:avLst/>
          </a:prstGeom>
          <a:noFill/>
        </p:spPr>
        <p:txBody>
          <a:bodyPr wrap="square" rtlCol="0">
            <a:spAutoFit/>
          </a:bodyPr>
          <a:lstStyle/>
          <a:p>
            <a:r>
              <a:rPr lang="en-US" sz="2800" b="1" dirty="0"/>
              <a:t>Little Buck Loader vs Little Bull Loader</a:t>
            </a:r>
          </a:p>
        </p:txBody>
      </p:sp>
      <p:pic>
        <p:nvPicPr>
          <p:cNvPr id="1026" name="Picture 2">
            <a:extLst>
              <a:ext uri="{FF2B5EF4-FFF2-40B4-BE49-F238E27FC236}">
                <a16:creationId xmlns:a16="http://schemas.microsoft.com/office/drawing/2014/main" id="{F73B192E-1F8A-5529-D2EE-6E2B28005294}"/>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a:fillRect/>
          </a:stretch>
        </p:blipFill>
        <p:spPr bwMode="auto">
          <a:xfrm>
            <a:off x="124176" y="643467"/>
            <a:ext cx="4413957" cy="2390545"/>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A06A8B9-07AC-29E1-2271-356BE96EACF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a:fillRect/>
          </a:stretch>
        </p:blipFill>
        <p:spPr bwMode="auto">
          <a:xfrm>
            <a:off x="124176" y="3154259"/>
            <a:ext cx="2726267" cy="2509251"/>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0" name="Picture 6" descr="Little Buck Loader Blog">
            <a:extLst>
              <a:ext uri="{FF2B5EF4-FFF2-40B4-BE49-F238E27FC236}">
                <a16:creationId xmlns:a16="http://schemas.microsoft.com/office/drawing/2014/main" id="{83F15B0B-B9BB-7D96-B32C-A6672662FC66}"/>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a:fillRect/>
          </a:stretch>
        </p:blipFill>
        <p:spPr bwMode="auto">
          <a:xfrm>
            <a:off x="8043333" y="118217"/>
            <a:ext cx="4024491" cy="2533938"/>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2" name="Picture 8" descr="No photo description available.">
            <a:extLst>
              <a:ext uri="{FF2B5EF4-FFF2-40B4-BE49-F238E27FC236}">
                <a16:creationId xmlns:a16="http://schemas.microsoft.com/office/drawing/2014/main" id="{BB1F295C-5615-0034-FB11-C82424AF61BD}"/>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a:fillRect/>
          </a:stretch>
        </p:blipFill>
        <p:spPr bwMode="auto">
          <a:xfrm>
            <a:off x="8043333" y="2819505"/>
            <a:ext cx="4024491" cy="2552724"/>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5454B3BE-C5B4-2FC7-62AF-60BA291B02C0}"/>
              </a:ext>
            </a:extLst>
          </p:cNvPr>
          <p:cNvGraphicFramePr>
            <a:graphicFrameLocks noGrp="1"/>
          </p:cNvGraphicFramePr>
          <p:nvPr>
            <p:extLst>
              <p:ext uri="{D42A27DB-BD31-4B8C-83A1-F6EECF244321}">
                <p14:modId xmlns:p14="http://schemas.microsoft.com/office/powerpoint/2010/main" val="364487740"/>
              </p:ext>
            </p:extLst>
          </p:nvPr>
        </p:nvGraphicFramePr>
        <p:xfrm>
          <a:off x="3008487" y="3208887"/>
          <a:ext cx="4876801" cy="1295400"/>
        </p:xfrm>
        <a:graphic>
          <a:graphicData uri="http://schemas.openxmlformats.org/drawingml/2006/table">
            <a:tbl>
              <a:tblPr firstRow="1" bandRow="1">
                <a:tableStyleId>{C4B1156A-380E-4F78-BDF5-A606A8083BF9}</a:tableStyleId>
              </a:tblPr>
              <a:tblGrid>
                <a:gridCol w="1904397">
                  <a:extLst>
                    <a:ext uri="{9D8B030D-6E8A-4147-A177-3AD203B41FA5}">
                      <a16:colId xmlns:a16="http://schemas.microsoft.com/office/drawing/2014/main" val="3479330998"/>
                    </a:ext>
                  </a:extLst>
                </a:gridCol>
                <a:gridCol w="1346804">
                  <a:extLst>
                    <a:ext uri="{9D8B030D-6E8A-4147-A177-3AD203B41FA5}">
                      <a16:colId xmlns:a16="http://schemas.microsoft.com/office/drawing/2014/main" val="1162570689"/>
                    </a:ext>
                  </a:extLst>
                </a:gridCol>
                <a:gridCol w="1625600">
                  <a:extLst>
                    <a:ext uri="{9D8B030D-6E8A-4147-A177-3AD203B41FA5}">
                      <a16:colId xmlns:a16="http://schemas.microsoft.com/office/drawing/2014/main" val="2197078146"/>
                    </a:ext>
                  </a:extLst>
                </a:gridCol>
              </a:tblGrid>
              <a:tr h="231987">
                <a:tc>
                  <a:txBody>
                    <a:bodyPr/>
                    <a:lstStyle/>
                    <a:p>
                      <a:endParaRPr lang="en-US" sz="1100"/>
                    </a:p>
                  </a:txBody>
                  <a:tcPr/>
                </a:tc>
                <a:tc>
                  <a:txBody>
                    <a:bodyPr/>
                    <a:lstStyle/>
                    <a:p>
                      <a:r>
                        <a:rPr lang="en-US" sz="1100" dirty="0"/>
                        <a:t>Buck</a:t>
                      </a:r>
                    </a:p>
                  </a:txBody>
                  <a:tcPr/>
                </a:tc>
                <a:tc>
                  <a:txBody>
                    <a:bodyPr/>
                    <a:lstStyle/>
                    <a:p>
                      <a:r>
                        <a:rPr lang="en-US" sz="1100" dirty="0"/>
                        <a:t>Bull</a:t>
                      </a:r>
                    </a:p>
                  </a:txBody>
                  <a:tcPr/>
                </a:tc>
                <a:extLst>
                  <a:ext uri="{0D108BD9-81ED-4DB2-BD59-A6C34878D82A}">
                    <a16:rowId xmlns:a16="http://schemas.microsoft.com/office/drawing/2014/main" val="1208195104"/>
                  </a:ext>
                </a:extLst>
              </a:tr>
              <a:tr h="231987">
                <a:tc>
                  <a:txBody>
                    <a:bodyPr/>
                    <a:lstStyle/>
                    <a:p>
                      <a:r>
                        <a:rPr lang="en-US" sz="1100" dirty="0"/>
                        <a:t>Weight </a:t>
                      </a:r>
                      <a:r>
                        <a:rPr lang="en-US" sz="1100" dirty="0" err="1"/>
                        <a:t>lbs</a:t>
                      </a:r>
                      <a:endParaRPr lang="en-US" sz="1100" dirty="0"/>
                    </a:p>
                  </a:txBody>
                  <a:tcPr/>
                </a:tc>
                <a:tc>
                  <a:txBody>
                    <a:bodyPr/>
                    <a:lstStyle/>
                    <a:p>
                      <a:r>
                        <a:rPr lang="en-US" sz="1100" dirty="0"/>
                        <a:t>200</a:t>
                      </a:r>
                    </a:p>
                  </a:txBody>
                  <a:tcPr/>
                </a:tc>
                <a:tc>
                  <a:txBody>
                    <a:bodyPr/>
                    <a:lstStyle/>
                    <a:p>
                      <a:r>
                        <a:rPr lang="en-US" sz="1100" dirty="0"/>
                        <a:t>300</a:t>
                      </a:r>
                    </a:p>
                  </a:txBody>
                  <a:tcPr/>
                </a:tc>
                <a:extLst>
                  <a:ext uri="{0D108BD9-81ED-4DB2-BD59-A6C34878D82A}">
                    <a16:rowId xmlns:a16="http://schemas.microsoft.com/office/drawing/2014/main" val="763763541"/>
                  </a:ext>
                </a:extLst>
              </a:tr>
              <a:tr h="231987">
                <a:tc>
                  <a:txBody>
                    <a:bodyPr/>
                    <a:lstStyle/>
                    <a:p>
                      <a:r>
                        <a:rPr lang="en-US" sz="1100" dirty="0"/>
                        <a:t>Install time (min)</a:t>
                      </a:r>
                    </a:p>
                  </a:txBody>
                  <a:tcPr/>
                </a:tc>
                <a:tc>
                  <a:txBody>
                    <a:bodyPr/>
                    <a:lstStyle/>
                    <a:p>
                      <a:r>
                        <a:rPr lang="en-US" sz="1100" dirty="0"/>
                        <a:t>2-3</a:t>
                      </a:r>
                    </a:p>
                  </a:txBody>
                  <a:tcPr/>
                </a:tc>
                <a:tc>
                  <a:txBody>
                    <a:bodyPr/>
                    <a:lstStyle/>
                    <a:p>
                      <a:r>
                        <a:rPr lang="en-US" sz="1100" dirty="0"/>
                        <a:t>5-10</a:t>
                      </a:r>
                    </a:p>
                  </a:txBody>
                  <a:tcPr/>
                </a:tc>
                <a:extLst>
                  <a:ext uri="{0D108BD9-81ED-4DB2-BD59-A6C34878D82A}">
                    <a16:rowId xmlns:a16="http://schemas.microsoft.com/office/drawing/2014/main" val="1032192240"/>
                  </a:ext>
                </a:extLst>
              </a:tr>
              <a:tr h="231987">
                <a:tc>
                  <a:txBody>
                    <a:bodyPr/>
                    <a:lstStyle/>
                    <a:p>
                      <a:r>
                        <a:rPr lang="en-US" sz="1100" dirty="0"/>
                        <a:t>Lift weight </a:t>
                      </a:r>
                      <a:r>
                        <a:rPr lang="en-US" sz="1100" dirty="0" err="1"/>
                        <a:t>lbs</a:t>
                      </a:r>
                      <a:endParaRPr lang="en-US" sz="1100" dirty="0"/>
                    </a:p>
                  </a:txBody>
                  <a:tcPr/>
                </a:tc>
                <a:tc>
                  <a:txBody>
                    <a:bodyPr/>
                    <a:lstStyle/>
                    <a:p>
                      <a:r>
                        <a:rPr lang="en-US" sz="1100" dirty="0"/>
                        <a:t>340</a:t>
                      </a:r>
                    </a:p>
                  </a:txBody>
                  <a:tcPr/>
                </a:tc>
                <a:tc>
                  <a:txBody>
                    <a:bodyPr/>
                    <a:lstStyle/>
                    <a:p>
                      <a:r>
                        <a:rPr lang="en-US" sz="1100" dirty="0"/>
                        <a:t>440</a:t>
                      </a:r>
                    </a:p>
                  </a:txBody>
                  <a:tcPr/>
                </a:tc>
                <a:extLst>
                  <a:ext uri="{0D108BD9-81ED-4DB2-BD59-A6C34878D82A}">
                    <a16:rowId xmlns:a16="http://schemas.microsoft.com/office/drawing/2014/main" val="2039114031"/>
                  </a:ext>
                </a:extLst>
              </a:tr>
              <a:tr h="231987">
                <a:tc>
                  <a:txBody>
                    <a:bodyPr/>
                    <a:lstStyle/>
                    <a:p>
                      <a:r>
                        <a:rPr lang="en-US" sz="1100" dirty="0"/>
                        <a:t>Price</a:t>
                      </a:r>
                    </a:p>
                  </a:txBody>
                  <a:tcPr/>
                </a:tc>
                <a:tc>
                  <a:txBody>
                    <a:bodyPr/>
                    <a:lstStyle/>
                    <a:p>
                      <a:r>
                        <a:rPr lang="en-US" sz="1100" dirty="0"/>
                        <a:t>$2,300</a:t>
                      </a:r>
                    </a:p>
                  </a:txBody>
                  <a:tcPr/>
                </a:tc>
                <a:tc>
                  <a:txBody>
                    <a:bodyPr/>
                    <a:lstStyle/>
                    <a:p>
                      <a:r>
                        <a:rPr lang="en-US" sz="1100" dirty="0"/>
                        <a:t>$3,300</a:t>
                      </a:r>
                    </a:p>
                  </a:txBody>
                  <a:tcPr/>
                </a:tc>
                <a:extLst>
                  <a:ext uri="{0D108BD9-81ED-4DB2-BD59-A6C34878D82A}">
                    <a16:rowId xmlns:a16="http://schemas.microsoft.com/office/drawing/2014/main" val="557019736"/>
                  </a:ext>
                </a:extLst>
              </a:tr>
            </a:tbl>
          </a:graphicData>
        </a:graphic>
      </p:graphicFrame>
      <p:sp>
        <p:nvSpPr>
          <p:cNvPr id="7" name="TextBox 6">
            <a:extLst>
              <a:ext uri="{FF2B5EF4-FFF2-40B4-BE49-F238E27FC236}">
                <a16:creationId xmlns:a16="http://schemas.microsoft.com/office/drawing/2014/main" id="{B54669F2-6ED1-7423-DA32-8BC2E3EAD94F}"/>
              </a:ext>
            </a:extLst>
          </p:cNvPr>
          <p:cNvSpPr txBox="1"/>
          <p:nvPr/>
        </p:nvSpPr>
        <p:spPr>
          <a:xfrm>
            <a:off x="8508999" y="5455761"/>
            <a:ext cx="3093157" cy="415498"/>
          </a:xfrm>
          <a:prstGeom prst="rect">
            <a:avLst/>
          </a:prstGeom>
          <a:noFill/>
        </p:spPr>
        <p:txBody>
          <a:bodyPr wrap="square">
            <a:spAutoFit/>
          </a:bodyPr>
          <a:lstStyle/>
          <a:p>
            <a:r>
              <a:rPr lang="en-US" sz="1050" dirty="0">
                <a:hlinkClick r:id="rId6"/>
              </a:rPr>
              <a:t>https://</a:t>
            </a:r>
            <a:r>
              <a:rPr lang="en-US" sz="1050" dirty="0" err="1">
                <a:hlinkClick r:id="rId6"/>
              </a:rPr>
              <a:t>www.littlebuckloader.com</a:t>
            </a:r>
            <a:r>
              <a:rPr lang="en-US" sz="1050" dirty="0">
                <a:hlinkClick r:id="rId6"/>
              </a:rPr>
              <a:t>/shop/p/little-bull-loader-front-end-loader-john-deere</a:t>
            </a:r>
            <a:endParaRPr lang="en-US" sz="1050" dirty="0"/>
          </a:p>
        </p:txBody>
      </p:sp>
      <p:sp>
        <p:nvSpPr>
          <p:cNvPr id="3" name="TextBox 2">
            <a:extLst>
              <a:ext uri="{FF2B5EF4-FFF2-40B4-BE49-F238E27FC236}">
                <a16:creationId xmlns:a16="http://schemas.microsoft.com/office/drawing/2014/main" id="{459F5C18-3A7C-EF50-57D8-C10A8A58F4F7}"/>
              </a:ext>
            </a:extLst>
          </p:cNvPr>
          <p:cNvSpPr txBox="1"/>
          <p:nvPr/>
        </p:nvSpPr>
        <p:spPr>
          <a:xfrm>
            <a:off x="2956439" y="5789710"/>
            <a:ext cx="3483514" cy="538609"/>
          </a:xfrm>
          <a:prstGeom prst="rect">
            <a:avLst/>
          </a:prstGeom>
          <a:solidFill>
            <a:schemeClr val="accent4">
              <a:lumMod val="20000"/>
              <a:lumOff val="80000"/>
            </a:schemeClr>
          </a:solidFill>
          <a:ln>
            <a:solidFill>
              <a:srgbClr val="FF0000"/>
            </a:solidFill>
          </a:ln>
        </p:spPr>
        <p:txBody>
          <a:bodyPr wrap="square" rtlCol="0">
            <a:spAutoFit/>
          </a:bodyPr>
          <a:lstStyle/>
          <a:p>
            <a:r>
              <a:rPr lang="en-US" sz="1100" dirty="0"/>
              <a:t>MIA885144 - Pressure relief valve (transaxle) - $465.71</a:t>
            </a:r>
          </a:p>
          <a:p>
            <a:r>
              <a:rPr lang="en-US" sz="900" dirty="0">
                <a:hlinkClick r:id="rId7"/>
              </a:rPr>
              <a:t>https://shop.deere.com/us/product/MIA885144%3A-Pressure-Relief-Valve/p/MIA885144</a:t>
            </a:r>
            <a:endParaRPr lang="en-US" sz="900" dirty="0"/>
          </a:p>
        </p:txBody>
      </p:sp>
      <p:pic>
        <p:nvPicPr>
          <p:cNvPr id="4" name="Picture 3">
            <a:extLst>
              <a:ext uri="{FF2B5EF4-FFF2-40B4-BE49-F238E27FC236}">
                <a16:creationId xmlns:a16="http://schemas.microsoft.com/office/drawing/2014/main" id="{584A5AE7-D9C4-192A-D273-85C1704444CA}"/>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592528" y="5414181"/>
            <a:ext cx="824808" cy="488373"/>
          </a:xfrm>
          <a:prstGeom prst="rect">
            <a:avLst/>
          </a:prstGeom>
        </p:spPr>
      </p:pic>
      <p:pic>
        <p:nvPicPr>
          <p:cNvPr id="6" name="Picture 5" descr="John Deere Flow Control Hyd. Valve ...">
            <a:extLst>
              <a:ext uri="{FF2B5EF4-FFF2-40B4-BE49-F238E27FC236}">
                <a16:creationId xmlns:a16="http://schemas.microsoft.com/office/drawing/2014/main" id="{25A78FD5-0D19-DF64-0963-DCF51F63F8AC}"/>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565893" y="4696926"/>
            <a:ext cx="669677" cy="669677"/>
          </a:xfrm>
          <a:prstGeom prst="rect">
            <a:avLst/>
          </a:prstGeom>
        </p:spPr>
      </p:pic>
      <p:pic>
        <p:nvPicPr>
          <p:cNvPr id="8" name="Picture 7">
            <a:extLst>
              <a:ext uri="{FF2B5EF4-FFF2-40B4-BE49-F238E27FC236}">
                <a16:creationId xmlns:a16="http://schemas.microsoft.com/office/drawing/2014/main" id="{FB9A3F71-D43D-BAD6-2923-E7873ACA866B}"/>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rot="16200000">
            <a:off x="7380986" y="5211295"/>
            <a:ext cx="609602" cy="2447373"/>
          </a:xfrm>
          <a:prstGeom prst="rect">
            <a:avLst/>
          </a:prstGeom>
        </p:spPr>
      </p:pic>
      <p:sp>
        <p:nvSpPr>
          <p:cNvPr id="9" name="TextBox 8">
            <a:extLst>
              <a:ext uri="{FF2B5EF4-FFF2-40B4-BE49-F238E27FC236}">
                <a16:creationId xmlns:a16="http://schemas.microsoft.com/office/drawing/2014/main" id="{3A813802-09D7-B715-19EF-6AAC05332000}"/>
              </a:ext>
            </a:extLst>
          </p:cNvPr>
          <p:cNvSpPr txBox="1"/>
          <p:nvPr/>
        </p:nvSpPr>
        <p:spPr>
          <a:xfrm>
            <a:off x="2956439" y="4701072"/>
            <a:ext cx="3490182"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a:t>AM134625 - Flow control valve - $283.36</a:t>
            </a:r>
          </a:p>
          <a:p>
            <a:r>
              <a:rPr lang="en-US" sz="1400" dirty="0"/>
              <a:t>Close for mowing, open for using FL</a:t>
            </a:r>
          </a:p>
        </p:txBody>
      </p:sp>
      <p:sp>
        <p:nvSpPr>
          <p:cNvPr id="10" name="TextBox 9">
            <a:extLst>
              <a:ext uri="{FF2B5EF4-FFF2-40B4-BE49-F238E27FC236}">
                <a16:creationId xmlns:a16="http://schemas.microsoft.com/office/drawing/2014/main" id="{9C12FCA1-9A63-D6F0-3AED-5A05E1EAAC0C}"/>
              </a:ext>
            </a:extLst>
          </p:cNvPr>
          <p:cNvSpPr txBox="1"/>
          <p:nvPr/>
        </p:nvSpPr>
        <p:spPr>
          <a:xfrm>
            <a:off x="2949771" y="5321603"/>
            <a:ext cx="3490182" cy="307777"/>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a:t>M146148 - neutral control rod - $50.73</a:t>
            </a:r>
          </a:p>
        </p:txBody>
      </p:sp>
    </p:spTree>
    <p:extLst>
      <p:ext uri="{BB962C8B-B14F-4D97-AF65-F5344CB8AC3E}">
        <p14:creationId xmlns:p14="http://schemas.microsoft.com/office/powerpoint/2010/main" val="981582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43D31-ECE5-9365-93A5-EADC758474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D0C96E-112C-9AD5-4197-E7D6921D9754}"/>
              </a:ext>
            </a:extLst>
          </p:cNvPr>
          <p:cNvSpPr txBox="1"/>
          <p:nvPr/>
        </p:nvSpPr>
        <p:spPr>
          <a:xfrm>
            <a:off x="-1" y="0"/>
            <a:ext cx="6096001" cy="523220"/>
          </a:xfrm>
          <a:prstGeom prst="rect">
            <a:avLst/>
          </a:prstGeom>
          <a:noFill/>
        </p:spPr>
        <p:txBody>
          <a:bodyPr wrap="square" rtlCol="0">
            <a:spAutoFit/>
          </a:bodyPr>
          <a:lstStyle/>
          <a:p>
            <a:r>
              <a:rPr lang="en-US" sz="2800" b="1" dirty="0"/>
              <a:t>John Deere X758</a:t>
            </a:r>
          </a:p>
        </p:txBody>
      </p:sp>
      <p:sp>
        <p:nvSpPr>
          <p:cNvPr id="8" name="TextBox 7">
            <a:extLst>
              <a:ext uri="{FF2B5EF4-FFF2-40B4-BE49-F238E27FC236}">
                <a16:creationId xmlns:a16="http://schemas.microsoft.com/office/drawing/2014/main" id="{40B1DAD5-098B-A626-FB87-CBFF942DA840}"/>
              </a:ext>
            </a:extLst>
          </p:cNvPr>
          <p:cNvSpPr txBox="1"/>
          <p:nvPr/>
        </p:nvSpPr>
        <p:spPr>
          <a:xfrm>
            <a:off x="6079066" y="209097"/>
            <a:ext cx="5925483" cy="3539430"/>
          </a:xfrm>
          <a:prstGeom prst="rect">
            <a:avLst/>
          </a:prstGeom>
          <a:noFill/>
        </p:spPr>
        <p:txBody>
          <a:bodyPr wrap="square" rtlCol="0">
            <a:spAutoFit/>
          </a:bodyPr>
          <a:lstStyle/>
          <a:p>
            <a:r>
              <a:rPr lang="en-US" sz="1400" dirty="0"/>
              <a:t>21 modifications to X758:</a:t>
            </a:r>
          </a:p>
          <a:p>
            <a:r>
              <a:rPr lang="en-US" sz="1400" dirty="0">
                <a:hlinkClick r:id="rId2"/>
              </a:rPr>
              <a:t>https://</a:t>
            </a:r>
            <a:r>
              <a:rPr lang="en-US" sz="1400" dirty="0" err="1">
                <a:hlinkClick r:id="rId2"/>
              </a:rPr>
              <a:t>www.youtube.com</a:t>
            </a:r>
            <a:r>
              <a:rPr lang="en-US" sz="1400" dirty="0">
                <a:hlinkClick r:id="rId2"/>
              </a:rPr>
              <a:t>/</a:t>
            </a:r>
            <a:r>
              <a:rPr lang="en-US" sz="1400" dirty="0" err="1">
                <a:hlinkClick r:id="rId2"/>
              </a:rPr>
              <a:t>watch?v</a:t>
            </a:r>
            <a:r>
              <a:rPr lang="en-US" sz="1400" dirty="0">
                <a:hlinkClick r:id="rId2"/>
              </a:rPr>
              <a:t>=5bkI9KLGFZs</a:t>
            </a:r>
            <a:endParaRPr lang="en-US" sz="1400" dirty="0"/>
          </a:p>
          <a:p>
            <a:r>
              <a:rPr lang="en-US" sz="1400" dirty="0"/>
              <a:t>Snowblower Lights; Chute Actuator (up/down);Chute Rotator (more turning);</a:t>
            </a:r>
          </a:p>
          <a:p>
            <a:r>
              <a:rPr lang="en-US" sz="1400" dirty="0"/>
              <a:t>Enclosed Chain for impeller; Rubber extensions for impeller; </a:t>
            </a:r>
          </a:p>
          <a:p>
            <a:r>
              <a:rPr lang="en-US" sz="1400" dirty="0"/>
              <a:t>Seat Cover; Seat Heaters; Heated Vest Plug; Steering Wheel Ball (spinner);</a:t>
            </a:r>
          </a:p>
          <a:p>
            <a:r>
              <a:rPr lang="en-US" sz="1400" dirty="0"/>
              <a:t>LED Headlights; LED Rear Lights; Dash Light; </a:t>
            </a:r>
          </a:p>
          <a:p>
            <a:r>
              <a:rPr lang="en-US" sz="1400" dirty="0"/>
              <a:t>Custom Relay for Chute Switch</a:t>
            </a:r>
          </a:p>
          <a:p>
            <a:r>
              <a:rPr lang="en-US" sz="1400" dirty="0"/>
              <a:t>Throttle Spring to throttle lever to prevent it from backing down</a:t>
            </a:r>
          </a:p>
          <a:p>
            <a:r>
              <a:rPr lang="en-US" sz="1400" dirty="0"/>
              <a:t>Hazard Lights; Pattern-Changing Hazard Switch; USB Output &amp; Voltmeter showing battery voltage; Toolbox Handle; Secondary Alternator (to handle electrical load of lights and heaters)</a:t>
            </a:r>
          </a:p>
          <a:p>
            <a:r>
              <a:rPr lang="en-US" sz="1400" dirty="0"/>
              <a:t>Bypass Modifications &amp; Lubrication - 3 smaller sub-tweaks: bypassing the reverse implement option (RIO), bypassing the seat safety switch with a jumper, and using "Fluid Film" to stop pedal squeaks and prevent rust</a:t>
            </a:r>
          </a:p>
          <a:p>
            <a:r>
              <a:rPr lang="en-US" sz="1400" dirty="0"/>
              <a:t>Bonus/Technical Fix: - shimming the four-wheel steer transfer shaft with feeler gauges and adding a grease </a:t>
            </a:r>
            <a:r>
              <a:rPr lang="en-US" sz="1400" dirty="0" err="1"/>
              <a:t>zert</a:t>
            </a:r>
            <a:r>
              <a:rPr lang="en-US" sz="1400" dirty="0"/>
              <a:t> to eliminate "shimmy" in the rear wheels</a:t>
            </a:r>
          </a:p>
        </p:txBody>
      </p:sp>
      <p:sp>
        <p:nvSpPr>
          <p:cNvPr id="3" name="TextBox 2">
            <a:extLst>
              <a:ext uri="{FF2B5EF4-FFF2-40B4-BE49-F238E27FC236}">
                <a16:creationId xmlns:a16="http://schemas.microsoft.com/office/drawing/2014/main" id="{7BC0A9F2-B671-84FC-1360-DA1CF032E6AF}"/>
              </a:ext>
            </a:extLst>
          </p:cNvPr>
          <p:cNvSpPr txBox="1"/>
          <p:nvPr/>
        </p:nvSpPr>
        <p:spPr>
          <a:xfrm>
            <a:off x="187451" y="574020"/>
            <a:ext cx="5925483" cy="3108543"/>
          </a:xfrm>
          <a:prstGeom prst="rect">
            <a:avLst/>
          </a:prstGeom>
          <a:noFill/>
        </p:spPr>
        <p:txBody>
          <a:bodyPr wrap="square" rtlCol="0">
            <a:spAutoFit/>
          </a:bodyPr>
          <a:lstStyle/>
          <a:p>
            <a:r>
              <a:rPr lang="en-US" sz="1400" dirty="0"/>
              <a:t>I want BM20780 - a 7-bu (247-L) 2-Bag Hopper Assembly</a:t>
            </a:r>
          </a:p>
          <a:p>
            <a:r>
              <a:rPr lang="en-US" sz="1400" dirty="0"/>
              <a:t>(X400/X500 HDGT and X700 Series)</a:t>
            </a:r>
          </a:p>
          <a:p>
            <a:endParaRPr lang="en-US" sz="1400" dirty="0"/>
          </a:p>
          <a:p>
            <a:r>
              <a:rPr lang="en-US" sz="1400" dirty="0"/>
              <a:t>I don't like the JD 20-bushel Click-N-Go Material Collection System,</a:t>
            </a:r>
          </a:p>
          <a:p>
            <a:r>
              <a:rPr lang="en-US" sz="1400" dirty="0"/>
              <a:t>It is too heavy, requires weights at the front of the tractor for balance</a:t>
            </a:r>
          </a:p>
          <a:p>
            <a:r>
              <a:rPr lang="en-US" sz="1400" dirty="0"/>
              <a:t>My current bagger on JD-425 is 7-bu (two bags, each one is 3.5 </a:t>
            </a:r>
            <a:r>
              <a:rPr lang="en-US" sz="1400" dirty="0" err="1"/>
              <a:t>bu</a:t>
            </a:r>
            <a:r>
              <a:rPr lang="en-US" sz="1400" dirty="0"/>
              <a:t>) – I like it.</a:t>
            </a:r>
          </a:p>
          <a:p>
            <a:endParaRPr lang="en-US" sz="1400" dirty="0"/>
          </a:p>
          <a:p>
            <a:r>
              <a:rPr lang="en-US" sz="1400" dirty="0"/>
              <a:t>Deere lists for X700 Signature Series (including X758):</a:t>
            </a:r>
          </a:p>
          <a:p>
            <a:r>
              <a:rPr lang="en-US" sz="1400" dirty="0"/>
              <a:t> - a 7‑bu two‑bag Power Flow hopper – my preference</a:t>
            </a:r>
          </a:p>
          <a:p>
            <a:r>
              <a:rPr lang="en-US" sz="1400" dirty="0"/>
              <a:t> - a 14‑bu three‑bag hopper – I don't need 3 bags</a:t>
            </a:r>
          </a:p>
          <a:p>
            <a:endParaRPr lang="en-US" sz="1400" dirty="0"/>
          </a:p>
          <a:p>
            <a:r>
              <a:rPr lang="en-US" sz="1400" dirty="0"/>
              <a:t>The BM20780 7‑bu 2‑bag hopper is specifically</a:t>
            </a:r>
          </a:p>
          <a:p>
            <a:r>
              <a:rPr lang="en-US" sz="1400" dirty="0"/>
              <a:t>designed to mount to the rear Click‑N‑Go system BM20714</a:t>
            </a:r>
          </a:p>
          <a:p>
            <a:r>
              <a:rPr lang="en-US" sz="1400" dirty="0"/>
              <a:t>on X700‑series tractors, including the X758</a:t>
            </a:r>
          </a:p>
        </p:txBody>
      </p:sp>
    </p:spTree>
    <p:extLst>
      <p:ext uri="{BB962C8B-B14F-4D97-AF65-F5344CB8AC3E}">
        <p14:creationId xmlns:p14="http://schemas.microsoft.com/office/powerpoint/2010/main" val="648698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1" y="0"/>
            <a:ext cx="6096001" cy="523220"/>
          </a:xfrm>
          <a:prstGeom prst="rect">
            <a:avLst/>
          </a:prstGeom>
          <a:noFill/>
        </p:spPr>
        <p:txBody>
          <a:bodyPr wrap="square" rtlCol="0">
            <a:spAutoFit/>
          </a:bodyPr>
          <a:lstStyle/>
          <a:p>
            <a:r>
              <a:rPr lang="en-US" sz="2800" b="1" dirty="0"/>
              <a:t>John Deere X758</a:t>
            </a:r>
          </a:p>
        </p:txBody>
      </p:sp>
      <p:sp>
        <p:nvSpPr>
          <p:cNvPr id="3" name="TextBox 2">
            <a:extLst>
              <a:ext uri="{FF2B5EF4-FFF2-40B4-BE49-F238E27FC236}">
                <a16:creationId xmlns:a16="http://schemas.microsoft.com/office/drawing/2014/main" id="{DC69E50A-DD6F-49A2-50A0-AE0A50A8C419}"/>
              </a:ext>
            </a:extLst>
          </p:cNvPr>
          <p:cNvSpPr txBox="1"/>
          <p:nvPr/>
        </p:nvSpPr>
        <p:spPr>
          <a:xfrm>
            <a:off x="5048251" y="567268"/>
            <a:ext cx="6996630" cy="5632311"/>
          </a:xfrm>
          <a:prstGeom prst="rect">
            <a:avLst/>
          </a:prstGeom>
          <a:noFill/>
        </p:spPr>
        <p:txBody>
          <a:bodyPr wrap="square" rtlCol="0">
            <a:spAutoFit/>
          </a:bodyPr>
          <a:lstStyle/>
          <a:p>
            <a:r>
              <a:rPr lang="en-US" sz="1200" b="1" dirty="0">
                <a:solidFill>
                  <a:srgbClr val="00B050"/>
                </a:solidFill>
              </a:rPr>
              <a:t>What to do at low temperature: -20°C (-4°F):</a:t>
            </a:r>
            <a:endParaRPr lang="en-US" sz="1200" dirty="0">
              <a:solidFill>
                <a:srgbClr val="00B050"/>
              </a:solidFill>
            </a:endParaRPr>
          </a:p>
          <a:p>
            <a:pPr marL="285750" indent="-285750">
              <a:buFont typeface="Courier New" panose="02070309020205020404" pitchFamily="49" charset="0"/>
              <a:buChar char="o"/>
            </a:pPr>
            <a:r>
              <a:rPr lang="en-US" sz="1200" b="1" dirty="0">
                <a:solidFill>
                  <a:srgbClr val="FF0000"/>
                </a:solidFill>
              </a:rPr>
              <a:t>Engine oil</a:t>
            </a:r>
            <a:r>
              <a:rPr lang="en-US" sz="1200" dirty="0"/>
              <a:t>: use lower viscosity 0W-40 or 5W-40 </a:t>
            </a:r>
            <a:r>
              <a:rPr lang="en-US" sz="1200" b="1" dirty="0">
                <a:solidFill>
                  <a:srgbClr val="00B0F0"/>
                </a:solidFill>
              </a:rPr>
              <a:t>synthetic diesel oil</a:t>
            </a:r>
          </a:p>
          <a:p>
            <a:pPr marL="285750" indent="-285750">
              <a:buFont typeface="Courier New" panose="02070309020205020404" pitchFamily="49" charset="0"/>
              <a:buChar char="o"/>
            </a:pPr>
            <a:r>
              <a:rPr lang="en-US" sz="1200" b="1" dirty="0">
                <a:solidFill>
                  <a:srgbClr val="FF0000"/>
                </a:solidFill>
              </a:rPr>
              <a:t>Hydraulic fluid </a:t>
            </a:r>
            <a:r>
              <a:rPr lang="en-US" sz="1200" dirty="0"/>
              <a:t>– </a:t>
            </a:r>
            <a:r>
              <a:rPr lang="en-US" sz="1200" b="1" dirty="0">
                <a:solidFill>
                  <a:srgbClr val="00B0F0"/>
                </a:solidFill>
              </a:rPr>
              <a:t>use premium synthetic hydraulic fluids with cold-flow improvers</a:t>
            </a:r>
            <a:r>
              <a:rPr lang="en-US" sz="1200" dirty="0"/>
              <a:t>. </a:t>
            </a:r>
          </a:p>
          <a:p>
            <a:pPr marL="285750" indent="-285750">
              <a:buFont typeface="Courier New" panose="02070309020205020404" pitchFamily="49" charset="0"/>
              <a:buChar char="o"/>
            </a:pPr>
            <a:r>
              <a:rPr lang="en-US" sz="1200" b="1" dirty="0">
                <a:solidFill>
                  <a:srgbClr val="FF0000"/>
                </a:solidFill>
              </a:rPr>
              <a:t>Fuel Additives (anti-gel additives) </a:t>
            </a:r>
            <a:r>
              <a:rPr lang="en-US" sz="1200" dirty="0"/>
              <a:t>– need to be added at temperatures below -12°C (10-15°F), they prevent wax crystals from sticking together, and disperse moisture to prevent ice formation in fuel filters. </a:t>
            </a:r>
          </a:p>
          <a:p>
            <a:pPr marL="285750" indent="-285750">
              <a:buFont typeface="Courier New" panose="02070309020205020404" pitchFamily="49" charset="0"/>
              <a:buChar char="o"/>
            </a:pPr>
            <a:r>
              <a:rPr lang="en-US" sz="1200" dirty="0"/>
              <a:t>John Deere Recommended its own Additive - John Deere Fuel-Protect Winter Formula (TY27786). It contains wax crystal modifiers that prevent fuel gelling by changing the shape and size of wax crystals as they form. This allows smaller crystals to pass through the fuel filter instead of clumping together and blocking flow. </a:t>
            </a:r>
          </a:p>
          <a:p>
            <a:pPr marL="285750" indent="-285750">
              <a:buFont typeface="Courier New" panose="02070309020205020404" pitchFamily="49" charset="0"/>
              <a:buChar char="o"/>
            </a:pPr>
            <a:r>
              <a:rPr lang="en-US" sz="1200" dirty="0"/>
              <a:t>The winter formula typically protects 15-20°F below the fuel's cloud point (which is 15-19F, so with additive we can go down to </a:t>
            </a:r>
            <a:r>
              <a:rPr lang="en-US" sz="1200" dirty="0" err="1"/>
              <a:t>approx</a:t>
            </a:r>
            <a:r>
              <a:rPr lang="en-US" sz="1200" dirty="0"/>
              <a:t> 0°F )</a:t>
            </a:r>
          </a:p>
          <a:p>
            <a:pPr marL="285750" indent="-285750">
              <a:buFont typeface="Courier New" panose="02070309020205020404" pitchFamily="49" charset="0"/>
              <a:buChar char="o"/>
            </a:pPr>
            <a:r>
              <a:rPr lang="en-US" sz="1200" dirty="0"/>
              <a:t>Products like </a:t>
            </a:r>
            <a:r>
              <a:rPr lang="en-US" sz="1200" b="1" dirty="0">
                <a:solidFill>
                  <a:srgbClr val="00B0F0"/>
                </a:solidFill>
              </a:rPr>
              <a:t>Hot Shot's Secret Diesel Winter Anti-Gel or </a:t>
            </a:r>
            <a:r>
              <a:rPr lang="en-US" sz="1200" b="1" dirty="0" err="1">
                <a:solidFill>
                  <a:srgbClr val="00B0F0"/>
                </a:solidFill>
              </a:rPr>
              <a:t>Archoil</a:t>
            </a:r>
            <a:r>
              <a:rPr lang="en-US" sz="1200" b="1" dirty="0">
                <a:solidFill>
                  <a:srgbClr val="00B0F0"/>
                </a:solidFill>
              </a:rPr>
              <a:t> AR6300 </a:t>
            </a:r>
            <a:r>
              <a:rPr lang="en-US" sz="1200" dirty="0"/>
              <a:t>can protect diesel fuel down to -40°F (-40°C) when used at every fill-up. </a:t>
            </a:r>
          </a:p>
          <a:p>
            <a:pPr marL="285750" indent="-285750">
              <a:buFont typeface="Courier New" panose="02070309020205020404" pitchFamily="49" charset="0"/>
              <a:buChar char="o"/>
            </a:pPr>
            <a:r>
              <a:rPr lang="en-US" sz="1200" dirty="0"/>
              <a:t>Important - the additives should be mixed with fuel before temperatures drop, as </a:t>
            </a:r>
            <a:r>
              <a:rPr lang="en-US" sz="1200" dirty="0">
                <a:solidFill>
                  <a:srgbClr val="00B0F0"/>
                </a:solidFill>
              </a:rPr>
              <a:t>they cannot reverse gelling once it has already occurred</a:t>
            </a:r>
            <a:r>
              <a:rPr lang="en-US" sz="1200" dirty="0"/>
              <a:t>.</a:t>
            </a:r>
          </a:p>
          <a:p>
            <a:pPr marL="285750" indent="-285750">
              <a:buFont typeface="Courier New" panose="02070309020205020404" pitchFamily="49" charset="0"/>
              <a:buChar char="o"/>
            </a:pPr>
            <a:r>
              <a:rPr lang="en-US" sz="1200" dirty="0"/>
              <a:t>K100 - is a premium all-in-one diesel fuel treatment and anti-gel additive that eliminates water in fuel systems and prevents fuel gelling in cold weather. The product chemically bond with water molecules, encapsulating them and allowing them to burn harmlessly through the engine rather than causing problems.</a:t>
            </a:r>
          </a:p>
          <a:p>
            <a:r>
              <a:rPr lang="en-US" sz="1200" dirty="0"/>
              <a:t>------------------------------------------------</a:t>
            </a:r>
          </a:p>
          <a:p>
            <a:pPr marL="285750" indent="-285750">
              <a:buFont typeface="Courier New" panose="02070309020205020404" pitchFamily="49" charset="0"/>
              <a:buChar char="o"/>
            </a:pPr>
            <a:r>
              <a:rPr lang="en-US" sz="1200" b="1" dirty="0">
                <a:solidFill>
                  <a:srgbClr val="FF0000"/>
                </a:solidFill>
              </a:rPr>
              <a:t>Keep fuel tank full </a:t>
            </a:r>
            <a:r>
              <a:rPr lang="en-US" sz="1200" dirty="0"/>
              <a:t>to reduce air space and reduce moisture condensation inside the tank which can freeze and cause additional fuel system blockages. The anti-gel additive should be added to the tank before filling so it mixes thoroughly with the incoming fuel.</a:t>
            </a:r>
          </a:p>
          <a:p>
            <a:pPr marL="285750" indent="-285750">
              <a:buFont typeface="Courier New" panose="02070309020205020404" pitchFamily="49" charset="0"/>
              <a:buChar char="o"/>
            </a:pPr>
            <a:r>
              <a:rPr lang="en-US" sz="1200" b="1" dirty="0">
                <a:solidFill>
                  <a:srgbClr val="FF0000"/>
                </a:solidFill>
              </a:rPr>
              <a:t>Engine block heater</a:t>
            </a:r>
            <a:r>
              <a:rPr lang="en-US" sz="1200" dirty="0"/>
              <a:t> – JD engine </a:t>
            </a:r>
            <a:r>
              <a:rPr lang="en-US" sz="1200" b="1" dirty="0">
                <a:solidFill>
                  <a:srgbClr val="00B0F0"/>
                </a:solidFill>
              </a:rPr>
              <a:t>coolant heater (part number AR87167)</a:t>
            </a:r>
            <a:r>
              <a:rPr lang="en-US" sz="1200" dirty="0"/>
              <a:t> requires an </a:t>
            </a:r>
            <a:r>
              <a:rPr lang="en-US" sz="1200" b="1" dirty="0">
                <a:solidFill>
                  <a:srgbClr val="00B0F0"/>
                </a:solidFill>
              </a:rPr>
              <a:t>adapter kit (MIA881629) </a:t>
            </a:r>
            <a:r>
              <a:rPr lang="en-US" sz="1200" dirty="0"/>
              <a:t>for installation on the X758 and should be plugged in for at least </a:t>
            </a:r>
            <a:r>
              <a:rPr lang="en-US" sz="1200" b="1" dirty="0">
                <a:solidFill>
                  <a:srgbClr val="FF0000"/>
                </a:solidFill>
              </a:rPr>
              <a:t>one hour before starting</a:t>
            </a:r>
            <a:r>
              <a:rPr lang="en-US" sz="1200" dirty="0"/>
              <a:t>.</a:t>
            </a:r>
          </a:p>
          <a:p>
            <a:pPr marL="285750" indent="-285750">
              <a:buFont typeface="Courier New" panose="02070309020205020404" pitchFamily="49" charset="0"/>
              <a:buChar char="o"/>
            </a:pPr>
            <a:r>
              <a:rPr lang="en-US" sz="1200" b="1" dirty="0">
                <a:solidFill>
                  <a:srgbClr val="FF0000"/>
                </a:solidFill>
              </a:rPr>
              <a:t>Replace fuel filters before cold weather </a:t>
            </a:r>
            <a:r>
              <a:rPr lang="en-US" sz="1200" dirty="0"/>
              <a:t>arrives, as dirty filters trap moisture and accelerate gelling.</a:t>
            </a:r>
            <a:endParaRPr lang="en-US" sz="1200" b="1" dirty="0">
              <a:solidFill>
                <a:srgbClr val="FF0000"/>
              </a:solidFill>
            </a:endParaRPr>
          </a:p>
          <a:p>
            <a:pPr marL="285750" indent="-285750">
              <a:buFont typeface="Courier New" panose="02070309020205020404" pitchFamily="49" charset="0"/>
              <a:buChar char="o"/>
            </a:pPr>
            <a:r>
              <a:rPr lang="en-US" sz="1200" b="1" dirty="0">
                <a:solidFill>
                  <a:srgbClr val="FF0000"/>
                </a:solidFill>
              </a:rPr>
              <a:t>Engine Warm-Up </a:t>
            </a:r>
            <a:r>
              <a:rPr lang="en-US" sz="1200" dirty="0"/>
              <a:t>- the X758 has glow plugs that warm the cylinders before starting.  Turn the key to the "ON" position, wait for the glow plug indicator light (squiggly line) to go off before cranking the engine. Then let the tractor idle for several minutes to </a:t>
            </a:r>
            <a:r>
              <a:rPr lang="en-US" sz="1200" b="1" dirty="0">
                <a:solidFill>
                  <a:srgbClr val="FF0000"/>
                </a:solidFill>
              </a:rPr>
              <a:t>allow both the engine and hydraulic oil to warm up</a:t>
            </a:r>
            <a:r>
              <a:rPr lang="en-US" sz="1200" dirty="0"/>
              <a:t> before operating implements or the power steering system under load</a:t>
            </a:r>
          </a:p>
        </p:txBody>
      </p:sp>
      <p:pic>
        <p:nvPicPr>
          <p:cNvPr id="1026" name="Picture 2" descr="AR87167 Engine Block Coolant Heater Kit Fits for John Deere 1025R 110 2210  2305 4210 445 X495 XUV Gator 850D 855D 855M 865E - AliExpress">
            <a:extLst>
              <a:ext uri="{FF2B5EF4-FFF2-40B4-BE49-F238E27FC236}">
                <a16:creationId xmlns:a16="http://schemas.microsoft.com/office/drawing/2014/main" id="{E31E646C-AD08-4238-DAB7-02DE88ECA7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7120" y="2500930"/>
            <a:ext cx="4087091" cy="40870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John Deere AR87167 Engine Block Coolant Heater Kit 1025R 110 2210 2305 Gator">
            <a:extLst>
              <a:ext uri="{FF2B5EF4-FFF2-40B4-BE49-F238E27FC236}">
                <a16:creationId xmlns:a16="http://schemas.microsoft.com/office/drawing/2014/main" id="{F97D0BC0-FBA4-1B8E-A5A3-C35BC59A28F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7120" y="770857"/>
            <a:ext cx="1482436" cy="14824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48EAA2-37A7-21EF-BFB2-53447F6C3A8C}"/>
              </a:ext>
            </a:extLst>
          </p:cNvPr>
          <p:cNvSpPr txBox="1"/>
          <p:nvPr/>
        </p:nvSpPr>
        <p:spPr>
          <a:xfrm>
            <a:off x="1629556" y="808399"/>
            <a:ext cx="3164117" cy="1200329"/>
          </a:xfrm>
          <a:prstGeom prst="rect">
            <a:avLst/>
          </a:prstGeom>
          <a:noFill/>
        </p:spPr>
        <p:txBody>
          <a:bodyPr wrap="square" rtlCol="0">
            <a:spAutoFit/>
          </a:bodyPr>
          <a:lstStyle/>
          <a:p>
            <a:r>
              <a:rPr lang="en-US" dirty="0"/>
              <a:t>The warmth spreads through the entire engine via natural convection of the coolant. It takes 1-2 hours </a:t>
            </a:r>
            <a:endParaRPr lang="en-US" sz="1400" dirty="0"/>
          </a:p>
        </p:txBody>
      </p:sp>
    </p:spTree>
    <p:extLst>
      <p:ext uri="{BB962C8B-B14F-4D97-AF65-F5344CB8AC3E}">
        <p14:creationId xmlns:p14="http://schemas.microsoft.com/office/powerpoint/2010/main" val="128827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1" y="0"/>
            <a:ext cx="6096001" cy="523220"/>
          </a:xfrm>
          <a:prstGeom prst="rect">
            <a:avLst/>
          </a:prstGeom>
          <a:noFill/>
        </p:spPr>
        <p:txBody>
          <a:bodyPr wrap="square" rtlCol="0">
            <a:spAutoFit/>
          </a:bodyPr>
          <a:lstStyle/>
          <a:p>
            <a:r>
              <a:rPr lang="en-US" sz="2800" b="1" dirty="0"/>
              <a:t>John Deere X758 – Fuel Filter Heater</a:t>
            </a:r>
          </a:p>
        </p:txBody>
      </p:sp>
      <p:sp>
        <p:nvSpPr>
          <p:cNvPr id="4" name="TextBox 3">
            <a:extLst>
              <a:ext uri="{FF2B5EF4-FFF2-40B4-BE49-F238E27FC236}">
                <a16:creationId xmlns:a16="http://schemas.microsoft.com/office/drawing/2014/main" id="{4248EAA2-37A7-21EF-BFB2-53447F6C3A8C}"/>
              </a:ext>
            </a:extLst>
          </p:cNvPr>
          <p:cNvSpPr txBox="1"/>
          <p:nvPr/>
        </p:nvSpPr>
        <p:spPr>
          <a:xfrm>
            <a:off x="128977" y="523220"/>
            <a:ext cx="5838044" cy="1384995"/>
          </a:xfrm>
          <a:prstGeom prst="rect">
            <a:avLst/>
          </a:prstGeom>
          <a:solidFill>
            <a:schemeClr val="accent4">
              <a:lumMod val="20000"/>
              <a:lumOff val="80000"/>
            </a:schemeClr>
          </a:solidFill>
          <a:ln>
            <a:solidFill>
              <a:srgbClr val="FF0000"/>
            </a:solidFill>
          </a:ln>
        </p:spPr>
        <p:txBody>
          <a:bodyPr wrap="square" rtlCol="0">
            <a:spAutoFit/>
          </a:bodyPr>
          <a:lstStyle/>
          <a:p>
            <a:r>
              <a:rPr lang="en-US" sz="1400" b="1" dirty="0" err="1">
                <a:solidFill>
                  <a:srgbClr val="FF0000"/>
                </a:solidFill>
              </a:rPr>
              <a:t>ZeroStart</a:t>
            </a:r>
            <a:r>
              <a:rPr lang="en-US" sz="1400" b="1" dirty="0">
                <a:solidFill>
                  <a:srgbClr val="FF0000"/>
                </a:solidFill>
              </a:rPr>
              <a:t> 3400037 </a:t>
            </a:r>
            <a:r>
              <a:rPr lang="en-US" sz="1400" dirty="0"/>
              <a:t>- 100W 12V flexible silicone wrap measuring 12" x 4", designed for fuel filter diameters between 3.5" and 5.0". It uses </a:t>
            </a:r>
            <a:r>
              <a:rPr lang="en-US" sz="1400" dirty="0" err="1"/>
              <a:t>velcro</a:t>
            </a:r>
            <a:r>
              <a:rPr lang="en-US" sz="1400" dirty="0"/>
              <a:t>/hook-and-loop straps to secure around the filter housing and connects directly to your 12V battery with a toggle switch (switch sold separately). </a:t>
            </a:r>
          </a:p>
          <a:p>
            <a:r>
              <a:rPr lang="en-US" sz="1400" dirty="0">
                <a:hlinkClick r:id="rId2"/>
              </a:rPr>
              <a:t>https://www.drivetrainamerica.com/3400037-zerostart-flexible-diesel-fuel-warmer-100w-120v-12-x-4/</a:t>
            </a:r>
            <a:endParaRPr lang="en-US" sz="1400" dirty="0"/>
          </a:p>
        </p:txBody>
      </p:sp>
      <p:sp>
        <p:nvSpPr>
          <p:cNvPr id="5" name="TextBox 4">
            <a:extLst>
              <a:ext uri="{FF2B5EF4-FFF2-40B4-BE49-F238E27FC236}">
                <a16:creationId xmlns:a16="http://schemas.microsoft.com/office/drawing/2014/main" id="{8039C89E-E08B-184B-D776-5785D7E1A8EC}"/>
              </a:ext>
            </a:extLst>
          </p:cNvPr>
          <p:cNvSpPr txBox="1"/>
          <p:nvPr/>
        </p:nvSpPr>
        <p:spPr>
          <a:xfrm>
            <a:off x="128977" y="1980932"/>
            <a:ext cx="5838044" cy="1384995"/>
          </a:xfrm>
          <a:prstGeom prst="rect">
            <a:avLst/>
          </a:prstGeom>
          <a:solidFill>
            <a:schemeClr val="accent4">
              <a:lumMod val="20000"/>
              <a:lumOff val="80000"/>
            </a:schemeClr>
          </a:solidFill>
          <a:ln>
            <a:solidFill>
              <a:srgbClr val="FF0000"/>
            </a:solidFill>
          </a:ln>
        </p:spPr>
        <p:txBody>
          <a:bodyPr wrap="square" rtlCol="0">
            <a:spAutoFit/>
          </a:bodyPr>
          <a:lstStyle/>
          <a:p>
            <a:r>
              <a:rPr lang="en-US" sz="1400" b="1" dirty="0">
                <a:solidFill>
                  <a:srgbClr val="FF0000"/>
                </a:solidFill>
              </a:rPr>
              <a:t>US </a:t>
            </a:r>
            <a:r>
              <a:rPr lang="en-US" sz="1400" b="1" dirty="0" err="1">
                <a:solidFill>
                  <a:srgbClr val="FF0000"/>
                </a:solidFill>
              </a:rPr>
              <a:t>Filtermaxx</a:t>
            </a:r>
            <a:r>
              <a:rPr lang="en-US" sz="1400" b="1" dirty="0">
                <a:solidFill>
                  <a:srgbClr val="FF0000"/>
                </a:solidFill>
              </a:rPr>
              <a:t> Fuel Filter Heater </a:t>
            </a:r>
            <a:r>
              <a:rPr lang="en-US" sz="1400" dirty="0"/>
              <a:t>- A thermostat-controlled 12V 100W wrap-around heater that fits most standard filters up to 4.5" diameter. The built-in thermostat is preset to 150°F and automatically regulates temperature, which prevents overheating without requiring manual monitoring </a:t>
            </a:r>
            <a:r>
              <a:rPr lang="en-US" sz="1400" dirty="0">
                <a:hlinkClick r:id="rId3"/>
              </a:rPr>
              <a:t>https://usfiltermaxx.com/</a:t>
            </a:r>
            <a:r>
              <a:rPr lang="en-US" sz="1400" dirty="0" err="1">
                <a:hlinkClick r:id="rId3"/>
              </a:rPr>
              <a:t>en</a:t>
            </a:r>
            <a:r>
              <a:rPr lang="en-US" sz="1400" dirty="0">
                <a:hlinkClick r:id="rId3"/>
              </a:rPr>
              <a:t>/home/55--12-volt-fuel-and-oil-filter-heater-for-wvo-and-biodiesel.html</a:t>
            </a:r>
            <a:endParaRPr lang="en-US" sz="1400" dirty="0"/>
          </a:p>
        </p:txBody>
      </p:sp>
      <p:sp>
        <p:nvSpPr>
          <p:cNvPr id="6" name="TextBox 5">
            <a:extLst>
              <a:ext uri="{FF2B5EF4-FFF2-40B4-BE49-F238E27FC236}">
                <a16:creationId xmlns:a16="http://schemas.microsoft.com/office/drawing/2014/main" id="{E1A2222B-A6D3-4A46-E220-566D4232382E}"/>
              </a:ext>
            </a:extLst>
          </p:cNvPr>
          <p:cNvSpPr txBox="1"/>
          <p:nvPr/>
        </p:nvSpPr>
        <p:spPr>
          <a:xfrm>
            <a:off x="128977" y="4896356"/>
            <a:ext cx="5838044" cy="1169551"/>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a:t>The X758 fuel filter is mounted on the front of the engine, making it accessible for heater installation. Wire the heater to your 12V battery system through a toggle switch so you can activate it 15 minutes before starting on cold mornings. Position the switch conveniently on your dashboard or near the operator seat for easy access. </a:t>
            </a:r>
          </a:p>
        </p:txBody>
      </p:sp>
      <p:sp>
        <p:nvSpPr>
          <p:cNvPr id="7" name="TextBox 6">
            <a:extLst>
              <a:ext uri="{FF2B5EF4-FFF2-40B4-BE49-F238E27FC236}">
                <a16:creationId xmlns:a16="http://schemas.microsoft.com/office/drawing/2014/main" id="{EEDF5ECF-4B02-D395-F79D-932A88711A5F}"/>
              </a:ext>
            </a:extLst>
          </p:cNvPr>
          <p:cNvSpPr txBox="1"/>
          <p:nvPr/>
        </p:nvSpPr>
        <p:spPr>
          <a:xfrm>
            <a:off x="128977" y="3438644"/>
            <a:ext cx="5838044" cy="1384995"/>
          </a:xfrm>
          <a:prstGeom prst="rect">
            <a:avLst/>
          </a:prstGeom>
          <a:solidFill>
            <a:schemeClr val="accent4">
              <a:lumMod val="20000"/>
              <a:lumOff val="80000"/>
            </a:schemeClr>
          </a:solidFill>
          <a:ln>
            <a:solidFill>
              <a:srgbClr val="FF0000"/>
            </a:solidFill>
          </a:ln>
        </p:spPr>
        <p:txBody>
          <a:bodyPr wrap="square" rtlCol="0">
            <a:spAutoFit/>
          </a:bodyPr>
          <a:lstStyle/>
          <a:p>
            <a:r>
              <a:rPr lang="en-US" sz="1400" dirty="0" err="1"/>
              <a:t>Keenovo</a:t>
            </a:r>
            <a:r>
              <a:rPr lang="en-US" sz="1400" dirty="0"/>
              <a:t> Silicone Heating Pad - Available in various sizes with 12V 100W configurations, featuring built-in thermostats for over-heating protection. These use metal grommets for securing and can easily transfer between filters. </a:t>
            </a:r>
          </a:p>
          <a:p>
            <a:r>
              <a:rPr lang="en-US" sz="1400" dirty="0">
                <a:hlinkClick r:id="rId4"/>
              </a:rPr>
              <a:t>https://</a:t>
            </a:r>
            <a:r>
              <a:rPr lang="en-US" sz="1400" dirty="0" err="1">
                <a:hlinkClick r:id="rId4"/>
              </a:rPr>
              <a:t>keenovo.store</a:t>
            </a:r>
            <a:r>
              <a:rPr lang="en-US" sz="1400" dirty="0">
                <a:hlinkClick r:id="rId4"/>
              </a:rPr>
              <a:t>/products/keenovo-silicone-heating-pad-wvo-svo-fuel-filter-diesel-heater-nos-bottle-heater</a:t>
            </a:r>
            <a:endParaRPr lang="en-US" sz="1400" dirty="0"/>
          </a:p>
        </p:txBody>
      </p:sp>
      <p:pic>
        <p:nvPicPr>
          <p:cNvPr id="8" name="Picture 2" descr="KEENOVO Silicone Heating Pad WVO SVO Fuel Filter Diesel Heater NOS Bottle Heater">
            <a:extLst>
              <a:ext uri="{FF2B5EF4-FFF2-40B4-BE49-F238E27FC236}">
                <a16:creationId xmlns:a16="http://schemas.microsoft.com/office/drawing/2014/main" id="{20446E96-8501-F9FE-7FD5-53EFB008B285}"/>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t="12957" b="12957"/>
          <a:stretch>
            <a:fillRect/>
          </a:stretch>
        </p:blipFill>
        <p:spPr bwMode="auto">
          <a:xfrm>
            <a:off x="6291014" y="3013194"/>
            <a:ext cx="1869430" cy="13849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9C444F37-DBB4-9594-003B-9EB1F0E8DC15}"/>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a:fillRect/>
          </a:stretch>
        </p:blipFill>
        <p:spPr bwMode="auto">
          <a:xfrm>
            <a:off x="9901974" y="1628199"/>
            <a:ext cx="1947126" cy="138499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7492681-5E1B-7EEF-E9CF-696955100BF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644258" y="523220"/>
            <a:ext cx="2956942" cy="1797477"/>
          </a:xfrm>
          <a:prstGeom prst="rect">
            <a:avLst/>
          </a:prstGeom>
        </p:spPr>
      </p:pic>
    </p:spTree>
    <p:extLst>
      <p:ext uri="{BB962C8B-B14F-4D97-AF65-F5344CB8AC3E}">
        <p14:creationId xmlns:p14="http://schemas.microsoft.com/office/powerpoint/2010/main" val="3965094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0550F-07AE-1CE7-20E3-2AA8BA6113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B81E7F-18BC-34A7-0606-71AF37FC41F0}"/>
              </a:ext>
            </a:extLst>
          </p:cNvPr>
          <p:cNvSpPr txBox="1"/>
          <p:nvPr/>
        </p:nvSpPr>
        <p:spPr>
          <a:xfrm>
            <a:off x="0" y="0"/>
            <a:ext cx="4793674" cy="954107"/>
          </a:xfrm>
          <a:prstGeom prst="rect">
            <a:avLst/>
          </a:prstGeom>
          <a:noFill/>
        </p:spPr>
        <p:txBody>
          <a:bodyPr wrap="square" rtlCol="0">
            <a:spAutoFit/>
          </a:bodyPr>
          <a:lstStyle/>
          <a:p>
            <a:r>
              <a:rPr lang="en-US" sz="2800" b="1" dirty="0"/>
              <a:t>Heating Electric Charges, snow blowers, tractor</a:t>
            </a:r>
          </a:p>
        </p:txBody>
      </p:sp>
      <p:sp>
        <p:nvSpPr>
          <p:cNvPr id="4" name="TextBox 3">
            <a:extLst>
              <a:ext uri="{FF2B5EF4-FFF2-40B4-BE49-F238E27FC236}">
                <a16:creationId xmlns:a16="http://schemas.microsoft.com/office/drawing/2014/main" id="{A7454BCD-3F88-9905-117C-1AE825F6E254}"/>
              </a:ext>
            </a:extLst>
          </p:cNvPr>
          <p:cNvSpPr txBox="1"/>
          <p:nvPr/>
        </p:nvSpPr>
        <p:spPr>
          <a:xfrm>
            <a:off x="170033" y="1230430"/>
            <a:ext cx="4623641" cy="4832092"/>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At cold weather electric charges have difficulty charging the batteries. And diesel tractor has difficulty starting.</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Idea is to create an enclosure (12' x 6' x 6') </a:t>
            </a:r>
          </a:p>
          <a:p>
            <a:r>
              <a:rPr lang="en-US" sz="1400" dirty="0">
                <a:latin typeface="Calibri" panose="020F0502020204030204" pitchFamily="34" charset="0"/>
                <a:cs typeface="Calibri" panose="020F0502020204030204" pitchFamily="34" charset="0"/>
              </a:rPr>
              <a:t>and warm equipment inside it.</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This size is big enough (</a:t>
            </a:r>
            <a:r>
              <a:rPr lang="en-US" sz="1400" dirty="0" err="1">
                <a:latin typeface="Calibri" panose="020F0502020204030204" pitchFamily="34" charset="0"/>
                <a:cs typeface="Calibri" panose="020F0502020204030204" pitchFamily="34" charset="0"/>
              </a:rPr>
              <a:t>approx</a:t>
            </a:r>
            <a:r>
              <a:rPr lang="en-US" sz="1400" dirty="0">
                <a:latin typeface="Calibri" panose="020F0502020204030204" pitchFamily="34" charset="0"/>
                <a:cs typeface="Calibri" panose="020F0502020204030204" pitchFamily="34" charset="0"/>
              </a:rPr>
              <a:t> 4×2×2 meters) to fit a tractor with a snow blower. It can definitely fit a walk-behind snowblower and multiple electric chargers.</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We can use a canopy, portable car shelter (garage) canopy, or a green house. </a:t>
            </a:r>
            <a:endParaRPr lang="en-US" sz="1400" dirty="0">
              <a:latin typeface="fkGroteskNeue"/>
            </a:endParaRPr>
          </a:p>
          <a:p>
            <a:r>
              <a:rPr lang="en-US" sz="1400" dirty="0">
                <a:latin typeface="fkGroteskNeue"/>
                <a:cs typeface="Calibri" panose="020F0502020204030204" pitchFamily="34" charset="0"/>
              </a:rPr>
              <a:t>Or create a DIY construction - </a:t>
            </a:r>
            <a:r>
              <a:rPr lang="en-US" sz="1400" dirty="0">
                <a:latin typeface="Calibri" panose="020F0502020204030204" pitchFamily="34" charset="0"/>
                <a:cs typeface="Calibri" panose="020F0502020204030204" pitchFamily="34" charset="0"/>
              </a:rPr>
              <a:t>a light rectangular frame made of PVC tubes hanging above tractor, then hang tarp walls around the tractor (and put tarp on top)</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Then push the hot air from a portable heater (with thermostat and overheat protection). </a:t>
            </a:r>
            <a:br>
              <a:rPr lang="en-US" sz="1400" dirty="0">
                <a:latin typeface="Calibri" panose="020F0502020204030204" pitchFamily="34" charset="0"/>
                <a:cs typeface="Calibri" panose="020F0502020204030204" pitchFamily="34" charset="0"/>
              </a:rPr>
            </a:br>
            <a:r>
              <a:rPr lang="en-US" sz="1400" dirty="0">
                <a:latin typeface="Calibri" panose="020F0502020204030204" pitchFamily="34" charset="0"/>
                <a:cs typeface="Calibri" panose="020F0502020204030204" pitchFamily="34" charset="0"/>
              </a:rPr>
              <a:t>For example:</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King Electric PSH1215T Portable Utility Heater</a:t>
            </a:r>
          </a:p>
          <a:p>
            <a:pPr marL="285750" indent="-285750">
              <a:buFont typeface="Arial" panose="020B0604020202020204" pitchFamily="34" charset="0"/>
              <a:buChar char="•"/>
            </a:pPr>
            <a:r>
              <a:rPr lang="en-US" sz="1400" dirty="0" err="1">
                <a:latin typeface="Calibri" panose="020F0502020204030204" pitchFamily="34" charset="0"/>
                <a:cs typeface="Calibri" panose="020F0502020204030204" pitchFamily="34" charset="0"/>
              </a:rPr>
              <a:t>QMark</a:t>
            </a:r>
            <a:r>
              <a:rPr lang="en-US" sz="1400" dirty="0">
                <a:latin typeface="Calibri" panose="020F0502020204030204" pitchFamily="34" charset="0"/>
                <a:cs typeface="Calibri" panose="020F0502020204030204" pitchFamily="34" charset="0"/>
              </a:rPr>
              <a:t> Portable Utility Heater (MMHD)</a:t>
            </a:r>
          </a:p>
          <a:p>
            <a:pPr marL="285750" indent="-285750">
              <a:buFont typeface="Arial" panose="020B0604020202020204" pitchFamily="34" charset="0"/>
              <a:buChar char="•"/>
            </a:pPr>
            <a:r>
              <a:rPr lang="en-US" sz="1400" dirty="0">
                <a:latin typeface="Calibri" panose="020F0502020204030204" pitchFamily="34" charset="0"/>
                <a:cs typeface="Calibri" panose="020F0502020204030204" pitchFamily="34" charset="0"/>
              </a:rPr>
              <a:t>Lasko Ceramic Heater 754200 </a:t>
            </a:r>
          </a:p>
        </p:txBody>
      </p:sp>
      <p:pic>
        <p:nvPicPr>
          <p:cNvPr id="5" name="Picture 2" descr="KING PSH1215T Yellow Jacket Portable Shop Heater w/Thermostat, 1500W / 120V">
            <a:extLst>
              <a:ext uri="{FF2B5EF4-FFF2-40B4-BE49-F238E27FC236}">
                <a16:creationId xmlns:a16="http://schemas.microsoft.com/office/drawing/2014/main" id="{2EC226A0-6508-B8B4-B1D7-FDE48D14CD3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130250" y="4448905"/>
            <a:ext cx="2549433" cy="20793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Lasko Desktop Electric Ceramic Space Heater with Adjustable Thermostat, 2 Heat Settings and Fan Only Mode, 9.2 Inches, Sil...">
            <a:extLst>
              <a:ext uri="{FF2B5EF4-FFF2-40B4-BE49-F238E27FC236}">
                <a16:creationId xmlns:a16="http://schemas.microsoft.com/office/drawing/2014/main" id="{A4263724-4240-44D1-7A01-FFFDE1F5FEC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29662" y="4767015"/>
            <a:ext cx="1019726" cy="13483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Qmark MMHD1502T Deluxe Portable Fan Forced Utility Heater - MMHD White Baked Enamel">
            <a:extLst>
              <a:ext uri="{FF2B5EF4-FFF2-40B4-BE49-F238E27FC236}">
                <a16:creationId xmlns:a16="http://schemas.microsoft.com/office/drawing/2014/main" id="{EDF126DC-0177-B29A-43F9-D00DA453058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539476" y="4091840"/>
            <a:ext cx="1530393" cy="243644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ED18D4B-5A66-5B97-2FB0-14C530943461}"/>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586433" y="1230430"/>
            <a:ext cx="2442235" cy="24183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F7F18C9-9C3A-AA1E-E455-724E4B9236E6}"/>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a:fillRect/>
          </a:stretch>
        </p:blipFill>
        <p:spPr bwMode="auto">
          <a:xfrm>
            <a:off x="9507821" y="2417070"/>
            <a:ext cx="2086789" cy="101193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10x10 X7 Tectonic Canopy - Ultra ...">
            <a:extLst>
              <a:ext uri="{FF2B5EF4-FFF2-40B4-BE49-F238E27FC236}">
                <a16:creationId xmlns:a16="http://schemas.microsoft.com/office/drawing/2014/main" id="{DC224871-106B-ED19-DEC9-83EC4D14455D}"/>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a:fillRect/>
          </a:stretch>
        </p:blipFill>
        <p:spPr bwMode="auto">
          <a:xfrm>
            <a:off x="9176259" y="329714"/>
            <a:ext cx="2418351" cy="1934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44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B695-A4C0-BC53-15EF-81548A04F1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F44891-376B-DAA0-385F-BE3EBBF84680}"/>
              </a:ext>
            </a:extLst>
          </p:cNvPr>
          <p:cNvSpPr txBox="1"/>
          <p:nvPr/>
        </p:nvSpPr>
        <p:spPr>
          <a:xfrm>
            <a:off x="-1" y="0"/>
            <a:ext cx="4431253" cy="523220"/>
          </a:xfrm>
          <a:prstGeom prst="rect">
            <a:avLst/>
          </a:prstGeom>
          <a:noFill/>
        </p:spPr>
        <p:txBody>
          <a:bodyPr wrap="square" rtlCol="0">
            <a:spAutoFit/>
          </a:bodyPr>
          <a:lstStyle/>
          <a:p>
            <a:r>
              <a:rPr lang="en-US" sz="2800" b="1" dirty="0"/>
              <a:t>Bagger = Hopper</a:t>
            </a:r>
          </a:p>
        </p:txBody>
      </p:sp>
      <p:sp>
        <p:nvSpPr>
          <p:cNvPr id="8" name="TextBox 7">
            <a:extLst>
              <a:ext uri="{FF2B5EF4-FFF2-40B4-BE49-F238E27FC236}">
                <a16:creationId xmlns:a16="http://schemas.microsoft.com/office/drawing/2014/main" id="{E5EAD597-53B0-1A66-BAB2-6EA6A21F38F7}"/>
              </a:ext>
            </a:extLst>
          </p:cNvPr>
          <p:cNvSpPr txBox="1"/>
          <p:nvPr/>
        </p:nvSpPr>
        <p:spPr>
          <a:xfrm>
            <a:off x="164052" y="807468"/>
            <a:ext cx="5506736" cy="2192908"/>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I have a bagger with 2 bags.</a:t>
            </a:r>
          </a:p>
          <a:p>
            <a:r>
              <a:rPr lang="en-US" sz="1400" dirty="0">
                <a:latin typeface="Calibri" panose="020F0502020204030204" pitchFamily="34" charset="0"/>
                <a:cs typeface="Calibri" panose="020F0502020204030204" pitchFamily="34" charset="0"/>
              </a:rPr>
              <a:t>It has an annoying problem.</a:t>
            </a:r>
          </a:p>
          <a:p>
            <a:r>
              <a:rPr lang="en-US" sz="1400" dirty="0">
                <a:latin typeface="Calibri" panose="020F0502020204030204" pitchFamily="34" charset="0"/>
                <a:cs typeface="Calibri" panose="020F0502020204030204" pitchFamily="34" charset="0"/>
              </a:rPr>
              <a:t>It fills the left bag first &amp; only the over-flow goes to the right bag. </a:t>
            </a:r>
          </a:p>
          <a:p>
            <a:r>
              <a:rPr lang="en-US" sz="1400" dirty="0">
                <a:latin typeface="Calibri" panose="020F0502020204030204" pitchFamily="34" charset="0"/>
                <a:cs typeface="Calibri" panose="020F0502020204030204" pitchFamily="34" charset="0"/>
              </a:rPr>
              <a:t>This makes the left bag  heavy while right bag is empty</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Easy fix – block part of the chute opening as shown.</a:t>
            </a:r>
          </a:p>
          <a:p>
            <a:r>
              <a:rPr lang="en-US" sz="1400" dirty="0">
                <a:latin typeface="Calibri" panose="020F0502020204030204" pitchFamily="34" charset="0"/>
                <a:cs typeface="Calibri" panose="020F0502020204030204" pitchFamily="34" charset="0"/>
              </a:rPr>
              <a:t>Two layers of duct tape facing each other, nothing is sticking to them.</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The 2 bags now got filled up at similar speed. </a:t>
            </a:r>
          </a:p>
          <a:p>
            <a:r>
              <a:rPr lang="en-US" sz="1050" dirty="0">
                <a:latin typeface="Calibri" panose="020F0502020204030204" pitchFamily="34" charset="0"/>
                <a:cs typeface="Calibri" panose="020F0502020204030204" pitchFamily="34" charset="0"/>
                <a:hlinkClick r:id="rId2"/>
              </a:rPr>
              <a:t>https://www.facebook.com/groups/781254733349946/posts/803478744460878/</a:t>
            </a:r>
            <a:endParaRPr lang="en-US" sz="105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AA518FD-7EE2-032F-1F24-036ACB62B9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492343" y="149679"/>
            <a:ext cx="2699657" cy="2616377"/>
          </a:xfrm>
          <a:prstGeom prst="rect">
            <a:avLst/>
          </a:prstGeom>
        </p:spPr>
      </p:pic>
      <p:pic>
        <p:nvPicPr>
          <p:cNvPr id="4" name="Picture 3">
            <a:extLst>
              <a:ext uri="{FF2B5EF4-FFF2-40B4-BE49-F238E27FC236}">
                <a16:creationId xmlns:a16="http://schemas.microsoft.com/office/drawing/2014/main" id="{F37986CB-6953-B8BE-0826-E958A843714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92342" y="3613391"/>
            <a:ext cx="2699657" cy="2281997"/>
          </a:xfrm>
          <a:prstGeom prst="rect">
            <a:avLst/>
          </a:prstGeom>
        </p:spPr>
      </p:pic>
      <p:pic>
        <p:nvPicPr>
          <p:cNvPr id="5" name="Picture 4">
            <a:extLst>
              <a:ext uri="{FF2B5EF4-FFF2-40B4-BE49-F238E27FC236}">
                <a16:creationId xmlns:a16="http://schemas.microsoft.com/office/drawing/2014/main" id="{65079173-F2C4-DB18-BDAD-0AEF787B15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09866" y="149679"/>
            <a:ext cx="2374900" cy="2311400"/>
          </a:xfrm>
          <a:prstGeom prst="rect">
            <a:avLst/>
          </a:prstGeom>
        </p:spPr>
      </p:pic>
    </p:spTree>
    <p:extLst>
      <p:ext uri="{BB962C8B-B14F-4D97-AF65-F5344CB8AC3E}">
        <p14:creationId xmlns:p14="http://schemas.microsoft.com/office/powerpoint/2010/main" val="2863060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B695-A4C0-BC53-15EF-81548A04F1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F44891-376B-DAA0-385F-BE3EBBF84680}"/>
              </a:ext>
            </a:extLst>
          </p:cNvPr>
          <p:cNvSpPr txBox="1"/>
          <p:nvPr/>
        </p:nvSpPr>
        <p:spPr>
          <a:xfrm>
            <a:off x="-1" y="0"/>
            <a:ext cx="4431253" cy="523220"/>
          </a:xfrm>
          <a:prstGeom prst="rect">
            <a:avLst/>
          </a:prstGeom>
          <a:noFill/>
        </p:spPr>
        <p:txBody>
          <a:bodyPr wrap="square" rtlCol="0">
            <a:spAutoFit/>
          </a:bodyPr>
          <a:lstStyle/>
          <a:p>
            <a:r>
              <a:rPr lang="en-US" sz="2800" b="1" dirty="0"/>
              <a:t>Dual Tires (</a:t>
            </a:r>
            <a:r>
              <a:rPr lang="en-US" sz="2800" b="1" dirty="0" err="1"/>
              <a:t>Dualies</a:t>
            </a:r>
            <a:r>
              <a:rPr lang="en-US" sz="2800" b="1" dirty="0"/>
              <a:t>)</a:t>
            </a:r>
          </a:p>
        </p:txBody>
      </p:sp>
      <p:sp>
        <p:nvSpPr>
          <p:cNvPr id="8" name="TextBox 7">
            <a:extLst>
              <a:ext uri="{FF2B5EF4-FFF2-40B4-BE49-F238E27FC236}">
                <a16:creationId xmlns:a16="http://schemas.microsoft.com/office/drawing/2014/main" id="{E5EAD597-53B0-1A66-BAB2-6EA6A21F38F7}"/>
              </a:ext>
            </a:extLst>
          </p:cNvPr>
          <p:cNvSpPr txBox="1"/>
          <p:nvPr/>
        </p:nvSpPr>
        <p:spPr>
          <a:xfrm>
            <a:off x="164052" y="807468"/>
            <a:ext cx="5506736" cy="3754874"/>
          </a:xfrm>
          <a:prstGeom prst="rect">
            <a:avLst/>
          </a:prstGeom>
          <a:noFill/>
        </p:spPr>
        <p:txBody>
          <a:bodyPr wrap="square" rtlCol="0">
            <a:spAutoFit/>
          </a:bodyPr>
          <a:lstStyle/>
          <a:p>
            <a:r>
              <a:rPr lang="en-US" sz="1400" dirty="0"/>
              <a:t>Can potentially help in muddy conditions</a:t>
            </a:r>
          </a:p>
          <a:p>
            <a:pPr marL="285750" indent="-285750">
              <a:buFont typeface="Arial" panose="020B0604020202020204" pitchFamily="34" charset="0"/>
              <a:buChar char="•"/>
            </a:pPr>
            <a:r>
              <a:rPr lang="en-US" sz="1400" dirty="0"/>
              <a:t>Distribute the weight over a larger surface area, which can reduce ground pressure, thus preventing the tractor from sinking into soft or muddy ground</a:t>
            </a:r>
          </a:p>
          <a:p>
            <a:pPr marL="285750" indent="-285750">
              <a:buFont typeface="Arial" panose="020B0604020202020204" pitchFamily="34" charset="0"/>
              <a:buChar char="•"/>
            </a:pPr>
            <a:r>
              <a:rPr lang="en-US" sz="1400" dirty="0"/>
              <a:t>Increase traction since there are now twice the number of lugs (the raised patterns on a tire) making contact with the ground. </a:t>
            </a:r>
          </a:p>
          <a:p>
            <a:endParaRPr lang="en-US" sz="1400" dirty="0"/>
          </a:p>
          <a:p>
            <a:r>
              <a:rPr lang="en-US" sz="1400" dirty="0"/>
              <a:t>Downsides:</a:t>
            </a:r>
          </a:p>
          <a:p>
            <a:pPr marL="285750" indent="-285750">
              <a:buFont typeface="Arial" panose="020B0604020202020204" pitchFamily="34" charset="0"/>
              <a:buChar char="•"/>
            </a:pPr>
            <a:r>
              <a:rPr lang="en-US" sz="1400" dirty="0"/>
              <a:t>Added Weight</a:t>
            </a:r>
          </a:p>
          <a:p>
            <a:pPr marL="285750" indent="-285750">
              <a:buFont typeface="Arial" panose="020B0604020202020204" pitchFamily="34" charset="0"/>
              <a:buChar char="•"/>
            </a:pPr>
            <a:r>
              <a:rPr lang="en-US" sz="1400" dirty="0"/>
              <a:t>Turning Resistance</a:t>
            </a:r>
          </a:p>
          <a:p>
            <a:pPr marL="285750" indent="-285750">
              <a:buFont typeface="Arial" panose="020B0604020202020204" pitchFamily="34" charset="0"/>
              <a:buChar char="•"/>
            </a:pPr>
            <a:r>
              <a:rPr lang="en-US" sz="1400" dirty="0"/>
              <a:t>Cost and Installation</a:t>
            </a:r>
          </a:p>
          <a:p>
            <a:pPr marL="285750" indent="-285750">
              <a:buFont typeface="Arial" panose="020B0604020202020204" pitchFamily="34" charset="0"/>
              <a:buChar char="•"/>
            </a:pPr>
            <a:r>
              <a:rPr lang="en-US" sz="1400" dirty="0"/>
              <a:t>Wider Profile (harder to navigate)</a:t>
            </a:r>
          </a:p>
          <a:p>
            <a:pPr marL="285750" indent="-285750">
              <a:buFont typeface="Arial" panose="020B0604020202020204" pitchFamily="34" charset="0"/>
              <a:buChar char="•"/>
            </a:pPr>
            <a:r>
              <a:rPr lang="en-US" sz="1400" dirty="0"/>
              <a:t>Soil Compaction</a:t>
            </a:r>
          </a:p>
          <a:p>
            <a:pPr marL="285750" indent="-285750">
              <a:buFont typeface="Arial" panose="020B0604020202020204" pitchFamily="34" charset="0"/>
              <a:buChar char="•"/>
            </a:pPr>
            <a:endParaRPr lang="en-US" sz="1400" dirty="0"/>
          </a:p>
          <a:p>
            <a:r>
              <a:rPr lang="en-US" sz="1400" dirty="0"/>
              <a:t>Other solutions to consider: </a:t>
            </a:r>
          </a:p>
          <a:p>
            <a:pPr marL="285750" indent="-285750">
              <a:buFont typeface="Arial" panose="020B0604020202020204" pitchFamily="34" charset="0"/>
              <a:buChar char="•"/>
            </a:pPr>
            <a:r>
              <a:rPr lang="en-US" sz="1400" dirty="0"/>
              <a:t>tire chains</a:t>
            </a:r>
          </a:p>
          <a:p>
            <a:pPr marL="285750" indent="-285750">
              <a:buFont typeface="Arial" panose="020B0604020202020204" pitchFamily="34" charset="0"/>
              <a:buChar char="•"/>
            </a:pPr>
            <a:r>
              <a:rPr lang="en-US" sz="1400" dirty="0"/>
              <a:t>wider single tires</a:t>
            </a:r>
          </a:p>
        </p:txBody>
      </p:sp>
      <p:pic>
        <p:nvPicPr>
          <p:cNvPr id="1026" name="Picture 2" descr="How to Put Duals On a Mower - A Better Way">
            <a:extLst>
              <a:ext uri="{FF2B5EF4-FFF2-40B4-BE49-F238E27FC236}">
                <a16:creationId xmlns:a16="http://schemas.microsoft.com/office/drawing/2014/main" id="{71D526FD-5301-0D68-CD3C-BFABB30F8E1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60748" y="228600"/>
            <a:ext cx="4267200" cy="32004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A27FBF3-5F1A-3128-93B1-65E9E5627FFA}"/>
              </a:ext>
            </a:extLst>
          </p:cNvPr>
          <p:cNvSpPr txBox="1"/>
          <p:nvPr/>
        </p:nvSpPr>
        <p:spPr>
          <a:xfrm>
            <a:off x="3048000" y="76944"/>
            <a:ext cx="3810000" cy="307777"/>
          </a:xfrm>
          <a:prstGeom prst="rect">
            <a:avLst/>
          </a:prstGeom>
          <a:noFill/>
        </p:spPr>
        <p:txBody>
          <a:bodyPr wrap="square" rtlCol="0">
            <a:spAutoFit/>
          </a:bodyPr>
          <a:lstStyle/>
          <a:p>
            <a:r>
              <a:rPr lang="en-US" sz="1400" dirty="0">
                <a:hlinkClick r:id="rId3"/>
              </a:rPr>
              <a:t>https://</a:t>
            </a:r>
            <a:r>
              <a:rPr lang="en-US" sz="1400" dirty="0" err="1">
                <a:hlinkClick r:id="rId3"/>
              </a:rPr>
              <a:t>www.youtube.com</a:t>
            </a:r>
            <a:r>
              <a:rPr lang="en-US" sz="1400" dirty="0">
                <a:hlinkClick r:id="rId3"/>
              </a:rPr>
              <a:t>/</a:t>
            </a:r>
            <a:r>
              <a:rPr lang="en-US" sz="1400" dirty="0" err="1">
                <a:hlinkClick r:id="rId3"/>
              </a:rPr>
              <a:t>watch?v</a:t>
            </a:r>
            <a:r>
              <a:rPr lang="en-US" sz="1400" dirty="0">
                <a:hlinkClick r:id="rId3"/>
              </a:rPr>
              <a:t>=</a:t>
            </a:r>
            <a:r>
              <a:rPr lang="en-US" sz="1400" dirty="0" err="1">
                <a:hlinkClick r:id="rId3"/>
              </a:rPr>
              <a:t>oDdR</a:t>
            </a:r>
            <a:r>
              <a:rPr lang="en-US" sz="1400" dirty="0">
                <a:hlinkClick r:id="rId3"/>
              </a:rPr>
              <a:t>-KLIF-Q</a:t>
            </a:r>
            <a:endParaRPr lang="en-US" sz="1400" dirty="0"/>
          </a:p>
        </p:txBody>
      </p:sp>
      <p:pic>
        <p:nvPicPr>
          <p:cNvPr id="1028" name="Picture 4" descr="DUAL TIRES ON A 1025r? Carlisle Versa Turfs + Found A STEAL! - YouTube">
            <a:extLst>
              <a:ext uri="{FF2B5EF4-FFF2-40B4-BE49-F238E27FC236}">
                <a16:creationId xmlns:a16="http://schemas.microsoft.com/office/drawing/2014/main" id="{EDAA7AC9-D55C-2BE4-8784-E24DB49BAEE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760748" y="3594652"/>
            <a:ext cx="3810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9907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0B338-E842-3C96-D4BC-E392AD88200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A62B5C-52DA-6C87-FA5A-4A7AB2C58A4F}"/>
              </a:ext>
            </a:extLst>
          </p:cNvPr>
          <p:cNvSpPr txBox="1"/>
          <p:nvPr/>
        </p:nvSpPr>
        <p:spPr>
          <a:xfrm>
            <a:off x="-1" y="0"/>
            <a:ext cx="4431253" cy="523220"/>
          </a:xfrm>
          <a:prstGeom prst="rect">
            <a:avLst/>
          </a:prstGeom>
          <a:noFill/>
        </p:spPr>
        <p:txBody>
          <a:bodyPr wrap="square" rtlCol="0">
            <a:spAutoFit/>
          </a:bodyPr>
          <a:lstStyle/>
          <a:p>
            <a:r>
              <a:rPr lang="en-US" sz="2800" b="1" dirty="0"/>
              <a:t>JD </a:t>
            </a:r>
            <a:r>
              <a:rPr lang="en-US" sz="2800" b="1" dirty="0" err="1"/>
              <a:t>PowerFlow</a:t>
            </a:r>
            <a:endParaRPr lang="en-US" sz="2800" b="1" dirty="0"/>
          </a:p>
        </p:txBody>
      </p:sp>
      <p:sp>
        <p:nvSpPr>
          <p:cNvPr id="8" name="TextBox 7">
            <a:extLst>
              <a:ext uri="{FF2B5EF4-FFF2-40B4-BE49-F238E27FC236}">
                <a16:creationId xmlns:a16="http://schemas.microsoft.com/office/drawing/2014/main" id="{236796AA-9C3C-7F2D-64E1-0C9B96CA64C5}"/>
              </a:ext>
            </a:extLst>
          </p:cNvPr>
          <p:cNvSpPr txBox="1"/>
          <p:nvPr/>
        </p:nvSpPr>
        <p:spPr>
          <a:xfrm>
            <a:off x="164051" y="523220"/>
            <a:ext cx="4544427" cy="4154984"/>
          </a:xfrm>
          <a:prstGeom prst="rect">
            <a:avLst/>
          </a:prstGeom>
          <a:noFill/>
          <a:ln>
            <a:solidFill>
              <a:srgbClr val="FF0000"/>
            </a:solidFill>
          </a:ln>
        </p:spPr>
        <p:txBody>
          <a:bodyPr wrap="square" rtlCol="0">
            <a:spAutoFit/>
          </a:bodyPr>
          <a:lstStyle/>
          <a:p>
            <a:pPr marL="171450" indent="-171450">
              <a:buFont typeface="Arial" panose="020B0604020202020204" pitchFamily="34" charset="0"/>
              <a:buChar char="•"/>
            </a:pPr>
            <a:r>
              <a:rPr lang="en-US" sz="1200" dirty="0"/>
              <a:t>john deere 54 inch high capacity mower deck with Power Flow attachment to throw grass to the back.</a:t>
            </a:r>
          </a:p>
          <a:p>
            <a:pPr marL="171450" indent="-171450">
              <a:buFont typeface="Arial" panose="020B0604020202020204" pitchFamily="34" charset="0"/>
              <a:buChar char="•"/>
            </a:pPr>
            <a:r>
              <a:rPr lang="en-US" sz="1200" dirty="0"/>
              <a:t>When looking at the mowing deck from above, the spools (sheaves) rotate clockwise (CW). </a:t>
            </a:r>
          </a:p>
          <a:p>
            <a:pPr marL="171450" indent="-171450">
              <a:buFont typeface="Arial" panose="020B0604020202020204" pitchFamily="34" charset="0"/>
              <a:buChar char="•"/>
            </a:pPr>
            <a:r>
              <a:rPr lang="en-US" sz="1200" dirty="0"/>
              <a:t>When looking from below – CCW (Counter-clockwise). </a:t>
            </a:r>
          </a:p>
          <a:p>
            <a:pPr marL="171450" indent="-171450">
              <a:buFont typeface="Arial" panose="020B0604020202020204" pitchFamily="34" charset="0"/>
              <a:buChar char="•"/>
            </a:pPr>
            <a:r>
              <a:rPr lang="en-US" sz="1200" dirty="0"/>
              <a:t>When looking at the Power Flow from the right side of the tractor (where the Power Flow is attached), the impeller rotates CW (clockwise) collecting grass from the bottom by moving from front to back – and throwing it to the back</a:t>
            </a:r>
          </a:p>
          <a:p>
            <a:pPr marL="171450" indent="-171450">
              <a:buFont typeface="Arial" panose="020B0604020202020204" pitchFamily="34" charset="0"/>
              <a:buChar char="•"/>
            </a:pPr>
            <a:r>
              <a:rPr lang="en-US" sz="1200" dirty="0"/>
              <a:t>There is a belt (a rubber loop) to pass rotation from the deck to the impeller. It goes from top sheave M on the deck (horizontal disk) to the (N) tensioner idler (top horizontal disk), then to the top side of impeller sheeve (O), then leaving from the bottom side of impeller sheeve (O) to the V-idler sheave P (the lower horizontal disk), and finally, back to the sheave M on the deck.</a:t>
            </a:r>
          </a:p>
          <a:p>
            <a:pPr marL="171450" indent="-171450">
              <a:buFont typeface="Arial" panose="020B0604020202020204" pitchFamily="34" charset="0"/>
              <a:buChar char="•"/>
            </a:pPr>
            <a:r>
              <a:rPr lang="en-US" sz="1200" dirty="0"/>
              <a:t>(N) — the tensioner idler — sits closer to the deck, and the belt contacts its back/flat side to maintain tension. </a:t>
            </a:r>
          </a:p>
          <a:p>
            <a:pPr marL="171450" indent="-171450">
              <a:buFont typeface="Arial" panose="020B0604020202020204" pitchFamily="34" charset="0"/>
              <a:buChar char="•"/>
            </a:pPr>
            <a:r>
              <a:rPr lang="en-US" sz="1200" dirty="0"/>
              <a:t>(P) — the V-idler sheave — sits on the return path from the blower (O) back to the deck sheave (M), guiding the belt in the V-groove. It is lower/closer to the blower on the return side.</a:t>
            </a:r>
          </a:p>
          <a:p>
            <a:pPr marL="171450" indent="-171450">
              <a:buFont typeface="Arial" panose="020B0604020202020204" pitchFamily="34" charset="0"/>
              <a:buChar char="•"/>
            </a:pPr>
            <a:r>
              <a:rPr lang="en-US" sz="1200" dirty="0"/>
              <a:t>In short: (N) is above/closer to the deck and acts as a tensioner; (P) is below/on the blower side and acts as a fixed V-groove guide</a:t>
            </a:r>
          </a:p>
        </p:txBody>
      </p:sp>
      <p:pic>
        <p:nvPicPr>
          <p:cNvPr id="5" name="Picture 4" descr="John Deere X758 X700 Series | AG Pro">
            <a:extLst>
              <a:ext uri="{FF2B5EF4-FFF2-40B4-BE49-F238E27FC236}">
                <a16:creationId xmlns:a16="http://schemas.microsoft.com/office/drawing/2014/main" id="{DBC1B5E5-B8F2-9E18-D714-A3DDDCC19EE1}"/>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8924205" y="4862870"/>
            <a:ext cx="3103744" cy="1864781"/>
          </a:xfrm>
          <a:prstGeom prst="rect">
            <a:avLst/>
          </a:prstGeom>
          <a:ln>
            <a:solidFill>
              <a:srgbClr val="FF0000"/>
            </a:solidFill>
          </a:ln>
        </p:spPr>
      </p:pic>
      <p:pic>
        <p:nvPicPr>
          <p:cNvPr id="6" name="Picture 5">
            <a:extLst>
              <a:ext uri="{FF2B5EF4-FFF2-40B4-BE49-F238E27FC236}">
                <a16:creationId xmlns:a16="http://schemas.microsoft.com/office/drawing/2014/main" id="{EA5857D3-1AF8-50CB-2D7C-5E0795A3ED5B}"/>
              </a:ext>
            </a:extLst>
          </p:cNvPr>
          <p:cNvPicPr>
            <a:picLocks noChangeAspect="1"/>
          </p:cNvPicPr>
          <p:nvPr/>
        </p:nvPicPr>
        <p:blipFill>
          <a:blip r:embed="rId3"/>
          <a:stretch>
            <a:fillRect/>
          </a:stretch>
        </p:blipFill>
        <p:spPr>
          <a:xfrm>
            <a:off x="4843269" y="727285"/>
            <a:ext cx="3424206" cy="3167390"/>
          </a:xfrm>
          <a:prstGeom prst="rect">
            <a:avLst/>
          </a:prstGeom>
          <a:ln>
            <a:solidFill>
              <a:srgbClr val="FF0000"/>
            </a:solidFill>
          </a:ln>
        </p:spPr>
      </p:pic>
      <p:pic>
        <p:nvPicPr>
          <p:cNvPr id="7" name="Picture 6" descr="Service">
            <a:extLst>
              <a:ext uri="{FF2B5EF4-FFF2-40B4-BE49-F238E27FC236}">
                <a16:creationId xmlns:a16="http://schemas.microsoft.com/office/drawing/2014/main" id="{B2CE0C4C-84B1-BEAD-B285-10AB7B6F3D7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4051" y="4980167"/>
            <a:ext cx="2533670" cy="1678556"/>
          </a:xfrm>
          <a:prstGeom prst="rect">
            <a:avLst/>
          </a:prstGeom>
          <a:ln>
            <a:solidFill>
              <a:srgbClr val="FF0000"/>
            </a:solidFill>
          </a:ln>
        </p:spPr>
      </p:pic>
      <p:pic>
        <p:nvPicPr>
          <p:cNvPr id="9" name="Picture 8">
            <a:extLst>
              <a:ext uri="{FF2B5EF4-FFF2-40B4-BE49-F238E27FC236}">
                <a16:creationId xmlns:a16="http://schemas.microsoft.com/office/drawing/2014/main" id="{3B07F3E7-A43C-0CD1-4BF6-F7E84377B20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872530" y="5048379"/>
            <a:ext cx="2044293" cy="1339365"/>
          </a:xfrm>
          <a:prstGeom prst="rect">
            <a:avLst/>
          </a:prstGeom>
          <a:ln>
            <a:solidFill>
              <a:srgbClr val="FF0000"/>
            </a:solidFill>
          </a:ln>
        </p:spPr>
      </p:pic>
      <p:cxnSp>
        <p:nvCxnSpPr>
          <p:cNvPr id="11" name="Straight Arrow Connector 10">
            <a:extLst>
              <a:ext uri="{FF2B5EF4-FFF2-40B4-BE49-F238E27FC236}">
                <a16:creationId xmlns:a16="http://schemas.microsoft.com/office/drawing/2014/main" id="{3A2FE700-8922-D8AA-BC6E-D5412DFDC65E}"/>
              </a:ext>
            </a:extLst>
          </p:cNvPr>
          <p:cNvCxnSpPr>
            <a:cxnSpLocks/>
          </p:cNvCxnSpPr>
          <p:nvPr/>
        </p:nvCxnSpPr>
        <p:spPr>
          <a:xfrm flipV="1">
            <a:off x="9690846" y="5342015"/>
            <a:ext cx="510989" cy="210398"/>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6C169ED-B51E-7971-D337-24628012FA79}"/>
              </a:ext>
            </a:extLst>
          </p:cNvPr>
          <p:cNvCxnSpPr>
            <a:cxnSpLocks/>
          </p:cNvCxnSpPr>
          <p:nvPr/>
        </p:nvCxnSpPr>
        <p:spPr>
          <a:xfrm>
            <a:off x="10581118" y="5657612"/>
            <a:ext cx="510989" cy="137648"/>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EB74257-19A8-D2FE-331E-1AC4DA71C9F4}"/>
              </a:ext>
            </a:extLst>
          </p:cNvPr>
          <p:cNvCxnSpPr>
            <a:cxnSpLocks/>
          </p:cNvCxnSpPr>
          <p:nvPr/>
        </p:nvCxnSpPr>
        <p:spPr>
          <a:xfrm flipH="1" flipV="1">
            <a:off x="9645276" y="6230471"/>
            <a:ext cx="1191336" cy="89647"/>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00D4889-ABA9-FE12-C61C-B515F215582A}"/>
              </a:ext>
            </a:extLst>
          </p:cNvPr>
          <p:cNvCxnSpPr>
            <a:cxnSpLocks/>
          </p:cNvCxnSpPr>
          <p:nvPr/>
        </p:nvCxnSpPr>
        <p:spPr>
          <a:xfrm flipH="1" flipV="1">
            <a:off x="700480" y="6071553"/>
            <a:ext cx="1002814" cy="36044"/>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770F31A-E695-6051-4378-24E321F46EC8}"/>
              </a:ext>
            </a:extLst>
          </p:cNvPr>
          <p:cNvCxnSpPr>
            <a:cxnSpLocks/>
          </p:cNvCxnSpPr>
          <p:nvPr/>
        </p:nvCxnSpPr>
        <p:spPr>
          <a:xfrm flipV="1">
            <a:off x="1071242" y="5616049"/>
            <a:ext cx="683016" cy="110387"/>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9223C13-63B4-7854-7369-2408775687F4}"/>
              </a:ext>
            </a:extLst>
          </p:cNvPr>
          <p:cNvCxnSpPr>
            <a:cxnSpLocks/>
          </p:cNvCxnSpPr>
          <p:nvPr/>
        </p:nvCxnSpPr>
        <p:spPr>
          <a:xfrm>
            <a:off x="1721224" y="5048379"/>
            <a:ext cx="715040" cy="293636"/>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4F2B16F-2341-355B-5340-4DEDB94247BE}"/>
              </a:ext>
            </a:extLst>
          </p:cNvPr>
          <p:cNvCxnSpPr>
            <a:cxnSpLocks/>
          </p:cNvCxnSpPr>
          <p:nvPr/>
        </p:nvCxnSpPr>
        <p:spPr>
          <a:xfrm>
            <a:off x="2419265" y="5432800"/>
            <a:ext cx="133731" cy="420751"/>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7E030E8-B3E7-FD16-BEE7-CAE141468A8D}"/>
              </a:ext>
            </a:extLst>
          </p:cNvPr>
          <p:cNvCxnSpPr>
            <a:cxnSpLocks/>
          </p:cNvCxnSpPr>
          <p:nvPr/>
        </p:nvCxnSpPr>
        <p:spPr>
          <a:xfrm flipH="1">
            <a:off x="1981200" y="6334780"/>
            <a:ext cx="438065" cy="302003"/>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26DB8EA-3B7B-22DC-8D1E-2A883C5858C6}"/>
              </a:ext>
            </a:extLst>
          </p:cNvPr>
          <p:cNvCxnSpPr>
            <a:cxnSpLocks/>
          </p:cNvCxnSpPr>
          <p:nvPr/>
        </p:nvCxnSpPr>
        <p:spPr>
          <a:xfrm flipH="1" flipV="1">
            <a:off x="1089829" y="6418729"/>
            <a:ext cx="470030" cy="158528"/>
          </a:xfrm>
          <a:prstGeom prst="straightConnector1">
            <a:avLst/>
          </a:prstGeom>
          <a:ln w="3492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CCB8689-C304-183A-E083-CE6C15099B00}"/>
              </a:ext>
            </a:extLst>
          </p:cNvPr>
          <p:cNvCxnSpPr>
            <a:cxnSpLocks/>
          </p:cNvCxnSpPr>
          <p:nvPr/>
        </p:nvCxnSpPr>
        <p:spPr>
          <a:xfrm flipH="1" flipV="1">
            <a:off x="80682" y="4898701"/>
            <a:ext cx="1559859" cy="1489043"/>
          </a:xfrm>
          <a:prstGeom prst="straightConnector1">
            <a:avLst/>
          </a:prstGeom>
          <a:ln w="73025">
            <a:solidFill>
              <a:srgbClr val="00B0F0">
                <a:alpha val="55000"/>
              </a:srgbClr>
            </a:solidFill>
            <a:tailEnd type="triangle" w="lg" len="lg"/>
          </a:ln>
        </p:spPr>
        <p:style>
          <a:lnRef idx="1">
            <a:schemeClr val="accent1"/>
          </a:lnRef>
          <a:fillRef idx="0">
            <a:schemeClr val="accent1"/>
          </a:fillRef>
          <a:effectRef idx="0">
            <a:schemeClr val="accent1"/>
          </a:effectRef>
          <a:fontRef idx="minor">
            <a:schemeClr val="tx1"/>
          </a:fontRef>
        </p:style>
      </p:cxnSp>
      <p:pic>
        <p:nvPicPr>
          <p:cNvPr id="43" name="Picture 42" descr="Power Flow belt replacement : r/johndeere">
            <a:extLst>
              <a:ext uri="{FF2B5EF4-FFF2-40B4-BE49-F238E27FC236}">
                <a16:creationId xmlns:a16="http://schemas.microsoft.com/office/drawing/2014/main" id="{6468FC12-7412-6BA1-68AF-6DB25A3B911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872530" y="3976867"/>
            <a:ext cx="2019300" cy="1003300"/>
          </a:xfrm>
          <a:prstGeom prst="rect">
            <a:avLst/>
          </a:prstGeom>
          <a:ln>
            <a:solidFill>
              <a:srgbClr val="FF0000"/>
            </a:solidFill>
          </a:ln>
        </p:spPr>
      </p:pic>
      <p:pic>
        <p:nvPicPr>
          <p:cNvPr id="44" name="Picture 43">
            <a:extLst>
              <a:ext uri="{FF2B5EF4-FFF2-40B4-BE49-F238E27FC236}">
                <a16:creationId xmlns:a16="http://schemas.microsoft.com/office/drawing/2014/main" id="{FDC0F939-8202-8FB1-5055-3D1A91B9A53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778404" y="4787273"/>
            <a:ext cx="1930074" cy="1983265"/>
          </a:xfrm>
          <a:prstGeom prst="rect">
            <a:avLst/>
          </a:prstGeom>
          <a:ln>
            <a:solidFill>
              <a:srgbClr val="FF0000"/>
            </a:solidFill>
          </a:ln>
        </p:spPr>
      </p:pic>
    </p:spTree>
    <p:extLst>
      <p:ext uri="{BB962C8B-B14F-4D97-AF65-F5344CB8AC3E}">
        <p14:creationId xmlns:p14="http://schemas.microsoft.com/office/powerpoint/2010/main" val="4180096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BBD15-AEC2-1815-2347-A5BB8F308263}"/>
              </a:ext>
            </a:extLst>
          </p:cNvPr>
          <p:cNvSpPr txBox="1"/>
          <p:nvPr/>
        </p:nvSpPr>
        <p:spPr>
          <a:xfrm>
            <a:off x="-1" y="0"/>
            <a:ext cx="5585791" cy="523220"/>
          </a:xfrm>
          <a:prstGeom prst="rect">
            <a:avLst/>
          </a:prstGeom>
          <a:noFill/>
        </p:spPr>
        <p:txBody>
          <a:bodyPr wrap="square" rtlCol="0">
            <a:spAutoFit/>
          </a:bodyPr>
          <a:lstStyle/>
          <a:p>
            <a:r>
              <a:rPr lang="en-US" sz="2800" b="1" dirty="0"/>
              <a:t>Other tractors with PTO $30-$50K</a:t>
            </a:r>
          </a:p>
        </p:txBody>
      </p:sp>
      <p:sp>
        <p:nvSpPr>
          <p:cNvPr id="3" name="TextBox 2">
            <a:extLst>
              <a:ext uri="{FF2B5EF4-FFF2-40B4-BE49-F238E27FC236}">
                <a16:creationId xmlns:a16="http://schemas.microsoft.com/office/drawing/2014/main" id="{6E16EF48-8881-49F2-8460-25D7441E2332}"/>
              </a:ext>
            </a:extLst>
          </p:cNvPr>
          <p:cNvSpPr txBox="1"/>
          <p:nvPr/>
        </p:nvSpPr>
        <p:spPr>
          <a:xfrm>
            <a:off x="0" y="489392"/>
            <a:ext cx="4593021" cy="276999"/>
          </a:xfrm>
          <a:prstGeom prst="rect">
            <a:avLst/>
          </a:prstGeom>
          <a:noFill/>
        </p:spPr>
        <p:txBody>
          <a:bodyPr wrap="square" rtlCol="0">
            <a:spAutoFit/>
          </a:bodyPr>
          <a:lstStyle/>
          <a:p>
            <a:r>
              <a:rPr lang="en-US" sz="1200">
                <a:hlinkClick r:id="rId2"/>
              </a:rPr>
              <a:t>https://www.tractor.com/news/5-of-the-best-compact-tractor-choices/</a:t>
            </a:r>
            <a:endParaRPr lang="en-US" sz="1200"/>
          </a:p>
        </p:txBody>
      </p:sp>
      <p:pic>
        <p:nvPicPr>
          <p:cNvPr id="4" name="Picture 3">
            <a:extLst>
              <a:ext uri="{FF2B5EF4-FFF2-40B4-BE49-F238E27FC236}">
                <a16:creationId xmlns:a16="http://schemas.microsoft.com/office/drawing/2014/main" id="{E417BA77-09D9-7E27-801F-69193D91F8D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0379" y="1138958"/>
            <a:ext cx="2388860" cy="1934779"/>
          </a:xfrm>
          <a:prstGeom prst="rect">
            <a:avLst/>
          </a:prstGeom>
        </p:spPr>
      </p:pic>
      <p:pic>
        <p:nvPicPr>
          <p:cNvPr id="5" name="Picture 4">
            <a:extLst>
              <a:ext uri="{FF2B5EF4-FFF2-40B4-BE49-F238E27FC236}">
                <a16:creationId xmlns:a16="http://schemas.microsoft.com/office/drawing/2014/main" id="{49F5BA98-0D48-BA24-1215-B23D6670903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990285" y="1138958"/>
            <a:ext cx="2852152" cy="1882228"/>
          </a:xfrm>
          <a:prstGeom prst="rect">
            <a:avLst/>
          </a:prstGeom>
        </p:spPr>
      </p:pic>
      <p:pic>
        <p:nvPicPr>
          <p:cNvPr id="6" name="Picture 5">
            <a:extLst>
              <a:ext uri="{FF2B5EF4-FFF2-40B4-BE49-F238E27FC236}">
                <a16:creationId xmlns:a16="http://schemas.microsoft.com/office/drawing/2014/main" id="{9D2348EF-00F3-4732-6868-29433FD1B92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81756" y="1012612"/>
            <a:ext cx="2424597" cy="1934779"/>
          </a:xfrm>
          <a:prstGeom prst="rect">
            <a:avLst/>
          </a:prstGeom>
        </p:spPr>
      </p:pic>
      <p:sp>
        <p:nvSpPr>
          <p:cNvPr id="7" name="TextBox 6">
            <a:extLst>
              <a:ext uri="{FF2B5EF4-FFF2-40B4-BE49-F238E27FC236}">
                <a16:creationId xmlns:a16="http://schemas.microsoft.com/office/drawing/2014/main" id="{A7E3F881-7D00-286B-91EB-07CF4CF08B35}"/>
              </a:ext>
            </a:extLst>
          </p:cNvPr>
          <p:cNvSpPr txBox="1"/>
          <p:nvPr/>
        </p:nvSpPr>
        <p:spPr>
          <a:xfrm>
            <a:off x="493986" y="3594538"/>
            <a:ext cx="4561490" cy="369332"/>
          </a:xfrm>
          <a:prstGeom prst="rect">
            <a:avLst/>
          </a:prstGeom>
          <a:noFill/>
        </p:spPr>
        <p:txBody>
          <a:bodyPr wrap="square" rtlCol="0">
            <a:spAutoFit/>
          </a:bodyPr>
          <a:lstStyle/>
          <a:p>
            <a:r>
              <a:rPr lang="en-US" dirty="0"/>
              <a:t>Power Take-Off (PTO) </a:t>
            </a:r>
          </a:p>
        </p:txBody>
      </p:sp>
      <p:sp>
        <p:nvSpPr>
          <p:cNvPr id="8" name="TextBox 7">
            <a:extLst>
              <a:ext uri="{FF2B5EF4-FFF2-40B4-BE49-F238E27FC236}">
                <a16:creationId xmlns:a16="http://schemas.microsoft.com/office/drawing/2014/main" id="{0F7E2A2F-96C1-620D-A026-7F6ED7EBDE57}"/>
              </a:ext>
            </a:extLst>
          </p:cNvPr>
          <p:cNvSpPr txBox="1"/>
          <p:nvPr/>
        </p:nvSpPr>
        <p:spPr>
          <a:xfrm>
            <a:off x="336331" y="4067503"/>
            <a:ext cx="4256690" cy="738664"/>
          </a:xfrm>
          <a:prstGeom prst="rect">
            <a:avLst/>
          </a:prstGeom>
          <a:noFill/>
        </p:spPr>
        <p:txBody>
          <a:bodyPr wrap="square" rtlCol="0">
            <a:spAutoFit/>
          </a:bodyPr>
          <a:lstStyle/>
          <a:p>
            <a:r>
              <a:rPr lang="en-US" sz="1400" dirty="0"/>
              <a:t>The tractor's </a:t>
            </a:r>
            <a:r>
              <a:rPr lang="en-US" sz="1400" b="1" dirty="0">
                <a:solidFill>
                  <a:srgbClr val="FF0000"/>
                </a:solidFill>
              </a:rPr>
              <a:t>stub shaft</a:t>
            </a:r>
            <a:r>
              <a:rPr lang="en-US" sz="1400" dirty="0"/>
              <a:t>, often called the </a:t>
            </a:r>
            <a:r>
              <a:rPr lang="en-US" sz="1400" b="1" dirty="0">
                <a:solidFill>
                  <a:srgbClr val="FF0000"/>
                </a:solidFill>
              </a:rPr>
              <a:t>PTO</a:t>
            </a:r>
            <a:r>
              <a:rPr lang="en-US" sz="1400" dirty="0"/>
              <a:t>, </a:t>
            </a:r>
          </a:p>
          <a:p>
            <a:r>
              <a:rPr lang="en-US" sz="1400" dirty="0"/>
              <a:t>rotates at 540 or 1000 rpm (9..17 times/sec) </a:t>
            </a:r>
          </a:p>
          <a:p>
            <a:r>
              <a:rPr lang="en-US" sz="1400" dirty="0"/>
              <a:t>and used to transfer power to external </a:t>
            </a:r>
            <a:r>
              <a:rPr lang="en-US" sz="1400"/>
              <a:t>attachments.</a:t>
            </a:r>
            <a:endParaRPr lang="en-US" sz="1400" dirty="0"/>
          </a:p>
        </p:txBody>
      </p:sp>
    </p:spTree>
    <p:extLst>
      <p:ext uri="{BB962C8B-B14F-4D97-AF65-F5344CB8AC3E}">
        <p14:creationId xmlns:p14="http://schemas.microsoft.com/office/powerpoint/2010/main" val="387486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1862</TotalTime>
  <Words>2575</Words>
  <Application>Microsoft Macintosh PowerPoint</Application>
  <PresentationFormat>Widescreen</PresentationFormat>
  <Paragraphs>209</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Courier New</vt:lpstr>
      <vt:lpstr>fkGroteskNeue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116</cp:revision>
  <dcterms:created xsi:type="dcterms:W3CDTF">2022-05-02T00:38:22Z</dcterms:created>
  <dcterms:modified xsi:type="dcterms:W3CDTF">2026-06-14T02:25:46Z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2022-05-02T00:38:23Z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24169d7b-7067-4cc0-93f0-4d109a136a7c</vt:lpwstr>
  </property>
  <property fmtid="{D5CDD505-2E9C-101B-9397-08002B2CF9AE}" pid="8" name="MSIP_Label_4f518368-b969-4042-91d9-8939bd921da2_ContentBits">
    <vt:lpwstr>0</vt:lpwstr>
  </property>
</Properties>
</file>