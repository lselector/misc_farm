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70" r:id="rId6"/>
    <p:sldId id="269" r:id="rId7"/>
    <p:sldId id="261" r:id="rId8"/>
    <p:sldId id="268" r:id="rId9"/>
    <p:sldId id="267" r:id="rId10"/>
    <p:sldId id="271" r:id="rId11"/>
    <p:sldId id="265" r:id="rId12"/>
    <p:sldId id="272"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59"/>
    <p:restoredTop sz="92782"/>
  </p:normalViewPr>
  <p:slideViewPr>
    <p:cSldViewPr snapToGrid="0" snapToObjects="1">
      <p:cViewPr>
        <p:scale>
          <a:sx n="142" d="100"/>
          <a:sy n="142" d="100"/>
        </p:scale>
        <p:origin x="-984" y="-2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6/11/26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6/11/26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6/11/26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6/11/26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6/11/26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6/11/26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6/11/26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6/11/26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6/11/26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6/11/26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6/11/26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6/11/26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18.jpeg"/><Relationship Id="rId4" Type="http://schemas.openxmlformats.org/officeDocument/2006/relationships/image" Target="../media/image17.jpeg"/></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3.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22.jpeg"/><Relationship Id="rId5" Type="http://schemas.openxmlformats.org/officeDocument/2006/relationships/image" Target="../media/image21.gif"/><Relationship Id="rId4" Type="http://schemas.openxmlformats.org/officeDocument/2006/relationships/hyperlink" Target="https://keenovo.store/products/keenovo-silicone-heating-pad-wvo-svo-fuel-filter-diesel-heater-nos-bottle-heater"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29.jpeg"/><Relationship Id="rId2" Type="http://schemas.openxmlformats.org/officeDocument/2006/relationships/image" Target="../media/image24.jpeg"/><Relationship Id="rId1" Type="http://schemas.openxmlformats.org/officeDocument/2006/relationships/slideLayout" Target="../slideLayouts/slideLayout7.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jpe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www.facebook.com/groups/781254733349946/posts/803478744460878/" TargetMode="External"/><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33.jpeg"/><Relationship Id="rId1" Type="http://schemas.openxmlformats.org/officeDocument/2006/relationships/slideLayout" Target="../slideLayouts/slideLayout7.xml"/><Relationship Id="rId4" Type="http://schemas.openxmlformats.org/officeDocument/2006/relationships/image" Target="../media/image34.jpeg"/></Relationships>
</file>

<file path=ppt/slides/_rels/slide12.xml.rels><?xml version="1.0" encoding="UTF-8" standalone="yes"?>
<Relationships xmlns="http://schemas.openxmlformats.org/package/2006/relationships"><Relationship Id="rId3" Type="http://schemas.openxmlformats.org/officeDocument/2006/relationships/image" Target="../media/image36.jpeg"/><Relationship Id="rId7" Type="http://schemas.openxmlformats.org/officeDocument/2006/relationships/image" Target="../media/image40.png"/><Relationship Id="rId2" Type="http://schemas.openxmlformats.org/officeDocument/2006/relationships/image" Target="../media/image35.jpeg"/><Relationship Id="rId1" Type="http://schemas.openxmlformats.org/officeDocument/2006/relationships/slideLayout" Target="../slideLayouts/slideLayout7.xml"/><Relationship Id="rId6" Type="http://schemas.openxmlformats.org/officeDocument/2006/relationships/image" Target="../media/image39.jpeg"/><Relationship Id="rId5" Type="http://schemas.openxmlformats.org/officeDocument/2006/relationships/image" Target="../media/image38.png"/><Relationship Id="rId4" Type="http://schemas.openxmlformats.org/officeDocument/2006/relationships/image" Target="../media/image37.jpeg"/></Relationships>
</file>

<file path=ppt/slides/_rels/slide1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43.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extLst>
              <p:ext uri="{D42A27DB-BD31-4B8C-83A1-F6EECF244321}">
                <p14:modId xmlns:p14="http://schemas.microsoft.com/office/powerpoint/2010/main" val="869364946"/>
              </p:ext>
            </p:extLst>
          </p:nvPr>
        </p:nvGraphicFramePr>
        <p:xfrm>
          <a:off x="3031066" y="4360333"/>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Tree>
    <p:extLst>
      <p:ext uri="{BB962C8B-B14F-4D97-AF65-F5344CB8AC3E}">
        <p14:creationId xmlns:p14="http://schemas.microsoft.com/office/powerpoint/2010/main" val="981582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3539430"/>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Chute Actuator (up/down);Chute Rotator (more turning);</a:t>
            </a:r>
          </a:p>
          <a:p>
            <a:r>
              <a:rPr lang="en-US" sz="1400" dirty="0"/>
              <a:t>Enclosed Chain for impeller; Rubber extensions for impeller; </a:t>
            </a:r>
          </a:p>
          <a:p>
            <a:r>
              <a:rPr lang="en-US" sz="1400" dirty="0"/>
              <a:t>Seat Cover; Seat Heaters; Heated Vest Plug; Steering Wheel Ball (spinner);</a:t>
            </a:r>
          </a:p>
          <a:p>
            <a:r>
              <a:rPr lang="en-US" sz="1400" dirty="0"/>
              <a:t>LED Headlights; LED Rear Lights; Dash Light; </a:t>
            </a:r>
          </a:p>
          <a:p>
            <a:r>
              <a:rPr lang="en-US" sz="1400" dirty="0"/>
              <a:t>Custom Relay for Chute Switch</a:t>
            </a:r>
          </a:p>
          <a:p>
            <a:r>
              <a:rPr lang="en-US" sz="1400" dirty="0"/>
              <a:t>Throttle Spring to throttle lever to prevent it from backing down</a:t>
            </a:r>
          </a:p>
          <a:p>
            <a:r>
              <a:rPr lang="en-US" sz="1400" dirty="0"/>
              <a:t>Hazard Lights; Pattern-Changing Hazard Switch; USB Output &amp; Voltmeter showing battery voltage; Toolbox Handle; 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648698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Bagger = Hopper</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2192908"/>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I have a bagger with 2 bags.</a:t>
            </a:r>
          </a:p>
          <a:p>
            <a:r>
              <a:rPr lang="en-US" sz="1400" dirty="0">
                <a:latin typeface="Calibri" panose="020F0502020204030204" pitchFamily="34" charset="0"/>
                <a:cs typeface="Calibri" panose="020F0502020204030204" pitchFamily="34" charset="0"/>
              </a:rPr>
              <a:t>It has an annoying problem.</a:t>
            </a:r>
          </a:p>
          <a:p>
            <a:r>
              <a:rPr lang="en-US" sz="1400" dirty="0">
                <a:latin typeface="Calibri" panose="020F0502020204030204" pitchFamily="34" charset="0"/>
                <a:cs typeface="Calibri" panose="020F0502020204030204" pitchFamily="34" charset="0"/>
              </a:rPr>
              <a:t>It fills the left bag first &amp; only the over-flow goes to the right bag. </a:t>
            </a:r>
          </a:p>
          <a:p>
            <a:r>
              <a:rPr lang="en-US" sz="1400" dirty="0">
                <a:latin typeface="Calibri" panose="020F0502020204030204" pitchFamily="34" charset="0"/>
                <a:cs typeface="Calibri" panose="020F0502020204030204" pitchFamily="34" charset="0"/>
              </a:rPr>
              <a:t>This makes the left bag  heavy while right bag is empty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Easy fix – block part of the chute opening as shown.</a:t>
            </a:r>
          </a:p>
          <a:p>
            <a:r>
              <a:rPr lang="en-US" sz="1400" dirty="0">
                <a:latin typeface="Calibri" panose="020F0502020204030204" pitchFamily="34" charset="0"/>
                <a:cs typeface="Calibri" panose="020F0502020204030204" pitchFamily="34" charset="0"/>
              </a:rPr>
              <a:t>Two layers of duct tape facing each other, nothing is sticking to them.</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 2 bags now got filled up at similar speed. </a:t>
            </a:r>
          </a:p>
          <a:p>
            <a:r>
              <a:rPr lang="en-US" sz="1050" dirty="0">
                <a:latin typeface="Calibri" panose="020F0502020204030204" pitchFamily="34" charset="0"/>
                <a:cs typeface="Calibri" panose="020F0502020204030204" pitchFamily="34" charset="0"/>
                <a:hlinkClick r:id="rId2"/>
              </a:rPr>
              <a:t>https://www.facebook.com/groups/781254733349946/posts/803478744460878/</a:t>
            </a:r>
            <a:endParaRPr lang="en-US"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AA518FD-7EE2-032F-1F24-036ACB62B9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492343" y="149679"/>
            <a:ext cx="2699657" cy="2616377"/>
          </a:xfrm>
          <a:prstGeom prst="rect">
            <a:avLst/>
          </a:prstGeom>
        </p:spPr>
      </p:pic>
      <p:pic>
        <p:nvPicPr>
          <p:cNvPr id="4" name="Picture 3">
            <a:extLst>
              <a:ext uri="{FF2B5EF4-FFF2-40B4-BE49-F238E27FC236}">
                <a16:creationId xmlns:a16="http://schemas.microsoft.com/office/drawing/2014/main" id="{F37986CB-6953-B8BE-0826-E958A84371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492342" y="3613391"/>
            <a:ext cx="2699657" cy="2281997"/>
          </a:xfrm>
          <a:prstGeom prst="rect">
            <a:avLst/>
          </a:prstGeom>
        </p:spPr>
      </p:pic>
      <p:pic>
        <p:nvPicPr>
          <p:cNvPr id="5" name="Picture 4">
            <a:extLst>
              <a:ext uri="{FF2B5EF4-FFF2-40B4-BE49-F238E27FC236}">
                <a16:creationId xmlns:a16="http://schemas.microsoft.com/office/drawing/2014/main" id="{65079173-F2C4-DB18-BDAD-0AEF787B154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09866" y="149679"/>
            <a:ext cx="2374900" cy="2311400"/>
          </a:xfrm>
          <a:prstGeom prst="rect">
            <a:avLst/>
          </a:prstGeom>
        </p:spPr>
      </p:pic>
    </p:spTree>
    <p:extLst>
      <p:ext uri="{BB962C8B-B14F-4D97-AF65-F5344CB8AC3E}">
        <p14:creationId xmlns:p14="http://schemas.microsoft.com/office/powerpoint/2010/main" val="28630607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B338-E842-3C96-D4BC-E392AD8820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A62B5C-52DA-6C87-FA5A-4A7AB2C58A4F}"/>
              </a:ext>
            </a:extLst>
          </p:cNvPr>
          <p:cNvSpPr txBox="1"/>
          <p:nvPr/>
        </p:nvSpPr>
        <p:spPr>
          <a:xfrm>
            <a:off x="-1" y="0"/>
            <a:ext cx="4431253" cy="523220"/>
          </a:xfrm>
          <a:prstGeom prst="rect">
            <a:avLst/>
          </a:prstGeom>
          <a:noFill/>
        </p:spPr>
        <p:txBody>
          <a:bodyPr wrap="square" rtlCol="0">
            <a:spAutoFit/>
          </a:bodyPr>
          <a:lstStyle/>
          <a:p>
            <a:r>
              <a:rPr lang="en-US" sz="2800" b="1" dirty="0"/>
              <a:t>JD </a:t>
            </a:r>
            <a:r>
              <a:rPr lang="en-US" sz="2800" b="1" dirty="0" err="1"/>
              <a:t>PowerFlow</a:t>
            </a:r>
            <a:endParaRPr lang="en-US" sz="2800" b="1" dirty="0"/>
          </a:p>
        </p:txBody>
      </p:sp>
      <p:sp>
        <p:nvSpPr>
          <p:cNvPr id="8" name="TextBox 7">
            <a:extLst>
              <a:ext uri="{FF2B5EF4-FFF2-40B4-BE49-F238E27FC236}">
                <a16:creationId xmlns:a16="http://schemas.microsoft.com/office/drawing/2014/main" id="{236796AA-9C3C-7F2D-64E1-0C9B96CA64C5}"/>
              </a:ext>
            </a:extLst>
          </p:cNvPr>
          <p:cNvSpPr txBox="1"/>
          <p:nvPr/>
        </p:nvSpPr>
        <p:spPr>
          <a:xfrm>
            <a:off x="164051" y="523220"/>
            <a:ext cx="4544427" cy="4154984"/>
          </a:xfrm>
          <a:prstGeom prst="rect">
            <a:avLst/>
          </a:prstGeom>
          <a:noFill/>
          <a:ln>
            <a:solidFill>
              <a:srgbClr val="FF0000"/>
            </a:solidFill>
          </a:ln>
        </p:spPr>
        <p:txBody>
          <a:bodyPr wrap="square" rtlCol="0">
            <a:spAutoFit/>
          </a:bodyPr>
          <a:lstStyle/>
          <a:p>
            <a:pPr marL="171450" indent="-171450">
              <a:buFont typeface="Arial" panose="020B0604020202020204" pitchFamily="34" charset="0"/>
              <a:buChar char="•"/>
            </a:pPr>
            <a:r>
              <a:rPr lang="en-US" sz="1200" dirty="0"/>
              <a:t>john deere 54 inch high capacity mower deck with Power Flow attachment to throw grass to the back.</a:t>
            </a:r>
          </a:p>
          <a:p>
            <a:pPr marL="171450" indent="-171450">
              <a:buFont typeface="Arial" panose="020B0604020202020204" pitchFamily="34" charset="0"/>
              <a:buChar char="•"/>
            </a:pPr>
            <a:r>
              <a:rPr lang="en-US" sz="1200" dirty="0"/>
              <a:t>When looking at the mowing deck from above, the spools (sheaves) rotate clockwise (CW). </a:t>
            </a:r>
          </a:p>
          <a:p>
            <a:pPr marL="171450" indent="-171450">
              <a:buFont typeface="Arial" panose="020B0604020202020204" pitchFamily="34" charset="0"/>
              <a:buChar char="•"/>
            </a:pPr>
            <a:r>
              <a:rPr lang="en-US" sz="1200" dirty="0"/>
              <a:t>When looking from below – CCW (Counter-clockwise). </a:t>
            </a:r>
          </a:p>
          <a:p>
            <a:pPr marL="171450" indent="-171450">
              <a:buFont typeface="Arial" panose="020B0604020202020204" pitchFamily="34" charset="0"/>
              <a:buChar char="•"/>
            </a:pPr>
            <a:r>
              <a:rPr lang="en-US" sz="1200" dirty="0"/>
              <a:t>When looking at the Power Flow from the right side of the tractor (where the Power Flow is attached), the impeller rotates CW (clockwise) collecting grass from the bottom by moving from front to back – and throwing it to the back</a:t>
            </a:r>
          </a:p>
          <a:p>
            <a:pPr marL="171450" indent="-171450">
              <a:buFont typeface="Arial" panose="020B0604020202020204" pitchFamily="34" charset="0"/>
              <a:buChar char="•"/>
            </a:pPr>
            <a:r>
              <a:rPr lang="en-US" sz="1200" dirty="0"/>
              <a:t>There is a belt (a rubber loop) to pass rotation from the deck to the impeller. It goes from top sheave M on the deck (</a:t>
            </a:r>
            <a:r>
              <a:rPr lang="en-US" sz="1200" dirty="0" err="1"/>
              <a:t>horisontal</a:t>
            </a:r>
            <a:r>
              <a:rPr lang="en-US" sz="1200" dirty="0"/>
              <a:t> disk) to the (N) tensioner idler (top horizontal disk), then to the top side of impeller sheeve (O), then leaving from the down side of impeller sheeve (O) to the V-idler sheave P (the lower horizontal disk), and finally, back to the sheave M on the deck.</a:t>
            </a:r>
          </a:p>
          <a:p>
            <a:pPr marL="171450" indent="-171450">
              <a:buFont typeface="Arial" panose="020B0604020202020204" pitchFamily="34" charset="0"/>
              <a:buChar char="•"/>
            </a:pPr>
            <a:r>
              <a:rPr lang="en-US" sz="1200" dirty="0"/>
              <a:t>(N) — the tensioner idler — sits closer to the deck, and the belt contacts its back/flat side to maintain tension. </a:t>
            </a:r>
          </a:p>
          <a:p>
            <a:pPr marL="171450" indent="-171450">
              <a:buFont typeface="Arial" panose="020B0604020202020204" pitchFamily="34" charset="0"/>
              <a:buChar char="•"/>
            </a:pPr>
            <a:r>
              <a:rPr lang="en-US" sz="1200" dirty="0"/>
              <a:t>(P) — the V-idler sheave — sits on the return path from the blower (O) back to the deck sheave (M), guiding the belt in the V-groove. It is lower/closer to the blower on the return side.</a:t>
            </a:r>
          </a:p>
          <a:p>
            <a:pPr marL="171450" indent="-171450">
              <a:buFont typeface="Arial" panose="020B0604020202020204" pitchFamily="34" charset="0"/>
              <a:buChar char="•"/>
            </a:pPr>
            <a:r>
              <a:rPr lang="en-US" sz="1200" dirty="0"/>
              <a:t>In short: (N) is above/closer to the deck and acts as a tensioner; (P) is below/on the blower side and acts as a fixed V-groove guide</a:t>
            </a:r>
          </a:p>
        </p:txBody>
      </p:sp>
      <p:pic>
        <p:nvPicPr>
          <p:cNvPr id="5" name="Picture 4" descr="John Deere X758 X700 Series | AG Pro">
            <a:extLst>
              <a:ext uri="{FF2B5EF4-FFF2-40B4-BE49-F238E27FC236}">
                <a16:creationId xmlns:a16="http://schemas.microsoft.com/office/drawing/2014/main" id="{DBC1B5E5-B8F2-9E18-D714-A3DDDCC19EE1}"/>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8924205" y="4862870"/>
            <a:ext cx="3103744" cy="1864781"/>
          </a:xfrm>
          <a:prstGeom prst="rect">
            <a:avLst/>
          </a:prstGeom>
          <a:ln>
            <a:solidFill>
              <a:srgbClr val="FF0000"/>
            </a:solidFill>
          </a:ln>
        </p:spPr>
      </p:pic>
      <p:pic>
        <p:nvPicPr>
          <p:cNvPr id="6" name="Picture 5">
            <a:extLst>
              <a:ext uri="{FF2B5EF4-FFF2-40B4-BE49-F238E27FC236}">
                <a16:creationId xmlns:a16="http://schemas.microsoft.com/office/drawing/2014/main" id="{EA5857D3-1AF8-50CB-2D7C-5E0795A3ED5B}"/>
              </a:ext>
            </a:extLst>
          </p:cNvPr>
          <p:cNvPicPr>
            <a:picLocks noChangeAspect="1"/>
          </p:cNvPicPr>
          <p:nvPr/>
        </p:nvPicPr>
        <p:blipFill>
          <a:blip r:embed="rId3"/>
          <a:stretch>
            <a:fillRect/>
          </a:stretch>
        </p:blipFill>
        <p:spPr>
          <a:xfrm>
            <a:off x="4843269" y="727285"/>
            <a:ext cx="3424206" cy="3167390"/>
          </a:xfrm>
          <a:prstGeom prst="rect">
            <a:avLst/>
          </a:prstGeom>
        </p:spPr>
      </p:pic>
      <p:pic>
        <p:nvPicPr>
          <p:cNvPr id="7" name="Picture 6" descr="Service">
            <a:extLst>
              <a:ext uri="{FF2B5EF4-FFF2-40B4-BE49-F238E27FC236}">
                <a16:creationId xmlns:a16="http://schemas.microsoft.com/office/drawing/2014/main" id="{B2CE0C4C-84B1-BEAD-B285-10AB7B6F3D7C}"/>
              </a:ext>
            </a:extLst>
          </p:cNvPr>
          <p:cNvPicPr>
            <a:picLocks noChangeAspect="1"/>
          </p:cNvPicPr>
          <p:nvPr/>
        </p:nvPicPr>
        <p:blipFill>
          <a:blip r:embed="rId4"/>
          <a:stretch>
            <a:fillRect/>
          </a:stretch>
        </p:blipFill>
        <p:spPr>
          <a:xfrm>
            <a:off x="164051" y="4980167"/>
            <a:ext cx="2533670" cy="1678556"/>
          </a:xfrm>
          <a:prstGeom prst="rect">
            <a:avLst/>
          </a:prstGeom>
        </p:spPr>
      </p:pic>
      <p:pic>
        <p:nvPicPr>
          <p:cNvPr id="9" name="Picture 8">
            <a:extLst>
              <a:ext uri="{FF2B5EF4-FFF2-40B4-BE49-F238E27FC236}">
                <a16:creationId xmlns:a16="http://schemas.microsoft.com/office/drawing/2014/main" id="{3B07F3E7-A43C-0CD1-4BF6-F7E84377B202}"/>
              </a:ext>
            </a:extLst>
          </p:cNvPr>
          <p:cNvPicPr>
            <a:picLocks noChangeAspect="1"/>
          </p:cNvPicPr>
          <p:nvPr/>
        </p:nvPicPr>
        <p:blipFill>
          <a:blip r:embed="rId5"/>
          <a:stretch>
            <a:fillRect/>
          </a:stretch>
        </p:blipFill>
        <p:spPr>
          <a:xfrm>
            <a:off x="4872530" y="5048379"/>
            <a:ext cx="2044293" cy="1339365"/>
          </a:xfrm>
          <a:prstGeom prst="rect">
            <a:avLst/>
          </a:prstGeom>
          <a:ln>
            <a:solidFill>
              <a:srgbClr val="FF0000"/>
            </a:solidFill>
          </a:ln>
        </p:spPr>
      </p:pic>
      <p:cxnSp>
        <p:nvCxnSpPr>
          <p:cNvPr id="11" name="Straight Arrow Connector 10">
            <a:extLst>
              <a:ext uri="{FF2B5EF4-FFF2-40B4-BE49-F238E27FC236}">
                <a16:creationId xmlns:a16="http://schemas.microsoft.com/office/drawing/2014/main" id="{3A2FE700-8922-D8AA-BC6E-D5412DFDC65E}"/>
              </a:ext>
            </a:extLst>
          </p:cNvPr>
          <p:cNvCxnSpPr>
            <a:cxnSpLocks/>
          </p:cNvCxnSpPr>
          <p:nvPr/>
        </p:nvCxnSpPr>
        <p:spPr>
          <a:xfrm flipV="1">
            <a:off x="9690846" y="5342015"/>
            <a:ext cx="510989" cy="21039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6C169ED-B51E-7971-D337-24628012FA79}"/>
              </a:ext>
            </a:extLst>
          </p:cNvPr>
          <p:cNvCxnSpPr>
            <a:cxnSpLocks/>
          </p:cNvCxnSpPr>
          <p:nvPr/>
        </p:nvCxnSpPr>
        <p:spPr>
          <a:xfrm>
            <a:off x="10581118" y="5657612"/>
            <a:ext cx="510989" cy="13764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EB74257-19A8-D2FE-331E-1AC4DA71C9F4}"/>
              </a:ext>
            </a:extLst>
          </p:cNvPr>
          <p:cNvCxnSpPr>
            <a:cxnSpLocks/>
          </p:cNvCxnSpPr>
          <p:nvPr/>
        </p:nvCxnSpPr>
        <p:spPr>
          <a:xfrm flipH="1" flipV="1">
            <a:off x="9645276" y="6230471"/>
            <a:ext cx="1191336" cy="8964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00D4889-ABA9-FE12-C61C-B515F215582A}"/>
              </a:ext>
            </a:extLst>
          </p:cNvPr>
          <p:cNvCxnSpPr>
            <a:cxnSpLocks/>
          </p:cNvCxnSpPr>
          <p:nvPr/>
        </p:nvCxnSpPr>
        <p:spPr>
          <a:xfrm flipH="1" flipV="1">
            <a:off x="700480" y="6071553"/>
            <a:ext cx="1002814" cy="36044"/>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770F31A-E695-6051-4378-24E321F46EC8}"/>
              </a:ext>
            </a:extLst>
          </p:cNvPr>
          <p:cNvCxnSpPr>
            <a:cxnSpLocks/>
          </p:cNvCxnSpPr>
          <p:nvPr/>
        </p:nvCxnSpPr>
        <p:spPr>
          <a:xfrm flipV="1">
            <a:off x="1071242" y="5616049"/>
            <a:ext cx="683016" cy="11038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9223C13-63B4-7854-7369-2408775687F4}"/>
              </a:ext>
            </a:extLst>
          </p:cNvPr>
          <p:cNvCxnSpPr>
            <a:cxnSpLocks/>
          </p:cNvCxnSpPr>
          <p:nvPr/>
        </p:nvCxnSpPr>
        <p:spPr>
          <a:xfrm>
            <a:off x="1721224" y="5048379"/>
            <a:ext cx="715040" cy="293636"/>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4F2B16F-2341-355B-5340-4DEDB94247BE}"/>
              </a:ext>
            </a:extLst>
          </p:cNvPr>
          <p:cNvCxnSpPr>
            <a:cxnSpLocks/>
          </p:cNvCxnSpPr>
          <p:nvPr/>
        </p:nvCxnSpPr>
        <p:spPr>
          <a:xfrm>
            <a:off x="2419265" y="5432800"/>
            <a:ext cx="133731" cy="420751"/>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7E030E8-B3E7-FD16-BEE7-CAE141468A8D}"/>
              </a:ext>
            </a:extLst>
          </p:cNvPr>
          <p:cNvCxnSpPr>
            <a:cxnSpLocks/>
          </p:cNvCxnSpPr>
          <p:nvPr/>
        </p:nvCxnSpPr>
        <p:spPr>
          <a:xfrm flipH="1">
            <a:off x="1981200" y="6334780"/>
            <a:ext cx="438065" cy="302003"/>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26DB8EA-3B7B-22DC-8D1E-2A883C5858C6}"/>
              </a:ext>
            </a:extLst>
          </p:cNvPr>
          <p:cNvCxnSpPr>
            <a:cxnSpLocks/>
          </p:cNvCxnSpPr>
          <p:nvPr/>
        </p:nvCxnSpPr>
        <p:spPr>
          <a:xfrm flipH="1" flipV="1">
            <a:off x="1089829" y="6418729"/>
            <a:ext cx="470030" cy="15852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CCB8689-C304-183A-E083-CE6C15099B00}"/>
              </a:ext>
            </a:extLst>
          </p:cNvPr>
          <p:cNvCxnSpPr>
            <a:cxnSpLocks/>
          </p:cNvCxnSpPr>
          <p:nvPr/>
        </p:nvCxnSpPr>
        <p:spPr>
          <a:xfrm flipH="1" flipV="1">
            <a:off x="80682" y="4898701"/>
            <a:ext cx="1559859" cy="1489043"/>
          </a:xfrm>
          <a:prstGeom prst="straightConnector1">
            <a:avLst/>
          </a:prstGeom>
          <a:ln w="73025">
            <a:solidFill>
              <a:srgbClr val="00B0F0">
                <a:alpha val="55000"/>
              </a:srgbClr>
            </a:solidFill>
            <a:tailEnd type="triangle" w="lg" len="lg"/>
          </a:ln>
        </p:spPr>
        <p:style>
          <a:lnRef idx="1">
            <a:schemeClr val="accent1"/>
          </a:lnRef>
          <a:fillRef idx="0">
            <a:schemeClr val="accent1"/>
          </a:fillRef>
          <a:effectRef idx="0">
            <a:schemeClr val="accent1"/>
          </a:effectRef>
          <a:fontRef idx="minor">
            <a:schemeClr val="tx1"/>
          </a:fontRef>
        </p:style>
      </p:cxnSp>
      <p:pic>
        <p:nvPicPr>
          <p:cNvPr id="43" name="Picture 42" descr="Power Flow belt replacement : r/johndeere">
            <a:extLst>
              <a:ext uri="{FF2B5EF4-FFF2-40B4-BE49-F238E27FC236}">
                <a16:creationId xmlns:a16="http://schemas.microsoft.com/office/drawing/2014/main" id="{6468FC12-7412-6BA1-68AF-6DB25A3B9114}"/>
              </a:ext>
            </a:extLst>
          </p:cNvPr>
          <p:cNvPicPr>
            <a:picLocks noChangeAspect="1"/>
          </p:cNvPicPr>
          <p:nvPr/>
        </p:nvPicPr>
        <p:blipFill>
          <a:blip r:embed="rId6"/>
          <a:stretch>
            <a:fillRect/>
          </a:stretch>
        </p:blipFill>
        <p:spPr>
          <a:xfrm>
            <a:off x="4872530" y="3976867"/>
            <a:ext cx="2019300" cy="1003300"/>
          </a:xfrm>
          <a:prstGeom prst="rect">
            <a:avLst/>
          </a:prstGeom>
          <a:ln>
            <a:solidFill>
              <a:srgbClr val="FF0000"/>
            </a:solidFill>
          </a:ln>
        </p:spPr>
      </p:pic>
      <p:pic>
        <p:nvPicPr>
          <p:cNvPr id="44" name="Picture 43">
            <a:extLst>
              <a:ext uri="{FF2B5EF4-FFF2-40B4-BE49-F238E27FC236}">
                <a16:creationId xmlns:a16="http://schemas.microsoft.com/office/drawing/2014/main" id="{FDC0F939-8202-8FB1-5055-3D1A91B9A536}"/>
              </a:ext>
            </a:extLst>
          </p:cNvPr>
          <p:cNvPicPr>
            <a:picLocks noChangeAspect="1"/>
          </p:cNvPicPr>
          <p:nvPr/>
        </p:nvPicPr>
        <p:blipFill>
          <a:blip r:embed="rId7"/>
          <a:stretch>
            <a:fillRect/>
          </a:stretch>
        </p:blipFill>
        <p:spPr>
          <a:xfrm>
            <a:off x="2778404" y="4787273"/>
            <a:ext cx="1930074" cy="1983265"/>
          </a:xfrm>
          <a:prstGeom prst="rect">
            <a:avLst/>
          </a:prstGeom>
          <a:ln>
            <a:solidFill>
              <a:srgbClr val="FF0000"/>
            </a:solidFill>
          </a:ln>
        </p:spPr>
      </p:pic>
    </p:spTree>
    <p:extLst>
      <p:ext uri="{BB962C8B-B14F-4D97-AF65-F5344CB8AC3E}">
        <p14:creationId xmlns:p14="http://schemas.microsoft.com/office/powerpoint/2010/main" val="41800969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1711</TotalTime>
  <Words>2523</Words>
  <Application>Microsoft Macintosh PowerPoint</Application>
  <PresentationFormat>Widescreen</PresentationFormat>
  <Paragraphs>204</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112</cp:revision>
  <dcterms:created xsi:type="dcterms:W3CDTF">2022-05-02T00:38:22Z</dcterms:created>
  <dcterms:modified xsi:type="dcterms:W3CDTF">2026-06-11T18:28:30Z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