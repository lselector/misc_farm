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2" r:id="rId2"/>
    <p:sldId id="258" r:id="rId3"/>
    <p:sldId id="264" r:id="rId4"/>
    <p:sldId id="266" r:id="rId5"/>
    <p:sldId id="261" r:id="rId6"/>
    <p:sldId id="267" r:id="rId7"/>
    <p:sldId id="265" r:id="rId8"/>
    <p:sldId id="263"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686"/>
    <p:restoredTop sz="94640"/>
  </p:normalViewPr>
  <p:slideViewPr>
    <p:cSldViewPr snapToGrid="0" snapToObjects="1">
      <p:cViewPr varScale="1">
        <p:scale>
          <a:sx n="73" d="100"/>
          <a:sy n="73" d="100"/>
        </p:scale>
        <p:origin x="1072" y="4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88DD0-F5B2-15C1-96C2-359AABC4B40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1979889-D132-4397-0547-895A6BD28D3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084E4CA-9799-18AE-D4BA-5EFDB2627B56}"/>
              </a:ext>
            </a:extLst>
          </p:cNvPr>
          <p:cNvSpPr>
            <a:spLocks noGrp="1"/>
          </p:cNvSpPr>
          <p:nvPr>
            <p:ph type="dt" sz="half" idx="10"/>
          </p:nvPr>
        </p:nvSpPr>
        <p:spPr/>
        <p:txBody>
          <a:bodyPr/>
          <a:lstStyle/>
          <a:p>
            <a:fld id="{16286276-9013-2A43-82D1-BA4685C95117}" type="datetimeFigureOut">
              <a:t>1/24/26</a:t>
            </a:fld>
            <a:endParaRPr lang="en-US"/>
          </a:p>
        </p:txBody>
      </p:sp>
      <p:sp>
        <p:nvSpPr>
          <p:cNvPr id="5" name="Footer Placeholder 4">
            <a:extLst>
              <a:ext uri="{FF2B5EF4-FFF2-40B4-BE49-F238E27FC236}">
                <a16:creationId xmlns:a16="http://schemas.microsoft.com/office/drawing/2014/main" id="{5DEBB017-65CA-D094-EA2F-FAFBC1BF4B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527274-3826-028B-64DD-856AA98C7A45}"/>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631350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8F12F-3D3D-6A09-2E35-EAD0C90ACF4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2368E21-870B-193E-8931-72FD7C38AAA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F7E93E1-1A44-D49B-EE6B-0C6F21404F05}"/>
              </a:ext>
            </a:extLst>
          </p:cNvPr>
          <p:cNvSpPr>
            <a:spLocks noGrp="1"/>
          </p:cNvSpPr>
          <p:nvPr>
            <p:ph type="dt" sz="half" idx="10"/>
          </p:nvPr>
        </p:nvSpPr>
        <p:spPr/>
        <p:txBody>
          <a:bodyPr/>
          <a:lstStyle/>
          <a:p>
            <a:fld id="{16286276-9013-2A43-82D1-BA4685C95117}" type="datetimeFigureOut">
              <a:t>1/24/26</a:t>
            </a:fld>
            <a:endParaRPr lang="en-US"/>
          </a:p>
        </p:txBody>
      </p:sp>
      <p:sp>
        <p:nvSpPr>
          <p:cNvPr id="5" name="Footer Placeholder 4">
            <a:extLst>
              <a:ext uri="{FF2B5EF4-FFF2-40B4-BE49-F238E27FC236}">
                <a16:creationId xmlns:a16="http://schemas.microsoft.com/office/drawing/2014/main" id="{877064A9-6EAD-6647-B6CB-F24B6F708A3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A46CF0-740D-F941-2552-93AF02201266}"/>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9488618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06D88C-E684-0092-0D27-0A9FFD171DA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404D4E3-9349-5B4E-DEFB-7ADB2292926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DB33B29-2069-185B-154E-83B4327982C4}"/>
              </a:ext>
            </a:extLst>
          </p:cNvPr>
          <p:cNvSpPr>
            <a:spLocks noGrp="1"/>
          </p:cNvSpPr>
          <p:nvPr>
            <p:ph type="dt" sz="half" idx="10"/>
          </p:nvPr>
        </p:nvSpPr>
        <p:spPr/>
        <p:txBody>
          <a:bodyPr/>
          <a:lstStyle/>
          <a:p>
            <a:fld id="{16286276-9013-2A43-82D1-BA4685C95117}" type="datetimeFigureOut">
              <a:t>1/24/26</a:t>
            </a:fld>
            <a:endParaRPr lang="en-US"/>
          </a:p>
        </p:txBody>
      </p:sp>
      <p:sp>
        <p:nvSpPr>
          <p:cNvPr id="5" name="Footer Placeholder 4">
            <a:extLst>
              <a:ext uri="{FF2B5EF4-FFF2-40B4-BE49-F238E27FC236}">
                <a16:creationId xmlns:a16="http://schemas.microsoft.com/office/drawing/2014/main" id="{0428DB26-E691-EBF7-87CA-8BD4D97E0D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76CFEAD-6332-0882-351E-3AD7AFFFECA7}"/>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460095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5FA89-7A8C-2BF1-56CD-508B1E3AE96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2741508-596D-D8B8-26A5-1B6CEF8D4A1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081378C-B8B8-D5FE-0A75-376AA5292C0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7A08E7F-3616-927D-844D-CBA72BC67592}"/>
              </a:ext>
            </a:extLst>
          </p:cNvPr>
          <p:cNvSpPr>
            <a:spLocks noGrp="1"/>
          </p:cNvSpPr>
          <p:nvPr>
            <p:ph type="dt" sz="half" idx="10"/>
          </p:nvPr>
        </p:nvSpPr>
        <p:spPr/>
        <p:txBody>
          <a:bodyPr/>
          <a:lstStyle/>
          <a:p>
            <a:fld id="{16286276-9013-2A43-82D1-BA4685C95117}" type="datetimeFigureOut">
              <a:t>1/24/26</a:t>
            </a:fld>
            <a:endParaRPr lang="en-US"/>
          </a:p>
        </p:txBody>
      </p:sp>
      <p:sp>
        <p:nvSpPr>
          <p:cNvPr id="6" name="Footer Placeholder 5">
            <a:extLst>
              <a:ext uri="{FF2B5EF4-FFF2-40B4-BE49-F238E27FC236}">
                <a16:creationId xmlns:a16="http://schemas.microsoft.com/office/drawing/2014/main" id="{6558E9C8-FE23-8D40-43FF-7818A026A29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87E8D37-47EA-3C05-517B-2F85706E13B0}"/>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32224419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D00495-D3B5-8FE7-8A3A-C5B2727B1B8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25AB79-3B1C-0ED7-23AF-4A8ADD4296B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A5B6335-12A0-B132-55DA-56997016F42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71792DF-BF6E-04E5-BFF5-08BD5B4788F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599D652-4C1F-B377-280F-5B572A11FCB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D3AB3D8-A558-F32C-0F6C-8E2295130683}"/>
              </a:ext>
            </a:extLst>
          </p:cNvPr>
          <p:cNvSpPr>
            <a:spLocks noGrp="1"/>
          </p:cNvSpPr>
          <p:nvPr>
            <p:ph type="dt" sz="half" idx="10"/>
          </p:nvPr>
        </p:nvSpPr>
        <p:spPr/>
        <p:txBody>
          <a:bodyPr/>
          <a:lstStyle/>
          <a:p>
            <a:fld id="{16286276-9013-2A43-82D1-BA4685C95117}" type="datetimeFigureOut">
              <a:t>1/24/26</a:t>
            </a:fld>
            <a:endParaRPr lang="en-US"/>
          </a:p>
        </p:txBody>
      </p:sp>
      <p:sp>
        <p:nvSpPr>
          <p:cNvPr id="8" name="Footer Placeholder 7">
            <a:extLst>
              <a:ext uri="{FF2B5EF4-FFF2-40B4-BE49-F238E27FC236}">
                <a16:creationId xmlns:a16="http://schemas.microsoft.com/office/drawing/2014/main" id="{8C219288-AD7A-3282-E5DF-333FFFC4CA7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4E91949-9DF7-7EFE-416F-D6305FF02DDA}"/>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946820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E23D81-55BB-5F96-1196-26A5703482F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A9AC36-FAC6-A4C4-5460-EEAEC1B5CD49}"/>
              </a:ext>
            </a:extLst>
          </p:cNvPr>
          <p:cNvSpPr>
            <a:spLocks noGrp="1"/>
          </p:cNvSpPr>
          <p:nvPr>
            <p:ph type="dt" sz="half" idx="10"/>
          </p:nvPr>
        </p:nvSpPr>
        <p:spPr/>
        <p:txBody>
          <a:bodyPr/>
          <a:lstStyle/>
          <a:p>
            <a:fld id="{16286276-9013-2A43-82D1-BA4685C95117}" type="datetimeFigureOut">
              <a:t>1/24/26</a:t>
            </a:fld>
            <a:endParaRPr lang="en-US"/>
          </a:p>
        </p:txBody>
      </p:sp>
      <p:sp>
        <p:nvSpPr>
          <p:cNvPr id="4" name="Footer Placeholder 3">
            <a:extLst>
              <a:ext uri="{FF2B5EF4-FFF2-40B4-BE49-F238E27FC236}">
                <a16:creationId xmlns:a16="http://schemas.microsoft.com/office/drawing/2014/main" id="{ACEB1433-EF97-53CD-FFA5-599DF825DA6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3E68FD2-26E5-FFE6-4ACD-83B095981312}"/>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2574256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55D5769-FB8F-7676-6B25-5EBA32B25F72}"/>
              </a:ext>
            </a:extLst>
          </p:cNvPr>
          <p:cNvSpPr>
            <a:spLocks noGrp="1"/>
          </p:cNvSpPr>
          <p:nvPr>
            <p:ph type="dt" sz="half" idx="10"/>
          </p:nvPr>
        </p:nvSpPr>
        <p:spPr/>
        <p:txBody>
          <a:bodyPr/>
          <a:lstStyle/>
          <a:p>
            <a:fld id="{16286276-9013-2A43-82D1-BA4685C95117}" type="datetimeFigureOut">
              <a:t>1/24/26</a:t>
            </a:fld>
            <a:endParaRPr lang="en-US"/>
          </a:p>
        </p:txBody>
      </p:sp>
      <p:sp>
        <p:nvSpPr>
          <p:cNvPr id="3" name="Footer Placeholder 2">
            <a:extLst>
              <a:ext uri="{FF2B5EF4-FFF2-40B4-BE49-F238E27FC236}">
                <a16:creationId xmlns:a16="http://schemas.microsoft.com/office/drawing/2014/main" id="{B6792E3F-F71A-D744-45DE-85B2710390D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76E25D8-219F-7305-3844-4703C5E5F54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31717897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17D570-06BE-22E1-B810-4D69936FDF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2BFEFE4-BB75-6E65-2899-3703E92ED07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5FEB9C2-F3DB-B576-224D-3FDA3DDFFA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2B924BA-FA14-81E6-46BF-4DC0ACFE74DC}"/>
              </a:ext>
            </a:extLst>
          </p:cNvPr>
          <p:cNvSpPr>
            <a:spLocks noGrp="1"/>
          </p:cNvSpPr>
          <p:nvPr>
            <p:ph type="dt" sz="half" idx="10"/>
          </p:nvPr>
        </p:nvSpPr>
        <p:spPr/>
        <p:txBody>
          <a:bodyPr/>
          <a:lstStyle/>
          <a:p>
            <a:fld id="{16286276-9013-2A43-82D1-BA4685C95117}" type="datetimeFigureOut">
              <a:t>1/24/26</a:t>
            </a:fld>
            <a:endParaRPr lang="en-US"/>
          </a:p>
        </p:txBody>
      </p:sp>
      <p:sp>
        <p:nvSpPr>
          <p:cNvPr id="6" name="Footer Placeholder 5">
            <a:extLst>
              <a:ext uri="{FF2B5EF4-FFF2-40B4-BE49-F238E27FC236}">
                <a16:creationId xmlns:a16="http://schemas.microsoft.com/office/drawing/2014/main" id="{4BFACD7B-C82D-408A-896E-02E718FB553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2FB12BD-21E4-1209-4294-DF6CA4FB3DBE}"/>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7412132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9B197-43DE-26A9-FBD5-F922DB56A9A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A49AB21-2CEA-875A-6CBF-75B078D3A52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D7183E7-34CA-DF9E-984A-60638007179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99D1642-EBDC-1BB8-58FC-14A4C3ACEBE6}"/>
              </a:ext>
            </a:extLst>
          </p:cNvPr>
          <p:cNvSpPr>
            <a:spLocks noGrp="1"/>
          </p:cNvSpPr>
          <p:nvPr>
            <p:ph type="dt" sz="half" idx="10"/>
          </p:nvPr>
        </p:nvSpPr>
        <p:spPr/>
        <p:txBody>
          <a:bodyPr/>
          <a:lstStyle/>
          <a:p>
            <a:fld id="{16286276-9013-2A43-82D1-BA4685C95117}" type="datetimeFigureOut">
              <a:t>1/24/26</a:t>
            </a:fld>
            <a:endParaRPr lang="en-US"/>
          </a:p>
        </p:txBody>
      </p:sp>
      <p:sp>
        <p:nvSpPr>
          <p:cNvPr id="6" name="Footer Placeholder 5">
            <a:extLst>
              <a:ext uri="{FF2B5EF4-FFF2-40B4-BE49-F238E27FC236}">
                <a16:creationId xmlns:a16="http://schemas.microsoft.com/office/drawing/2014/main" id="{A7660FC4-1F32-B58B-D652-941B433D0EB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FCC0798-2750-3A94-2B3A-695DA7ABEFD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5775363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7C7D9F-C985-C4AB-ED45-B78B858B723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66AC969-2D60-1CB3-6799-FB9ED255376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C28186-263E-FD4A-53F8-A165DADB419A}"/>
              </a:ext>
            </a:extLst>
          </p:cNvPr>
          <p:cNvSpPr>
            <a:spLocks noGrp="1"/>
          </p:cNvSpPr>
          <p:nvPr>
            <p:ph type="dt" sz="half" idx="10"/>
          </p:nvPr>
        </p:nvSpPr>
        <p:spPr/>
        <p:txBody>
          <a:bodyPr/>
          <a:lstStyle/>
          <a:p>
            <a:fld id="{16286276-9013-2A43-82D1-BA4685C95117}" type="datetimeFigureOut">
              <a:t>1/24/26</a:t>
            </a:fld>
            <a:endParaRPr lang="en-US"/>
          </a:p>
        </p:txBody>
      </p:sp>
      <p:sp>
        <p:nvSpPr>
          <p:cNvPr id="5" name="Footer Placeholder 4">
            <a:extLst>
              <a:ext uri="{FF2B5EF4-FFF2-40B4-BE49-F238E27FC236}">
                <a16:creationId xmlns:a16="http://schemas.microsoft.com/office/drawing/2014/main" id="{227315FA-BCCC-2ABC-ACA2-5E0C6CEF10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9603C4-A76D-7A84-168E-060D2B068902}"/>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9374044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AB02FF-EECD-334D-5725-B39C40CD39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F768F00-C914-3B13-0367-6D812928215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3E1A78-ED9B-3691-96EB-5C0EB704CC80}"/>
              </a:ext>
            </a:extLst>
          </p:cNvPr>
          <p:cNvSpPr>
            <a:spLocks noGrp="1"/>
          </p:cNvSpPr>
          <p:nvPr>
            <p:ph type="dt" sz="half" idx="10"/>
          </p:nvPr>
        </p:nvSpPr>
        <p:spPr/>
        <p:txBody>
          <a:bodyPr/>
          <a:lstStyle/>
          <a:p>
            <a:fld id="{16286276-9013-2A43-82D1-BA4685C95117}" type="datetimeFigureOut">
              <a:t>1/24/26</a:t>
            </a:fld>
            <a:endParaRPr lang="en-US"/>
          </a:p>
        </p:txBody>
      </p:sp>
      <p:sp>
        <p:nvSpPr>
          <p:cNvPr id="5" name="Footer Placeholder 4">
            <a:extLst>
              <a:ext uri="{FF2B5EF4-FFF2-40B4-BE49-F238E27FC236}">
                <a16:creationId xmlns:a16="http://schemas.microsoft.com/office/drawing/2014/main" id="{CD3E0378-2403-D8A8-54CC-05A3BEED271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AE54D63-4319-317A-696B-C3EA4B47E06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8556103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958682-75F9-C5EA-F27F-548F063002D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B42A268-0258-C17B-1F8F-68BA2735B74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12A94D-D8D6-D318-7837-4C19ED151BC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286276-9013-2A43-82D1-BA4685C95117}" type="datetimeFigureOut">
              <a:t>1/24/26</a:t>
            </a:fld>
            <a:endParaRPr lang="en-US"/>
          </a:p>
        </p:txBody>
      </p:sp>
      <p:sp>
        <p:nvSpPr>
          <p:cNvPr id="5" name="Footer Placeholder 4">
            <a:extLst>
              <a:ext uri="{FF2B5EF4-FFF2-40B4-BE49-F238E27FC236}">
                <a16:creationId xmlns:a16="http://schemas.microsoft.com/office/drawing/2014/main" id="{483D65C9-1B5B-5F28-B659-EB418FAC675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86100E21-0F36-45EE-1A56-BB99C66DA94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EFA1A7C-04A5-B94C-8298-87E642159084}" type="slidenum">
              <a:t>‹#›</a:t>
            </a:fld>
            <a:endParaRPr lang="en-US"/>
          </a:p>
        </p:txBody>
      </p:sp>
    </p:spTree>
    <p:extLst>
      <p:ext uri="{BB962C8B-B14F-4D97-AF65-F5344CB8AC3E}">
        <p14:creationId xmlns:p14="http://schemas.microsoft.com/office/powerpoint/2010/main" val="422957034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jpeg"/><Relationship Id="rId3" Type="http://schemas.openxmlformats.org/officeDocument/2006/relationships/hyperlink" Target="https://www.deere.com/en/tractors/compact-tractors/1-series-sub-compact-tractors/1023e/" TargetMode="External"/><Relationship Id="rId7" Type="http://schemas.openxmlformats.org/officeDocument/2006/relationships/image" Target="../media/image3.jpe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2.png"/><Relationship Id="rId5" Type="http://schemas.openxmlformats.org/officeDocument/2006/relationships/hyperlink" Target="https://www.youtube.com/watch?v=TeHIpRNJ3LU" TargetMode="External"/><Relationship Id="rId10" Type="http://schemas.openxmlformats.org/officeDocument/2006/relationships/image" Target="../media/image6.jpeg"/><Relationship Id="rId4" Type="http://schemas.openxmlformats.org/officeDocument/2006/relationships/hyperlink" Target="https://www.deere.com/en/tractors/compact-tractors/1-series-sub-compact-tractors/1025r/" TargetMode="External"/><Relationship Id="rId9" Type="http://schemas.openxmlformats.org/officeDocument/2006/relationships/image" Target="../media/image5.jpeg"/></Relationships>
</file>

<file path=ppt/slides/_rels/slide2.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jpeg"/><Relationship Id="rId1" Type="http://schemas.openxmlformats.org/officeDocument/2006/relationships/slideLayout" Target="../slideLayouts/slideLayout7.xml"/><Relationship Id="rId6" Type="http://schemas.openxmlformats.org/officeDocument/2006/relationships/image" Target="../media/image11.jpeg"/><Relationship Id="rId5" Type="http://schemas.openxmlformats.org/officeDocument/2006/relationships/image" Target="../media/image10.jpeg"/><Relationship Id="rId4" Type="http://schemas.openxmlformats.org/officeDocument/2006/relationships/image" Target="../media/image9.jpeg"/></Relationships>
</file>

<file path=ppt/slides/_rels/slide3.xml.rels><?xml version="1.0" encoding="UTF-8" standalone="yes"?>
<Relationships xmlns="http://schemas.openxmlformats.org/package/2006/relationships"><Relationship Id="rId8" Type="http://schemas.openxmlformats.org/officeDocument/2006/relationships/hyperlink" Target="https://www.tractordata.com/lawn-tractors/000/1/2/120-john-deere-x748.html" TargetMode="External"/><Relationship Id="rId3" Type="http://schemas.openxmlformats.org/officeDocument/2006/relationships/image" Target="../media/image13.jpeg"/><Relationship Id="rId7" Type="http://schemas.openxmlformats.org/officeDocument/2006/relationships/hyperlink" Target="https://www.tractordata.com/lawn-tractors/000/1/1/113-john-deere-x595.html" TargetMode="External"/><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hyperlink" Target="https://www.tractordata.com/lawn-tractors/000/1/0/106-john-deere-x495.html" TargetMode="External"/><Relationship Id="rId5" Type="http://schemas.openxmlformats.org/officeDocument/2006/relationships/hyperlink" Target="https://www.tractordata.com/lawn-tractors/000/0/4/46-john-deere-455.html" TargetMode="External"/><Relationship Id="rId4" Type="http://schemas.openxmlformats.org/officeDocument/2006/relationships/hyperlink" Target="https://www.deere.com/en/mowers/lawn-tractors/x700-series/" TargetMode="External"/><Relationship Id="rId9" Type="http://schemas.openxmlformats.org/officeDocument/2006/relationships/hyperlink" Target="https://www.tractordata.com/lawn-tractors/001/3/5/1355-john-deere-x758.html"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hyperlink" Target="https://www.youtube.com/watch?v=ymtZBvOIQdw" TargetMode="Externa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8.jpeg"/><Relationship Id="rId7" Type="http://schemas.openxmlformats.org/officeDocument/2006/relationships/image" Target="../media/image22.jpeg"/><Relationship Id="rId2" Type="http://schemas.openxmlformats.org/officeDocument/2006/relationships/image" Target="../media/image17.jpeg"/><Relationship Id="rId1" Type="http://schemas.openxmlformats.org/officeDocument/2006/relationships/slideLayout" Target="../slideLayouts/slideLayout7.xml"/><Relationship Id="rId6" Type="http://schemas.openxmlformats.org/officeDocument/2006/relationships/image" Target="../media/image21.jpeg"/><Relationship Id="rId5" Type="http://schemas.openxmlformats.org/officeDocument/2006/relationships/image" Target="../media/image20.jpeg"/><Relationship Id="rId4" Type="http://schemas.openxmlformats.org/officeDocument/2006/relationships/image" Target="../media/image19.jpeg"/></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watch?v=oDdR-KLIF-Q" TargetMode="External"/><Relationship Id="rId2" Type="http://schemas.openxmlformats.org/officeDocument/2006/relationships/image" Target="../media/image23.jpeg"/><Relationship Id="rId1" Type="http://schemas.openxmlformats.org/officeDocument/2006/relationships/slideLayout" Target="../slideLayouts/slideLayout7.xml"/><Relationship Id="rId4" Type="http://schemas.openxmlformats.org/officeDocument/2006/relationships/image" Target="../media/image24.jpeg"/></Relationships>
</file>

<file path=ppt/slides/_rels/slide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hyperlink" Target="https://www.tractor.com/news/5-of-the-best-compact-tractor-choices/" TargetMode="External"/><Relationship Id="rId1" Type="http://schemas.openxmlformats.org/officeDocument/2006/relationships/slideLayout" Target="../slideLayouts/slideLayout7.xml"/><Relationship Id="rId5" Type="http://schemas.openxmlformats.org/officeDocument/2006/relationships/image" Target="../media/image27.png"/><Relationship Id="rId4"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0" y="0"/>
            <a:ext cx="4434212" cy="1200329"/>
          </a:xfrm>
          <a:prstGeom prst="rect">
            <a:avLst/>
          </a:prstGeom>
          <a:noFill/>
        </p:spPr>
        <p:txBody>
          <a:bodyPr wrap="square" rtlCol="0">
            <a:spAutoFit/>
          </a:bodyPr>
          <a:lstStyle/>
          <a:p>
            <a:r>
              <a:rPr lang="en-US" sz="2400" b="1" dirty="0"/>
              <a:t>John Deere </a:t>
            </a:r>
            <a:r>
              <a:rPr lang="en-US" sz="2400" b="1" i="0" dirty="0">
                <a:solidFill>
                  <a:srgbClr val="333333"/>
                </a:solidFill>
                <a:effectLst/>
              </a:rPr>
              <a:t>Sub-Compact Tractor </a:t>
            </a:r>
          </a:p>
          <a:p>
            <a:r>
              <a:rPr lang="en-US" sz="1200" b="1" i="0" dirty="0">
                <a:solidFill>
                  <a:srgbClr val="FF0000"/>
                </a:solidFill>
                <a:effectLst/>
              </a:rPr>
              <a:t>Prices in 2023:</a:t>
            </a:r>
          </a:p>
          <a:p>
            <a:r>
              <a:rPr lang="en-US" sz="1200" b="1" i="0" dirty="0">
                <a:solidFill>
                  <a:srgbClr val="FF0000"/>
                </a:solidFill>
                <a:effectLst/>
              </a:rPr>
              <a:t>1023E - $15,600. </a:t>
            </a:r>
          </a:p>
          <a:p>
            <a:r>
              <a:rPr lang="en-US" sz="1200" b="1" dirty="0">
                <a:solidFill>
                  <a:srgbClr val="FF0000"/>
                </a:solidFill>
              </a:rPr>
              <a:t>1025R - $18,400 </a:t>
            </a:r>
          </a:p>
          <a:p>
            <a:r>
              <a:rPr lang="en-US" sz="1200" b="1" dirty="0">
                <a:solidFill>
                  <a:srgbClr val="FF0000"/>
                </a:solidFill>
              </a:rPr>
              <a:t>2025R - bigger wheels, longer, heavier)</a:t>
            </a:r>
          </a:p>
        </p:txBody>
      </p:sp>
      <p:pic>
        <p:nvPicPr>
          <p:cNvPr id="1028" name="Picture 4" descr="A Review of the Key Features of the John Deere 1023E Sub-Compact Tractor">
            <a:extLst>
              <a:ext uri="{FF2B5EF4-FFF2-40B4-BE49-F238E27FC236}">
                <a16:creationId xmlns:a16="http://schemas.microsoft.com/office/drawing/2014/main" id="{6F3D58B2-F45F-3598-9B8F-5F056C3FBB92}"/>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9429537" y="2987093"/>
            <a:ext cx="2652054" cy="1901473"/>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87F2F999-0791-BA74-78AD-0B5B443629CA}"/>
              </a:ext>
            </a:extLst>
          </p:cNvPr>
          <p:cNvSpPr txBox="1"/>
          <p:nvPr/>
        </p:nvSpPr>
        <p:spPr>
          <a:xfrm>
            <a:off x="245841" y="1520645"/>
            <a:ext cx="3630511" cy="3416320"/>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Engine - </a:t>
            </a:r>
            <a:r>
              <a:rPr lang="en-US" dirty="0">
                <a:solidFill>
                  <a:srgbClr val="FF0000"/>
                </a:solidFill>
              </a:rPr>
              <a:t>diesel</a:t>
            </a:r>
            <a:r>
              <a:rPr lang="en-US" dirty="0"/>
              <a:t> , 21.5 or 24 hp</a:t>
            </a:r>
          </a:p>
          <a:p>
            <a:r>
              <a:rPr lang="en-US" dirty="0"/>
              <a:t>PTO – 14.5 or 17.2 hp</a:t>
            </a:r>
          </a:p>
          <a:p>
            <a:r>
              <a:rPr lang="en-US" dirty="0"/>
              <a:t>weight: 610 kg or 654 kg</a:t>
            </a:r>
          </a:p>
          <a:p>
            <a:r>
              <a:rPr lang="en-US" dirty="0"/>
              <a:t>mower deck, 120R loader, ...</a:t>
            </a:r>
          </a:p>
          <a:p>
            <a:endParaRPr lang="en-US" dirty="0"/>
          </a:p>
          <a:p>
            <a:r>
              <a:rPr lang="en-US" dirty="0"/>
              <a:t>1025R is better – more PTO power, can use 3-point hitch implement, PTO precision handling, better seat, better steering</a:t>
            </a:r>
          </a:p>
          <a:p>
            <a:endParaRPr lang="en-US" dirty="0"/>
          </a:p>
          <a:p>
            <a:r>
              <a:rPr lang="en-US" dirty="0"/>
              <a:t>1025R base weight – 1,440 </a:t>
            </a:r>
            <a:r>
              <a:rPr lang="en-US" dirty="0" err="1"/>
              <a:t>lbs</a:t>
            </a:r>
            <a:endParaRPr lang="en-US" dirty="0"/>
          </a:p>
          <a:p>
            <a:r>
              <a:rPr lang="en-US" dirty="0"/>
              <a:t>(compare with 805 </a:t>
            </a:r>
            <a:r>
              <a:rPr lang="en-US" dirty="0" err="1"/>
              <a:t>lbs</a:t>
            </a:r>
            <a:r>
              <a:rPr lang="en-US" dirty="0"/>
              <a:t> for jd-425)</a:t>
            </a:r>
          </a:p>
        </p:txBody>
      </p:sp>
      <p:sp>
        <p:nvSpPr>
          <p:cNvPr id="10" name="TextBox 9">
            <a:extLst>
              <a:ext uri="{FF2B5EF4-FFF2-40B4-BE49-F238E27FC236}">
                <a16:creationId xmlns:a16="http://schemas.microsoft.com/office/drawing/2014/main" id="{9944A156-B590-1201-FCB9-1A6AB95CC9B7}"/>
              </a:ext>
            </a:extLst>
          </p:cNvPr>
          <p:cNvSpPr txBox="1"/>
          <p:nvPr/>
        </p:nvSpPr>
        <p:spPr>
          <a:xfrm>
            <a:off x="5950334" y="76238"/>
            <a:ext cx="6138100" cy="646331"/>
          </a:xfrm>
          <a:prstGeom prst="rect">
            <a:avLst/>
          </a:prstGeom>
          <a:noFill/>
        </p:spPr>
        <p:txBody>
          <a:bodyPr wrap="square" rtlCol="0">
            <a:spAutoFit/>
          </a:bodyPr>
          <a:lstStyle/>
          <a:p>
            <a:r>
              <a:rPr lang="en-US" sz="1200" dirty="0">
                <a:hlinkClick r:id="rId3"/>
              </a:rPr>
              <a:t>https://</a:t>
            </a:r>
            <a:r>
              <a:rPr lang="en-US" sz="1200" dirty="0" err="1">
                <a:hlinkClick r:id="rId3"/>
              </a:rPr>
              <a:t>www.deere.com</a:t>
            </a:r>
            <a:r>
              <a:rPr lang="en-US" sz="1200" dirty="0">
                <a:hlinkClick r:id="rId3"/>
              </a:rPr>
              <a:t>/</a:t>
            </a:r>
            <a:r>
              <a:rPr lang="en-US" sz="1200" dirty="0" err="1">
                <a:hlinkClick r:id="rId3"/>
              </a:rPr>
              <a:t>en</a:t>
            </a:r>
            <a:r>
              <a:rPr lang="en-US" sz="1200" dirty="0">
                <a:hlinkClick r:id="rId3"/>
              </a:rPr>
              <a:t>/tractors/compact-tractors/1-series-sub-compact-tractors/1023e/</a:t>
            </a:r>
            <a:endParaRPr lang="en-US" sz="1200" dirty="0"/>
          </a:p>
          <a:p>
            <a:r>
              <a:rPr lang="en-US" sz="1200" dirty="0">
                <a:hlinkClick r:id="rId4"/>
              </a:rPr>
              <a:t>https://</a:t>
            </a:r>
            <a:r>
              <a:rPr lang="en-US" sz="1200" dirty="0" err="1">
                <a:hlinkClick r:id="rId4"/>
              </a:rPr>
              <a:t>www.deere.com</a:t>
            </a:r>
            <a:r>
              <a:rPr lang="en-US" sz="1200" dirty="0">
                <a:hlinkClick r:id="rId4"/>
              </a:rPr>
              <a:t>/</a:t>
            </a:r>
            <a:r>
              <a:rPr lang="en-US" sz="1200" dirty="0" err="1">
                <a:hlinkClick r:id="rId4"/>
              </a:rPr>
              <a:t>en</a:t>
            </a:r>
            <a:r>
              <a:rPr lang="en-US" sz="1200" dirty="0">
                <a:hlinkClick r:id="rId4"/>
              </a:rPr>
              <a:t>/tractors/compact-tractors/1-series-sub-compact-tractors/1025r/</a:t>
            </a:r>
            <a:endParaRPr lang="en-US" sz="1200" dirty="0"/>
          </a:p>
          <a:p>
            <a:r>
              <a:rPr lang="en-US" sz="1200" dirty="0">
                <a:hlinkClick r:id="rId5"/>
              </a:rPr>
              <a:t>https://www.youtube.com/watch?v=TeHIpRNJ3LU</a:t>
            </a:r>
            <a:endParaRPr lang="en-US" sz="1200" dirty="0"/>
          </a:p>
        </p:txBody>
      </p:sp>
      <p:pic>
        <p:nvPicPr>
          <p:cNvPr id="1030" name="Picture 6" descr="1023E Compact Utility Tractor | Explore John Deere">
            <a:extLst>
              <a:ext uri="{FF2B5EF4-FFF2-40B4-BE49-F238E27FC236}">
                <a16:creationId xmlns:a16="http://schemas.microsoft.com/office/drawing/2014/main" id="{ECD513EA-4836-83C9-A47F-D2F269773E44}"/>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a:stretch/>
        </p:blipFill>
        <p:spPr bwMode="auto">
          <a:xfrm>
            <a:off x="3940712" y="1519149"/>
            <a:ext cx="1556574" cy="1435286"/>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4" name="Picture 10" descr="John Deere 1023E Sub-Compact Tractor | wordpress.soegel.de">
            <a:extLst>
              <a:ext uri="{FF2B5EF4-FFF2-40B4-BE49-F238E27FC236}">
                <a16:creationId xmlns:a16="http://schemas.microsoft.com/office/drawing/2014/main" id="{70ED0C30-7549-F8BA-D4CA-6CFCE8D6E9BC}"/>
              </a:ext>
            </a:extLst>
          </p:cNvPr>
          <p:cNvPicPr>
            <a:picLocks noChangeAspect="1" noChangeArrowheads="1"/>
          </p:cNvPicPr>
          <p:nvPr/>
        </p:nvPicPr>
        <p:blipFill>
          <a:blip r:embed="rId7" cstate="email">
            <a:extLst>
              <a:ext uri="{28A0092B-C50C-407E-A947-70E740481C1C}">
                <a14:useLocalDpi xmlns:a14="http://schemas.microsoft.com/office/drawing/2010/main"/>
              </a:ext>
            </a:extLst>
          </a:blip>
          <a:srcRect/>
          <a:stretch>
            <a:fillRect/>
          </a:stretch>
        </p:blipFill>
        <p:spPr bwMode="auto">
          <a:xfrm>
            <a:off x="3150024" y="5050814"/>
            <a:ext cx="2459435" cy="1756739"/>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6" name="Picture 12" descr="Marissa Mann on X: &quot;Anybody in Twitter-land looking for a small acreage  tractor? We're looking to sell ours to upgrade to something larger so we  can move round bales for my hay">
            <a:extLst>
              <a:ext uri="{FF2B5EF4-FFF2-40B4-BE49-F238E27FC236}">
                <a16:creationId xmlns:a16="http://schemas.microsoft.com/office/drawing/2014/main" id="{E69E1B8C-C34E-819C-34CF-E2A2400F22CF}"/>
              </a:ext>
            </a:extLst>
          </p:cNvPr>
          <p:cNvPicPr>
            <a:picLocks noChangeAspect="1" noChangeArrowheads="1"/>
          </p:cNvPicPr>
          <p:nvPr/>
        </p:nvPicPr>
        <p:blipFill>
          <a:blip r:embed="rId8" cstate="email">
            <a:extLst>
              <a:ext uri="{28A0092B-C50C-407E-A947-70E740481C1C}">
                <a14:useLocalDpi xmlns:a14="http://schemas.microsoft.com/office/drawing/2010/main"/>
              </a:ext>
            </a:extLst>
          </a:blip>
          <a:srcRect/>
          <a:stretch>
            <a:fillRect/>
          </a:stretch>
        </p:blipFill>
        <p:spPr bwMode="auto">
          <a:xfrm>
            <a:off x="9233584" y="976760"/>
            <a:ext cx="2854850" cy="1901473"/>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8" name="Picture 14" descr="John Deere 1023e backhoe usage for myself and the boys - YouTube">
            <a:extLst>
              <a:ext uri="{FF2B5EF4-FFF2-40B4-BE49-F238E27FC236}">
                <a16:creationId xmlns:a16="http://schemas.microsoft.com/office/drawing/2014/main" id="{65AE8BB0-FA56-E493-B5AA-349B09F298D3}"/>
              </a:ext>
            </a:extLst>
          </p:cNvPr>
          <p:cNvPicPr>
            <a:picLocks noChangeAspect="1" noChangeArrowheads="1"/>
          </p:cNvPicPr>
          <p:nvPr/>
        </p:nvPicPr>
        <p:blipFill rotWithShape="1">
          <a:blip r:embed="rId9" cstate="email">
            <a:extLst>
              <a:ext uri="{28A0092B-C50C-407E-A947-70E740481C1C}">
                <a14:useLocalDpi xmlns:a14="http://schemas.microsoft.com/office/drawing/2010/main"/>
              </a:ext>
            </a:extLst>
          </a:blip>
          <a:srcRect/>
          <a:stretch/>
        </p:blipFill>
        <p:spPr bwMode="auto">
          <a:xfrm>
            <a:off x="3941472" y="2998351"/>
            <a:ext cx="3733458" cy="1938614"/>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D2CAF9AA-7188-244D-4207-3D6194A6A33F}"/>
              </a:ext>
            </a:extLst>
          </p:cNvPr>
          <p:cNvSpPr txBox="1"/>
          <p:nvPr/>
        </p:nvSpPr>
        <p:spPr>
          <a:xfrm>
            <a:off x="60784" y="5050814"/>
            <a:ext cx="3032686" cy="1754326"/>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dirty="0"/>
              <a:t>Front loader</a:t>
            </a:r>
          </a:p>
          <a:p>
            <a:pPr marL="285750" indent="-285750">
              <a:buFont typeface="Arial" panose="020B0604020202020204" pitchFamily="34" charset="0"/>
              <a:buChar char="•"/>
            </a:pPr>
            <a:r>
              <a:rPr lang="en-US" dirty="0"/>
              <a:t>Quick attach</a:t>
            </a:r>
          </a:p>
          <a:p>
            <a:pPr marL="285750" indent="-285750">
              <a:buFont typeface="Arial" panose="020B0604020202020204" pitchFamily="34" charset="0"/>
              <a:buChar char="•"/>
            </a:pPr>
            <a:r>
              <a:rPr lang="en-US" dirty="0"/>
              <a:t>back counter-weight</a:t>
            </a:r>
          </a:p>
          <a:p>
            <a:pPr marL="285750" indent="-285750">
              <a:buFont typeface="Arial" panose="020B0604020202020204" pitchFamily="34" charset="0"/>
              <a:buChar char="•"/>
            </a:pPr>
            <a:r>
              <a:rPr lang="en-US" dirty="0"/>
              <a:t>mower platform + bagger</a:t>
            </a:r>
          </a:p>
          <a:p>
            <a:pPr marL="285750" indent="-285750">
              <a:buFont typeface="Arial" panose="020B0604020202020204" pitchFamily="34" charset="0"/>
              <a:buChar char="•"/>
            </a:pPr>
            <a:r>
              <a:rPr lang="en-US" dirty="0"/>
              <a:t>tires, dual-tires</a:t>
            </a:r>
          </a:p>
          <a:p>
            <a:pPr marL="285750" indent="-285750">
              <a:buFont typeface="Arial" panose="020B0604020202020204" pitchFamily="34" charset="0"/>
              <a:buChar char="•"/>
            </a:pPr>
            <a:r>
              <a:rPr lang="en-US" dirty="0"/>
              <a:t>additional hydraulics</a:t>
            </a:r>
          </a:p>
        </p:txBody>
      </p:sp>
      <p:pic>
        <p:nvPicPr>
          <p:cNvPr id="1026" name="Picture 2" descr="It's Mow Time: Here are Three Tips for Buying, Maintaining and Operating  Mid-Mount or Rear-Mount Mowers - Compact Equipment Magazine">
            <a:extLst>
              <a:ext uri="{FF2B5EF4-FFF2-40B4-BE49-F238E27FC236}">
                <a16:creationId xmlns:a16="http://schemas.microsoft.com/office/drawing/2014/main" id="{E686C925-F3E8-F724-6E6D-7834F4452248}"/>
              </a:ext>
            </a:extLst>
          </p:cNvPr>
          <p:cNvPicPr>
            <a:picLocks noChangeAspect="1" noChangeArrowheads="1"/>
          </p:cNvPicPr>
          <p:nvPr/>
        </p:nvPicPr>
        <p:blipFill>
          <a:blip r:embed="rId10" cstate="email">
            <a:extLst>
              <a:ext uri="{28A0092B-C50C-407E-A947-70E740481C1C}">
                <a14:useLocalDpi xmlns:a14="http://schemas.microsoft.com/office/drawing/2010/main"/>
              </a:ext>
            </a:extLst>
          </a:blip>
          <a:srcRect/>
          <a:stretch>
            <a:fillRect/>
          </a:stretch>
        </p:blipFill>
        <p:spPr bwMode="auto">
          <a:xfrm>
            <a:off x="9436379" y="4983451"/>
            <a:ext cx="2652055" cy="1818841"/>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D13D5CF-25CC-2C60-6834-D2E4CA048AE5}"/>
              </a:ext>
            </a:extLst>
          </p:cNvPr>
          <p:cNvSpPr txBox="1"/>
          <p:nvPr/>
        </p:nvSpPr>
        <p:spPr>
          <a:xfrm>
            <a:off x="7808126" y="5795074"/>
            <a:ext cx="1566971" cy="584775"/>
          </a:xfrm>
          <a:prstGeom prst="rect">
            <a:avLst/>
          </a:prstGeom>
          <a:noFill/>
        </p:spPr>
        <p:txBody>
          <a:bodyPr wrap="square" rtlCol="0">
            <a:spAutoFit/>
          </a:bodyPr>
          <a:lstStyle/>
          <a:p>
            <a:r>
              <a:rPr lang="en-US" sz="1600" dirty="0">
                <a:latin typeface="Calibri" panose="020F0502020204030204" pitchFamily="34" charset="0"/>
                <a:cs typeface="Calibri" panose="020F0502020204030204" pitchFamily="34" charset="0"/>
              </a:rPr>
              <a:t>Auto-connect mower platform</a:t>
            </a:r>
          </a:p>
        </p:txBody>
      </p:sp>
    </p:spTree>
    <p:extLst>
      <p:ext uri="{BB962C8B-B14F-4D97-AF65-F5344CB8AC3E}">
        <p14:creationId xmlns:p14="http://schemas.microsoft.com/office/powerpoint/2010/main" val="33818416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5795011" cy="461665"/>
          </a:xfrm>
          <a:prstGeom prst="rect">
            <a:avLst/>
          </a:prstGeom>
          <a:noFill/>
        </p:spPr>
        <p:txBody>
          <a:bodyPr wrap="square" rtlCol="0">
            <a:spAutoFit/>
          </a:bodyPr>
          <a:lstStyle/>
          <a:p>
            <a:r>
              <a:rPr lang="en-US" sz="2400" b="1" dirty="0"/>
              <a:t>Backhoe 260b – use with 1025R</a:t>
            </a:r>
            <a:endParaRPr lang="en-US" sz="2400" b="1" i="0" dirty="0">
              <a:solidFill>
                <a:srgbClr val="333333"/>
              </a:solidFill>
              <a:effectLst/>
            </a:endParaRPr>
          </a:p>
        </p:txBody>
      </p:sp>
      <p:pic>
        <p:nvPicPr>
          <p:cNvPr id="3" name="Picture 4" descr="Backhoe Storage Dolly John Deere 260 and 260B Back Hoe">
            <a:extLst>
              <a:ext uri="{FF2B5EF4-FFF2-40B4-BE49-F238E27FC236}">
                <a16:creationId xmlns:a16="http://schemas.microsoft.com/office/drawing/2014/main" id="{3E020E38-F6F1-90B7-5CF4-DED18B6B7296}"/>
              </a:ext>
            </a:extLst>
          </p:cNvPr>
          <p:cNvPicPr>
            <a:picLocks noChangeAspect="1" noChangeArrowheads="1"/>
          </p:cNvPicPr>
          <p:nvPr/>
        </p:nvPicPr>
        <p:blipFill rotWithShape="1">
          <a:blip r:embed="rId2" cstate="email">
            <a:extLst>
              <a:ext uri="{28A0092B-C50C-407E-A947-70E740481C1C}">
                <a14:useLocalDpi xmlns:a14="http://schemas.microsoft.com/office/drawing/2010/main"/>
              </a:ext>
            </a:extLst>
          </a:blip>
          <a:srcRect/>
          <a:stretch/>
        </p:blipFill>
        <p:spPr bwMode="auto">
          <a:xfrm>
            <a:off x="194310" y="3620079"/>
            <a:ext cx="3141240" cy="2176219"/>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4" name="Picture 6" descr="John Deere Backhoe Trencher Bucket - BXX10246">
            <a:extLst>
              <a:ext uri="{FF2B5EF4-FFF2-40B4-BE49-F238E27FC236}">
                <a16:creationId xmlns:a16="http://schemas.microsoft.com/office/drawing/2014/main" id="{A40DB4D0-0B65-E474-FAA9-89F49AE0BA2E}"/>
              </a:ext>
            </a:extLst>
          </p:cNvPr>
          <p:cNvPicPr>
            <a:picLocks noChangeAspect="1" noChangeArrowheads="1"/>
          </p:cNvPicPr>
          <p:nvPr/>
        </p:nvPicPr>
        <p:blipFill rotWithShape="1">
          <a:blip r:embed="rId3" cstate="email">
            <a:extLst>
              <a:ext uri="{28A0092B-C50C-407E-A947-70E740481C1C}">
                <a14:useLocalDpi xmlns:a14="http://schemas.microsoft.com/office/drawing/2010/main"/>
              </a:ext>
            </a:extLst>
          </a:blip>
          <a:srcRect/>
          <a:stretch/>
        </p:blipFill>
        <p:spPr bwMode="auto">
          <a:xfrm>
            <a:off x="6771525" y="201753"/>
            <a:ext cx="1394364" cy="1174025"/>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2" name="Picture 8" descr="Here's Everything You Need to Know About the 1025R | Lasseter Tractor  Company - Lasseter Equipment Group LLC">
            <a:extLst>
              <a:ext uri="{FF2B5EF4-FFF2-40B4-BE49-F238E27FC236}">
                <a16:creationId xmlns:a16="http://schemas.microsoft.com/office/drawing/2014/main" id="{77A051F0-1F54-EC8D-A775-6AB6A44A4F60}"/>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194310" y="971550"/>
            <a:ext cx="3141241" cy="2512992"/>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76C1E76-B84C-10BD-8368-BAEB43AEB16F}"/>
              </a:ext>
            </a:extLst>
          </p:cNvPr>
          <p:cNvSpPr txBox="1"/>
          <p:nvPr/>
        </p:nvSpPr>
        <p:spPr>
          <a:xfrm>
            <a:off x="2897504" y="442117"/>
            <a:ext cx="3785442" cy="923330"/>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b="1" dirty="0">
                <a:solidFill>
                  <a:srgbClr val="FF0000"/>
                </a:solidFill>
              </a:rPr>
              <a:t>$6K</a:t>
            </a:r>
          </a:p>
          <a:p>
            <a:pPr marL="285750" indent="-285750">
              <a:buFont typeface="Arial" panose="020B0604020202020204" pitchFamily="34" charset="0"/>
              <a:buChar char="•"/>
            </a:pPr>
            <a:r>
              <a:rPr lang="en-US" dirty="0"/>
              <a:t>has its own seat</a:t>
            </a:r>
          </a:p>
          <a:p>
            <a:pPr marL="285750" indent="-285750">
              <a:buFont typeface="Arial" panose="020B0604020202020204" pitchFamily="34" charset="0"/>
              <a:buChar char="•"/>
            </a:pPr>
            <a:r>
              <a:rPr lang="en-US" dirty="0"/>
              <a:t>regular bucket, trenching bucket</a:t>
            </a:r>
          </a:p>
        </p:txBody>
      </p:sp>
      <p:sp>
        <p:nvSpPr>
          <p:cNvPr id="7" name="TextBox 6">
            <a:extLst>
              <a:ext uri="{FF2B5EF4-FFF2-40B4-BE49-F238E27FC236}">
                <a16:creationId xmlns:a16="http://schemas.microsoft.com/office/drawing/2014/main" id="{BD458471-78CB-CF4F-AC46-8213A5687A8C}"/>
              </a:ext>
            </a:extLst>
          </p:cNvPr>
          <p:cNvSpPr txBox="1"/>
          <p:nvPr/>
        </p:nvSpPr>
        <p:spPr>
          <a:xfrm>
            <a:off x="8254468" y="313789"/>
            <a:ext cx="1394363" cy="646331"/>
          </a:xfrm>
          <a:prstGeom prst="rect">
            <a:avLst/>
          </a:prstGeom>
          <a:noFill/>
          <a:ln>
            <a:noFill/>
          </a:ln>
        </p:spPr>
        <p:txBody>
          <a:bodyPr wrap="square" rtlCol="0">
            <a:spAutoFit/>
          </a:bodyPr>
          <a:lstStyle/>
          <a:p>
            <a:pPr algn="ctr"/>
            <a:r>
              <a:rPr lang="en-US" dirty="0"/>
              <a:t>trenching bucket</a:t>
            </a:r>
          </a:p>
        </p:txBody>
      </p:sp>
      <p:pic>
        <p:nvPicPr>
          <p:cNvPr id="1026" name="Picture 2" descr="Backhoe VS Excavator : u/Friendly-Explosive">
            <a:extLst>
              <a:ext uri="{FF2B5EF4-FFF2-40B4-BE49-F238E27FC236}">
                <a16:creationId xmlns:a16="http://schemas.microsoft.com/office/drawing/2014/main" id="{59CC2E99-AD62-6227-8CBE-9DCBABB5DCD7}"/>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a:stretch/>
        </p:blipFill>
        <p:spPr bwMode="auto">
          <a:xfrm>
            <a:off x="9862454" y="4179062"/>
            <a:ext cx="2242459" cy="2603500"/>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E0429E4-AF4E-72D3-2146-DBFDE94382D0}"/>
              </a:ext>
            </a:extLst>
          </p:cNvPr>
          <p:cNvSpPr txBox="1"/>
          <p:nvPr/>
        </p:nvSpPr>
        <p:spPr>
          <a:xfrm>
            <a:off x="6018778" y="5897880"/>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Tracked Excavator - heavier duty, can dig more, father and deeper</a:t>
            </a:r>
          </a:p>
        </p:txBody>
      </p:sp>
      <p:sp>
        <p:nvSpPr>
          <p:cNvPr id="8" name="TextBox 7">
            <a:extLst>
              <a:ext uri="{FF2B5EF4-FFF2-40B4-BE49-F238E27FC236}">
                <a16:creationId xmlns:a16="http://schemas.microsoft.com/office/drawing/2014/main" id="{2EF4C58F-A0F2-6DE0-54B2-1F5894122D66}"/>
              </a:ext>
            </a:extLst>
          </p:cNvPr>
          <p:cNvSpPr txBox="1"/>
          <p:nvPr/>
        </p:nvSpPr>
        <p:spPr>
          <a:xfrm>
            <a:off x="6018778" y="4778455"/>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Wheeled Backhoe – smaller, lighter, more agile</a:t>
            </a:r>
          </a:p>
        </p:txBody>
      </p:sp>
      <p:pic>
        <p:nvPicPr>
          <p:cNvPr id="9" name="Picture 2" descr="1025R vs 2025R spec comparison graphic | Green Tractor Talk">
            <a:extLst>
              <a:ext uri="{FF2B5EF4-FFF2-40B4-BE49-F238E27FC236}">
                <a16:creationId xmlns:a16="http://schemas.microsoft.com/office/drawing/2014/main" id="{6EE92ACC-3C05-CEFE-7668-731BEC0696F5}"/>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4499776" y="2033512"/>
            <a:ext cx="4693634" cy="2603500"/>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F16BDBF8-78D7-2C01-01B7-8F1BC417A9C6}"/>
              </a:ext>
            </a:extLst>
          </p:cNvPr>
          <p:cNvSpPr txBox="1"/>
          <p:nvPr/>
        </p:nvSpPr>
        <p:spPr>
          <a:xfrm>
            <a:off x="4953872" y="1639625"/>
            <a:ext cx="3785442" cy="369332"/>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 1025R                    vs                     2025R</a:t>
            </a:r>
          </a:p>
        </p:txBody>
      </p:sp>
      <p:sp>
        <p:nvSpPr>
          <p:cNvPr id="11" name="TextBox 10">
            <a:extLst>
              <a:ext uri="{FF2B5EF4-FFF2-40B4-BE49-F238E27FC236}">
                <a16:creationId xmlns:a16="http://schemas.microsoft.com/office/drawing/2014/main" id="{75618DCE-DC57-E6AF-91F2-A8276D2F428D}"/>
              </a:ext>
            </a:extLst>
          </p:cNvPr>
          <p:cNvSpPr txBox="1"/>
          <p:nvPr/>
        </p:nvSpPr>
        <p:spPr>
          <a:xfrm>
            <a:off x="454375" y="5886450"/>
            <a:ext cx="2621109" cy="307777"/>
          </a:xfrm>
          <a:prstGeom prst="rect">
            <a:avLst/>
          </a:prstGeom>
          <a:noFill/>
        </p:spPr>
        <p:txBody>
          <a:bodyPr wrap="square" rtlCol="0">
            <a:spAutoFit/>
          </a:bodyPr>
          <a:lstStyle/>
          <a:p>
            <a:r>
              <a:rPr lang="en-US" sz="1400" b="1" dirty="0"/>
              <a:t>Backhoe 260b – use with 1025R</a:t>
            </a:r>
            <a:endParaRPr lang="en-US" sz="1400" b="1" i="0" dirty="0">
              <a:solidFill>
                <a:srgbClr val="333333"/>
              </a:solidFill>
              <a:effectLst/>
            </a:endParaRPr>
          </a:p>
        </p:txBody>
      </p:sp>
    </p:spTree>
    <p:extLst>
      <p:ext uri="{BB962C8B-B14F-4D97-AF65-F5344CB8AC3E}">
        <p14:creationId xmlns:p14="http://schemas.microsoft.com/office/powerpoint/2010/main" val="18238511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F6C77-9DF7-270C-CAF5-1425679466A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956900E-1F44-5200-4B48-801051E08C91}"/>
              </a:ext>
            </a:extLst>
          </p:cNvPr>
          <p:cNvSpPr txBox="1"/>
          <p:nvPr/>
        </p:nvSpPr>
        <p:spPr>
          <a:xfrm>
            <a:off x="-1" y="0"/>
            <a:ext cx="2788921" cy="461665"/>
          </a:xfrm>
          <a:prstGeom prst="rect">
            <a:avLst/>
          </a:prstGeom>
          <a:noFill/>
        </p:spPr>
        <p:txBody>
          <a:bodyPr wrap="square" rtlCol="0">
            <a:spAutoFit/>
          </a:bodyPr>
          <a:lstStyle/>
          <a:p>
            <a:r>
              <a:rPr lang="en-US" sz="2400" b="1" dirty="0"/>
              <a:t>1025R   vs    X758</a:t>
            </a:r>
            <a:endParaRPr lang="en-US" sz="2400" b="1" i="0" dirty="0">
              <a:solidFill>
                <a:srgbClr val="333333"/>
              </a:solidFill>
              <a:effectLst/>
            </a:endParaRPr>
          </a:p>
        </p:txBody>
      </p:sp>
      <p:sp>
        <p:nvSpPr>
          <p:cNvPr id="8" name="TextBox 7">
            <a:extLst>
              <a:ext uri="{FF2B5EF4-FFF2-40B4-BE49-F238E27FC236}">
                <a16:creationId xmlns:a16="http://schemas.microsoft.com/office/drawing/2014/main" id="{021FCEF9-3A32-8081-FC7A-EE3CAB7FCD67}"/>
              </a:ext>
            </a:extLst>
          </p:cNvPr>
          <p:cNvSpPr txBox="1"/>
          <p:nvPr/>
        </p:nvSpPr>
        <p:spPr>
          <a:xfrm>
            <a:off x="262129" y="4908477"/>
            <a:ext cx="3785442" cy="1169551"/>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Both have diesel engine.</a:t>
            </a:r>
          </a:p>
          <a:p>
            <a:pPr marL="285750" indent="-285750">
              <a:buFont typeface="Arial" panose="020B0604020202020204" pitchFamily="34" charset="0"/>
              <a:buChar char="•"/>
            </a:pPr>
            <a:r>
              <a:rPr lang="en-US" sz="1400" dirty="0"/>
              <a:t>X758 is a garden tractor (mowing, with optional 3-point hitch and PTO)</a:t>
            </a:r>
          </a:p>
          <a:p>
            <a:pPr marL="285750" indent="-285750">
              <a:buFont typeface="Arial" panose="020B0604020202020204" pitchFamily="34" charset="0"/>
              <a:buChar char="•"/>
            </a:pPr>
            <a:r>
              <a:rPr lang="en-US" sz="1400" dirty="0"/>
              <a:t>1025R is a true sub-compact utility tractor (loader, backhoe, ...), heavier</a:t>
            </a:r>
          </a:p>
        </p:txBody>
      </p:sp>
      <p:sp>
        <p:nvSpPr>
          <p:cNvPr id="10" name="TextBox 9">
            <a:extLst>
              <a:ext uri="{FF2B5EF4-FFF2-40B4-BE49-F238E27FC236}">
                <a16:creationId xmlns:a16="http://schemas.microsoft.com/office/drawing/2014/main" id="{2EACD354-3FD4-BB1F-4646-02FD15077B14}"/>
              </a:ext>
            </a:extLst>
          </p:cNvPr>
          <p:cNvSpPr txBox="1"/>
          <p:nvPr/>
        </p:nvSpPr>
        <p:spPr>
          <a:xfrm>
            <a:off x="262129" y="775454"/>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 </a:t>
            </a:r>
            <a:r>
              <a:rPr lang="en-US" b="1" dirty="0"/>
              <a:t>1025R                vs                 X758</a:t>
            </a:r>
          </a:p>
          <a:p>
            <a:r>
              <a:rPr lang="en-US" dirty="0">
                <a:solidFill>
                  <a:srgbClr val="00B0F0"/>
                </a:solidFill>
              </a:rPr>
              <a:t>1,444 </a:t>
            </a:r>
            <a:r>
              <a:rPr lang="en-US" dirty="0" err="1">
                <a:solidFill>
                  <a:srgbClr val="00B0F0"/>
                </a:solidFill>
              </a:rPr>
              <a:t>lbs</a:t>
            </a:r>
            <a:r>
              <a:rPr lang="en-US" dirty="0">
                <a:solidFill>
                  <a:srgbClr val="00B0F0"/>
                </a:solidFill>
              </a:rPr>
              <a:t>                              1,038 </a:t>
            </a:r>
            <a:r>
              <a:rPr lang="en-US" dirty="0" err="1">
                <a:solidFill>
                  <a:srgbClr val="00B0F0"/>
                </a:solidFill>
              </a:rPr>
              <a:t>lbs</a:t>
            </a:r>
            <a:endParaRPr lang="en-US" dirty="0">
              <a:solidFill>
                <a:srgbClr val="00B0F0"/>
              </a:solidFill>
            </a:endParaRPr>
          </a:p>
        </p:txBody>
      </p:sp>
      <p:pic>
        <p:nvPicPr>
          <p:cNvPr id="12" name="Picture 11">
            <a:extLst>
              <a:ext uri="{FF2B5EF4-FFF2-40B4-BE49-F238E27FC236}">
                <a16:creationId xmlns:a16="http://schemas.microsoft.com/office/drawing/2014/main" id="{EE86A2F8-C2FD-D027-ABEC-F050AC6B852E}"/>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4301890" y="230832"/>
            <a:ext cx="1530350" cy="1200150"/>
          </a:xfrm>
          <a:prstGeom prst="rect">
            <a:avLst/>
          </a:prstGeom>
        </p:spPr>
      </p:pic>
      <p:pic>
        <p:nvPicPr>
          <p:cNvPr id="1028" name="Picture 4" descr="x758 vs 1025r: new owner impressions | My Tractor Forum">
            <a:extLst>
              <a:ext uri="{FF2B5EF4-FFF2-40B4-BE49-F238E27FC236}">
                <a16:creationId xmlns:a16="http://schemas.microsoft.com/office/drawing/2014/main" id="{454F66C4-2B11-96E3-1FC1-489106CE95D7}"/>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262128" y="1908858"/>
            <a:ext cx="3785443" cy="283908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300305A7-914B-7488-5C71-E229D10278CE}"/>
              </a:ext>
            </a:extLst>
          </p:cNvPr>
          <p:cNvSpPr txBox="1"/>
          <p:nvPr/>
        </p:nvSpPr>
        <p:spPr>
          <a:xfrm>
            <a:off x="6086560" y="139392"/>
            <a:ext cx="5980472" cy="2046714"/>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X700 series 4WD models:  X738, X739, X758</a:t>
            </a:r>
          </a:p>
          <a:p>
            <a:r>
              <a:rPr lang="en-US" sz="1100" dirty="0">
                <a:hlinkClick r:id="rId4"/>
              </a:rPr>
              <a:t>https://www.deere.com/en/mowers/lawn-tractors/x700-series/ </a:t>
            </a:r>
            <a:endParaRPr lang="en-US" dirty="0"/>
          </a:p>
          <a:p>
            <a:pPr marL="285750" indent="-285750">
              <a:buFont typeface="Arial" panose="020B0604020202020204" pitchFamily="34" charset="0"/>
              <a:buChar char="•"/>
            </a:pPr>
            <a:r>
              <a:rPr lang="en-US" sz="1400" dirty="0"/>
              <a:t>All accept mowing decks 48, 54, 60 inches</a:t>
            </a:r>
          </a:p>
          <a:p>
            <a:pPr marL="285750" indent="-285750">
              <a:buFont typeface="Arial" panose="020B0604020202020204" pitchFamily="34" charset="0"/>
              <a:buChar char="•"/>
            </a:pPr>
            <a:r>
              <a:rPr lang="en-US" sz="1400" dirty="0"/>
              <a:t>All have power lift - two-function hydraulic lift system to raise and lower attachments (mower decks, front blades, snow blowers, or rotary brooms)</a:t>
            </a:r>
          </a:p>
          <a:p>
            <a:pPr marL="285750" indent="-285750">
              <a:buFont typeface="Arial" panose="020B0604020202020204" pitchFamily="34" charset="0"/>
              <a:buChar char="•"/>
            </a:pPr>
            <a:r>
              <a:rPr lang="en-US" sz="1400" dirty="0"/>
              <a:t>Prices: $17..$19K</a:t>
            </a:r>
          </a:p>
          <a:p>
            <a:pPr marL="285750" indent="-285750">
              <a:buFont typeface="Arial" panose="020B0604020202020204" pitchFamily="34" charset="0"/>
              <a:buChar char="•"/>
            </a:pPr>
            <a:r>
              <a:rPr lang="en-US" sz="1400" dirty="0"/>
              <a:t>X738 4wd, gas, fuel injection, V-twin, power lift, 947 </a:t>
            </a:r>
            <a:r>
              <a:rPr lang="en-US" sz="1400" dirty="0" err="1"/>
              <a:t>lbs</a:t>
            </a:r>
            <a:endParaRPr lang="en-US" sz="1400" dirty="0"/>
          </a:p>
          <a:p>
            <a:pPr marL="285750" indent="-285750">
              <a:buFont typeface="Arial" panose="020B0604020202020204" pitchFamily="34" charset="0"/>
              <a:buChar char="•"/>
            </a:pPr>
            <a:r>
              <a:rPr lang="en-US" sz="1400" dirty="0"/>
              <a:t>X739 4wd, gas, fuel injection, V-twin, power lift, 4-wheel steer</a:t>
            </a:r>
          </a:p>
          <a:p>
            <a:pPr marL="285750" indent="-285750">
              <a:buFont typeface="Arial" panose="020B0604020202020204" pitchFamily="34" charset="0"/>
              <a:buChar char="•"/>
            </a:pPr>
            <a:r>
              <a:rPr lang="en-US" sz="1400" dirty="0"/>
              <a:t>X758 4wd, diesel, power lift , 1,038 </a:t>
            </a:r>
            <a:r>
              <a:rPr lang="en-US" sz="1400" dirty="0" err="1"/>
              <a:t>lbs</a:t>
            </a:r>
            <a:endParaRPr lang="en-US" sz="1400" dirty="0"/>
          </a:p>
        </p:txBody>
      </p:sp>
      <p:sp>
        <p:nvSpPr>
          <p:cNvPr id="5" name="TextBox 4">
            <a:extLst>
              <a:ext uri="{FF2B5EF4-FFF2-40B4-BE49-F238E27FC236}">
                <a16:creationId xmlns:a16="http://schemas.microsoft.com/office/drawing/2014/main" id="{B4C867C9-7A27-AA35-EB7C-6B97B448BD44}"/>
              </a:ext>
            </a:extLst>
          </p:cNvPr>
          <p:cNvSpPr txBox="1"/>
          <p:nvPr/>
        </p:nvSpPr>
        <p:spPr>
          <a:xfrm>
            <a:off x="6086560" y="2323154"/>
            <a:ext cx="4093760" cy="2800767"/>
          </a:xfrm>
          <a:prstGeom prst="rect">
            <a:avLst/>
          </a:prstGeom>
          <a:solidFill>
            <a:schemeClr val="accent4">
              <a:lumMod val="20000"/>
              <a:lumOff val="80000"/>
            </a:schemeClr>
          </a:solidFill>
          <a:ln>
            <a:solidFill>
              <a:srgbClr val="FF0000"/>
            </a:solidFill>
          </a:ln>
        </p:spPr>
        <p:txBody>
          <a:bodyPr wrap="square" rtlCol="0">
            <a:spAutoFit/>
          </a:bodyPr>
          <a:lstStyle/>
          <a:p>
            <a:r>
              <a:rPr lang="en-US" sz="1100" dirty="0">
                <a:latin typeface="Menlo" panose="020B0609030804020204" pitchFamily="49" charset="0"/>
                <a:ea typeface="Menlo" panose="020B0609030804020204" pitchFamily="49" charset="0"/>
                <a:cs typeface="Menlo" panose="020B0609030804020204" pitchFamily="49" charset="0"/>
              </a:rPr>
              <a:t>JD-425 2wd gas carburetor</a:t>
            </a:r>
          </a:p>
          <a:p>
            <a:r>
              <a:rPr lang="en-US" sz="1100" dirty="0">
                <a:latin typeface="Menlo" panose="020B0609030804020204" pitchFamily="49" charset="0"/>
                <a:ea typeface="Menlo" panose="020B0609030804020204" pitchFamily="49" charset="0"/>
                <a:cs typeface="Menlo" panose="020B0609030804020204" pitchFamily="49" charset="0"/>
              </a:rPr>
              <a:t>JD-445 2wd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JD-455 2wd diesel</a:t>
            </a:r>
            <a:r>
              <a:rPr lang="en-US" sz="1100" dirty="0">
                <a:latin typeface="Menlo" panose="020B0609030804020204" pitchFamily="49" charset="0"/>
                <a:ea typeface="Menlo" panose="020B0609030804020204" pitchFamily="49" charset="0"/>
                <a:cs typeface="Menlo" panose="020B0609030804020204" pitchFamily="49" charset="0"/>
              </a:rPr>
              <a:t> - </a:t>
            </a:r>
            <a:r>
              <a:rPr lang="en-US" sz="1100" dirty="0">
                <a:latin typeface="Menlo" panose="020B0609030804020204" pitchFamily="49" charset="0"/>
                <a:ea typeface="Menlo" panose="020B0609030804020204" pitchFamily="49" charset="0"/>
                <a:cs typeface="Menlo" panose="020B0609030804020204" pitchFamily="49" charset="0"/>
                <a:hlinkClick r:id="rId5"/>
              </a:rPr>
              <a:t>link</a:t>
            </a:r>
            <a:endPar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endParaRPr>
          </a:p>
          <a:p>
            <a:r>
              <a:rPr lang="en-US" sz="1100" dirty="0">
                <a:latin typeface="Menlo" panose="020B0609030804020204" pitchFamily="49" charset="0"/>
                <a:ea typeface="Menlo" panose="020B0609030804020204" pitchFamily="49" charset="0"/>
                <a:cs typeface="Menlo" panose="020B0609030804020204" pitchFamily="49" charset="0"/>
              </a:rPr>
              <a:t>---------</a:t>
            </a:r>
          </a:p>
          <a:p>
            <a:r>
              <a:rPr lang="en-US" sz="1100" dirty="0">
                <a:latin typeface="Menlo" panose="020B0609030804020204" pitchFamily="49" charset="0"/>
                <a:ea typeface="Menlo" panose="020B0609030804020204" pitchFamily="49" charset="0"/>
                <a:cs typeface="Menlo" panose="020B0609030804020204" pitchFamily="49" charset="0"/>
              </a:rPr>
              <a:t>X485 4wd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X495 2wd diesel  (2002-2005)</a:t>
            </a:r>
            <a:r>
              <a:rPr lang="en-US" sz="1100" dirty="0">
                <a:latin typeface="Menlo" panose="020B0609030804020204" pitchFamily="49" charset="0"/>
                <a:ea typeface="Menlo" panose="020B0609030804020204" pitchFamily="49" charset="0"/>
                <a:cs typeface="Menlo" panose="020B0609030804020204" pitchFamily="49" charset="0"/>
              </a:rPr>
              <a:t> - </a:t>
            </a:r>
            <a:r>
              <a:rPr lang="en-US" sz="1100" dirty="0">
                <a:latin typeface="Menlo" panose="020B0609030804020204" pitchFamily="49" charset="0"/>
                <a:ea typeface="Menlo" panose="020B0609030804020204" pitchFamily="49" charset="0"/>
                <a:cs typeface="Menlo" panose="020B0609030804020204" pitchFamily="49" charset="0"/>
                <a:hlinkClick r:id="rId6"/>
              </a:rPr>
              <a:t>link</a:t>
            </a:r>
            <a:r>
              <a:rPr lang="en-US" sz="1100" dirty="0">
                <a:latin typeface="Menlo" panose="020B0609030804020204" pitchFamily="49" charset="0"/>
                <a:ea typeface="Menlo" panose="020B0609030804020204" pitchFamily="49" charset="0"/>
                <a:cs typeface="Menlo" panose="020B0609030804020204" pitchFamily="49" charset="0"/>
              </a:rPr>
              <a:t> </a:t>
            </a:r>
          </a:p>
          <a:p>
            <a:r>
              <a:rPr lang="en-US" sz="1100" dirty="0">
                <a:latin typeface="Menlo" panose="020B0609030804020204" pitchFamily="49" charset="0"/>
                <a:ea typeface="Menlo" panose="020B0609030804020204" pitchFamily="49" charset="0"/>
                <a:cs typeface="Menlo" panose="020B0609030804020204" pitchFamily="49" charset="0"/>
              </a:rPr>
              <a:t>---------</a:t>
            </a:r>
          </a:p>
          <a:p>
            <a:r>
              <a:rPr lang="en-US" sz="1100" dirty="0">
                <a:latin typeface="Menlo" panose="020B0609030804020204" pitchFamily="49" charset="0"/>
                <a:ea typeface="Menlo" panose="020B0609030804020204" pitchFamily="49" charset="0"/>
                <a:cs typeface="Menlo" panose="020B0609030804020204" pitchFamily="49" charset="0"/>
              </a:rPr>
              <a:t>X590 2wd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X595 4wd diesel (2002-2005) </a:t>
            </a:r>
            <a:r>
              <a:rPr lang="en-US" sz="1100" dirty="0">
                <a:latin typeface="Menlo" panose="020B0609030804020204" pitchFamily="49" charset="0"/>
                <a:ea typeface="Menlo" panose="020B0609030804020204" pitchFamily="49" charset="0"/>
                <a:cs typeface="Menlo" panose="020B0609030804020204" pitchFamily="49" charset="0"/>
              </a:rPr>
              <a:t> - </a:t>
            </a:r>
            <a:r>
              <a:rPr lang="en-US" sz="1100" dirty="0">
                <a:latin typeface="Menlo" panose="020B0609030804020204" pitchFamily="49" charset="0"/>
                <a:ea typeface="Menlo" panose="020B0609030804020204" pitchFamily="49" charset="0"/>
                <a:cs typeface="Menlo" panose="020B0609030804020204" pitchFamily="49" charset="0"/>
                <a:hlinkClick r:id="rId7"/>
              </a:rPr>
              <a:t>link</a:t>
            </a:r>
            <a:endPar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endParaRPr>
          </a:p>
          <a:p>
            <a:r>
              <a:rPr lang="en-US" sz="1100" dirty="0">
                <a:latin typeface="Menlo" panose="020B0609030804020204" pitchFamily="49" charset="0"/>
                <a:ea typeface="Menlo" panose="020B0609030804020204" pitchFamily="49" charset="0"/>
                <a:cs typeface="Menlo" panose="020B0609030804020204" pitchFamily="49" charset="0"/>
              </a:rPr>
              <a:t>---------</a:t>
            </a:r>
          </a:p>
          <a:p>
            <a:r>
              <a:rPr lang="en-US" sz="1100" dirty="0">
                <a:latin typeface="Menlo" panose="020B0609030804020204" pitchFamily="49" charset="0"/>
                <a:ea typeface="Menlo" panose="020B0609030804020204" pitchFamily="49" charset="0"/>
                <a:cs typeface="Menlo" panose="020B0609030804020204" pitchFamily="49" charset="0"/>
              </a:rPr>
              <a:t>X738, X739 4wd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X740, X744 </a:t>
            </a:r>
            <a:r>
              <a:rPr lang="en-US" sz="1100" dirty="0">
                <a:latin typeface="Menlo" panose="020B0609030804020204" pitchFamily="49" charset="0"/>
                <a:ea typeface="Menlo" panose="020B0609030804020204" pitchFamily="49" charset="0"/>
                <a:cs typeface="Menlo" panose="020B0609030804020204" pitchFamily="49" charset="0"/>
              </a:rPr>
              <a:t>2wd diesel (2006-12)</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X748, X749</a:t>
            </a:r>
            <a:r>
              <a:rPr lang="en-US" sz="1100" dirty="0">
                <a:latin typeface="Menlo" panose="020B0609030804020204" pitchFamily="49" charset="0"/>
                <a:ea typeface="Menlo" panose="020B0609030804020204" pitchFamily="49" charset="0"/>
                <a:cs typeface="Menlo" panose="020B0609030804020204" pitchFamily="49" charset="0"/>
              </a:rPr>
              <a:t> 4wd diesel (2006-12) - </a:t>
            </a:r>
            <a:r>
              <a:rPr lang="en-US" sz="1100" dirty="0">
                <a:latin typeface="Menlo" panose="020B0609030804020204" pitchFamily="49" charset="0"/>
                <a:ea typeface="Menlo" panose="020B0609030804020204" pitchFamily="49" charset="0"/>
                <a:cs typeface="Menlo" panose="020B0609030804020204" pitchFamily="49" charset="0"/>
                <a:hlinkClick r:id="rId8"/>
              </a:rPr>
              <a:t>link</a:t>
            </a:r>
            <a:endParaRPr lang="en-US" sz="1100" dirty="0">
              <a:latin typeface="Menlo" panose="020B0609030804020204" pitchFamily="49" charset="0"/>
              <a:ea typeface="Menlo" panose="020B0609030804020204" pitchFamily="49" charset="0"/>
              <a:cs typeface="Menlo" panose="020B0609030804020204" pitchFamily="49" charset="0"/>
            </a:endParaRP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X750, X754</a:t>
            </a:r>
            <a:r>
              <a:rPr lang="en-US" sz="1100" dirty="0">
                <a:latin typeface="Menlo" panose="020B0609030804020204" pitchFamily="49" charset="0"/>
                <a:ea typeface="Menlo" panose="020B0609030804020204" pitchFamily="49" charset="0"/>
                <a:cs typeface="Menlo" panose="020B0609030804020204" pitchFamily="49" charset="0"/>
              </a:rPr>
              <a:t> 2wd diesel (2013-present) - </a:t>
            </a:r>
            <a:r>
              <a:rPr lang="en-US" sz="1100" dirty="0">
                <a:latin typeface="Menlo" panose="020B0609030804020204" pitchFamily="49" charset="0"/>
                <a:ea typeface="Menlo" panose="020B0609030804020204" pitchFamily="49" charset="0"/>
                <a:cs typeface="Menlo" panose="020B0609030804020204" pitchFamily="49" charset="0"/>
                <a:hlinkClick r:id="rId9"/>
              </a:rPr>
              <a:t>link</a:t>
            </a:r>
            <a:endParaRPr lang="en-US" sz="1100" dirty="0">
              <a:latin typeface="Menlo" panose="020B0609030804020204" pitchFamily="49" charset="0"/>
              <a:ea typeface="Menlo" panose="020B0609030804020204" pitchFamily="49" charset="0"/>
              <a:cs typeface="Menlo" panose="020B0609030804020204" pitchFamily="49" charset="0"/>
            </a:endParaRP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X758</a:t>
            </a:r>
            <a:r>
              <a:rPr lang="en-US" sz="1100" dirty="0">
                <a:latin typeface="Menlo" panose="020B0609030804020204" pitchFamily="49" charset="0"/>
                <a:ea typeface="Menlo" panose="020B0609030804020204" pitchFamily="49" charset="0"/>
                <a:cs typeface="Menlo" panose="020B0609030804020204" pitchFamily="49" charset="0"/>
              </a:rPr>
              <a:t>       4wd diesel (2013-present) - </a:t>
            </a:r>
            <a:r>
              <a:rPr lang="en-US" sz="1100" dirty="0">
                <a:latin typeface="Menlo" panose="020B0609030804020204" pitchFamily="49" charset="0"/>
                <a:ea typeface="Menlo" panose="020B0609030804020204" pitchFamily="49" charset="0"/>
                <a:cs typeface="Menlo" panose="020B0609030804020204" pitchFamily="49" charset="0"/>
                <a:hlinkClick r:id="rId9"/>
              </a:rPr>
              <a:t>link</a:t>
            </a:r>
            <a:endParaRPr lang="en-US" sz="1100" dirty="0">
              <a:latin typeface="Menlo" panose="020B0609030804020204" pitchFamily="49" charset="0"/>
              <a:ea typeface="Menlo" panose="020B0609030804020204" pitchFamily="49" charset="0"/>
              <a:cs typeface="Menlo" panose="020B0609030804020204" pitchFamily="49" charset="0"/>
            </a:endParaRPr>
          </a:p>
          <a:p>
            <a:r>
              <a:rPr lang="en-US" sz="1100" dirty="0">
                <a:latin typeface="Menlo" panose="020B0609030804020204" pitchFamily="49" charset="0"/>
                <a:ea typeface="Menlo" panose="020B0609030804020204" pitchFamily="49" charset="0"/>
                <a:cs typeface="Menlo" panose="020B0609030804020204" pitchFamily="49" charset="0"/>
              </a:rPr>
              <a:t>---------</a:t>
            </a:r>
          </a:p>
        </p:txBody>
      </p:sp>
    </p:spTree>
    <p:extLst>
      <p:ext uri="{BB962C8B-B14F-4D97-AF65-F5344CB8AC3E}">
        <p14:creationId xmlns:p14="http://schemas.microsoft.com/office/powerpoint/2010/main" val="7010990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43D31-ECE5-9365-93A5-EADC7584741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D0C96E-112C-9AD5-4197-E7D6921D9754}"/>
              </a:ext>
            </a:extLst>
          </p:cNvPr>
          <p:cNvSpPr txBox="1"/>
          <p:nvPr/>
        </p:nvSpPr>
        <p:spPr>
          <a:xfrm>
            <a:off x="-1" y="0"/>
            <a:ext cx="6096001" cy="523220"/>
          </a:xfrm>
          <a:prstGeom prst="rect">
            <a:avLst/>
          </a:prstGeom>
          <a:noFill/>
        </p:spPr>
        <p:txBody>
          <a:bodyPr wrap="square" rtlCol="0">
            <a:spAutoFit/>
          </a:bodyPr>
          <a:lstStyle/>
          <a:p>
            <a:r>
              <a:rPr lang="en-US" sz="2800" b="1" dirty="0"/>
              <a:t>John Deere X758</a:t>
            </a:r>
          </a:p>
        </p:txBody>
      </p:sp>
      <p:sp>
        <p:nvSpPr>
          <p:cNvPr id="8" name="TextBox 7">
            <a:extLst>
              <a:ext uri="{FF2B5EF4-FFF2-40B4-BE49-F238E27FC236}">
                <a16:creationId xmlns:a16="http://schemas.microsoft.com/office/drawing/2014/main" id="{40B1DAD5-098B-A626-FB87-CBFF942DA840}"/>
              </a:ext>
            </a:extLst>
          </p:cNvPr>
          <p:cNvSpPr txBox="1"/>
          <p:nvPr/>
        </p:nvSpPr>
        <p:spPr>
          <a:xfrm>
            <a:off x="255183" y="832299"/>
            <a:ext cx="5181598" cy="5693866"/>
          </a:xfrm>
          <a:prstGeom prst="rect">
            <a:avLst/>
          </a:prstGeom>
          <a:noFill/>
        </p:spPr>
        <p:txBody>
          <a:bodyPr wrap="square" rtlCol="0">
            <a:spAutoFit/>
          </a:bodyPr>
          <a:lstStyle/>
          <a:p>
            <a:pPr marL="285750" indent="-285750">
              <a:buFont typeface="Courier New" panose="02070309020205020404" pitchFamily="49" charset="0"/>
              <a:buChar char="o"/>
            </a:pPr>
            <a:r>
              <a:rPr lang="en-US" sz="1400" dirty="0"/>
              <a:t>Attachments: mower deck, snow plow, snow blower, snow broom, aerators, thatchers, material collection systems, utility carts, spreaders</a:t>
            </a:r>
            <a:endParaRPr lang="en-US" sz="1400" dirty="0">
              <a:hlinkClick r:id="rId2"/>
            </a:endParaRPr>
          </a:p>
          <a:p>
            <a:pPr marL="285750" indent="-285750">
              <a:buFont typeface="Courier New" panose="02070309020205020404" pitchFamily="49" charset="0"/>
              <a:buChar char="o"/>
            </a:pPr>
            <a:r>
              <a:rPr lang="en-US" sz="1400" dirty="0">
                <a:hlinkClick r:id="rId2"/>
              </a:rPr>
              <a:t>https://www.youtube.com/watch?v=ymtZBvOIQdw</a:t>
            </a:r>
            <a:endParaRPr lang="en-US" sz="1400" dirty="0"/>
          </a:p>
          <a:p>
            <a:pPr marL="285750" indent="-285750">
              <a:buFont typeface="Courier New" panose="02070309020205020404" pitchFamily="49" charset="0"/>
              <a:buChar char="o"/>
            </a:pPr>
            <a:r>
              <a:rPr lang="en-US" sz="1400" dirty="0"/>
              <a:t>54-inch mowing deck - shaft driven (no belt)</a:t>
            </a:r>
          </a:p>
          <a:p>
            <a:pPr marL="285750" indent="-285750">
              <a:buFont typeface="Courier New" panose="02070309020205020404" pitchFamily="49" charset="0"/>
              <a:buChar char="o"/>
            </a:pPr>
            <a:r>
              <a:rPr lang="en-US" sz="1400" dirty="0"/>
              <a:t>Power Flow Bagger System (3 bags)</a:t>
            </a:r>
          </a:p>
          <a:p>
            <a:pPr marL="285750" indent="-285750">
              <a:buFont typeface="Courier New" panose="02070309020205020404" pitchFamily="49" charset="0"/>
              <a:buChar char="o"/>
            </a:pPr>
            <a:r>
              <a:rPr lang="en-US" sz="1400" dirty="0"/>
              <a:t>Little Buck Loader (Aftermarket, front-mounted)</a:t>
            </a:r>
          </a:p>
          <a:p>
            <a:pPr marL="285750" indent="-285750">
              <a:buFont typeface="Courier New" panose="02070309020205020404" pitchFamily="49" charset="0"/>
              <a:buChar char="o"/>
            </a:pPr>
            <a:r>
              <a:rPr lang="en-US" sz="1400" dirty="0"/>
              <a:t>Grapple - mechanically controlled (closes when the bucket is curled and opens when tilted)</a:t>
            </a:r>
          </a:p>
          <a:p>
            <a:pPr marL="285750" indent="-285750">
              <a:buFont typeface="Courier New" panose="02070309020205020404" pitchFamily="49" charset="0"/>
              <a:buChar char="o"/>
            </a:pPr>
            <a:r>
              <a:rPr lang="en-US" sz="1400" dirty="0"/>
              <a:t>Piranha Bar - A jagged tooth bar bolted to the bucket edge to improve digging in dirt and rock</a:t>
            </a:r>
          </a:p>
          <a:p>
            <a:pPr marL="285750" indent="-285750">
              <a:buFont typeface="Courier New" panose="02070309020205020404" pitchFamily="49" charset="0"/>
              <a:buChar char="o"/>
            </a:pPr>
            <a:r>
              <a:rPr lang="en-US" sz="1400" dirty="0"/>
              <a:t>54-inch Blade (snow plowing or pushing dirt/leaves)</a:t>
            </a:r>
          </a:p>
          <a:p>
            <a:pPr marL="285750" indent="-285750">
              <a:buFont typeface="Courier New" panose="02070309020205020404" pitchFamily="49" charset="0"/>
              <a:buChar char="o"/>
            </a:pPr>
            <a:r>
              <a:rPr lang="en-US" sz="1400" dirty="0"/>
              <a:t>Click-and-Go System - a bracket system that allows for very fast switching of rear attachments</a:t>
            </a:r>
          </a:p>
          <a:p>
            <a:pPr marL="285750" indent="-285750">
              <a:buFont typeface="Courier New" panose="02070309020205020404" pitchFamily="49" charset="0"/>
              <a:buChar char="o"/>
            </a:pPr>
            <a:r>
              <a:rPr lang="en-US" sz="1400" dirty="0"/>
              <a:t> (like the bagger or weight brackets) without a full 3-point hitch</a:t>
            </a:r>
          </a:p>
          <a:p>
            <a:pPr marL="285750" indent="-285750">
              <a:buFont typeface="Courier New" panose="02070309020205020404" pitchFamily="49" charset="0"/>
              <a:buChar char="o"/>
            </a:pPr>
            <a:r>
              <a:rPr lang="en-US" sz="1400" dirty="0"/>
              <a:t>Weights - used on the rear for traction</a:t>
            </a:r>
          </a:p>
          <a:p>
            <a:pPr marL="285750" indent="-285750">
              <a:buFont typeface="Courier New" panose="02070309020205020404" pitchFamily="49" charset="0"/>
              <a:buChar char="o"/>
            </a:pPr>
            <a:r>
              <a:rPr lang="en-US" sz="1400" dirty="0"/>
              <a:t>Spreader - a 125lb electronic spreader for salt, seed, or fertilizer</a:t>
            </a:r>
          </a:p>
          <a:p>
            <a:pPr marL="285750" indent="-285750">
              <a:buFont typeface="Courier New" panose="02070309020205020404" pitchFamily="49" charset="0"/>
              <a:buChar char="o"/>
            </a:pPr>
            <a:endParaRPr lang="en-US" sz="1400" dirty="0"/>
          </a:p>
          <a:p>
            <a:pPr marL="285750" indent="-285750">
              <a:buFont typeface="Courier New" panose="02070309020205020404" pitchFamily="49" charset="0"/>
              <a:buChar char="o"/>
            </a:pPr>
            <a:r>
              <a:rPr lang="en-US" sz="1400" dirty="0"/>
              <a:t>Tires - HDAP (Heavy-Duty All-Purpose) tires</a:t>
            </a:r>
          </a:p>
          <a:p>
            <a:pPr marL="285750" indent="-285750">
              <a:buFont typeface="Courier New" panose="02070309020205020404" pitchFamily="49" charset="0"/>
              <a:buChar char="o"/>
            </a:pPr>
            <a:r>
              <a:rPr lang="en-US" sz="1400" dirty="0"/>
              <a:t>Bulbs - change to LED (</a:t>
            </a:r>
            <a:r>
              <a:rPr lang="en-US" sz="1400" dirty="0" err="1"/>
              <a:t>ebay</a:t>
            </a:r>
            <a:r>
              <a:rPr lang="en-US" sz="1400" dirty="0"/>
              <a:t>)</a:t>
            </a:r>
          </a:p>
          <a:p>
            <a:pPr marL="285750" indent="-285750">
              <a:buFont typeface="Courier New" panose="02070309020205020404" pitchFamily="49" charset="0"/>
              <a:buChar char="o"/>
            </a:pPr>
            <a:r>
              <a:rPr lang="en-US" sz="1400" dirty="0"/>
              <a:t>The user "shimmed" the Implement Relief Valve to increase hydraulic pressure from roughly 1,000 PSI to 1,350 PSI to improve the lifting power of the loader</a:t>
            </a:r>
          </a:p>
          <a:p>
            <a:pPr marL="285750" indent="-285750">
              <a:buFont typeface="Courier New" panose="02070309020205020404" pitchFamily="49" charset="0"/>
              <a:buChar char="o"/>
            </a:pPr>
            <a:r>
              <a:rPr lang="en-US" sz="1400" dirty="0"/>
              <a:t>"</a:t>
            </a:r>
            <a:r>
              <a:rPr lang="en-US" sz="1400" dirty="0" err="1"/>
              <a:t>Autoconnect</a:t>
            </a:r>
            <a:r>
              <a:rPr lang="en-US" sz="1400" dirty="0"/>
              <a:t>" drive shaft for the deck is noisy and vibrate. Better swap it for a manual shaft connection for a smoother, quieter ride.</a:t>
            </a:r>
          </a:p>
        </p:txBody>
      </p:sp>
      <p:pic>
        <p:nvPicPr>
          <p:cNvPr id="4" name="Picture 3">
            <a:extLst>
              <a:ext uri="{FF2B5EF4-FFF2-40B4-BE49-F238E27FC236}">
                <a16:creationId xmlns:a16="http://schemas.microsoft.com/office/drawing/2014/main" id="{B42ACF02-2E18-B107-ECBC-A3BE9CACFC04}"/>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096000" y="1505650"/>
            <a:ext cx="5464920" cy="4374185"/>
          </a:xfrm>
          <a:prstGeom prst="rect">
            <a:avLst/>
          </a:prstGeom>
          <a:ln>
            <a:solidFill>
              <a:srgbClr val="FF0000"/>
            </a:solidFill>
          </a:ln>
        </p:spPr>
      </p:pic>
    </p:spTree>
    <p:extLst>
      <p:ext uri="{BB962C8B-B14F-4D97-AF65-F5344CB8AC3E}">
        <p14:creationId xmlns:p14="http://schemas.microsoft.com/office/powerpoint/2010/main" val="18259216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6096001" cy="523220"/>
          </a:xfrm>
          <a:prstGeom prst="rect">
            <a:avLst/>
          </a:prstGeom>
          <a:noFill/>
        </p:spPr>
        <p:txBody>
          <a:bodyPr wrap="square" rtlCol="0">
            <a:spAutoFit/>
          </a:bodyPr>
          <a:lstStyle/>
          <a:p>
            <a:r>
              <a:rPr lang="en-US" sz="2800" b="1" dirty="0"/>
              <a:t>John Deere X758</a:t>
            </a:r>
          </a:p>
        </p:txBody>
      </p:sp>
      <p:sp>
        <p:nvSpPr>
          <p:cNvPr id="3" name="TextBox 2">
            <a:extLst>
              <a:ext uri="{FF2B5EF4-FFF2-40B4-BE49-F238E27FC236}">
                <a16:creationId xmlns:a16="http://schemas.microsoft.com/office/drawing/2014/main" id="{DC69E50A-DD6F-49A2-50A0-AE0A50A8C419}"/>
              </a:ext>
            </a:extLst>
          </p:cNvPr>
          <p:cNvSpPr txBox="1"/>
          <p:nvPr/>
        </p:nvSpPr>
        <p:spPr>
          <a:xfrm>
            <a:off x="5181599" y="186268"/>
            <a:ext cx="6863281" cy="6401753"/>
          </a:xfrm>
          <a:prstGeom prst="rect">
            <a:avLst/>
          </a:prstGeom>
          <a:noFill/>
        </p:spPr>
        <p:txBody>
          <a:bodyPr wrap="square" rtlCol="0">
            <a:spAutoFit/>
          </a:bodyPr>
          <a:lstStyle/>
          <a:p>
            <a:r>
              <a:rPr lang="en-US" b="1" dirty="0">
                <a:solidFill>
                  <a:srgbClr val="00B050"/>
                </a:solidFill>
              </a:rPr>
              <a:t>What to do at low temperature: -20°C (-4°F):</a:t>
            </a:r>
            <a:endParaRPr lang="en-US" sz="1400" dirty="0">
              <a:solidFill>
                <a:srgbClr val="00B050"/>
              </a:solidFill>
            </a:endParaRPr>
          </a:p>
          <a:p>
            <a:pPr marL="285750" indent="-285750">
              <a:buFont typeface="Courier New" panose="02070309020205020404" pitchFamily="49" charset="0"/>
              <a:buChar char="o"/>
            </a:pPr>
            <a:r>
              <a:rPr lang="en-US" sz="1400" b="1" dirty="0">
                <a:solidFill>
                  <a:srgbClr val="FF0000"/>
                </a:solidFill>
              </a:rPr>
              <a:t>Engine oil</a:t>
            </a:r>
            <a:r>
              <a:rPr lang="en-US" sz="1400" dirty="0"/>
              <a:t>: above -15°C (5°F) - standard 15W-40 oil;  below - lower viscosity 0W-40 or 5W-40 synthetic diesel oil</a:t>
            </a:r>
          </a:p>
          <a:p>
            <a:pPr marL="285750" indent="-285750">
              <a:buFont typeface="Courier New" panose="02070309020205020404" pitchFamily="49" charset="0"/>
              <a:buChar char="o"/>
            </a:pPr>
            <a:r>
              <a:rPr lang="en-US" sz="1400" b="1" dirty="0">
                <a:solidFill>
                  <a:srgbClr val="FF0000"/>
                </a:solidFill>
              </a:rPr>
              <a:t>Engine Warm-Up </a:t>
            </a:r>
            <a:r>
              <a:rPr lang="en-US" sz="1400" dirty="0"/>
              <a:t>- the X758 has glow plugs that warm the cylinders before starting.  Turn the key to the "ON" position, wait for the glow plug indicator light (squiggly line) to go off before cranking the engine</a:t>
            </a:r>
          </a:p>
          <a:p>
            <a:pPr marL="285750" indent="-285750">
              <a:buFont typeface="Courier New" panose="02070309020205020404" pitchFamily="49" charset="0"/>
              <a:buChar char="o"/>
            </a:pPr>
            <a:r>
              <a:rPr lang="en-US" sz="1400" b="1" dirty="0">
                <a:solidFill>
                  <a:srgbClr val="FF0000"/>
                </a:solidFill>
              </a:rPr>
              <a:t>Engine block heater</a:t>
            </a:r>
            <a:r>
              <a:rPr lang="en-US" sz="1400" dirty="0"/>
              <a:t> – JD engine </a:t>
            </a:r>
            <a:r>
              <a:rPr lang="en-US" sz="1400" b="1" dirty="0">
                <a:solidFill>
                  <a:srgbClr val="00B0F0"/>
                </a:solidFill>
              </a:rPr>
              <a:t>coolant heater (part number AR87167)</a:t>
            </a:r>
            <a:r>
              <a:rPr lang="en-US" sz="1400" dirty="0"/>
              <a:t> requires an </a:t>
            </a:r>
            <a:r>
              <a:rPr lang="en-US" sz="1400" b="1" dirty="0">
                <a:solidFill>
                  <a:srgbClr val="00B0F0"/>
                </a:solidFill>
              </a:rPr>
              <a:t>adapter kit (MIA881629) </a:t>
            </a:r>
            <a:r>
              <a:rPr lang="en-US" sz="1400" dirty="0"/>
              <a:t>for installation on the X758 and should be plugged in for at least </a:t>
            </a:r>
            <a:r>
              <a:rPr lang="en-US" sz="1400" b="1" dirty="0">
                <a:solidFill>
                  <a:srgbClr val="FF0000"/>
                </a:solidFill>
              </a:rPr>
              <a:t>one hour before starting</a:t>
            </a:r>
            <a:r>
              <a:rPr lang="en-US" sz="1400" dirty="0"/>
              <a:t>.</a:t>
            </a:r>
          </a:p>
          <a:p>
            <a:pPr marL="285750" indent="-285750">
              <a:buFont typeface="Courier New" panose="02070309020205020404" pitchFamily="49" charset="0"/>
              <a:buChar char="o"/>
            </a:pPr>
            <a:r>
              <a:rPr lang="en-US" sz="1400" b="1" dirty="0">
                <a:solidFill>
                  <a:srgbClr val="FF0000"/>
                </a:solidFill>
              </a:rPr>
              <a:t>Hydraulic fluid </a:t>
            </a:r>
            <a:r>
              <a:rPr lang="en-US" sz="1400" dirty="0"/>
              <a:t>– </a:t>
            </a:r>
            <a:r>
              <a:rPr lang="en-US" sz="1400" b="1" dirty="0">
                <a:solidFill>
                  <a:srgbClr val="00B0F0"/>
                </a:solidFill>
              </a:rPr>
              <a:t>use premium synthetic hydraulic fluids with cold-flow improvers</a:t>
            </a:r>
            <a:r>
              <a:rPr lang="en-US" sz="1400" dirty="0"/>
              <a:t>. </a:t>
            </a:r>
          </a:p>
          <a:p>
            <a:pPr marL="285750" indent="-285750">
              <a:buFont typeface="Courier New" panose="02070309020205020404" pitchFamily="49" charset="0"/>
              <a:buChar char="o"/>
            </a:pPr>
            <a:r>
              <a:rPr lang="en-US" sz="1400" dirty="0"/>
              <a:t>After starting, let the tractor idle for several minutes to allow both the engine and hydraulic oil to warm up before operating implements or the power steering system under load</a:t>
            </a:r>
          </a:p>
          <a:p>
            <a:pPr marL="285750" indent="-285750">
              <a:buFont typeface="Courier New" panose="02070309020205020404" pitchFamily="49" charset="0"/>
              <a:buChar char="o"/>
            </a:pPr>
            <a:r>
              <a:rPr lang="en-US" sz="1400" b="1" dirty="0">
                <a:solidFill>
                  <a:srgbClr val="FF0000"/>
                </a:solidFill>
              </a:rPr>
              <a:t>Diesel Fuel </a:t>
            </a:r>
            <a:r>
              <a:rPr lang="en-US" sz="1400" dirty="0"/>
              <a:t>- begins gelling at temperatures below -12°C (10-15°F), and at -20°C you'll be well into the danger zone where the fuel solidifies and can no longer flow through the fuel lines and filters </a:t>
            </a:r>
          </a:p>
          <a:p>
            <a:pPr marL="285750" indent="-285750">
              <a:buFont typeface="Courier New" panose="02070309020205020404" pitchFamily="49" charset="0"/>
              <a:buChar char="o"/>
            </a:pPr>
            <a:r>
              <a:rPr lang="en-US" sz="1400" b="1" dirty="0">
                <a:solidFill>
                  <a:srgbClr val="FF0000"/>
                </a:solidFill>
              </a:rPr>
              <a:t>Fuel Additives (anti-gel additives) </a:t>
            </a:r>
            <a:r>
              <a:rPr lang="en-US" sz="1400" dirty="0"/>
              <a:t>- they lower the cloud point (temperature where wax crystals form), prevent wax crystals from sticking together, and disperse moisture to prevent ice formation in fuel filters. </a:t>
            </a:r>
            <a:br>
              <a:rPr lang="en-US" sz="1400" dirty="0"/>
            </a:br>
            <a:r>
              <a:rPr lang="en-US" sz="1400" dirty="0"/>
              <a:t>Products like </a:t>
            </a:r>
            <a:r>
              <a:rPr lang="en-US" sz="1400" b="1" dirty="0">
                <a:solidFill>
                  <a:srgbClr val="00B0F0"/>
                </a:solidFill>
              </a:rPr>
              <a:t>Hot Shot's Secret Diesel Winter Anti-Gel or </a:t>
            </a:r>
            <a:r>
              <a:rPr lang="en-US" sz="1400" b="1" dirty="0" err="1">
                <a:solidFill>
                  <a:srgbClr val="00B0F0"/>
                </a:solidFill>
              </a:rPr>
              <a:t>Archoil</a:t>
            </a:r>
            <a:r>
              <a:rPr lang="en-US" sz="1400" b="1" dirty="0">
                <a:solidFill>
                  <a:srgbClr val="00B0F0"/>
                </a:solidFill>
              </a:rPr>
              <a:t> AR6300 </a:t>
            </a:r>
            <a:r>
              <a:rPr lang="en-US" sz="1400" dirty="0"/>
              <a:t>can protect diesel fuel down to -40°F (-40°C) when used at every fill-up. The additives should be mixed with fuel before temperatures drop, as </a:t>
            </a:r>
            <a:r>
              <a:rPr lang="en-US" sz="1400" dirty="0">
                <a:solidFill>
                  <a:srgbClr val="00B0F0"/>
                </a:solidFill>
              </a:rPr>
              <a:t>they cannot reverse gelling once it has already occurred</a:t>
            </a:r>
            <a:r>
              <a:rPr lang="en-US" sz="1400" dirty="0"/>
              <a:t>.</a:t>
            </a:r>
          </a:p>
          <a:p>
            <a:pPr marL="285750" indent="-285750">
              <a:buFont typeface="Courier New" panose="02070309020205020404" pitchFamily="49" charset="0"/>
              <a:buChar char="o"/>
            </a:pPr>
            <a:r>
              <a:rPr lang="en-US" sz="1400" b="1" dirty="0">
                <a:solidFill>
                  <a:srgbClr val="FF0000"/>
                </a:solidFill>
              </a:rPr>
              <a:t>Winter Diesel Fuel  </a:t>
            </a:r>
            <a:r>
              <a:rPr lang="en-US" sz="1400" dirty="0"/>
              <a:t>(sold in cold regions) - pre-treated for cold weather. For example, in Minnesota during winter, pump diesel is rated to -30°F. But you still need extra fuel additives for -20°C</a:t>
            </a:r>
          </a:p>
          <a:p>
            <a:pPr marL="285750" indent="-285750">
              <a:buFont typeface="Courier New" panose="02070309020205020404" pitchFamily="49" charset="0"/>
              <a:buChar char="o"/>
            </a:pPr>
            <a:r>
              <a:rPr lang="en-US" sz="1400" b="1" dirty="0">
                <a:solidFill>
                  <a:srgbClr val="FF0000"/>
                </a:solidFill>
              </a:rPr>
              <a:t>Keep fuel tank full </a:t>
            </a:r>
            <a:r>
              <a:rPr lang="en-US" sz="1400" dirty="0"/>
              <a:t>to reduce air space and reduce moisture condensation inside the tank which can freeze and cause additional fuel system blockages. The anti-gel additive should be added to the tank before filling so it mixes thoroughly with the incoming fuel.</a:t>
            </a:r>
          </a:p>
        </p:txBody>
      </p:sp>
      <p:pic>
        <p:nvPicPr>
          <p:cNvPr id="1026" name="Picture 2" descr="AR87167 Engine Block Coolant Heater Kit Fits for John Deere 1025R 110 2210  2305 4210 445 X495 XUV Gator 850D 855D 855M 865E - AliExpress">
            <a:extLst>
              <a:ext uri="{FF2B5EF4-FFF2-40B4-BE49-F238E27FC236}">
                <a16:creationId xmlns:a16="http://schemas.microsoft.com/office/drawing/2014/main" id="{E31E646C-AD08-4238-DAB7-02DE88ECA7CC}"/>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147120" y="2500930"/>
            <a:ext cx="4087091" cy="408709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John Deere AR87167 Engine Block Coolant Heater Kit 1025R 110 2210 2305 Gator">
            <a:extLst>
              <a:ext uri="{FF2B5EF4-FFF2-40B4-BE49-F238E27FC236}">
                <a16:creationId xmlns:a16="http://schemas.microsoft.com/office/drawing/2014/main" id="{F97D0BC0-FBA4-1B8E-A5A3-C35BC59A28F2}"/>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47120" y="770857"/>
            <a:ext cx="1482436" cy="148243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4248EAA2-37A7-21EF-BFB2-53447F6C3A8C}"/>
              </a:ext>
            </a:extLst>
          </p:cNvPr>
          <p:cNvSpPr txBox="1"/>
          <p:nvPr/>
        </p:nvSpPr>
        <p:spPr>
          <a:xfrm>
            <a:off x="1629556" y="808399"/>
            <a:ext cx="3164117" cy="1200329"/>
          </a:xfrm>
          <a:prstGeom prst="rect">
            <a:avLst/>
          </a:prstGeom>
          <a:noFill/>
        </p:spPr>
        <p:txBody>
          <a:bodyPr wrap="square" rtlCol="0">
            <a:spAutoFit/>
          </a:bodyPr>
          <a:lstStyle/>
          <a:p>
            <a:r>
              <a:rPr lang="en-US" dirty="0"/>
              <a:t>The warmth spreads through the entire engine via natural convection of the coolant. It takes 1-2 hours </a:t>
            </a:r>
            <a:endParaRPr lang="en-US" sz="1400" dirty="0"/>
          </a:p>
        </p:txBody>
      </p:sp>
    </p:spTree>
    <p:extLst>
      <p:ext uri="{BB962C8B-B14F-4D97-AF65-F5344CB8AC3E}">
        <p14:creationId xmlns:p14="http://schemas.microsoft.com/office/powerpoint/2010/main" val="12882760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30550F-07AE-1CE7-20E3-2AA8BA6113C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CB81E7F-18BC-34A7-0606-71AF37FC41F0}"/>
              </a:ext>
            </a:extLst>
          </p:cNvPr>
          <p:cNvSpPr txBox="1"/>
          <p:nvPr/>
        </p:nvSpPr>
        <p:spPr>
          <a:xfrm>
            <a:off x="0" y="0"/>
            <a:ext cx="4793674" cy="954107"/>
          </a:xfrm>
          <a:prstGeom prst="rect">
            <a:avLst/>
          </a:prstGeom>
          <a:noFill/>
        </p:spPr>
        <p:txBody>
          <a:bodyPr wrap="square" rtlCol="0">
            <a:spAutoFit/>
          </a:bodyPr>
          <a:lstStyle/>
          <a:p>
            <a:r>
              <a:rPr lang="en-US" sz="2800" b="1" dirty="0"/>
              <a:t>Heating Electric Charges, snow blowers, tractor</a:t>
            </a:r>
          </a:p>
        </p:txBody>
      </p:sp>
      <p:sp>
        <p:nvSpPr>
          <p:cNvPr id="4" name="TextBox 3">
            <a:extLst>
              <a:ext uri="{FF2B5EF4-FFF2-40B4-BE49-F238E27FC236}">
                <a16:creationId xmlns:a16="http://schemas.microsoft.com/office/drawing/2014/main" id="{A7454BCD-3F88-9905-117C-1AE825F6E254}"/>
              </a:ext>
            </a:extLst>
          </p:cNvPr>
          <p:cNvSpPr txBox="1"/>
          <p:nvPr/>
        </p:nvSpPr>
        <p:spPr>
          <a:xfrm>
            <a:off x="170033" y="1230430"/>
            <a:ext cx="4623641" cy="4832092"/>
          </a:xfrm>
          <a:prstGeom prst="rect">
            <a:avLst/>
          </a:prstGeom>
          <a:noFill/>
        </p:spPr>
        <p:txBody>
          <a:bodyPr wrap="square" rtlCol="0">
            <a:spAutoFit/>
          </a:bodyPr>
          <a:lstStyle/>
          <a:p>
            <a:r>
              <a:rPr lang="en-US" sz="1400" dirty="0">
                <a:latin typeface="Calibri" panose="020F0502020204030204" pitchFamily="34" charset="0"/>
                <a:cs typeface="Calibri" panose="020F0502020204030204" pitchFamily="34" charset="0"/>
              </a:rPr>
              <a:t>At cold weather electric charges have difficulty charging the batteries. And diesel tractor has difficulty starting.</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Idea is to create an enclosure (12' x 6' x 6') </a:t>
            </a:r>
          </a:p>
          <a:p>
            <a:r>
              <a:rPr lang="en-US" sz="1400" dirty="0">
                <a:latin typeface="Calibri" panose="020F0502020204030204" pitchFamily="34" charset="0"/>
                <a:cs typeface="Calibri" panose="020F0502020204030204" pitchFamily="34" charset="0"/>
              </a:rPr>
              <a:t>and warm equipment inside it.</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This size is big enough (</a:t>
            </a:r>
            <a:r>
              <a:rPr lang="en-US" sz="1400" dirty="0" err="1">
                <a:latin typeface="Calibri" panose="020F0502020204030204" pitchFamily="34" charset="0"/>
                <a:cs typeface="Calibri" panose="020F0502020204030204" pitchFamily="34" charset="0"/>
              </a:rPr>
              <a:t>approx</a:t>
            </a:r>
            <a:r>
              <a:rPr lang="en-US" sz="1400" dirty="0">
                <a:latin typeface="Calibri" panose="020F0502020204030204" pitchFamily="34" charset="0"/>
                <a:cs typeface="Calibri" panose="020F0502020204030204" pitchFamily="34" charset="0"/>
              </a:rPr>
              <a:t> 4×2×2 meters) to fit a tractor with a snow blower. It can definitely fit a walk-behind snowblower and multiple electric chargers.</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We can use a canopy, portable car shelter (garage) canopy, or a green house. </a:t>
            </a:r>
            <a:endParaRPr lang="en-US" sz="1400" dirty="0">
              <a:latin typeface="fkGroteskNeue"/>
            </a:endParaRPr>
          </a:p>
          <a:p>
            <a:r>
              <a:rPr lang="en-US" sz="1400" dirty="0">
                <a:latin typeface="fkGroteskNeue"/>
                <a:cs typeface="Calibri" panose="020F0502020204030204" pitchFamily="34" charset="0"/>
              </a:rPr>
              <a:t>Or create a DIY construction - </a:t>
            </a:r>
            <a:r>
              <a:rPr lang="en-US" sz="1400" dirty="0">
                <a:latin typeface="Calibri" panose="020F0502020204030204" pitchFamily="34" charset="0"/>
                <a:cs typeface="Calibri" panose="020F0502020204030204" pitchFamily="34" charset="0"/>
              </a:rPr>
              <a:t>a light rectangular frame made of PVC tubes hanging above tractor, then hang tarp walls around the tractor (and put tarp on top)</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Then push the hot air from a portable heater (with thermostat and overheat protection). </a:t>
            </a:r>
            <a:br>
              <a:rPr lang="en-US" sz="1400" dirty="0">
                <a:latin typeface="Calibri" panose="020F0502020204030204" pitchFamily="34" charset="0"/>
                <a:cs typeface="Calibri" panose="020F0502020204030204" pitchFamily="34" charset="0"/>
              </a:rPr>
            </a:br>
            <a:r>
              <a:rPr lang="en-US" sz="1400" dirty="0">
                <a:latin typeface="Calibri" panose="020F0502020204030204" pitchFamily="34" charset="0"/>
                <a:cs typeface="Calibri" panose="020F0502020204030204" pitchFamily="34" charset="0"/>
              </a:rPr>
              <a:t>For example:</a:t>
            </a:r>
          </a:p>
          <a:p>
            <a:pPr marL="285750" indent="-285750">
              <a:buFont typeface="Arial" panose="020B0604020202020204" pitchFamily="34" charset="0"/>
              <a:buChar char="•"/>
            </a:pPr>
            <a:r>
              <a:rPr lang="en-US" sz="1400" dirty="0">
                <a:latin typeface="Calibri" panose="020F0502020204030204" pitchFamily="34" charset="0"/>
                <a:cs typeface="Calibri" panose="020F0502020204030204" pitchFamily="34" charset="0"/>
              </a:rPr>
              <a:t>King Electric PSH1215T Portable Utility Heater</a:t>
            </a:r>
          </a:p>
          <a:p>
            <a:pPr marL="285750" indent="-285750">
              <a:buFont typeface="Arial" panose="020B0604020202020204" pitchFamily="34" charset="0"/>
              <a:buChar char="•"/>
            </a:pPr>
            <a:r>
              <a:rPr lang="en-US" sz="1400" dirty="0" err="1">
                <a:latin typeface="Calibri" panose="020F0502020204030204" pitchFamily="34" charset="0"/>
                <a:cs typeface="Calibri" panose="020F0502020204030204" pitchFamily="34" charset="0"/>
              </a:rPr>
              <a:t>QMark</a:t>
            </a:r>
            <a:r>
              <a:rPr lang="en-US" sz="1400" dirty="0">
                <a:latin typeface="Calibri" panose="020F0502020204030204" pitchFamily="34" charset="0"/>
                <a:cs typeface="Calibri" panose="020F0502020204030204" pitchFamily="34" charset="0"/>
              </a:rPr>
              <a:t> Portable Utility Heater (MMHD)</a:t>
            </a:r>
          </a:p>
          <a:p>
            <a:pPr marL="285750" indent="-285750">
              <a:buFont typeface="Arial" panose="020B0604020202020204" pitchFamily="34" charset="0"/>
              <a:buChar char="•"/>
            </a:pPr>
            <a:r>
              <a:rPr lang="en-US" sz="1400" dirty="0">
                <a:latin typeface="Calibri" panose="020F0502020204030204" pitchFamily="34" charset="0"/>
                <a:cs typeface="Calibri" panose="020F0502020204030204" pitchFamily="34" charset="0"/>
              </a:rPr>
              <a:t>Lasko Ceramic Heater 754200 </a:t>
            </a:r>
          </a:p>
        </p:txBody>
      </p:sp>
      <p:pic>
        <p:nvPicPr>
          <p:cNvPr id="5" name="Picture 2" descr="KING PSH1215T Yellow Jacket Portable Shop Heater w/Thermostat, 1500W / 120V">
            <a:extLst>
              <a:ext uri="{FF2B5EF4-FFF2-40B4-BE49-F238E27FC236}">
                <a16:creationId xmlns:a16="http://schemas.microsoft.com/office/drawing/2014/main" id="{2EC226A0-6508-B8B4-B1D7-FDE48D14CD32}"/>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5130250" y="4448905"/>
            <a:ext cx="2549433" cy="207938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descr="Lasko Desktop Electric Ceramic Space Heater with Adjustable Thermostat, 2 Heat Settings and Fan Only Mode, 9.2 Inches, Sil...">
            <a:extLst>
              <a:ext uri="{FF2B5EF4-FFF2-40B4-BE49-F238E27FC236}">
                <a16:creationId xmlns:a16="http://schemas.microsoft.com/office/drawing/2014/main" id="{A4263724-4240-44D1-7A01-FFFDE1F5FEC4}"/>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0929662" y="4767015"/>
            <a:ext cx="1019726" cy="1348398"/>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Qmark MMHD1502T Deluxe Portable Fan Forced Utility Heater - MMHD White Baked Enamel">
            <a:extLst>
              <a:ext uri="{FF2B5EF4-FFF2-40B4-BE49-F238E27FC236}">
                <a16:creationId xmlns:a16="http://schemas.microsoft.com/office/drawing/2014/main" id="{EDF126DC-0177-B29A-43F9-D00DA4530583}"/>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8539476" y="4091840"/>
            <a:ext cx="1530393" cy="243644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2ED18D4B-5A66-5B97-2FB0-14C530943461}"/>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5586433" y="1230430"/>
            <a:ext cx="2442235" cy="241835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1F7F18C9-9C3A-AA1E-E455-724E4B9236E6}"/>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a:stretch>
            <a:fillRect/>
          </a:stretch>
        </p:blipFill>
        <p:spPr bwMode="auto">
          <a:xfrm>
            <a:off x="9507821" y="2417070"/>
            <a:ext cx="2086789" cy="101193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6" descr="10x10 X7 Tectonic Canopy - Ultra ...">
            <a:extLst>
              <a:ext uri="{FF2B5EF4-FFF2-40B4-BE49-F238E27FC236}">
                <a16:creationId xmlns:a16="http://schemas.microsoft.com/office/drawing/2014/main" id="{DC224871-106B-ED19-DEC9-83EC4D14455D}"/>
              </a:ext>
            </a:extLst>
          </p:cNvPr>
          <p:cNvPicPr>
            <a:picLocks noChangeAspect="1" noChangeArrowheads="1"/>
          </p:cNvPicPr>
          <p:nvPr/>
        </p:nvPicPr>
        <p:blipFill rotWithShape="1">
          <a:blip r:embed="rId7" cstate="email">
            <a:extLst>
              <a:ext uri="{28A0092B-C50C-407E-A947-70E740481C1C}">
                <a14:useLocalDpi xmlns:a14="http://schemas.microsoft.com/office/drawing/2010/main"/>
              </a:ext>
            </a:extLst>
          </a:blip>
          <a:srcRect/>
          <a:stretch>
            <a:fillRect/>
          </a:stretch>
        </p:blipFill>
        <p:spPr bwMode="auto">
          <a:xfrm>
            <a:off x="9176259" y="329714"/>
            <a:ext cx="2418351" cy="19343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96449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6B695-A4C0-BC53-15EF-81548A04F13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5F44891-376B-DAA0-385F-BE3EBBF84680}"/>
              </a:ext>
            </a:extLst>
          </p:cNvPr>
          <p:cNvSpPr txBox="1"/>
          <p:nvPr/>
        </p:nvSpPr>
        <p:spPr>
          <a:xfrm>
            <a:off x="-1" y="0"/>
            <a:ext cx="4431253" cy="523220"/>
          </a:xfrm>
          <a:prstGeom prst="rect">
            <a:avLst/>
          </a:prstGeom>
          <a:noFill/>
        </p:spPr>
        <p:txBody>
          <a:bodyPr wrap="square" rtlCol="0">
            <a:spAutoFit/>
          </a:bodyPr>
          <a:lstStyle/>
          <a:p>
            <a:r>
              <a:rPr lang="en-US" sz="2800" b="1" dirty="0"/>
              <a:t>Dual Tires (</a:t>
            </a:r>
            <a:r>
              <a:rPr lang="en-US" sz="2800" b="1" dirty="0" err="1"/>
              <a:t>Dualies</a:t>
            </a:r>
            <a:r>
              <a:rPr lang="en-US" sz="2800" b="1" dirty="0"/>
              <a:t>)</a:t>
            </a:r>
          </a:p>
        </p:txBody>
      </p:sp>
      <p:sp>
        <p:nvSpPr>
          <p:cNvPr id="8" name="TextBox 7">
            <a:extLst>
              <a:ext uri="{FF2B5EF4-FFF2-40B4-BE49-F238E27FC236}">
                <a16:creationId xmlns:a16="http://schemas.microsoft.com/office/drawing/2014/main" id="{E5EAD597-53B0-1A66-BAB2-6EA6A21F38F7}"/>
              </a:ext>
            </a:extLst>
          </p:cNvPr>
          <p:cNvSpPr txBox="1"/>
          <p:nvPr/>
        </p:nvSpPr>
        <p:spPr>
          <a:xfrm>
            <a:off x="164052" y="807468"/>
            <a:ext cx="5506736" cy="3754874"/>
          </a:xfrm>
          <a:prstGeom prst="rect">
            <a:avLst/>
          </a:prstGeom>
          <a:noFill/>
        </p:spPr>
        <p:txBody>
          <a:bodyPr wrap="square" rtlCol="0">
            <a:spAutoFit/>
          </a:bodyPr>
          <a:lstStyle/>
          <a:p>
            <a:r>
              <a:rPr lang="en-US" sz="1400" dirty="0"/>
              <a:t>Can potentially help in muddy conditions</a:t>
            </a:r>
          </a:p>
          <a:p>
            <a:pPr marL="285750" indent="-285750">
              <a:buFont typeface="Arial" panose="020B0604020202020204" pitchFamily="34" charset="0"/>
              <a:buChar char="•"/>
            </a:pPr>
            <a:r>
              <a:rPr lang="en-US" sz="1400" dirty="0"/>
              <a:t>Distribute the weight over a larger surface area, which can reduce ground pressure, thus preventing the tractor from sinking into soft or muddy ground</a:t>
            </a:r>
          </a:p>
          <a:p>
            <a:pPr marL="285750" indent="-285750">
              <a:buFont typeface="Arial" panose="020B0604020202020204" pitchFamily="34" charset="0"/>
              <a:buChar char="•"/>
            </a:pPr>
            <a:r>
              <a:rPr lang="en-US" sz="1400" dirty="0"/>
              <a:t>Increase traction since there are now twice the number of lugs (the raised patterns on a tire) making contact with the ground. </a:t>
            </a:r>
          </a:p>
          <a:p>
            <a:endParaRPr lang="en-US" sz="1400" dirty="0"/>
          </a:p>
          <a:p>
            <a:r>
              <a:rPr lang="en-US" sz="1400" dirty="0"/>
              <a:t>Downsides:</a:t>
            </a:r>
          </a:p>
          <a:p>
            <a:pPr marL="285750" indent="-285750">
              <a:buFont typeface="Arial" panose="020B0604020202020204" pitchFamily="34" charset="0"/>
              <a:buChar char="•"/>
            </a:pPr>
            <a:r>
              <a:rPr lang="en-US" sz="1400" dirty="0"/>
              <a:t>Added Weight</a:t>
            </a:r>
          </a:p>
          <a:p>
            <a:pPr marL="285750" indent="-285750">
              <a:buFont typeface="Arial" panose="020B0604020202020204" pitchFamily="34" charset="0"/>
              <a:buChar char="•"/>
            </a:pPr>
            <a:r>
              <a:rPr lang="en-US" sz="1400" dirty="0"/>
              <a:t>Turning Resistance</a:t>
            </a:r>
          </a:p>
          <a:p>
            <a:pPr marL="285750" indent="-285750">
              <a:buFont typeface="Arial" panose="020B0604020202020204" pitchFamily="34" charset="0"/>
              <a:buChar char="•"/>
            </a:pPr>
            <a:r>
              <a:rPr lang="en-US" sz="1400" dirty="0"/>
              <a:t>Cost and Installation</a:t>
            </a:r>
          </a:p>
          <a:p>
            <a:pPr marL="285750" indent="-285750">
              <a:buFont typeface="Arial" panose="020B0604020202020204" pitchFamily="34" charset="0"/>
              <a:buChar char="•"/>
            </a:pPr>
            <a:r>
              <a:rPr lang="en-US" sz="1400" dirty="0"/>
              <a:t>Wider Profile (harder to navigate)</a:t>
            </a:r>
          </a:p>
          <a:p>
            <a:pPr marL="285750" indent="-285750">
              <a:buFont typeface="Arial" panose="020B0604020202020204" pitchFamily="34" charset="0"/>
              <a:buChar char="•"/>
            </a:pPr>
            <a:r>
              <a:rPr lang="en-US" sz="1400" dirty="0"/>
              <a:t>Soil Compaction</a:t>
            </a:r>
          </a:p>
          <a:p>
            <a:pPr marL="285750" indent="-285750">
              <a:buFont typeface="Arial" panose="020B0604020202020204" pitchFamily="34" charset="0"/>
              <a:buChar char="•"/>
            </a:pPr>
            <a:endParaRPr lang="en-US" sz="1400" dirty="0"/>
          </a:p>
          <a:p>
            <a:r>
              <a:rPr lang="en-US" sz="1400" dirty="0"/>
              <a:t>Other solutions to consider: </a:t>
            </a:r>
          </a:p>
          <a:p>
            <a:pPr marL="285750" indent="-285750">
              <a:buFont typeface="Arial" panose="020B0604020202020204" pitchFamily="34" charset="0"/>
              <a:buChar char="•"/>
            </a:pPr>
            <a:r>
              <a:rPr lang="en-US" sz="1400" dirty="0"/>
              <a:t>tire chains</a:t>
            </a:r>
          </a:p>
          <a:p>
            <a:pPr marL="285750" indent="-285750">
              <a:buFont typeface="Arial" panose="020B0604020202020204" pitchFamily="34" charset="0"/>
              <a:buChar char="•"/>
            </a:pPr>
            <a:r>
              <a:rPr lang="en-US" sz="1400" dirty="0"/>
              <a:t>wider single tires</a:t>
            </a:r>
          </a:p>
        </p:txBody>
      </p:sp>
      <p:pic>
        <p:nvPicPr>
          <p:cNvPr id="1026" name="Picture 2" descr="How to Put Duals On a Mower - A Better Way">
            <a:extLst>
              <a:ext uri="{FF2B5EF4-FFF2-40B4-BE49-F238E27FC236}">
                <a16:creationId xmlns:a16="http://schemas.microsoft.com/office/drawing/2014/main" id="{71D526FD-5301-0D68-CD3C-BFABB30F8E12}"/>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7760748" y="228600"/>
            <a:ext cx="4267200" cy="320040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A27FBF3-5F1A-3128-93B1-65E9E5627FFA}"/>
              </a:ext>
            </a:extLst>
          </p:cNvPr>
          <p:cNvSpPr txBox="1"/>
          <p:nvPr/>
        </p:nvSpPr>
        <p:spPr>
          <a:xfrm>
            <a:off x="3048000" y="76944"/>
            <a:ext cx="3810000" cy="307777"/>
          </a:xfrm>
          <a:prstGeom prst="rect">
            <a:avLst/>
          </a:prstGeom>
          <a:noFill/>
        </p:spPr>
        <p:txBody>
          <a:bodyPr wrap="square" rtlCol="0">
            <a:spAutoFit/>
          </a:bodyPr>
          <a:lstStyle/>
          <a:p>
            <a:r>
              <a:rPr lang="en-US" sz="1400" dirty="0">
                <a:hlinkClick r:id="rId3"/>
              </a:rPr>
              <a:t>https://</a:t>
            </a:r>
            <a:r>
              <a:rPr lang="en-US" sz="1400" dirty="0" err="1">
                <a:hlinkClick r:id="rId3"/>
              </a:rPr>
              <a:t>www.youtube.com</a:t>
            </a:r>
            <a:r>
              <a:rPr lang="en-US" sz="1400" dirty="0">
                <a:hlinkClick r:id="rId3"/>
              </a:rPr>
              <a:t>/</a:t>
            </a:r>
            <a:r>
              <a:rPr lang="en-US" sz="1400" dirty="0" err="1">
                <a:hlinkClick r:id="rId3"/>
              </a:rPr>
              <a:t>watch?v</a:t>
            </a:r>
            <a:r>
              <a:rPr lang="en-US" sz="1400" dirty="0">
                <a:hlinkClick r:id="rId3"/>
              </a:rPr>
              <a:t>=</a:t>
            </a:r>
            <a:r>
              <a:rPr lang="en-US" sz="1400" dirty="0" err="1">
                <a:hlinkClick r:id="rId3"/>
              </a:rPr>
              <a:t>oDdR</a:t>
            </a:r>
            <a:r>
              <a:rPr lang="en-US" sz="1400" dirty="0">
                <a:hlinkClick r:id="rId3"/>
              </a:rPr>
              <a:t>-KLIF-Q</a:t>
            </a:r>
            <a:endParaRPr lang="en-US" sz="1400" dirty="0"/>
          </a:p>
        </p:txBody>
      </p:sp>
      <p:pic>
        <p:nvPicPr>
          <p:cNvPr id="1028" name="Picture 4" descr="DUAL TIRES ON A 1025r? Carlisle Versa Turfs + Found A STEAL! - YouTube">
            <a:extLst>
              <a:ext uri="{FF2B5EF4-FFF2-40B4-BE49-F238E27FC236}">
                <a16:creationId xmlns:a16="http://schemas.microsoft.com/office/drawing/2014/main" id="{EDAA7AC9-D55C-2BE4-8784-E24DB49BAEE4}"/>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7760748" y="3594652"/>
            <a:ext cx="3810000" cy="2133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99079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5585791" cy="523220"/>
          </a:xfrm>
          <a:prstGeom prst="rect">
            <a:avLst/>
          </a:prstGeom>
          <a:noFill/>
        </p:spPr>
        <p:txBody>
          <a:bodyPr wrap="square" rtlCol="0">
            <a:spAutoFit/>
          </a:bodyPr>
          <a:lstStyle/>
          <a:p>
            <a:r>
              <a:rPr lang="en-US" sz="2800" b="1" dirty="0"/>
              <a:t>Other tractors with PTO $30-$50K</a:t>
            </a:r>
          </a:p>
        </p:txBody>
      </p:sp>
      <p:sp>
        <p:nvSpPr>
          <p:cNvPr id="3" name="TextBox 2">
            <a:extLst>
              <a:ext uri="{FF2B5EF4-FFF2-40B4-BE49-F238E27FC236}">
                <a16:creationId xmlns:a16="http://schemas.microsoft.com/office/drawing/2014/main" id="{6E16EF48-8881-49F2-8460-25D7441E2332}"/>
              </a:ext>
            </a:extLst>
          </p:cNvPr>
          <p:cNvSpPr txBox="1"/>
          <p:nvPr/>
        </p:nvSpPr>
        <p:spPr>
          <a:xfrm>
            <a:off x="0" y="489392"/>
            <a:ext cx="4593021" cy="276999"/>
          </a:xfrm>
          <a:prstGeom prst="rect">
            <a:avLst/>
          </a:prstGeom>
          <a:noFill/>
        </p:spPr>
        <p:txBody>
          <a:bodyPr wrap="square" rtlCol="0">
            <a:spAutoFit/>
          </a:bodyPr>
          <a:lstStyle/>
          <a:p>
            <a:r>
              <a:rPr lang="en-US" sz="1200">
                <a:hlinkClick r:id="rId2"/>
              </a:rPr>
              <a:t>https://www.tractor.com/news/5-of-the-best-compact-tractor-choices/</a:t>
            </a:r>
            <a:endParaRPr lang="en-US" sz="1200"/>
          </a:p>
        </p:txBody>
      </p:sp>
      <p:pic>
        <p:nvPicPr>
          <p:cNvPr id="4" name="Picture 3">
            <a:extLst>
              <a:ext uri="{FF2B5EF4-FFF2-40B4-BE49-F238E27FC236}">
                <a16:creationId xmlns:a16="http://schemas.microsoft.com/office/drawing/2014/main" id="{E417BA77-09D9-7E27-801F-69193D91F8DA}"/>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200379" y="1138958"/>
            <a:ext cx="2388860" cy="1934779"/>
          </a:xfrm>
          <a:prstGeom prst="rect">
            <a:avLst/>
          </a:prstGeom>
        </p:spPr>
      </p:pic>
      <p:pic>
        <p:nvPicPr>
          <p:cNvPr id="5" name="Picture 4">
            <a:extLst>
              <a:ext uri="{FF2B5EF4-FFF2-40B4-BE49-F238E27FC236}">
                <a16:creationId xmlns:a16="http://schemas.microsoft.com/office/drawing/2014/main" id="{49F5BA98-0D48-BA24-1215-B23D6670903D}"/>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2990285" y="1138958"/>
            <a:ext cx="2852152" cy="1882228"/>
          </a:xfrm>
          <a:prstGeom prst="rect">
            <a:avLst/>
          </a:prstGeom>
        </p:spPr>
      </p:pic>
      <p:pic>
        <p:nvPicPr>
          <p:cNvPr id="6" name="Picture 5">
            <a:extLst>
              <a:ext uri="{FF2B5EF4-FFF2-40B4-BE49-F238E27FC236}">
                <a16:creationId xmlns:a16="http://schemas.microsoft.com/office/drawing/2014/main" id="{9D2348EF-00F3-4732-6868-29433FD1B928}"/>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381756" y="1012612"/>
            <a:ext cx="2424597" cy="1934779"/>
          </a:xfrm>
          <a:prstGeom prst="rect">
            <a:avLst/>
          </a:prstGeom>
        </p:spPr>
      </p:pic>
      <p:sp>
        <p:nvSpPr>
          <p:cNvPr id="7" name="TextBox 6">
            <a:extLst>
              <a:ext uri="{FF2B5EF4-FFF2-40B4-BE49-F238E27FC236}">
                <a16:creationId xmlns:a16="http://schemas.microsoft.com/office/drawing/2014/main" id="{A7E3F881-7D00-286B-91EB-07CF4CF08B35}"/>
              </a:ext>
            </a:extLst>
          </p:cNvPr>
          <p:cNvSpPr txBox="1"/>
          <p:nvPr/>
        </p:nvSpPr>
        <p:spPr>
          <a:xfrm>
            <a:off x="493986" y="3594538"/>
            <a:ext cx="4561490" cy="369332"/>
          </a:xfrm>
          <a:prstGeom prst="rect">
            <a:avLst/>
          </a:prstGeom>
          <a:noFill/>
        </p:spPr>
        <p:txBody>
          <a:bodyPr wrap="square" rtlCol="0">
            <a:spAutoFit/>
          </a:bodyPr>
          <a:lstStyle/>
          <a:p>
            <a:r>
              <a:rPr lang="en-US" dirty="0"/>
              <a:t>Power Take-Off (PTO) </a:t>
            </a:r>
          </a:p>
        </p:txBody>
      </p:sp>
      <p:sp>
        <p:nvSpPr>
          <p:cNvPr id="8" name="TextBox 7">
            <a:extLst>
              <a:ext uri="{FF2B5EF4-FFF2-40B4-BE49-F238E27FC236}">
                <a16:creationId xmlns:a16="http://schemas.microsoft.com/office/drawing/2014/main" id="{0F7E2A2F-96C1-620D-A026-7F6ED7EBDE57}"/>
              </a:ext>
            </a:extLst>
          </p:cNvPr>
          <p:cNvSpPr txBox="1"/>
          <p:nvPr/>
        </p:nvSpPr>
        <p:spPr>
          <a:xfrm>
            <a:off x="336331" y="4067503"/>
            <a:ext cx="4256690" cy="738664"/>
          </a:xfrm>
          <a:prstGeom prst="rect">
            <a:avLst/>
          </a:prstGeom>
          <a:noFill/>
        </p:spPr>
        <p:txBody>
          <a:bodyPr wrap="square" rtlCol="0">
            <a:spAutoFit/>
          </a:bodyPr>
          <a:lstStyle/>
          <a:p>
            <a:r>
              <a:rPr lang="en-US" sz="1400" dirty="0"/>
              <a:t>The tractor's </a:t>
            </a:r>
            <a:r>
              <a:rPr lang="en-US" sz="1400" b="1" dirty="0">
                <a:solidFill>
                  <a:srgbClr val="FF0000"/>
                </a:solidFill>
              </a:rPr>
              <a:t>stub shaft</a:t>
            </a:r>
            <a:r>
              <a:rPr lang="en-US" sz="1400" dirty="0"/>
              <a:t>, often called the </a:t>
            </a:r>
            <a:r>
              <a:rPr lang="en-US" sz="1400" b="1" dirty="0">
                <a:solidFill>
                  <a:srgbClr val="FF0000"/>
                </a:solidFill>
              </a:rPr>
              <a:t>PTO</a:t>
            </a:r>
            <a:r>
              <a:rPr lang="en-US" sz="1400" dirty="0"/>
              <a:t>, </a:t>
            </a:r>
          </a:p>
          <a:p>
            <a:r>
              <a:rPr lang="en-US" sz="1400" dirty="0"/>
              <a:t>rotates at 540 or 1000 rpm (9..17 times/sec) </a:t>
            </a:r>
          </a:p>
          <a:p>
            <a:r>
              <a:rPr lang="en-US" sz="1400" dirty="0"/>
              <a:t>and used to transfer power to external </a:t>
            </a:r>
            <a:r>
              <a:rPr lang="en-US" sz="1400"/>
              <a:t>attachments.</a:t>
            </a:r>
            <a:endParaRPr lang="en-US" sz="1400" dirty="0"/>
          </a:p>
        </p:txBody>
      </p:sp>
    </p:spTree>
    <p:extLst>
      <p:ext uri="{BB962C8B-B14F-4D97-AF65-F5344CB8AC3E}">
        <p14:creationId xmlns:p14="http://schemas.microsoft.com/office/powerpoint/2010/main" val="3874861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1188</TotalTime>
  <Words>1430</Words>
  <Application>Microsoft Macintosh PowerPoint</Application>
  <PresentationFormat>Widescreen</PresentationFormat>
  <Paragraphs>130</Paragraphs>
  <Slides>8</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vt:i4>
      </vt:variant>
    </vt:vector>
  </HeadingPairs>
  <TitlesOfParts>
    <vt:vector size="15" baseType="lpstr">
      <vt:lpstr>Arial</vt:lpstr>
      <vt:lpstr>Calibri</vt:lpstr>
      <vt:lpstr>Calibri Light</vt:lpstr>
      <vt:lpstr>Courier New</vt:lpstr>
      <vt:lpstr>fkGroteskNeue</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 Selector</dc:creator>
  <cp:lastModifiedBy>Lev Selector</cp:lastModifiedBy>
  <cp:revision>96</cp:revision>
  <dcterms:created xsi:type="dcterms:W3CDTF">2022-05-02T00:38:22Z</dcterms:created>
  <dcterms:modified xsi:type="dcterms:W3CDTF">2026-01-24T22:08:08Z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f518368-b969-4042-91d9-8939bd921da2_Enabled">
    <vt:lpwstr>true</vt:lpwstr>
  </property>
  <property fmtid="{D5CDD505-2E9C-101B-9397-08002B2CF9AE}" pid="3" name="MSIP_Label_4f518368-b969-4042-91d9-8939bd921da2_SetDate">
    <vt:lpwstr>2022-05-02T00:38:23Z</vt:lpwstr>
  </property>
  <property fmtid="{D5CDD505-2E9C-101B-9397-08002B2CF9AE}" pid="4" name="MSIP_Label_4f518368-b969-4042-91d9-8939bd921da2_Method">
    <vt:lpwstr>Standard</vt:lpwstr>
  </property>
  <property fmtid="{D5CDD505-2E9C-101B-9397-08002B2CF9AE}" pid="5" name="MSIP_Label_4f518368-b969-4042-91d9-8939bd921da2_Name">
    <vt:lpwstr>General</vt:lpwstr>
  </property>
  <property fmtid="{D5CDD505-2E9C-101B-9397-08002B2CF9AE}" pid="6" name="MSIP_Label_4f518368-b969-4042-91d9-8939bd921da2_SiteId">
    <vt:lpwstr>116e9905-19fc-428e-93d4-bcaffb833597</vt:lpwstr>
  </property>
  <property fmtid="{D5CDD505-2E9C-101B-9397-08002B2CF9AE}" pid="7" name="MSIP_Label_4f518368-b969-4042-91d9-8939bd921da2_ActionId">
    <vt:lpwstr>24169d7b-7067-4cc0-93f0-4d109a136a7c</vt:lpwstr>
  </property>
  <property fmtid="{D5CDD505-2E9C-101B-9397-08002B2CF9AE}" pid="8" name="MSIP_Label_4f518368-b969-4042-91d9-8939bd921da2_ContentBits">
    <vt:lpwstr>0</vt:lpwstr>
  </property>
</Properties>
</file>