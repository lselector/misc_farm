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6" r:id="rId5"/>
    <p:sldId id="270" r:id="rId6"/>
    <p:sldId id="269" r:id="rId7"/>
    <p:sldId id="261" r:id="rId8"/>
    <p:sldId id="268" r:id="rId9"/>
    <p:sldId id="267" r:id="rId10"/>
    <p:sldId id="271" r:id="rId11"/>
    <p:sldId id="265" r:id="rId12"/>
    <p:sldId id="272" r:id="rId13"/>
    <p:sldId id="263"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0275"/>
    <p:restoredTop sz="92808"/>
  </p:normalViewPr>
  <p:slideViewPr>
    <p:cSldViewPr snapToGrid="0" snapToObjects="1">
      <p:cViewPr varScale="1">
        <p:scale>
          <a:sx n="88" d="100"/>
          <a:sy n="88" d="100"/>
        </p:scale>
        <p:origin x="6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6/8/26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6/8/26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6/8/26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6/8/26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6/8/26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6/8/26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6/8/26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6/8/26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6/8/26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6/8/26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6/8/26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6/8/26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 Id="rId6" Type="http://schemas.openxmlformats.org/officeDocument/2006/relationships/hyperlink" Target="https://www.littlebuckloader.com/shop/p/little-bull-loader-front-end-loader-john-deere" TargetMode="External"/><Relationship Id="rId5" Type="http://schemas.openxmlformats.org/officeDocument/2006/relationships/image" Target="../media/image18.jpeg"/><Relationship Id="rId4" Type="http://schemas.openxmlformats.org/officeDocument/2006/relationships/image" Target="../media/image17.jpeg"/></Relationships>
</file>

<file path=ppt/slides/_rels/slide6.xml.rels><?xml version="1.0" encoding="UTF-8" standalone="yes"?>
<Relationships xmlns="http://schemas.openxmlformats.org/package/2006/relationships"><Relationship Id="rId2" Type="http://schemas.openxmlformats.org/officeDocument/2006/relationships/hyperlink" Target="https://www.youtube.com/watch?v=5bkI9KLGFZ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image" Target="../media/image19.jpe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23.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22.jpeg"/><Relationship Id="rId5" Type="http://schemas.openxmlformats.org/officeDocument/2006/relationships/image" Target="../media/image21.gif"/><Relationship Id="rId4" Type="http://schemas.openxmlformats.org/officeDocument/2006/relationships/hyperlink" Target="https://keenovo.store/products/keenovo-silicone-heating-pad-wvo-svo-fuel-filter-diesel-heater-nos-bottle-heater"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29.jpeg"/><Relationship Id="rId2" Type="http://schemas.openxmlformats.org/officeDocument/2006/relationships/image" Target="../media/image24.jpeg"/><Relationship Id="rId1" Type="http://schemas.openxmlformats.org/officeDocument/2006/relationships/slideLayout" Target="../slideLayouts/slideLayout7.xml"/><Relationship Id="rId6" Type="http://schemas.openxmlformats.org/officeDocument/2006/relationships/image" Target="../media/image28.jpeg"/><Relationship Id="rId5" Type="http://schemas.openxmlformats.org/officeDocument/2006/relationships/image" Target="../media/image27.jpeg"/><Relationship Id="rId4" Type="http://schemas.openxmlformats.org/officeDocument/2006/relationships/image" Target="../media/image26.jpeg"/></Relationships>
</file>

<file path=ppt/slides/_rels/slide1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hyperlink" Target="https://www.facebook.com/groups/781254733349946/posts/803478744460878/" TargetMode="External"/><Relationship Id="rId1" Type="http://schemas.openxmlformats.org/officeDocument/2006/relationships/slideLayout" Target="../slideLayouts/slideLayout7.xml"/><Relationship Id="rId5" Type="http://schemas.openxmlformats.org/officeDocument/2006/relationships/image" Target="../media/image32.png"/><Relationship Id="rId4" Type="http://schemas.openxmlformats.org/officeDocument/2006/relationships/image" Target="../media/image31.png"/></Relationships>
</file>

<file path=ppt/slides/_rels/slide11.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33.jpeg"/><Relationship Id="rId1" Type="http://schemas.openxmlformats.org/officeDocument/2006/relationships/slideLayout" Target="../slideLayouts/slideLayout7.xml"/><Relationship Id="rId4" Type="http://schemas.openxmlformats.org/officeDocument/2006/relationships/image" Target="../media/image34.jpeg"/></Relationships>
</file>

<file path=ppt/slides/_rels/slide12.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35.jpe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39.png"/><Relationship Id="rId4"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657850" y="261610"/>
            <a:ext cx="5464920" cy="4374185"/>
          </a:xfrm>
          <a:prstGeom prst="rect">
            <a:avLst/>
          </a:prstGeom>
          <a:ln>
            <a:solidFill>
              <a:srgbClr val="FF0000"/>
            </a:solidFill>
          </a:ln>
        </p:spPr>
      </p:pic>
      <p:sp>
        <p:nvSpPr>
          <p:cNvPr id="3" name="TextBox 2">
            <a:extLst>
              <a:ext uri="{FF2B5EF4-FFF2-40B4-BE49-F238E27FC236}">
                <a16:creationId xmlns:a16="http://schemas.microsoft.com/office/drawing/2014/main" id="{615BF802-DEE9-AC91-C7F2-89B574D2C872}"/>
              </a:ext>
            </a:extLst>
          </p:cNvPr>
          <p:cNvSpPr txBox="1"/>
          <p:nvPr/>
        </p:nvSpPr>
        <p:spPr>
          <a:xfrm>
            <a:off x="7010402" y="4897405"/>
            <a:ext cx="5181598" cy="954107"/>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Note: It is possible to install the a CAT‑1 style hitch kit at the back. This will give ability to attach standard 3-point attachments, like a compact 3‑point log splitter powered by tractor’s hydraulics</a:t>
            </a:r>
          </a:p>
        </p:txBody>
      </p:sp>
    </p:spTree>
    <p:extLst>
      <p:ext uri="{BB962C8B-B14F-4D97-AF65-F5344CB8AC3E}">
        <p14:creationId xmlns:p14="http://schemas.microsoft.com/office/powerpoint/2010/main" val="1825921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Little Buck Loader vs Little Bull Loader</a:t>
            </a:r>
          </a:p>
        </p:txBody>
      </p:sp>
      <p:pic>
        <p:nvPicPr>
          <p:cNvPr id="1026" name="Picture 2">
            <a:extLst>
              <a:ext uri="{FF2B5EF4-FFF2-40B4-BE49-F238E27FC236}">
                <a16:creationId xmlns:a16="http://schemas.microsoft.com/office/drawing/2014/main" id="{F73B192E-1F8A-5529-D2EE-6E2B28005294}"/>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a:fillRect/>
          </a:stretch>
        </p:blipFill>
        <p:spPr bwMode="auto">
          <a:xfrm>
            <a:off x="124176" y="643467"/>
            <a:ext cx="4413957" cy="239054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5A06A8B9-07AC-29E1-2271-356BE96EACF2}"/>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a:fillRect/>
          </a:stretch>
        </p:blipFill>
        <p:spPr bwMode="auto">
          <a:xfrm>
            <a:off x="124176" y="3154259"/>
            <a:ext cx="2726267" cy="250925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0" name="Picture 6" descr="Little Buck Loader Blog">
            <a:extLst>
              <a:ext uri="{FF2B5EF4-FFF2-40B4-BE49-F238E27FC236}">
                <a16:creationId xmlns:a16="http://schemas.microsoft.com/office/drawing/2014/main" id="{83F15B0B-B9BB-7D96-B32C-A6672662FC66}"/>
              </a:ext>
            </a:extLst>
          </p:cNvPr>
          <p:cNvPicPr>
            <a:picLocks noChangeAspect="1" noChangeArrowheads="1"/>
          </p:cNvPicPr>
          <p:nvPr/>
        </p:nvPicPr>
        <p:blipFill rotWithShape="1">
          <a:blip r:embed="rId4" cstate="email">
            <a:extLst>
              <a:ext uri="{28A0092B-C50C-407E-A947-70E740481C1C}">
                <a14:useLocalDpi xmlns:a14="http://schemas.microsoft.com/office/drawing/2010/main"/>
              </a:ext>
            </a:extLst>
          </a:blip>
          <a:srcRect/>
          <a:stretch>
            <a:fillRect/>
          </a:stretch>
        </p:blipFill>
        <p:spPr bwMode="auto">
          <a:xfrm>
            <a:off x="8043333" y="118217"/>
            <a:ext cx="4024491" cy="2533938"/>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No photo description available.">
            <a:extLst>
              <a:ext uri="{FF2B5EF4-FFF2-40B4-BE49-F238E27FC236}">
                <a16:creationId xmlns:a16="http://schemas.microsoft.com/office/drawing/2014/main" id="{BB1F295C-5615-0034-FB11-C82424AF61BD}"/>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a:fillRect/>
          </a:stretch>
        </p:blipFill>
        <p:spPr bwMode="auto">
          <a:xfrm>
            <a:off x="8043333" y="2819505"/>
            <a:ext cx="4024491" cy="255272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graphicFrame>
        <p:nvGraphicFramePr>
          <p:cNvPr id="5" name="Table 4">
            <a:extLst>
              <a:ext uri="{FF2B5EF4-FFF2-40B4-BE49-F238E27FC236}">
                <a16:creationId xmlns:a16="http://schemas.microsoft.com/office/drawing/2014/main" id="{5454B3BE-C5B4-2FC7-62AF-60BA291B02C0}"/>
              </a:ext>
            </a:extLst>
          </p:cNvPr>
          <p:cNvGraphicFramePr>
            <a:graphicFrameLocks noGrp="1"/>
          </p:cNvGraphicFramePr>
          <p:nvPr>
            <p:extLst>
              <p:ext uri="{D42A27DB-BD31-4B8C-83A1-F6EECF244321}">
                <p14:modId xmlns:p14="http://schemas.microsoft.com/office/powerpoint/2010/main" val="869364946"/>
              </p:ext>
            </p:extLst>
          </p:nvPr>
        </p:nvGraphicFramePr>
        <p:xfrm>
          <a:off x="3031066" y="4360333"/>
          <a:ext cx="4876801" cy="1295400"/>
        </p:xfrm>
        <a:graphic>
          <a:graphicData uri="http://schemas.openxmlformats.org/drawingml/2006/table">
            <a:tbl>
              <a:tblPr firstRow="1" bandRow="1">
                <a:tableStyleId>{C4B1156A-380E-4F78-BDF5-A606A8083BF9}</a:tableStyleId>
              </a:tblPr>
              <a:tblGrid>
                <a:gridCol w="1904397">
                  <a:extLst>
                    <a:ext uri="{9D8B030D-6E8A-4147-A177-3AD203B41FA5}">
                      <a16:colId xmlns:a16="http://schemas.microsoft.com/office/drawing/2014/main" val="3479330998"/>
                    </a:ext>
                  </a:extLst>
                </a:gridCol>
                <a:gridCol w="1346804">
                  <a:extLst>
                    <a:ext uri="{9D8B030D-6E8A-4147-A177-3AD203B41FA5}">
                      <a16:colId xmlns:a16="http://schemas.microsoft.com/office/drawing/2014/main" val="1162570689"/>
                    </a:ext>
                  </a:extLst>
                </a:gridCol>
                <a:gridCol w="1625600">
                  <a:extLst>
                    <a:ext uri="{9D8B030D-6E8A-4147-A177-3AD203B41FA5}">
                      <a16:colId xmlns:a16="http://schemas.microsoft.com/office/drawing/2014/main" val="2197078146"/>
                    </a:ext>
                  </a:extLst>
                </a:gridCol>
              </a:tblGrid>
              <a:tr h="231987">
                <a:tc>
                  <a:txBody>
                    <a:bodyPr/>
                    <a:lstStyle/>
                    <a:p>
                      <a:endParaRPr lang="en-US" sz="1100"/>
                    </a:p>
                  </a:txBody>
                  <a:tcPr/>
                </a:tc>
                <a:tc>
                  <a:txBody>
                    <a:bodyPr/>
                    <a:lstStyle/>
                    <a:p>
                      <a:r>
                        <a:rPr lang="en-US" sz="1100" dirty="0"/>
                        <a:t>Buck</a:t>
                      </a:r>
                    </a:p>
                  </a:txBody>
                  <a:tcPr/>
                </a:tc>
                <a:tc>
                  <a:txBody>
                    <a:bodyPr/>
                    <a:lstStyle/>
                    <a:p>
                      <a:r>
                        <a:rPr lang="en-US" sz="1100" dirty="0"/>
                        <a:t>Bull</a:t>
                      </a:r>
                    </a:p>
                  </a:txBody>
                  <a:tcPr/>
                </a:tc>
                <a:extLst>
                  <a:ext uri="{0D108BD9-81ED-4DB2-BD59-A6C34878D82A}">
                    <a16:rowId xmlns:a16="http://schemas.microsoft.com/office/drawing/2014/main" val="1208195104"/>
                  </a:ext>
                </a:extLst>
              </a:tr>
              <a:tr h="231987">
                <a:tc>
                  <a:txBody>
                    <a:bodyPr/>
                    <a:lstStyle/>
                    <a:p>
                      <a:r>
                        <a:rPr lang="en-US" sz="1100" dirty="0"/>
                        <a:t>Weight </a:t>
                      </a:r>
                      <a:r>
                        <a:rPr lang="en-US" sz="1100" dirty="0" err="1"/>
                        <a:t>lbs</a:t>
                      </a:r>
                      <a:endParaRPr lang="en-US" sz="1100" dirty="0"/>
                    </a:p>
                  </a:txBody>
                  <a:tcPr/>
                </a:tc>
                <a:tc>
                  <a:txBody>
                    <a:bodyPr/>
                    <a:lstStyle/>
                    <a:p>
                      <a:r>
                        <a:rPr lang="en-US" sz="1100" dirty="0"/>
                        <a:t>200</a:t>
                      </a:r>
                    </a:p>
                  </a:txBody>
                  <a:tcPr/>
                </a:tc>
                <a:tc>
                  <a:txBody>
                    <a:bodyPr/>
                    <a:lstStyle/>
                    <a:p>
                      <a:r>
                        <a:rPr lang="en-US" sz="1100" dirty="0"/>
                        <a:t>300</a:t>
                      </a:r>
                    </a:p>
                  </a:txBody>
                  <a:tcPr/>
                </a:tc>
                <a:extLst>
                  <a:ext uri="{0D108BD9-81ED-4DB2-BD59-A6C34878D82A}">
                    <a16:rowId xmlns:a16="http://schemas.microsoft.com/office/drawing/2014/main" val="763763541"/>
                  </a:ext>
                </a:extLst>
              </a:tr>
              <a:tr h="231987">
                <a:tc>
                  <a:txBody>
                    <a:bodyPr/>
                    <a:lstStyle/>
                    <a:p>
                      <a:r>
                        <a:rPr lang="en-US" sz="1100" dirty="0"/>
                        <a:t>Install time (min)</a:t>
                      </a:r>
                    </a:p>
                  </a:txBody>
                  <a:tcPr/>
                </a:tc>
                <a:tc>
                  <a:txBody>
                    <a:bodyPr/>
                    <a:lstStyle/>
                    <a:p>
                      <a:r>
                        <a:rPr lang="en-US" sz="1100" dirty="0"/>
                        <a:t>2-3</a:t>
                      </a:r>
                    </a:p>
                  </a:txBody>
                  <a:tcPr/>
                </a:tc>
                <a:tc>
                  <a:txBody>
                    <a:bodyPr/>
                    <a:lstStyle/>
                    <a:p>
                      <a:r>
                        <a:rPr lang="en-US" sz="1100" dirty="0"/>
                        <a:t>5-10</a:t>
                      </a:r>
                    </a:p>
                  </a:txBody>
                  <a:tcPr/>
                </a:tc>
                <a:extLst>
                  <a:ext uri="{0D108BD9-81ED-4DB2-BD59-A6C34878D82A}">
                    <a16:rowId xmlns:a16="http://schemas.microsoft.com/office/drawing/2014/main" val="1032192240"/>
                  </a:ext>
                </a:extLst>
              </a:tr>
              <a:tr h="231987">
                <a:tc>
                  <a:txBody>
                    <a:bodyPr/>
                    <a:lstStyle/>
                    <a:p>
                      <a:r>
                        <a:rPr lang="en-US" sz="1100" dirty="0"/>
                        <a:t>Lift weight </a:t>
                      </a:r>
                      <a:r>
                        <a:rPr lang="en-US" sz="1100" dirty="0" err="1"/>
                        <a:t>lbs</a:t>
                      </a:r>
                      <a:endParaRPr lang="en-US" sz="1100" dirty="0"/>
                    </a:p>
                  </a:txBody>
                  <a:tcPr/>
                </a:tc>
                <a:tc>
                  <a:txBody>
                    <a:bodyPr/>
                    <a:lstStyle/>
                    <a:p>
                      <a:r>
                        <a:rPr lang="en-US" sz="1100" dirty="0"/>
                        <a:t>340</a:t>
                      </a:r>
                    </a:p>
                  </a:txBody>
                  <a:tcPr/>
                </a:tc>
                <a:tc>
                  <a:txBody>
                    <a:bodyPr/>
                    <a:lstStyle/>
                    <a:p>
                      <a:r>
                        <a:rPr lang="en-US" sz="1100" dirty="0"/>
                        <a:t>440</a:t>
                      </a:r>
                    </a:p>
                  </a:txBody>
                  <a:tcPr/>
                </a:tc>
                <a:extLst>
                  <a:ext uri="{0D108BD9-81ED-4DB2-BD59-A6C34878D82A}">
                    <a16:rowId xmlns:a16="http://schemas.microsoft.com/office/drawing/2014/main" val="2039114031"/>
                  </a:ext>
                </a:extLst>
              </a:tr>
              <a:tr h="231987">
                <a:tc>
                  <a:txBody>
                    <a:bodyPr/>
                    <a:lstStyle/>
                    <a:p>
                      <a:r>
                        <a:rPr lang="en-US" sz="1100" dirty="0"/>
                        <a:t>Price</a:t>
                      </a:r>
                    </a:p>
                  </a:txBody>
                  <a:tcPr/>
                </a:tc>
                <a:tc>
                  <a:txBody>
                    <a:bodyPr/>
                    <a:lstStyle/>
                    <a:p>
                      <a:r>
                        <a:rPr lang="en-US" sz="1100" dirty="0"/>
                        <a:t>$2,300</a:t>
                      </a:r>
                    </a:p>
                  </a:txBody>
                  <a:tcPr/>
                </a:tc>
                <a:tc>
                  <a:txBody>
                    <a:bodyPr/>
                    <a:lstStyle/>
                    <a:p>
                      <a:r>
                        <a:rPr lang="en-US" sz="1100" dirty="0"/>
                        <a:t>$3,300</a:t>
                      </a:r>
                    </a:p>
                  </a:txBody>
                  <a:tcPr/>
                </a:tc>
                <a:extLst>
                  <a:ext uri="{0D108BD9-81ED-4DB2-BD59-A6C34878D82A}">
                    <a16:rowId xmlns:a16="http://schemas.microsoft.com/office/drawing/2014/main" val="557019736"/>
                  </a:ext>
                </a:extLst>
              </a:tr>
            </a:tbl>
          </a:graphicData>
        </a:graphic>
      </p:graphicFrame>
      <p:sp>
        <p:nvSpPr>
          <p:cNvPr id="7" name="TextBox 6">
            <a:extLst>
              <a:ext uri="{FF2B5EF4-FFF2-40B4-BE49-F238E27FC236}">
                <a16:creationId xmlns:a16="http://schemas.microsoft.com/office/drawing/2014/main" id="{B54669F2-6ED1-7423-DA32-8BC2E3EAD94F}"/>
              </a:ext>
            </a:extLst>
          </p:cNvPr>
          <p:cNvSpPr txBox="1"/>
          <p:nvPr/>
        </p:nvSpPr>
        <p:spPr>
          <a:xfrm>
            <a:off x="8508999" y="5455761"/>
            <a:ext cx="3093157" cy="415498"/>
          </a:xfrm>
          <a:prstGeom prst="rect">
            <a:avLst/>
          </a:prstGeom>
          <a:noFill/>
        </p:spPr>
        <p:txBody>
          <a:bodyPr wrap="square">
            <a:spAutoFit/>
          </a:bodyPr>
          <a:lstStyle/>
          <a:p>
            <a:r>
              <a:rPr lang="en-US" sz="1050" dirty="0">
                <a:hlinkClick r:id="rId6"/>
              </a:rPr>
              <a:t>https://</a:t>
            </a:r>
            <a:r>
              <a:rPr lang="en-US" sz="1050" dirty="0" err="1">
                <a:hlinkClick r:id="rId6"/>
              </a:rPr>
              <a:t>www.littlebuckloader.com</a:t>
            </a:r>
            <a:r>
              <a:rPr lang="en-US" sz="1050" dirty="0">
                <a:hlinkClick r:id="rId6"/>
              </a:rPr>
              <a:t>/shop/p/little-bull-loader-front-end-loader-john-deere</a:t>
            </a:r>
            <a:endParaRPr lang="en-US" sz="1050" dirty="0"/>
          </a:p>
        </p:txBody>
      </p:sp>
    </p:spTree>
    <p:extLst>
      <p:ext uri="{BB962C8B-B14F-4D97-AF65-F5344CB8AC3E}">
        <p14:creationId xmlns:p14="http://schemas.microsoft.com/office/powerpoint/2010/main" val="9815820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6079066" y="209097"/>
            <a:ext cx="5925483" cy="3539430"/>
          </a:xfrm>
          <a:prstGeom prst="rect">
            <a:avLst/>
          </a:prstGeom>
          <a:noFill/>
        </p:spPr>
        <p:txBody>
          <a:bodyPr wrap="square" rtlCol="0">
            <a:spAutoFit/>
          </a:bodyPr>
          <a:lstStyle/>
          <a:p>
            <a:r>
              <a:rPr lang="en-US" sz="1400" dirty="0"/>
              <a:t>21 modifications to X758:</a:t>
            </a:r>
          </a:p>
          <a:p>
            <a:r>
              <a:rPr lang="en-US" sz="1400" dirty="0">
                <a:hlinkClick r:id="rId2"/>
              </a:rPr>
              <a:t>https://</a:t>
            </a:r>
            <a:r>
              <a:rPr lang="en-US" sz="1400" dirty="0" err="1">
                <a:hlinkClick r:id="rId2"/>
              </a:rPr>
              <a:t>www.youtube.com</a:t>
            </a:r>
            <a:r>
              <a:rPr lang="en-US" sz="1400" dirty="0">
                <a:hlinkClick r:id="rId2"/>
              </a:rPr>
              <a:t>/</a:t>
            </a:r>
            <a:r>
              <a:rPr lang="en-US" sz="1400" dirty="0" err="1">
                <a:hlinkClick r:id="rId2"/>
              </a:rPr>
              <a:t>watch?v</a:t>
            </a:r>
            <a:r>
              <a:rPr lang="en-US" sz="1400" dirty="0">
                <a:hlinkClick r:id="rId2"/>
              </a:rPr>
              <a:t>=5bkI9KLGFZs</a:t>
            </a:r>
            <a:endParaRPr lang="en-US" sz="1400" dirty="0"/>
          </a:p>
          <a:p>
            <a:r>
              <a:rPr lang="en-US" sz="1400" dirty="0"/>
              <a:t>Snowblower Lights; Chute Actuator (up/down);Chute Rotator (more turning);</a:t>
            </a:r>
          </a:p>
          <a:p>
            <a:r>
              <a:rPr lang="en-US" sz="1400" dirty="0"/>
              <a:t>Enclosed Chain for impeller; Rubber extensions for impeller; </a:t>
            </a:r>
          </a:p>
          <a:p>
            <a:r>
              <a:rPr lang="en-US" sz="1400" dirty="0"/>
              <a:t>Seat Cover; Seat Heaters; Heated Vest Plug; Steering Wheel Ball (spinner);</a:t>
            </a:r>
          </a:p>
          <a:p>
            <a:r>
              <a:rPr lang="en-US" sz="1400" dirty="0"/>
              <a:t>LED Headlights; LED Rear Lights; Dash Light; </a:t>
            </a:r>
          </a:p>
          <a:p>
            <a:r>
              <a:rPr lang="en-US" sz="1400" dirty="0"/>
              <a:t>Custom Relay for Chute Switch</a:t>
            </a:r>
          </a:p>
          <a:p>
            <a:r>
              <a:rPr lang="en-US" sz="1400" dirty="0"/>
              <a:t>Throttle Spring to throttle lever to prevent it from backing down</a:t>
            </a:r>
          </a:p>
          <a:p>
            <a:r>
              <a:rPr lang="en-US" sz="1400" dirty="0"/>
              <a:t>Hazard Lights; Pattern-Changing Hazard Switch; USB Output &amp; Voltmeter showing battery voltage; Toolbox Handle; Secondary Alternator (to handle electrical load of lights and heaters)</a:t>
            </a:r>
          </a:p>
          <a:p>
            <a:r>
              <a:rPr lang="en-US" sz="1400" dirty="0"/>
              <a:t>Bypass Modifications &amp; Lubrication - 3 smaller sub-tweaks: bypassing the reverse implement option (RIO), bypassing the seat safety switch with a jumper, and using "Fluid Film" to stop pedal squeaks and prevent rust</a:t>
            </a:r>
          </a:p>
          <a:p>
            <a:r>
              <a:rPr lang="en-US" sz="1400" dirty="0"/>
              <a:t>Bonus/Technical Fix: - shimming the four-wheel steer transfer shaft with feeler gauges and adding a grease </a:t>
            </a:r>
            <a:r>
              <a:rPr lang="en-US" sz="1400" dirty="0" err="1"/>
              <a:t>zert</a:t>
            </a:r>
            <a:r>
              <a:rPr lang="en-US" sz="1400" dirty="0"/>
              <a:t> to eliminate "shimmy" in the rear wheels</a:t>
            </a:r>
          </a:p>
        </p:txBody>
      </p:sp>
      <p:sp>
        <p:nvSpPr>
          <p:cNvPr id="3" name="TextBox 2">
            <a:extLst>
              <a:ext uri="{FF2B5EF4-FFF2-40B4-BE49-F238E27FC236}">
                <a16:creationId xmlns:a16="http://schemas.microsoft.com/office/drawing/2014/main" id="{7BC0A9F2-B671-84FC-1360-DA1CF032E6AF}"/>
              </a:ext>
            </a:extLst>
          </p:cNvPr>
          <p:cNvSpPr txBox="1"/>
          <p:nvPr/>
        </p:nvSpPr>
        <p:spPr>
          <a:xfrm>
            <a:off x="187451" y="574020"/>
            <a:ext cx="5925483" cy="3108543"/>
          </a:xfrm>
          <a:prstGeom prst="rect">
            <a:avLst/>
          </a:prstGeom>
          <a:noFill/>
        </p:spPr>
        <p:txBody>
          <a:bodyPr wrap="square" rtlCol="0">
            <a:spAutoFit/>
          </a:bodyPr>
          <a:lstStyle/>
          <a:p>
            <a:r>
              <a:rPr lang="en-US" sz="1400" dirty="0"/>
              <a:t>I want BM20780 - a 7-bu (247-L) 2-Bag Hopper Assembly</a:t>
            </a:r>
          </a:p>
          <a:p>
            <a:r>
              <a:rPr lang="en-US" sz="1400" dirty="0"/>
              <a:t>(X400/X500 HDGT and X700 Series)</a:t>
            </a:r>
          </a:p>
          <a:p>
            <a:endParaRPr lang="en-US" sz="1400" dirty="0"/>
          </a:p>
          <a:p>
            <a:r>
              <a:rPr lang="en-US" sz="1400" dirty="0"/>
              <a:t>I don't like the JD 20-bushel Click-N-Go Material Collection System,</a:t>
            </a:r>
          </a:p>
          <a:p>
            <a:r>
              <a:rPr lang="en-US" sz="1400" dirty="0"/>
              <a:t>It is too heavy, requires weights at the front of the tractor for balance</a:t>
            </a:r>
          </a:p>
          <a:p>
            <a:r>
              <a:rPr lang="en-US" sz="1400" dirty="0"/>
              <a:t>My current bagger on JD-425 is 7-bu (two bags, each one is 3.5 </a:t>
            </a:r>
            <a:r>
              <a:rPr lang="en-US" sz="1400" dirty="0" err="1"/>
              <a:t>bu</a:t>
            </a:r>
            <a:r>
              <a:rPr lang="en-US" sz="1400" dirty="0"/>
              <a:t>) – I like it.</a:t>
            </a:r>
          </a:p>
          <a:p>
            <a:endParaRPr lang="en-US" sz="1400" dirty="0"/>
          </a:p>
          <a:p>
            <a:r>
              <a:rPr lang="en-US" sz="1400" dirty="0"/>
              <a:t>Deere lists for X700 Signature Series (including X758):</a:t>
            </a:r>
          </a:p>
          <a:p>
            <a:r>
              <a:rPr lang="en-US" sz="1400" dirty="0"/>
              <a:t> - a 7‑bu two‑bag Power Flow hopper – my preference</a:t>
            </a:r>
          </a:p>
          <a:p>
            <a:r>
              <a:rPr lang="en-US" sz="1400" dirty="0"/>
              <a:t> - a 14‑bu three‑bag hopper – I don't need 3 bags</a:t>
            </a:r>
          </a:p>
          <a:p>
            <a:endParaRPr lang="en-US" sz="1400" dirty="0"/>
          </a:p>
          <a:p>
            <a:r>
              <a:rPr lang="en-US" sz="1400" dirty="0"/>
              <a:t>The BM20780 7‑bu 2‑bag hopper is specifically</a:t>
            </a:r>
          </a:p>
          <a:p>
            <a:r>
              <a:rPr lang="en-US" sz="1400" dirty="0"/>
              <a:t>designed to mount to the rear Click‑N‑Go system BM20714</a:t>
            </a:r>
          </a:p>
          <a:p>
            <a:r>
              <a:rPr lang="en-US" sz="1400" dirty="0"/>
              <a:t>on X700‑series tractors, including the X758</a:t>
            </a:r>
          </a:p>
        </p:txBody>
      </p:sp>
    </p:spTree>
    <p:extLst>
      <p:ext uri="{BB962C8B-B14F-4D97-AF65-F5344CB8AC3E}">
        <p14:creationId xmlns:p14="http://schemas.microsoft.com/office/powerpoint/2010/main" val="6486985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9650941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449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Bagger = Hopper</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2192908"/>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I have a bagger with 2 bags.</a:t>
            </a:r>
          </a:p>
          <a:p>
            <a:r>
              <a:rPr lang="en-US" sz="1400" dirty="0">
                <a:latin typeface="Calibri" panose="020F0502020204030204" pitchFamily="34" charset="0"/>
                <a:cs typeface="Calibri" panose="020F0502020204030204" pitchFamily="34" charset="0"/>
              </a:rPr>
              <a:t>It has an annoying problem.</a:t>
            </a:r>
          </a:p>
          <a:p>
            <a:r>
              <a:rPr lang="en-US" sz="1400" dirty="0">
                <a:latin typeface="Calibri" panose="020F0502020204030204" pitchFamily="34" charset="0"/>
                <a:cs typeface="Calibri" panose="020F0502020204030204" pitchFamily="34" charset="0"/>
              </a:rPr>
              <a:t>It fills the left bag first &amp; only the over-flow goes to the right bag. </a:t>
            </a:r>
          </a:p>
          <a:p>
            <a:r>
              <a:rPr lang="en-US" sz="1400" dirty="0">
                <a:latin typeface="Calibri" panose="020F0502020204030204" pitchFamily="34" charset="0"/>
                <a:cs typeface="Calibri" panose="020F0502020204030204" pitchFamily="34" charset="0"/>
              </a:rPr>
              <a:t>This makes the left bag  heavy while right bag is empty</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Easy fix – block part of the chute opening as shown.</a:t>
            </a:r>
          </a:p>
          <a:p>
            <a:r>
              <a:rPr lang="en-US" sz="1400" dirty="0">
                <a:latin typeface="Calibri" panose="020F0502020204030204" pitchFamily="34" charset="0"/>
                <a:cs typeface="Calibri" panose="020F0502020204030204" pitchFamily="34" charset="0"/>
              </a:rPr>
              <a:t>Two layers of duct tape facing each other, nothing is sticking to them.</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 2 bags now got filled up at similar speed. </a:t>
            </a:r>
          </a:p>
          <a:p>
            <a:r>
              <a:rPr lang="en-US" sz="1050" dirty="0">
                <a:latin typeface="Calibri" panose="020F0502020204030204" pitchFamily="34" charset="0"/>
                <a:cs typeface="Calibri" panose="020F0502020204030204" pitchFamily="34" charset="0"/>
                <a:hlinkClick r:id="rId2"/>
              </a:rPr>
              <a:t>https://www.facebook.com/groups/781254733349946/posts/803478744460878/</a:t>
            </a:r>
            <a:endParaRPr lang="en-US" sz="1050" dirty="0">
              <a:latin typeface="Calibri" panose="020F0502020204030204" pitchFamily="34" charset="0"/>
              <a:cs typeface="Calibri" panose="020F0502020204030204" pitchFamily="34" charset="0"/>
            </a:endParaRPr>
          </a:p>
        </p:txBody>
      </p:sp>
      <p:pic>
        <p:nvPicPr>
          <p:cNvPr id="3" name="Picture 2">
            <a:extLst>
              <a:ext uri="{FF2B5EF4-FFF2-40B4-BE49-F238E27FC236}">
                <a16:creationId xmlns:a16="http://schemas.microsoft.com/office/drawing/2014/main" id="{FAA518FD-7EE2-032F-1F24-036ACB62B9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9492343" y="149679"/>
            <a:ext cx="2699657" cy="2616377"/>
          </a:xfrm>
          <a:prstGeom prst="rect">
            <a:avLst/>
          </a:prstGeom>
        </p:spPr>
      </p:pic>
      <p:pic>
        <p:nvPicPr>
          <p:cNvPr id="4" name="Picture 3">
            <a:extLst>
              <a:ext uri="{FF2B5EF4-FFF2-40B4-BE49-F238E27FC236}">
                <a16:creationId xmlns:a16="http://schemas.microsoft.com/office/drawing/2014/main" id="{F37986CB-6953-B8BE-0826-E958A8437145}"/>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492342" y="3613391"/>
            <a:ext cx="2699657" cy="2281997"/>
          </a:xfrm>
          <a:prstGeom prst="rect">
            <a:avLst/>
          </a:prstGeom>
        </p:spPr>
      </p:pic>
      <p:pic>
        <p:nvPicPr>
          <p:cNvPr id="5" name="Picture 4">
            <a:extLst>
              <a:ext uri="{FF2B5EF4-FFF2-40B4-BE49-F238E27FC236}">
                <a16:creationId xmlns:a16="http://schemas.microsoft.com/office/drawing/2014/main" id="{65079173-F2C4-DB18-BDAD-0AEF787B154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909866" y="149679"/>
            <a:ext cx="2374900" cy="2311400"/>
          </a:xfrm>
          <a:prstGeom prst="rect">
            <a:avLst/>
          </a:prstGeom>
        </p:spPr>
      </p:pic>
    </p:spTree>
    <p:extLst>
      <p:ext uri="{BB962C8B-B14F-4D97-AF65-F5344CB8AC3E}">
        <p14:creationId xmlns:p14="http://schemas.microsoft.com/office/powerpoint/2010/main" val="28630607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0B338-E842-3C96-D4BC-E392AD88200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2A62B5C-52DA-6C87-FA5A-4A7AB2C58A4F}"/>
              </a:ext>
            </a:extLst>
          </p:cNvPr>
          <p:cNvSpPr txBox="1"/>
          <p:nvPr/>
        </p:nvSpPr>
        <p:spPr>
          <a:xfrm>
            <a:off x="-1" y="0"/>
            <a:ext cx="4431253" cy="523220"/>
          </a:xfrm>
          <a:prstGeom prst="rect">
            <a:avLst/>
          </a:prstGeom>
          <a:noFill/>
        </p:spPr>
        <p:txBody>
          <a:bodyPr wrap="square" rtlCol="0">
            <a:spAutoFit/>
          </a:bodyPr>
          <a:lstStyle/>
          <a:p>
            <a:r>
              <a:rPr lang="en-US" sz="2800" b="1" dirty="0"/>
              <a:t>JD </a:t>
            </a:r>
            <a:r>
              <a:rPr lang="en-US" sz="2800" b="1" dirty="0" err="1"/>
              <a:t>PowerFlow</a:t>
            </a:r>
            <a:endParaRPr lang="en-US" sz="2800" b="1" dirty="0"/>
          </a:p>
        </p:txBody>
      </p:sp>
      <p:sp>
        <p:nvSpPr>
          <p:cNvPr id="8" name="TextBox 7">
            <a:extLst>
              <a:ext uri="{FF2B5EF4-FFF2-40B4-BE49-F238E27FC236}">
                <a16:creationId xmlns:a16="http://schemas.microsoft.com/office/drawing/2014/main" id="{236796AA-9C3C-7F2D-64E1-0C9B96CA64C5}"/>
              </a:ext>
            </a:extLst>
          </p:cNvPr>
          <p:cNvSpPr txBox="1"/>
          <p:nvPr/>
        </p:nvSpPr>
        <p:spPr>
          <a:xfrm>
            <a:off x="164051" y="807468"/>
            <a:ext cx="5931949" cy="4708981"/>
          </a:xfrm>
          <a:prstGeom prst="rect">
            <a:avLst/>
          </a:prstGeom>
          <a:noFill/>
        </p:spPr>
        <p:txBody>
          <a:bodyPr wrap="square" rtlCol="0">
            <a:spAutoFit/>
          </a:bodyPr>
          <a:lstStyle/>
          <a:p>
            <a:r>
              <a:rPr lang="en-US" sz="1200" dirty="0"/>
              <a:t>john deere 54 inch high capacity mower deck</a:t>
            </a:r>
          </a:p>
          <a:p>
            <a:endParaRPr lang="en-US" sz="1200" dirty="0"/>
          </a:p>
          <a:p>
            <a:r>
              <a:rPr lang="en-US" sz="1200" dirty="0"/>
              <a:t>When looking at the mowing deck from above, the spools (sheaves) rotate clockwise </a:t>
            </a:r>
          </a:p>
          <a:p>
            <a:endParaRPr lang="en-US" sz="1200" dirty="0"/>
          </a:p>
          <a:p>
            <a:r>
              <a:rPr lang="en-US" sz="1200" dirty="0"/>
              <a:t>When looking at the </a:t>
            </a:r>
            <a:r>
              <a:rPr lang="en-US" sz="1200" dirty="0" err="1"/>
              <a:t>powerflow</a:t>
            </a:r>
            <a:r>
              <a:rPr lang="en-US" sz="1200" dirty="0"/>
              <a:t> from the right side of the tractor, </a:t>
            </a:r>
            <a:br>
              <a:rPr lang="en-US" sz="1200" dirty="0"/>
            </a:br>
            <a:r>
              <a:rPr lang="en-US" sz="1200" dirty="0"/>
              <a:t>it rotates counter-clockwise (collecting grass from the bottom, moving it up – then throwing it)</a:t>
            </a:r>
          </a:p>
          <a:p>
            <a:endParaRPr lang="en-US" sz="1200" dirty="0"/>
          </a:p>
          <a:p>
            <a:r>
              <a:rPr lang="en-US" sz="1200" dirty="0"/>
              <a:t>The belt moves as following:</a:t>
            </a:r>
            <a:br>
              <a:rPr lang="en-US" sz="1200" dirty="0"/>
            </a:b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From top sheave M on the deck the belt moves</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-&gt; </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sym typeface="Wingdings" pitchFamily="2" charset="2"/>
              </a:rPr>
              <a:t>to the N </a:t>
            </a: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tensioner idler (top one)</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-&gt; to the lower side of impeller sheeve O</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-&gt; from the upper side of impeller sheeve O</a:t>
            </a:r>
            <a:b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br>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to the </a:t>
            </a:r>
            <a:r>
              <a:rPr lang="en-US" sz="1200" dirty="0">
                <a:solidFill>
                  <a:srgbClr val="0070C0"/>
                </a:solidFill>
              </a:rPr>
              <a:t>V-idler sheave P (the lower one)</a:t>
            </a:r>
          </a:p>
          <a:p>
            <a:r>
              <a:rPr lang="en-US" sz="1200" dirty="0">
                <a:solidFill>
                  <a:srgbClr val="0070C0"/>
                </a:solidFill>
                <a:latin typeface="Menlo" panose="020B0609030804020204" pitchFamily="49" charset="0"/>
                <a:ea typeface="Menlo" panose="020B0609030804020204" pitchFamily="49" charset="0"/>
                <a:cs typeface="Menlo" panose="020B0609030804020204" pitchFamily="49" charset="0"/>
              </a:rPr>
              <a:t> -&gt; back to the sheave M on the deck</a:t>
            </a:r>
          </a:p>
          <a:p>
            <a:endParaRPr lang="en-US" sz="1200" dirty="0"/>
          </a:p>
          <a:p>
            <a:r>
              <a:rPr lang="en-US" sz="1200" dirty="0"/>
              <a:t> (N) — the tensioner idler — sits closer to the deck, and the belt contacts its back/flat side to maintain tension. </a:t>
            </a:r>
          </a:p>
          <a:p>
            <a:endParaRPr lang="en-US" sz="1200" dirty="0"/>
          </a:p>
          <a:p>
            <a:r>
              <a:rPr lang="en-US" sz="1200" dirty="0"/>
              <a:t>(P) — the V-idler sheave — sits on the return path from the blower (N) back to the deck sheave (M), guiding the belt in the V-groove. It is lower/closer to the blower on the return side.</a:t>
            </a:r>
          </a:p>
          <a:p>
            <a:endParaRPr lang="en-US" sz="1200" dirty="0"/>
          </a:p>
          <a:p>
            <a:r>
              <a:rPr lang="en-US" sz="1200" dirty="0"/>
              <a:t>In short: (N) is above/closer to the deck and acts as a tensioner; </a:t>
            </a:r>
            <a:br>
              <a:rPr lang="en-US" sz="1200" dirty="0"/>
            </a:br>
            <a:r>
              <a:rPr lang="en-US" sz="1200" dirty="0"/>
              <a:t>(P) is below/on the blower side and acts as a fixed V-groove guide</a:t>
            </a:r>
          </a:p>
        </p:txBody>
      </p:sp>
      <p:pic>
        <p:nvPicPr>
          <p:cNvPr id="5" name="Picture 4" descr="John Deere X758 X700 Series | AG Pro">
            <a:extLst>
              <a:ext uri="{FF2B5EF4-FFF2-40B4-BE49-F238E27FC236}">
                <a16:creationId xmlns:a16="http://schemas.microsoft.com/office/drawing/2014/main" id="{DBC1B5E5-B8F2-9E18-D714-A3DDDCC19EE1}"/>
              </a:ext>
            </a:extLst>
          </p:cNvPr>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a:xfrm>
            <a:off x="7582949" y="4057022"/>
            <a:ext cx="4445000" cy="2670629"/>
          </a:xfrm>
          <a:prstGeom prst="rect">
            <a:avLst/>
          </a:prstGeom>
        </p:spPr>
      </p:pic>
      <p:pic>
        <p:nvPicPr>
          <p:cNvPr id="6" name="Picture 5">
            <a:extLst>
              <a:ext uri="{FF2B5EF4-FFF2-40B4-BE49-F238E27FC236}">
                <a16:creationId xmlns:a16="http://schemas.microsoft.com/office/drawing/2014/main" id="{EA5857D3-1AF8-50CB-2D7C-5E0795A3ED5B}"/>
              </a:ext>
            </a:extLst>
          </p:cNvPr>
          <p:cNvPicPr>
            <a:picLocks noChangeAspect="1"/>
          </p:cNvPicPr>
          <p:nvPr/>
        </p:nvPicPr>
        <p:blipFill>
          <a:blip r:embed="rId3"/>
          <a:stretch>
            <a:fillRect/>
          </a:stretch>
        </p:blipFill>
        <p:spPr>
          <a:xfrm>
            <a:off x="7924800" y="261610"/>
            <a:ext cx="4103149" cy="3795412"/>
          </a:xfrm>
          <a:prstGeom prst="rect">
            <a:avLst/>
          </a:prstGeom>
        </p:spPr>
      </p:pic>
    </p:spTree>
    <p:extLst>
      <p:ext uri="{BB962C8B-B14F-4D97-AF65-F5344CB8AC3E}">
        <p14:creationId xmlns:p14="http://schemas.microsoft.com/office/powerpoint/2010/main" val="41800969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1543</TotalTime>
  <Words>2468</Words>
  <Application>Microsoft Macintosh PowerPoint</Application>
  <PresentationFormat>Widescreen</PresentationFormat>
  <Paragraphs>213</Paragraphs>
  <Slides>13</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13</vt:i4>
      </vt:variant>
    </vt:vector>
  </HeadingPairs>
  <TitlesOfParts>
    <vt:vector size="20"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108</cp:revision>
  <dcterms:created xsi:type="dcterms:W3CDTF">2022-05-02T00:38:22Z</dcterms:created>
  <dcterms:modified xsi:type="dcterms:W3CDTF">2026-06-08T17:59:58Z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