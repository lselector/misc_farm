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4" r:id="rId2"/>
    <p:sldId id="273" r:id="rId3"/>
    <p:sldId id="266" r:id="rId4"/>
    <p:sldId id="270" r:id="rId5"/>
    <p:sldId id="274" r:id="rId6"/>
    <p:sldId id="269" r:id="rId7"/>
    <p:sldId id="261" r:id="rId8"/>
    <p:sldId id="268" r:id="rId9"/>
    <p:sldId id="271" r:id="rId10"/>
    <p:sldId id="272" r:id="rId11"/>
    <p:sldId id="267" r:id="rId12"/>
    <p:sldId id="262" r:id="rId13"/>
    <p:sldId id="258" r:id="rId14"/>
    <p:sldId id="265" r:id="rId15"/>
    <p:sldId id="26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9432"/>
    <p:restoredTop sz="92794"/>
  </p:normalViewPr>
  <p:slideViewPr>
    <p:cSldViewPr snapToGrid="0" snapToObjects="1">
      <p:cViewPr varScale="1">
        <p:scale>
          <a:sx n="73" d="100"/>
          <a:sy n="73" d="100"/>
        </p:scale>
        <p:origin x="208"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6/17/26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6/17/26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6/17/26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6/17/26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6/17/26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6/17/26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6/17/26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6/17/26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6/17/26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6/17/26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6/17/26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6/17/26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2.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jpeg"/><Relationship Id="rId7" Type="http://schemas.openxmlformats.org/officeDocument/2006/relationships/hyperlink" Target="https://shop.deere.com/us/product/MIA885144%3A-Pressure-Relief-Valve/p/MIA885144" TargetMode="External"/><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7.jpeg"/><Relationship Id="rId10" Type="http://schemas.openxmlformats.org/officeDocument/2006/relationships/image" Target="../media/image10.png"/><Relationship Id="rId4" Type="http://schemas.openxmlformats.org/officeDocument/2006/relationships/image" Target="../media/image6.jpeg"/><Relationship Id="rId9" Type="http://schemas.openxmlformats.org/officeDocument/2006/relationships/image" Target="../media/image9.jpeg"/></Relationships>
</file>

<file path=ppt/slides/_rels/slide5.xml.rels><?xml version="1.0" encoding="UTF-8" standalone="yes"?>
<Relationships xmlns="http://schemas.openxmlformats.org/package/2006/relationships"><Relationship Id="rId8" Type="http://schemas.openxmlformats.org/officeDocument/2006/relationships/hyperlink" Target="https://www.tractorbynet.com/forums/threads/x700-series-hydraulic-lock-out-valve-am134625-installation.228998/" TargetMode="External"/><Relationship Id="rId13" Type="http://schemas.openxmlformats.org/officeDocument/2006/relationships/image" Target="../media/image15.jpe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4.jpeg"/><Relationship Id="rId2" Type="http://schemas.openxmlformats.org/officeDocument/2006/relationships/hyperlink" Target="https://shop.deere.com/us/product/MIA885144%3A-Pressure-Relief-Valve/p/MIA885144" TargetMode="Externa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3.jpeg"/><Relationship Id="rId5" Type="http://schemas.openxmlformats.org/officeDocument/2006/relationships/image" Target="../media/image10.png"/><Relationship Id="rId10" Type="http://schemas.openxmlformats.org/officeDocument/2006/relationships/hyperlink" Target="https://www.youtube.com/watch?v=iv3qfw-JJZk" TargetMode="External"/><Relationship Id="rId4" Type="http://schemas.openxmlformats.org/officeDocument/2006/relationships/image" Target="../media/image9.jpeg"/><Relationship Id="rId9" Type="http://schemas.openxmlformats.org/officeDocument/2006/relationships/hyperlink" Target="https://www.youtube.com/watch?v=EIQnRFgVMG0" TargetMode="Externa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0.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19.jpeg"/><Relationship Id="rId5" Type="http://schemas.openxmlformats.org/officeDocument/2006/relationships/image" Target="../media/image18.gif"/><Relationship Id="rId4" Type="http://schemas.openxmlformats.org/officeDocument/2006/relationships/hyperlink" Target="https://keenovo.store/products/keenovo-silicone-heating-pad-wvo-svo-fuel-filter-diesel-heater-nos-bottle-heater"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www.facebook.com/groups/781254733349946/posts/803478744460878/" TargetMode="Externa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7.xml"/><Relationship Id="rId6" Type="http://schemas.openxmlformats.org/officeDocument/2006/relationships/image" Target="../media/image28.jpeg"/><Relationship Id="rId5" Type="http://schemas.openxmlformats.org/officeDocument/2006/relationships/image" Target="../media/image27.png"/><Relationship Id="rId4" Type="http://schemas.openxmlformats.org/officeDocument/2006/relationships/image" Target="../media/image26.jpeg"/></Relationships>
</file>

<file path=ppt/slides/_rels/slide11.xml.rels><?xml version="1.0" encoding="UTF-8" standalone="yes"?>
<Relationships xmlns="http://schemas.openxmlformats.org/package/2006/relationships"><Relationship Id="rId3" Type="http://schemas.openxmlformats.org/officeDocument/2006/relationships/image" Target="../media/image31.jpeg"/><Relationship Id="rId7" Type="http://schemas.openxmlformats.org/officeDocument/2006/relationships/image" Target="../media/image35.jpeg"/><Relationship Id="rId2" Type="http://schemas.openxmlformats.org/officeDocument/2006/relationships/image" Target="../media/image30.jpeg"/><Relationship Id="rId1" Type="http://schemas.openxmlformats.org/officeDocument/2006/relationships/slideLayout" Target="../slideLayouts/slideLayout7.xml"/><Relationship Id="rId6" Type="http://schemas.openxmlformats.org/officeDocument/2006/relationships/image" Target="../media/image34.jpeg"/><Relationship Id="rId5" Type="http://schemas.openxmlformats.org/officeDocument/2006/relationships/image" Target="../media/image33.jpeg"/><Relationship Id="rId4" Type="http://schemas.openxmlformats.org/officeDocument/2006/relationships/image" Target="../media/image32.jpeg"/></Relationships>
</file>

<file path=ppt/slides/_rels/slide12.xml.rels><?xml version="1.0" encoding="UTF-8" standalone="yes"?>
<Relationships xmlns="http://schemas.openxmlformats.org/package/2006/relationships"><Relationship Id="rId8" Type="http://schemas.openxmlformats.org/officeDocument/2006/relationships/image" Target="../media/image39.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8.jpeg"/><Relationship Id="rId2" Type="http://schemas.openxmlformats.org/officeDocument/2006/relationships/image" Target="../media/image36.jpe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hyperlink" Target="https://www.youtube.com/watch?v=TeHIpRNJ3LU" TargetMode="External"/><Relationship Id="rId10" Type="http://schemas.openxmlformats.org/officeDocument/2006/relationships/image" Target="../media/image41.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40.jpeg"/></Relationships>
</file>

<file path=ppt/slides/_rels/slide13.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image" Target="../media/image42.jpeg"/><Relationship Id="rId1" Type="http://schemas.openxmlformats.org/officeDocument/2006/relationships/slideLayout" Target="../slideLayouts/slideLayout7.xml"/><Relationship Id="rId6" Type="http://schemas.openxmlformats.org/officeDocument/2006/relationships/image" Target="../media/image46.jpeg"/><Relationship Id="rId5" Type="http://schemas.openxmlformats.org/officeDocument/2006/relationships/image" Target="../media/image45.jpeg"/><Relationship Id="rId4" Type="http://schemas.openxmlformats.org/officeDocument/2006/relationships/image" Target="../media/image44.jpeg"/></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47.jpeg"/><Relationship Id="rId1" Type="http://schemas.openxmlformats.org/officeDocument/2006/relationships/slideLayout" Target="../slideLayouts/slideLayout7.xml"/><Relationship Id="rId4" Type="http://schemas.openxmlformats.org/officeDocument/2006/relationships/image" Target="../media/image48.jpeg"/></Relationships>
</file>

<file path=ppt/slides/_rels/slide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0" y="0"/>
            <a:ext cx="3358662" cy="461665"/>
          </a:xfrm>
          <a:prstGeom prst="rect">
            <a:avLst/>
          </a:prstGeom>
          <a:noFill/>
        </p:spPr>
        <p:txBody>
          <a:bodyPr wrap="square" rtlCol="0">
            <a:spAutoFit/>
          </a:bodyPr>
          <a:lstStyle/>
          <a:p>
            <a:r>
              <a:rPr lang="en-US" sz="2400" b="1" dirty="0"/>
              <a:t>John Deere X758</a:t>
            </a:r>
            <a:endParaRPr lang="en-US" sz="2400" b="1" i="0" dirty="0">
              <a:solidFill>
                <a:srgbClr val="333333"/>
              </a:solidFill>
              <a:effectLst/>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52921" y="740786"/>
            <a:ext cx="2755148" cy="2160676"/>
          </a:xfrm>
          <a:prstGeom prst="rect">
            <a:avLst/>
          </a:prstGeom>
        </p:spPr>
      </p:pic>
      <p:sp>
        <p:nvSpPr>
          <p:cNvPr id="3" name="TextBox 2">
            <a:extLst>
              <a:ext uri="{FF2B5EF4-FFF2-40B4-BE49-F238E27FC236}">
                <a16:creationId xmlns:a16="http://schemas.microsoft.com/office/drawing/2014/main" id="{300305A7-914B-7488-5C71-E229D10278CE}"/>
              </a:ext>
            </a:extLst>
          </p:cNvPr>
          <p:cNvSpPr txBox="1"/>
          <p:nvPr/>
        </p:nvSpPr>
        <p:spPr>
          <a:xfrm>
            <a:off x="263398" y="672606"/>
            <a:ext cx="7551364" cy="3693319"/>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X758 is a diesel-powered, full-time 4WD garden tractor</a:t>
            </a:r>
          </a:p>
          <a:p>
            <a:pPr marL="285750" indent="-285750">
              <a:buFont typeface="Arial" panose="020B0604020202020204" pitchFamily="34" charset="0"/>
              <a:buChar char="•"/>
            </a:pPr>
            <a:r>
              <a:rPr lang="en-US" dirty="0"/>
              <a:t>Built for heavy residential and estate use</a:t>
            </a:r>
          </a:p>
          <a:p>
            <a:pPr marL="285750" indent="-285750">
              <a:buFont typeface="Arial" panose="020B0604020202020204" pitchFamily="34" charset="0"/>
              <a:buChar char="•"/>
            </a:pPr>
            <a:r>
              <a:rPr lang="en-US" dirty="0"/>
              <a:t>24 hp (17.9 kW) liquid‑cooled Yanmar 993 cc 3‑cylinder diesel engine</a:t>
            </a:r>
          </a:p>
          <a:p>
            <a:pPr marL="285750" indent="-285750">
              <a:buFont typeface="Arial" panose="020B0604020202020204" pitchFamily="34" charset="0"/>
              <a:buChar char="•"/>
            </a:pPr>
            <a:r>
              <a:rPr lang="en-US" dirty="0"/>
              <a:t>K90 hydrostatic transmission</a:t>
            </a:r>
          </a:p>
          <a:p>
            <a:pPr marL="285750" indent="-285750">
              <a:buFont typeface="Arial" panose="020B0604020202020204" pitchFamily="34" charset="0"/>
              <a:buChar char="•"/>
            </a:pPr>
            <a:r>
              <a:rPr lang="en-US" dirty="0"/>
              <a:t>Twin‑Touch foot controls</a:t>
            </a:r>
          </a:p>
          <a:p>
            <a:pPr marL="285750" indent="-285750">
              <a:buFont typeface="Arial" panose="020B0604020202020204" pitchFamily="34" charset="0"/>
              <a:buChar char="•"/>
            </a:pPr>
            <a:r>
              <a:rPr lang="en-US" dirty="0"/>
              <a:t>Full-time four‑wheel drive</a:t>
            </a:r>
          </a:p>
          <a:p>
            <a:pPr marL="285750" indent="-285750">
              <a:buFont typeface="Arial" panose="020B0604020202020204" pitchFamily="34" charset="0"/>
              <a:buChar char="•"/>
            </a:pPr>
            <a:r>
              <a:rPr lang="en-US" dirty="0"/>
              <a:t>power steering</a:t>
            </a:r>
          </a:p>
          <a:p>
            <a:pPr marL="285750" indent="-285750">
              <a:buFont typeface="Arial" panose="020B0604020202020204" pitchFamily="34" charset="0"/>
              <a:buChar char="•"/>
            </a:pPr>
            <a:r>
              <a:rPr lang="en-US" dirty="0"/>
              <a:t>Internal wet disc brakes</a:t>
            </a:r>
          </a:p>
          <a:p>
            <a:pPr marL="285750" indent="-285750">
              <a:buFont typeface="Arial" panose="020B0604020202020204" pitchFamily="34" charset="0"/>
              <a:buChar char="•"/>
            </a:pPr>
            <a:r>
              <a:rPr lang="en-US" dirty="0"/>
              <a:t>Excellent traction and control on slopes and in snow</a:t>
            </a:r>
          </a:p>
          <a:p>
            <a:pPr marL="285750" indent="-285750">
              <a:buFont typeface="Arial" panose="020B0604020202020204" pitchFamily="34" charset="0"/>
              <a:buChar char="•"/>
            </a:pPr>
            <a:r>
              <a:rPr lang="en-US" dirty="0"/>
              <a:t>Supports 48", 54", and 60" mid‑mount mower decks</a:t>
            </a:r>
          </a:p>
          <a:p>
            <a:pPr marL="285750" indent="-285750">
              <a:buFont typeface="Arial" panose="020B0604020202020204" pitchFamily="34" charset="0"/>
              <a:buChar char="•"/>
            </a:pPr>
            <a:r>
              <a:rPr lang="en-US" dirty="0"/>
              <a:t>Optional front and rear PTO and 3‑point hitch for implements</a:t>
            </a:r>
          </a:p>
          <a:p>
            <a:pPr marL="285750" indent="-285750">
              <a:buFont typeface="Arial" panose="020B0604020202020204" pitchFamily="34" charset="0"/>
              <a:buChar char="•"/>
            </a:pPr>
            <a:r>
              <a:rPr lang="en-US" dirty="0"/>
              <a:t>Wheelbase is 54.5 in (138 cm)</a:t>
            </a:r>
          </a:p>
          <a:p>
            <a:pPr marL="285750" indent="-285750">
              <a:buFont typeface="Arial" panose="020B0604020202020204" pitchFamily="34" charset="0"/>
              <a:buChar char="•"/>
            </a:pPr>
            <a:r>
              <a:rPr lang="en-US" dirty="0"/>
              <a:t>Weight 1,030–1,040 </a:t>
            </a:r>
            <a:r>
              <a:rPr lang="en-US" dirty="0" err="1"/>
              <a:t>lbs</a:t>
            </a:r>
            <a:r>
              <a:rPr lang="en-US" dirty="0"/>
              <a:t> (tractor only)</a:t>
            </a:r>
            <a:endParaRPr lang="en-US" sz="1400" dirty="0"/>
          </a:p>
        </p:txBody>
      </p:sp>
    </p:spTree>
    <p:extLst>
      <p:ext uri="{BB962C8B-B14F-4D97-AF65-F5344CB8AC3E}">
        <p14:creationId xmlns:p14="http://schemas.microsoft.com/office/powerpoint/2010/main" val="3398199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6E071-F688-B29D-91EB-400306740A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0BC9489-C383-C189-7644-8C2E7989623A}"/>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E72B42A4-6968-FC8E-BCE9-7F3721915796}"/>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D19453EA-CBE0-B624-F445-DE81D46BCB3A}"/>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C37D4C28-4ABB-E206-0F08-00C67784AA6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0BC28BF1-A389-2F70-EEC5-1F47CC3B707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FA7BD63-2067-9CF7-7AC2-AB120CE27350}"/>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5954BFCB-5BCC-4A0D-C06E-9E5C16879F02}"/>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rPr>
              <a:t>X595 4wd diesel (2002-2005)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rPr>
              <a:t> -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rPr>
              <a:t>X748, X749</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rPr>
              <a:t> 4wd diesel (2006-12) -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highlight>
                <a:srgbClr val="FFFF00"/>
              </a:highlight>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highlight>
                  <a:srgbClr val="FFFF00"/>
                </a:highlight>
                <a:latin typeface="Menlo" panose="020B0609030804020204" pitchFamily="49" charset="0"/>
                <a:ea typeface="Menlo" panose="020B0609030804020204" pitchFamily="49" charset="0"/>
                <a:cs typeface="Menlo" panose="020B0609030804020204" pitchFamily="49" charset="0"/>
              </a:rPr>
              <a:t>X758</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rPr>
              <a:t>       4wd diesel (2013-present) - </a:t>
            </a:r>
            <a:r>
              <a:rPr lang="en-US" sz="1100" dirty="0">
                <a:highlight>
                  <a:srgbClr val="FFFF00"/>
                </a:highlight>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highlight>
                <a:srgbClr val="FFFF00"/>
              </a:highlight>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5327719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3384990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nvGraphicFramePr>
        <p:xfrm>
          <a:off x="3008487" y="3208887"/>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
        <p:nvSpPr>
          <p:cNvPr id="3" name="TextBox 2">
            <a:extLst>
              <a:ext uri="{FF2B5EF4-FFF2-40B4-BE49-F238E27FC236}">
                <a16:creationId xmlns:a16="http://schemas.microsoft.com/office/drawing/2014/main" id="{459F5C18-3A7C-EF50-57D8-C10A8A58F4F7}"/>
              </a:ext>
            </a:extLst>
          </p:cNvPr>
          <p:cNvSpPr txBox="1"/>
          <p:nvPr/>
        </p:nvSpPr>
        <p:spPr>
          <a:xfrm>
            <a:off x="2956439" y="5789710"/>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7"/>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584A5AE7-D9C4-192A-D273-85C1704444CA}"/>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592528" y="5414181"/>
            <a:ext cx="824808" cy="488373"/>
          </a:xfrm>
          <a:prstGeom prst="rect">
            <a:avLst/>
          </a:prstGeom>
        </p:spPr>
      </p:pic>
      <p:pic>
        <p:nvPicPr>
          <p:cNvPr id="6" name="Picture 5" descr="John Deere Flow Control Hyd. Valve ...">
            <a:extLst>
              <a:ext uri="{FF2B5EF4-FFF2-40B4-BE49-F238E27FC236}">
                <a16:creationId xmlns:a16="http://schemas.microsoft.com/office/drawing/2014/main" id="{25A78FD5-0D19-DF64-0963-DCF51F63F8AC}"/>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6565893" y="4696926"/>
            <a:ext cx="669677" cy="669677"/>
          </a:xfrm>
          <a:prstGeom prst="rect">
            <a:avLst/>
          </a:prstGeom>
        </p:spPr>
      </p:pic>
      <p:pic>
        <p:nvPicPr>
          <p:cNvPr id="8" name="Picture 7">
            <a:extLst>
              <a:ext uri="{FF2B5EF4-FFF2-40B4-BE49-F238E27FC236}">
                <a16:creationId xmlns:a16="http://schemas.microsoft.com/office/drawing/2014/main" id="{FB9A3F71-D43D-BAD6-2923-E7873ACA866B}"/>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rot="16200000">
            <a:off x="7380986" y="5211295"/>
            <a:ext cx="609602" cy="2447373"/>
          </a:xfrm>
          <a:prstGeom prst="rect">
            <a:avLst/>
          </a:prstGeom>
        </p:spPr>
      </p:pic>
      <p:sp>
        <p:nvSpPr>
          <p:cNvPr id="9" name="TextBox 8">
            <a:extLst>
              <a:ext uri="{FF2B5EF4-FFF2-40B4-BE49-F238E27FC236}">
                <a16:creationId xmlns:a16="http://schemas.microsoft.com/office/drawing/2014/main" id="{3A813802-09D7-B715-19EF-6AAC05332000}"/>
              </a:ext>
            </a:extLst>
          </p:cNvPr>
          <p:cNvSpPr txBox="1"/>
          <p:nvPr/>
        </p:nvSpPr>
        <p:spPr>
          <a:xfrm>
            <a:off x="2956439" y="4701072"/>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9C12FCA1-9A63-D6F0-3AED-5A05E1EAAC0C}"/>
              </a:ext>
            </a:extLst>
          </p:cNvPr>
          <p:cNvSpPr txBox="1"/>
          <p:nvPr/>
        </p:nvSpPr>
        <p:spPr>
          <a:xfrm>
            <a:off x="2949771" y="5321603"/>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spTree>
    <p:extLst>
      <p:ext uri="{BB962C8B-B14F-4D97-AF65-F5344CB8AC3E}">
        <p14:creationId xmlns:p14="http://schemas.microsoft.com/office/powerpoint/2010/main" val="11410240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337E-6D80-29E4-4D29-564B2D10C0C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D12671-C346-7C70-0F79-C9B56BF67EF4}"/>
              </a:ext>
            </a:extLst>
          </p:cNvPr>
          <p:cNvSpPr txBox="1"/>
          <p:nvPr/>
        </p:nvSpPr>
        <p:spPr>
          <a:xfrm>
            <a:off x="-1" y="0"/>
            <a:ext cx="6096001" cy="523220"/>
          </a:xfrm>
          <a:prstGeom prst="rect">
            <a:avLst/>
          </a:prstGeom>
          <a:noFill/>
        </p:spPr>
        <p:txBody>
          <a:bodyPr wrap="square" rtlCol="0">
            <a:spAutoFit/>
          </a:bodyPr>
          <a:lstStyle/>
          <a:p>
            <a:r>
              <a:rPr lang="en-US" sz="2800" b="1" dirty="0"/>
              <a:t>Little Buck Loader  - valves</a:t>
            </a:r>
          </a:p>
        </p:txBody>
      </p:sp>
      <p:sp>
        <p:nvSpPr>
          <p:cNvPr id="3" name="TextBox 2">
            <a:extLst>
              <a:ext uri="{FF2B5EF4-FFF2-40B4-BE49-F238E27FC236}">
                <a16:creationId xmlns:a16="http://schemas.microsoft.com/office/drawing/2014/main" id="{4F59BE96-003E-9A65-A9EF-B1B68BC4FC58}"/>
              </a:ext>
            </a:extLst>
          </p:cNvPr>
          <p:cNvSpPr txBox="1"/>
          <p:nvPr/>
        </p:nvSpPr>
        <p:spPr>
          <a:xfrm>
            <a:off x="230823" y="1815587"/>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2"/>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D31C8A9D-6A97-91F3-50F1-7EB96E0FBB7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866912" y="1440058"/>
            <a:ext cx="824808" cy="488373"/>
          </a:xfrm>
          <a:prstGeom prst="rect">
            <a:avLst/>
          </a:prstGeom>
        </p:spPr>
      </p:pic>
      <p:pic>
        <p:nvPicPr>
          <p:cNvPr id="6" name="Picture 5" descr="John Deere Flow Control Hyd. Valve ...">
            <a:extLst>
              <a:ext uri="{FF2B5EF4-FFF2-40B4-BE49-F238E27FC236}">
                <a16:creationId xmlns:a16="http://schemas.microsoft.com/office/drawing/2014/main" id="{4D1212C0-6E1B-F85A-87E9-D20A2C15269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840277" y="273895"/>
            <a:ext cx="1118585" cy="1118585"/>
          </a:xfrm>
          <a:prstGeom prst="rect">
            <a:avLst/>
          </a:prstGeom>
        </p:spPr>
      </p:pic>
      <p:pic>
        <p:nvPicPr>
          <p:cNvPr id="8" name="Picture 7">
            <a:extLst>
              <a:ext uri="{FF2B5EF4-FFF2-40B4-BE49-F238E27FC236}">
                <a16:creationId xmlns:a16="http://schemas.microsoft.com/office/drawing/2014/main" id="{2F17EC26-7058-81A1-B144-693A585A44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rot="16200000">
            <a:off x="4655370" y="1237172"/>
            <a:ext cx="609602" cy="2447373"/>
          </a:xfrm>
          <a:prstGeom prst="rect">
            <a:avLst/>
          </a:prstGeom>
        </p:spPr>
      </p:pic>
      <p:sp>
        <p:nvSpPr>
          <p:cNvPr id="9" name="TextBox 8">
            <a:extLst>
              <a:ext uri="{FF2B5EF4-FFF2-40B4-BE49-F238E27FC236}">
                <a16:creationId xmlns:a16="http://schemas.microsoft.com/office/drawing/2014/main" id="{7A4DBC42-94B8-9172-0159-3D94C09B2E86}"/>
              </a:ext>
            </a:extLst>
          </p:cNvPr>
          <p:cNvSpPr txBox="1"/>
          <p:nvPr/>
        </p:nvSpPr>
        <p:spPr>
          <a:xfrm>
            <a:off x="230823" y="726949"/>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D46D2E68-5A4D-A5FF-E322-6DE8F16CA4C9}"/>
              </a:ext>
            </a:extLst>
          </p:cNvPr>
          <p:cNvSpPr txBox="1"/>
          <p:nvPr/>
        </p:nvSpPr>
        <p:spPr>
          <a:xfrm>
            <a:off x="224155" y="1347480"/>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pic>
        <p:nvPicPr>
          <p:cNvPr id="11" name="Picture 10">
            <a:extLst>
              <a:ext uri="{FF2B5EF4-FFF2-40B4-BE49-F238E27FC236}">
                <a16:creationId xmlns:a16="http://schemas.microsoft.com/office/drawing/2014/main" id="{249481BF-71E2-F93B-9FE5-401D660FE5DD}"/>
              </a:ext>
            </a:extLst>
          </p:cNvPr>
          <p:cNvPicPr>
            <a:picLocks noChangeAspect="1"/>
          </p:cNvPicPr>
          <p:nvPr/>
        </p:nvPicPr>
        <p:blipFill>
          <a:blip r:embed="rId6"/>
          <a:stretch>
            <a:fillRect/>
          </a:stretch>
        </p:blipFill>
        <p:spPr>
          <a:xfrm>
            <a:off x="425449" y="2993286"/>
            <a:ext cx="3923085" cy="2517234"/>
          </a:xfrm>
          <a:prstGeom prst="rect">
            <a:avLst/>
          </a:prstGeom>
        </p:spPr>
      </p:pic>
      <p:pic>
        <p:nvPicPr>
          <p:cNvPr id="14" name="Picture 13">
            <a:extLst>
              <a:ext uri="{FF2B5EF4-FFF2-40B4-BE49-F238E27FC236}">
                <a16:creationId xmlns:a16="http://schemas.microsoft.com/office/drawing/2014/main" id="{4AA656C1-E2E0-A882-C9A7-5F0616DFDEC0}"/>
              </a:ext>
            </a:extLst>
          </p:cNvPr>
          <p:cNvPicPr>
            <a:picLocks noChangeAspect="1"/>
          </p:cNvPicPr>
          <p:nvPr/>
        </p:nvPicPr>
        <p:blipFill>
          <a:blip r:embed="rId7"/>
          <a:stretch>
            <a:fillRect/>
          </a:stretch>
        </p:blipFill>
        <p:spPr>
          <a:xfrm>
            <a:off x="4556151" y="3024581"/>
            <a:ext cx="2329631" cy="1547419"/>
          </a:xfrm>
          <a:prstGeom prst="rect">
            <a:avLst/>
          </a:prstGeom>
        </p:spPr>
      </p:pic>
      <p:sp>
        <p:nvSpPr>
          <p:cNvPr id="15" name="TextBox 14">
            <a:extLst>
              <a:ext uri="{FF2B5EF4-FFF2-40B4-BE49-F238E27FC236}">
                <a16:creationId xmlns:a16="http://schemas.microsoft.com/office/drawing/2014/main" id="{744506F9-DD58-4679-3320-960486BE9929}"/>
              </a:ext>
            </a:extLst>
          </p:cNvPr>
          <p:cNvSpPr txBox="1"/>
          <p:nvPr/>
        </p:nvSpPr>
        <p:spPr>
          <a:xfrm>
            <a:off x="447491" y="5838663"/>
            <a:ext cx="3139771" cy="584775"/>
          </a:xfrm>
          <a:prstGeom prst="rect">
            <a:avLst/>
          </a:prstGeom>
          <a:solidFill>
            <a:schemeClr val="accent4">
              <a:lumMod val="20000"/>
              <a:lumOff val="80000"/>
            </a:schemeClr>
          </a:solidFill>
          <a:ln>
            <a:solidFill>
              <a:srgbClr val="FF0000"/>
            </a:solidFill>
          </a:ln>
        </p:spPr>
        <p:txBody>
          <a:bodyPr wrap="square" rtlCol="0">
            <a:spAutoFit/>
          </a:bodyPr>
          <a:lstStyle/>
          <a:p>
            <a:r>
              <a:rPr lang="en-US" sz="1600" b="1" dirty="0" err="1">
                <a:latin typeface="Menlo" panose="020B0609030804020204" pitchFamily="49" charset="0"/>
                <a:ea typeface="Menlo" panose="020B0609030804020204" pitchFamily="49" charset="0"/>
                <a:cs typeface="Menlo" panose="020B0609030804020204" pitchFamily="49" charset="0"/>
              </a:rPr>
              <a:t>A_black</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B_green</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200" b="1" dirty="0">
                <a:latin typeface="Calibri" panose="020F0502020204030204" pitchFamily="34" charset="0"/>
                <a:ea typeface="Menlo" panose="020B0609030804020204" pitchFamily="49" charset="0"/>
                <a:cs typeface="Calibri" panose="020F0502020204030204" pitchFamily="34" charset="0"/>
              </a:rPr>
              <a:t> </a:t>
            </a:r>
            <a:r>
              <a:rPr lang="en-US" sz="1200" dirty="0">
                <a:latin typeface="Calibri" panose="020F0502020204030204" pitchFamily="34" charset="0"/>
                <a:ea typeface="Menlo" panose="020B0609030804020204" pitchFamily="49" charset="0"/>
                <a:cs typeface="Calibri" panose="020F0502020204030204" pitchFamily="34" charset="0"/>
              </a:rPr>
              <a:t>- raising</a:t>
            </a:r>
          </a:p>
          <a:p>
            <a:r>
              <a:rPr lang="en-US" sz="1600" b="1" dirty="0" err="1">
                <a:latin typeface="Menlo" panose="020B0609030804020204" pitchFamily="49" charset="0"/>
                <a:ea typeface="Menlo" panose="020B0609030804020204" pitchFamily="49" charset="0"/>
                <a:cs typeface="Menlo" panose="020B0609030804020204" pitchFamily="49" charset="0"/>
              </a:rPr>
              <a:t>D_Yellow</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E_silver</a:t>
            </a:r>
            <a:r>
              <a:rPr lang="en-US" sz="1200" dirty="0">
                <a:latin typeface="Calibri" panose="020F0502020204030204" pitchFamily="34" charset="0"/>
                <a:ea typeface="Menlo" panose="020B0609030804020204" pitchFamily="49" charset="0"/>
                <a:cs typeface="Calibri" panose="020F0502020204030204" pitchFamily="34" charset="0"/>
              </a:rPr>
              <a:t>    - tilting</a:t>
            </a:r>
          </a:p>
        </p:txBody>
      </p:sp>
      <p:sp>
        <p:nvSpPr>
          <p:cNvPr id="16" name="TextBox 15">
            <a:extLst>
              <a:ext uri="{FF2B5EF4-FFF2-40B4-BE49-F238E27FC236}">
                <a16:creationId xmlns:a16="http://schemas.microsoft.com/office/drawing/2014/main" id="{F61AD6D4-42FB-DBA5-985D-5B70FFC697FF}"/>
              </a:ext>
            </a:extLst>
          </p:cNvPr>
          <p:cNvSpPr txBox="1"/>
          <p:nvPr/>
        </p:nvSpPr>
        <p:spPr>
          <a:xfrm>
            <a:off x="7561284" y="153593"/>
            <a:ext cx="4485450" cy="3508653"/>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AM134625 valve use:</a:t>
            </a:r>
          </a:p>
          <a:p>
            <a:pPr marL="120650" indent="-120650">
              <a:buFont typeface="Arial" panose="020B0604020202020204" pitchFamily="34" charset="0"/>
              <a:buChar char="•"/>
            </a:pPr>
            <a:r>
              <a:rPr lang="en-US" sz="1400" dirty="0"/>
              <a:t>shut it off when using Front Loader so that oil doesn't go to mowing deck and rear. This makes FL tilt faster.</a:t>
            </a:r>
          </a:p>
          <a:p>
            <a:pPr marL="120650" indent="-120650">
              <a:buFont typeface="Arial" panose="020B0604020202020204" pitchFamily="34" charset="0"/>
              <a:buChar char="•"/>
            </a:pPr>
            <a:r>
              <a:rPr lang="en-US" sz="1400" dirty="0"/>
              <a:t>open it – then oil will go to the rear – and thus the Front Loader tilt will be slower</a:t>
            </a:r>
          </a:p>
          <a:p>
            <a:endParaRPr lang="en-US" sz="1400" dirty="0"/>
          </a:p>
          <a:p>
            <a:r>
              <a:rPr lang="en-US" sz="1400" b="1" dirty="0">
                <a:solidFill>
                  <a:srgbClr val="FF0000"/>
                </a:solidFill>
              </a:rPr>
              <a:t>AM134625 installation instructions:</a:t>
            </a:r>
          </a:p>
          <a:p>
            <a:pPr marL="171450" indent="-171450">
              <a:buFont typeface="Arial" panose="020B0604020202020204" pitchFamily="34" charset="0"/>
              <a:buChar char="•"/>
            </a:pPr>
            <a:r>
              <a:rPr lang="en-US" sz="1000" dirty="0">
                <a:hlinkClick r:id="rId8"/>
              </a:rPr>
              <a:t>https://www.tractorbynet.com/forums/threads/x700-series-hydraulic-lock-out-valve-am134625-installation.228998/</a:t>
            </a:r>
            <a:endParaRPr lang="en-US" sz="1000" dirty="0"/>
          </a:p>
          <a:p>
            <a:pPr marL="171450" indent="-171450">
              <a:buFont typeface="Arial" panose="020B0604020202020204" pitchFamily="34" charset="0"/>
              <a:buChar char="•"/>
            </a:pPr>
            <a:r>
              <a:rPr lang="en-US" sz="1000" dirty="0">
                <a:hlinkClick r:id="rId9"/>
              </a:rPr>
              <a:t>https://www.youtube.com/watch?v=EIQnRFgVMG0</a:t>
            </a:r>
            <a:endParaRPr lang="en-US" sz="1000" dirty="0"/>
          </a:p>
          <a:p>
            <a:pPr marL="171450" indent="-171450">
              <a:buFont typeface="Arial" panose="020B0604020202020204" pitchFamily="34" charset="0"/>
              <a:buChar char="•"/>
            </a:pPr>
            <a:r>
              <a:rPr lang="en-US" sz="1000" dirty="0">
                <a:hlinkClick r:id="rId10"/>
              </a:rPr>
              <a:t>https://www.youtube.com/watch?v=iv3qfw-JJZk</a:t>
            </a:r>
            <a:endParaRPr lang="en-US" sz="1000" dirty="0"/>
          </a:p>
          <a:p>
            <a:endParaRPr lang="en-US" sz="1400" dirty="0"/>
          </a:p>
          <a:p>
            <a:r>
              <a:rPr lang="en-US" sz="1400" dirty="0"/>
              <a:t>The valve is installed right behind the 4 hydraulic ports on the right side. Specifically, behind the yellow hydraulic connector. </a:t>
            </a:r>
          </a:p>
          <a:p>
            <a:r>
              <a:rPr lang="en-US" sz="1400" dirty="0"/>
              <a:t>Installation requires removal of one elbow connector - and substituting it by the valve.</a:t>
            </a:r>
          </a:p>
        </p:txBody>
      </p:sp>
      <p:pic>
        <p:nvPicPr>
          <p:cNvPr id="17" name="Picture 16" descr="DSC00481.JPG">
            <a:extLst>
              <a:ext uri="{FF2B5EF4-FFF2-40B4-BE49-F238E27FC236}">
                <a16:creationId xmlns:a16="http://schemas.microsoft.com/office/drawing/2014/main" id="{96B6640C-BF44-B564-2FFB-F783331F0827}"/>
              </a:ext>
            </a:extLst>
          </p:cNvPr>
          <p:cNvPicPr>
            <a:picLocks noChangeAspect="1"/>
          </p:cNvPicPr>
          <p:nvPr/>
        </p:nvPicPr>
        <p:blipFill>
          <a:blip r:embed="rId11"/>
          <a:stretch>
            <a:fillRect/>
          </a:stretch>
        </p:blipFill>
        <p:spPr>
          <a:xfrm>
            <a:off x="4556151" y="4665161"/>
            <a:ext cx="2329630" cy="1553087"/>
          </a:xfrm>
          <a:prstGeom prst="rect">
            <a:avLst/>
          </a:prstGeom>
        </p:spPr>
      </p:pic>
      <p:pic>
        <p:nvPicPr>
          <p:cNvPr id="18" name="Picture 17" descr="DSC00477.JPG">
            <a:extLst>
              <a:ext uri="{FF2B5EF4-FFF2-40B4-BE49-F238E27FC236}">
                <a16:creationId xmlns:a16="http://schemas.microsoft.com/office/drawing/2014/main" id="{F4832ADD-42E9-D40D-6BE1-463C3772D19D}"/>
              </a:ext>
            </a:extLst>
          </p:cNvPr>
          <p:cNvPicPr>
            <a:picLocks noChangeAspect="1"/>
          </p:cNvPicPr>
          <p:nvPr/>
        </p:nvPicPr>
        <p:blipFill>
          <a:blip r:embed="rId12"/>
          <a:srcRect l="20466"/>
          <a:stretch>
            <a:fillRect/>
          </a:stretch>
        </p:blipFill>
        <p:spPr>
          <a:xfrm rot="5400000" flipV="1">
            <a:off x="10440899" y="5209512"/>
            <a:ext cx="1696946" cy="1343610"/>
          </a:xfrm>
          <a:prstGeom prst="rect">
            <a:avLst/>
          </a:prstGeom>
        </p:spPr>
      </p:pic>
      <p:pic>
        <p:nvPicPr>
          <p:cNvPr id="19" name="Picture 18" descr="John Deere Flow Control Hyd. Valve ...">
            <a:extLst>
              <a:ext uri="{FF2B5EF4-FFF2-40B4-BE49-F238E27FC236}">
                <a16:creationId xmlns:a16="http://schemas.microsoft.com/office/drawing/2014/main" id="{3F9FBACD-0BCB-84DB-F385-7DBCC2FD5FEE}"/>
              </a:ext>
            </a:extLst>
          </p:cNvPr>
          <p:cNvPicPr>
            <a:picLocks noChangeAspect="1"/>
          </p:cNvPicPr>
          <p:nvPr/>
        </p:nvPicPr>
        <p:blipFill>
          <a:blip r:embed="rId13"/>
          <a:srcRect t="3838" b="9836"/>
          <a:stretch>
            <a:fillRect/>
          </a:stretch>
        </p:blipFill>
        <p:spPr>
          <a:xfrm flipH="1">
            <a:off x="7401330" y="4906108"/>
            <a:ext cx="2131575" cy="1823682"/>
          </a:xfrm>
          <a:prstGeom prst="rect">
            <a:avLst/>
          </a:prstGeom>
        </p:spPr>
      </p:pic>
      <p:sp>
        <p:nvSpPr>
          <p:cNvPr id="20" name="Right Arrow 19">
            <a:extLst>
              <a:ext uri="{FF2B5EF4-FFF2-40B4-BE49-F238E27FC236}">
                <a16:creationId xmlns:a16="http://schemas.microsoft.com/office/drawing/2014/main" id="{E27E4B30-BB5E-86B5-A3C3-92B2D99CFA80}"/>
              </a:ext>
            </a:extLst>
          </p:cNvPr>
          <p:cNvSpPr/>
          <p:nvPr/>
        </p:nvSpPr>
        <p:spPr>
          <a:xfrm rot="10800000">
            <a:off x="9601200" y="5881317"/>
            <a:ext cx="826477" cy="3969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755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5693866"/>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a:t>
            </a:r>
          </a:p>
          <a:p>
            <a:r>
              <a:rPr lang="en-US" sz="1400" dirty="0"/>
              <a:t>Chute Actuator (up/down);</a:t>
            </a:r>
          </a:p>
          <a:p>
            <a:r>
              <a:rPr lang="en-US" sz="1400" dirty="0"/>
              <a:t>Chute Rotator (more turning);</a:t>
            </a:r>
          </a:p>
          <a:p>
            <a:r>
              <a:rPr lang="en-US" sz="1400" dirty="0"/>
              <a:t>Enclosed Chain for impeller; </a:t>
            </a:r>
          </a:p>
          <a:p>
            <a:r>
              <a:rPr lang="en-US" sz="1400" dirty="0"/>
              <a:t>Rubber extensions for impeller; </a:t>
            </a:r>
          </a:p>
          <a:p>
            <a:r>
              <a:rPr lang="en-US" sz="1400" dirty="0"/>
              <a:t>Seat Cover; </a:t>
            </a:r>
          </a:p>
          <a:p>
            <a:r>
              <a:rPr lang="en-US" sz="1400" dirty="0"/>
              <a:t>Seat Heaters; </a:t>
            </a:r>
          </a:p>
          <a:p>
            <a:r>
              <a:rPr lang="en-US" sz="1400" dirty="0"/>
              <a:t>Heated Vest Plug; </a:t>
            </a:r>
          </a:p>
          <a:p>
            <a:r>
              <a:rPr lang="en-US" sz="1400" dirty="0"/>
              <a:t>Steering Wheel Ball (spinner);</a:t>
            </a:r>
          </a:p>
          <a:p>
            <a:r>
              <a:rPr lang="en-US" sz="1400" dirty="0"/>
              <a:t>LED Headlights; </a:t>
            </a:r>
          </a:p>
          <a:p>
            <a:r>
              <a:rPr lang="en-US" sz="1400" dirty="0"/>
              <a:t>LED Rear Lights; </a:t>
            </a:r>
          </a:p>
          <a:p>
            <a:r>
              <a:rPr lang="en-US" sz="1400" dirty="0"/>
              <a:t>Dash Light; </a:t>
            </a:r>
          </a:p>
          <a:p>
            <a:r>
              <a:rPr lang="en-US" sz="1400" dirty="0"/>
              <a:t>Custom Relay for Chute Switch</a:t>
            </a:r>
          </a:p>
          <a:p>
            <a:r>
              <a:rPr lang="en-US" sz="1400" dirty="0"/>
              <a:t>Throttle Spring to throttle lever to prevent it from backing down</a:t>
            </a:r>
          </a:p>
          <a:p>
            <a:r>
              <a:rPr lang="en-US" sz="1400" dirty="0"/>
              <a:t>Hazard Lights; </a:t>
            </a:r>
          </a:p>
          <a:p>
            <a:r>
              <a:rPr lang="en-US" sz="1400" dirty="0"/>
              <a:t>Pattern-Changing Hazard Switch; </a:t>
            </a:r>
          </a:p>
          <a:p>
            <a:r>
              <a:rPr lang="en-US" sz="1400" dirty="0"/>
              <a:t>USB Output &amp; Voltmeter showing battery voltage</a:t>
            </a:r>
            <a:r>
              <a:rPr lang="en-US" sz="1400"/>
              <a:t>; </a:t>
            </a:r>
          </a:p>
          <a:p>
            <a:r>
              <a:rPr lang="en-US" sz="1400"/>
              <a:t>Toolbox </a:t>
            </a:r>
            <a:r>
              <a:rPr lang="en-US" sz="1400" dirty="0"/>
              <a:t>Handle; </a:t>
            </a:r>
          </a:p>
          <a:p>
            <a:r>
              <a:rPr lang="en-US" sz="1400" dirty="0"/>
              <a:t>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3802280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0652324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2692771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Bagger = Hopper</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2192908"/>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I have a bagger with 2 bags.</a:t>
            </a:r>
          </a:p>
          <a:p>
            <a:r>
              <a:rPr lang="en-US" sz="1400" dirty="0">
                <a:latin typeface="Calibri" panose="020F0502020204030204" pitchFamily="34" charset="0"/>
                <a:cs typeface="Calibri" panose="020F0502020204030204" pitchFamily="34" charset="0"/>
              </a:rPr>
              <a:t>It has an annoying problem.</a:t>
            </a:r>
          </a:p>
          <a:p>
            <a:r>
              <a:rPr lang="en-US" sz="1400" dirty="0">
                <a:latin typeface="Calibri" panose="020F0502020204030204" pitchFamily="34" charset="0"/>
                <a:cs typeface="Calibri" panose="020F0502020204030204" pitchFamily="34" charset="0"/>
              </a:rPr>
              <a:t>It fills the left bag first &amp; only the over-flow goes to the right bag. </a:t>
            </a:r>
          </a:p>
          <a:p>
            <a:r>
              <a:rPr lang="en-US" sz="1400" dirty="0">
                <a:latin typeface="Calibri" panose="020F0502020204030204" pitchFamily="34" charset="0"/>
                <a:cs typeface="Calibri" panose="020F0502020204030204" pitchFamily="34" charset="0"/>
              </a:rPr>
              <a:t>This makes the left bag  heavy while right bag is empty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Easy fix – block part of the chute opening as shown.</a:t>
            </a:r>
          </a:p>
          <a:p>
            <a:r>
              <a:rPr lang="en-US" sz="1400" dirty="0">
                <a:latin typeface="Calibri" panose="020F0502020204030204" pitchFamily="34" charset="0"/>
                <a:cs typeface="Calibri" panose="020F0502020204030204" pitchFamily="34" charset="0"/>
              </a:rPr>
              <a:t>Two layers of duct tape facing each other, nothing is sticking to them.</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 2 bags now got filled up at similar speed. </a:t>
            </a:r>
          </a:p>
          <a:p>
            <a:r>
              <a:rPr lang="en-US" sz="1050" dirty="0">
                <a:latin typeface="Calibri" panose="020F0502020204030204" pitchFamily="34" charset="0"/>
                <a:cs typeface="Calibri" panose="020F0502020204030204" pitchFamily="34" charset="0"/>
                <a:hlinkClick r:id="rId2"/>
              </a:rPr>
              <a:t>https://www.facebook.com/groups/781254733349946/posts/803478744460878/</a:t>
            </a:r>
            <a:endParaRPr lang="en-US"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AA518FD-7EE2-032F-1F24-036ACB62B9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492343" y="149679"/>
            <a:ext cx="2699657" cy="2616377"/>
          </a:xfrm>
          <a:prstGeom prst="rect">
            <a:avLst/>
          </a:prstGeom>
        </p:spPr>
      </p:pic>
      <p:pic>
        <p:nvPicPr>
          <p:cNvPr id="4" name="Picture 3">
            <a:extLst>
              <a:ext uri="{FF2B5EF4-FFF2-40B4-BE49-F238E27FC236}">
                <a16:creationId xmlns:a16="http://schemas.microsoft.com/office/drawing/2014/main" id="{F37986CB-6953-B8BE-0826-E958A84371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492342" y="3613391"/>
            <a:ext cx="2699657" cy="2281997"/>
          </a:xfrm>
          <a:prstGeom prst="rect">
            <a:avLst/>
          </a:prstGeom>
        </p:spPr>
      </p:pic>
      <p:pic>
        <p:nvPicPr>
          <p:cNvPr id="5" name="Picture 4">
            <a:extLst>
              <a:ext uri="{FF2B5EF4-FFF2-40B4-BE49-F238E27FC236}">
                <a16:creationId xmlns:a16="http://schemas.microsoft.com/office/drawing/2014/main" id="{65079173-F2C4-DB18-BDAD-0AEF787B154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09866" y="149679"/>
            <a:ext cx="2374900" cy="2311400"/>
          </a:xfrm>
          <a:prstGeom prst="rect">
            <a:avLst/>
          </a:prstGeom>
        </p:spPr>
      </p:pic>
    </p:spTree>
    <p:extLst>
      <p:ext uri="{BB962C8B-B14F-4D97-AF65-F5344CB8AC3E}">
        <p14:creationId xmlns:p14="http://schemas.microsoft.com/office/powerpoint/2010/main" val="12558542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B338-E842-3C96-D4BC-E392AD8820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A62B5C-52DA-6C87-FA5A-4A7AB2C58A4F}"/>
              </a:ext>
            </a:extLst>
          </p:cNvPr>
          <p:cNvSpPr txBox="1"/>
          <p:nvPr/>
        </p:nvSpPr>
        <p:spPr>
          <a:xfrm>
            <a:off x="-1" y="0"/>
            <a:ext cx="4431253" cy="523220"/>
          </a:xfrm>
          <a:prstGeom prst="rect">
            <a:avLst/>
          </a:prstGeom>
          <a:noFill/>
        </p:spPr>
        <p:txBody>
          <a:bodyPr wrap="square" rtlCol="0">
            <a:spAutoFit/>
          </a:bodyPr>
          <a:lstStyle/>
          <a:p>
            <a:r>
              <a:rPr lang="en-US" sz="2800" b="1" dirty="0"/>
              <a:t>JD </a:t>
            </a:r>
            <a:r>
              <a:rPr lang="en-US" sz="2800" b="1" dirty="0" err="1"/>
              <a:t>PowerFlow</a:t>
            </a:r>
            <a:endParaRPr lang="en-US" sz="2800" b="1" dirty="0"/>
          </a:p>
        </p:txBody>
      </p:sp>
      <p:sp>
        <p:nvSpPr>
          <p:cNvPr id="8" name="TextBox 7">
            <a:extLst>
              <a:ext uri="{FF2B5EF4-FFF2-40B4-BE49-F238E27FC236}">
                <a16:creationId xmlns:a16="http://schemas.microsoft.com/office/drawing/2014/main" id="{236796AA-9C3C-7F2D-64E1-0C9B96CA64C5}"/>
              </a:ext>
            </a:extLst>
          </p:cNvPr>
          <p:cNvSpPr txBox="1"/>
          <p:nvPr/>
        </p:nvSpPr>
        <p:spPr>
          <a:xfrm>
            <a:off x="164051" y="523220"/>
            <a:ext cx="4544427" cy="4154984"/>
          </a:xfrm>
          <a:prstGeom prst="rect">
            <a:avLst/>
          </a:prstGeom>
          <a:noFill/>
          <a:ln>
            <a:solidFill>
              <a:srgbClr val="FF0000"/>
            </a:solidFill>
          </a:ln>
        </p:spPr>
        <p:txBody>
          <a:bodyPr wrap="square" rtlCol="0">
            <a:spAutoFit/>
          </a:bodyPr>
          <a:lstStyle/>
          <a:p>
            <a:pPr marL="171450" indent="-171450">
              <a:buFont typeface="Arial" panose="020B0604020202020204" pitchFamily="34" charset="0"/>
              <a:buChar char="•"/>
            </a:pPr>
            <a:r>
              <a:rPr lang="en-US" sz="1200" dirty="0"/>
              <a:t>john deere 54 inch high capacity mower deck with Power Flow attachment to throw grass to the back.</a:t>
            </a:r>
          </a:p>
          <a:p>
            <a:pPr marL="171450" indent="-171450">
              <a:buFont typeface="Arial" panose="020B0604020202020204" pitchFamily="34" charset="0"/>
              <a:buChar char="•"/>
            </a:pPr>
            <a:r>
              <a:rPr lang="en-US" sz="1200" dirty="0"/>
              <a:t>When looking at the mowing deck from above, the spools (sheaves) rotate clockwise (CW). </a:t>
            </a:r>
          </a:p>
          <a:p>
            <a:pPr marL="171450" indent="-171450">
              <a:buFont typeface="Arial" panose="020B0604020202020204" pitchFamily="34" charset="0"/>
              <a:buChar char="•"/>
            </a:pPr>
            <a:r>
              <a:rPr lang="en-US" sz="1200" dirty="0"/>
              <a:t>When looking from below – CCW (Counter-clockwise). </a:t>
            </a:r>
          </a:p>
          <a:p>
            <a:pPr marL="171450" indent="-171450">
              <a:buFont typeface="Arial" panose="020B0604020202020204" pitchFamily="34" charset="0"/>
              <a:buChar char="•"/>
            </a:pPr>
            <a:r>
              <a:rPr lang="en-US" sz="1200" dirty="0"/>
              <a:t>When looking at the Power Flow from the right side of the tractor (where the Power Flow is attached), the impeller rotates CW (clockwise) collecting grass from the bottom by moving from front to back – and throwing it to the back</a:t>
            </a:r>
          </a:p>
          <a:p>
            <a:pPr marL="171450" indent="-171450">
              <a:buFont typeface="Arial" panose="020B0604020202020204" pitchFamily="34" charset="0"/>
              <a:buChar char="•"/>
            </a:pPr>
            <a:r>
              <a:rPr lang="en-US" sz="1200" dirty="0"/>
              <a:t>There is a belt (a rubber loop) to pass rotation from the deck to the impeller. It goes from top sheave M on the deck (horizontal disk) to the (N) tensioner idler (top horizontal disk), then to the top side of impeller sheeve (O), then leaving from the bottom side of impeller sheeve (O) to the V-idler sheave P (the lower horizontal disk), and finally, back to the sheave M on the deck.</a:t>
            </a:r>
          </a:p>
          <a:p>
            <a:pPr marL="171450" indent="-171450">
              <a:buFont typeface="Arial" panose="020B0604020202020204" pitchFamily="34" charset="0"/>
              <a:buChar char="•"/>
            </a:pPr>
            <a:r>
              <a:rPr lang="en-US" sz="1200" dirty="0"/>
              <a:t>(N) — the tensioner idler — sits closer to the deck, and the belt contacts its back/flat side to maintain tension. </a:t>
            </a:r>
          </a:p>
          <a:p>
            <a:pPr marL="171450" indent="-171450">
              <a:buFont typeface="Arial" panose="020B0604020202020204" pitchFamily="34" charset="0"/>
              <a:buChar char="•"/>
            </a:pPr>
            <a:r>
              <a:rPr lang="en-US" sz="1200" dirty="0"/>
              <a:t>(P) — the V-idler sheave — sits on the return path from the blower (O) back to the deck sheave (M), guiding the belt in the V-groove. It is lower/closer to the blower on the return side.</a:t>
            </a:r>
          </a:p>
          <a:p>
            <a:pPr marL="171450" indent="-171450">
              <a:buFont typeface="Arial" panose="020B0604020202020204" pitchFamily="34" charset="0"/>
              <a:buChar char="•"/>
            </a:pPr>
            <a:r>
              <a:rPr lang="en-US" sz="1200" dirty="0"/>
              <a:t>In short: (N) is above/closer to the deck and acts as a tensioner; (P) is below/on the blower side and acts as a fixed V-groove guide</a:t>
            </a:r>
          </a:p>
        </p:txBody>
      </p:sp>
      <p:pic>
        <p:nvPicPr>
          <p:cNvPr id="5" name="Picture 4" descr="John Deere X758 X700 Series | AG Pro">
            <a:extLst>
              <a:ext uri="{FF2B5EF4-FFF2-40B4-BE49-F238E27FC236}">
                <a16:creationId xmlns:a16="http://schemas.microsoft.com/office/drawing/2014/main" id="{DBC1B5E5-B8F2-9E18-D714-A3DDDCC19EE1}"/>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8924205" y="4862870"/>
            <a:ext cx="3103744" cy="1864781"/>
          </a:xfrm>
          <a:prstGeom prst="rect">
            <a:avLst/>
          </a:prstGeom>
          <a:ln>
            <a:solidFill>
              <a:srgbClr val="FF0000"/>
            </a:solidFill>
          </a:ln>
        </p:spPr>
      </p:pic>
      <p:pic>
        <p:nvPicPr>
          <p:cNvPr id="6" name="Picture 5">
            <a:extLst>
              <a:ext uri="{FF2B5EF4-FFF2-40B4-BE49-F238E27FC236}">
                <a16:creationId xmlns:a16="http://schemas.microsoft.com/office/drawing/2014/main" id="{EA5857D3-1AF8-50CB-2D7C-5E0795A3ED5B}"/>
              </a:ext>
            </a:extLst>
          </p:cNvPr>
          <p:cNvPicPr>
            <a:picLocks noChangeAspect="1"/>
          </p:cNvPicPr>
          <p:nvPr/>
        </p:nvPicPr>
        <p:blipFill>
          <a:blip r:embed="rId3"/>
          <a:stretch>
            <a:fillRect/>
          </a:stretch>
        </p:blipFill>
        <p:spPr>
          <a:xfrm>
            <a:off x="4843269" y="727285"/>
            <a:ext cx="3424206" cy="3167390"/>
          </a:xfrm>
          <a:prstGeom prst="rect">
            <a:avLst/>
          </a:prstGeom>
          <a:ln>
            <a:solidFill>
              <a:srgbClr val="FF0000"/>
            </a:solidFill>
          </a:ln>
        </p:spPr>
      </p:pic>
      <p:pic>
        <p:nvPicPr>
          <p:cNvPr id="7" name="Picture 6" descr="Service">
            <a:extLst>
              <a:ext uri="{FF2B5EF4-FFF2-40B4-BE49-F238E27FC236}">
                <a16:creationId xmlns:a16="http://schemas.microsoft.com/office/drawing/2014/main" id="{B2CE0C4C-84B1-BEAD-B285-10AB7B6F3D7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64051" y="4980167"/>
            <a:ext cx="2533670" cy="1678556"/>
          </a:xfrm>
          <a:prstGeom prst="rect">
            <a:avLst/>
          </a:prstGeom>
          <a:ln>
            <a:solidFill>
              <a:srgbClr val="FF0000"/>
            </a:solidFill>
          </a:ln>
        </p:spPr>
      </p:pic>
      <p:pic>
        <p:nvPicPr>
          <p:cNvPr id="9" name="Picture 8">
            <a:extLst>
              <a:ext uri="{FF2B5EF4-FFF2-40B4-BE49-F238E27FC236}">
                <a16:creationId xmlns:a16="http://schemas.microsoft.com/office/drawing/2014/main" id="{3B07F3E7-A43C-0CD1-4BF6-F7E84377B20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872530" y="5048379"/>
            <a:ext cx="2044293" cy="1339365"/>
          </a:xfrm>
          <a:prstGeom prst="rect">
            <a:avLst/>
          </a:prstGeom>
          <a:ln>
            <a:solidFill>
              <a:srgbClr val="FF0000"/>
            </a:solidFill>
          </a:ln>
        </p:spPr>
      </p:pic>
      <p:cxnSp>
        <p:nvCxnSpPr>
          <p:cNvPr id="11" name="Straight Arrow Connector 10">
            <a:extLst>
              <a:ext uri="{FF2B5EF4-FFF2-40B4-BE49-F238E27FC236}">
                <a16:creationId xmlns:a16="http://schemas.microsoft.com/office/drawing/2014/main" id="{3A2FE700-8922-D8AA-BC6E-D5412DFDC65E}"/>
              </a:ext>
            </a:extLst>
          </p:cNvPr>
          <p:cNvCxnSpPr>
            <a:cxnSpLocks/>
          </p:cNvCxnSpPr>
          <p:nvPr/>
        </p:nvCxnSpPr>
        <p:spPr>
          <a:xfrm flipV="1">
            <a:off x="9690846" y="5342015"/>
            <a:ext cx="510989" cy="21039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6C169ED-B51E-7971-D337-24628012FA79}"/>
              </a:ext>
            </a:extLst>
          </p:cNvPr>
          <p:cNvCxnSpPr>
            <a:cxnSpLocks/>
          </p:cNvCxnSpPr>
          <p:nvPr/>
        </p:nvCxnSpPr>
        <p:spPr>
          <a:xfrm>
            <a:off x="10581118" y="5657612"/>
            <a:ext cx="510989" cy="13764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EB74257-19A8-D2FE-331E-1AC4DA71C9F4}"/>
              </a:ext>
            </a:extLst>
          </p:cNvPr>
          <p:cNvCxnSpPr>
            <a:cxnSpLocks/>
          </p:cNvCxnSpPr>
          <p:nvPr/>
        </p:nvCxnSpPr>
        <p:spPr>
          <a:xfrm flipH="1" flipV="1">
            <a:off x="9645276" y="6230471"/>
            <a:ext cx="1191336" cy="8964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00D4889-ABA9-FE12-C61C-B515F215582A}"/>
              </a:ext>
            </a:extLst>
          </p:cNvPr>
          <p:cNvCxnSpPr>
            <a:cxnSpLocks/>
          </p:cNvCxnSpPr>
          <p:nvPr/>
        </p:nvCxnSpPr>
        <p:spPr>
          <a:xfrm flipH="1" flipV="1">
            <a:off x="700480" y="6071553"/>
            <a:ext cx="1002814" cy="36044"/>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770F31A-E695-6051-4378-24E321F46EC8}"/>
              </a:ext>
            </a:extLst>
          </p:cNvPr>
          <p:cNvCxnSpPr>
            <a:cxnSpLocks/>
          </p:cNvCxnSpPr>
          <p:nvPr/>
        </p:nvCxnSpPr>
        <p:spPr>
          <a:xfrm flipV="1">
            <a:off x="1071242" y="5616049"/>
            <a:ext cx="683016" cy="11038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9223C13-63B4-7854-7369-2408775687F4}"/>
              </a:ext>
            </a:extLst>
          </p:cNvPr>
          <p:cNvCxnSpPr>
            <a:cxnSpLocks/>
          </p:cNvCxnSpPr>
          <p:nvPr/>
        </p:nvCxnSpPr>
        <p:spPr>
          <a:xfrm>
            <a:off x="1721224" y="5048379"/>
            <a:ext cx="715040" cy="293636"/>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4F2B16F-2341-355B-5340-4DEDB94247BE}"/>
              </a:ext>
            </a:extLst>
          </p:cNvPr>
          <p:cNvCxnSpPr>
            <a:cxnSpLocks/>
          </p:cNvCxnSpPr>
          <p:nvPr/>
        </p:nvCxnSpPr>
        <p:spPr>
          <a:xfrm>
            <a:off x="2419265" y="5432800"/>
            <a:ext cx="133731" cy="420751"/>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7E030E8-B3E7-FD16-BEE7-CAE141468A8D}"/>
              </a:ext>
            </a:extLst>
          </p:cNvPr>
          <p:cNvCxnSpPr>
            <a:cxnSpLocks/>
          </p:cNvCxnSpPr>
          <p:nvPr/>
        </p:nvCxnSpPr>
        <p:spPr>
          <a:xfrm flipH="1">
            <a:off x="1981200" y="6334780"/>
            <a:ext cx="438065" cy="302003"/>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26DB8EA-3B7B-22DC-8D1E-2A883C5858C6}"/>
              </a:ext>
            </a:extLst>
          </p:cNvPr>
          <p:cNvCxnSpPr>
            <a:cxnSpLocks/>
          </p:cNvCxnSpPr>
          <p:nvPr/>
        </p:nvCxnSpPr>
        <p:spPr>
          <a:xfrm flipH="1" flipV="1">
            <a:off x="1089829" y="6418729"/>
            <a:ext cx="470030" cy="15852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CCB8689-C304-183A-E083-CE6C15099B00}"/>
              </a:ext>
            </a:extLst>
          </p:cNvPr>
          <p:cNvCxnSpPr>
            <a:cxnSpLocks/>
          </p:cNvCxnSpPr>
          <p:nvPr/>
        </p:nvCxnSpPr>
        <p:spPr>
          <a:xfrm flipH="1" flipV="1">
            <a:off x="80682" y="4898701"/>
            <a:ext cx="1559859" cy="1489043"/>
          </a:xfrm>
          <a:prstGeom prst="straightConnector1">
            <a:avLst/>
          </a:prstGeom>
          <a:ln w="73025">
            <a:solidFill>
              <a:srgbClr val="00B0F0">
                <a:alpha val="55000"/>
              </a:srgbClr>
            </a:solidFill>
            <a:tailEnd type="triangle" w="lg" len="lg"/>
          </a:ln>
        </p:spPr>
        <p:style>
          <a:lnRef idx="1">
            <a:schemeClr val="accent1"/>
          </a:lnRef>
          <a:fillRef idx="0">
            <a:schemeClr val="accent1"/>
          </a:fillRef>
          <a:effectRef idx="0">
            <a:schemeClr val="accent1"/>
          </a:effectRef>
          <a:fontRef idx="minor">
            <a:schemeClr val="tx1"/>
          </a:fontRef>
        </p:style>
      </p:cxnSp>
      <p:pic>
        <p:nvPicPr>
          <p:cNvPr id="43" name="Picture 42" descr="Power Flow belt replacement : r/johndeere">
            <a:extLst>
              <a:ext uri="{FF2B5EF4-FFF2-40B4-BE49-F238E27FC236}">
                <a16:creationId xmlns:a16="http://schemas.microsoft.com/office/drawing/2014/main" id="{6468FC12-7412-6BA1-68AF-6DB25A3B911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4872530" y="3976867"/>
            <a:ext cx="2019300" cy="1003300"/>
          </a:xfrm>
          <a:prstGeom prst="rect">
            <a:avLst/>
          </a:prstGeom>
          <a:ln>
            <a:solidFill>
              <a:srgbClr val="FF0000"/>
            </a:solidFill>
          </a:ln>
        </p:spPr>
      </p:pic>
      <p:pic>
        <p:nvPicPr>
          <p:cNvPr id="44" name="Picture 43">
            <a:extLst>
              <a:ext uri="{FF2B5EF4-FFF2-40B4-BE49-F238E27FC236}">
                <a16:creationId xmlns:a16="http://schemas.microsoft.com/office/drawing/2014/main" id="{FDC0F939-8202-8FB1-5055-3D1A91B9A5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778404" y="4787273"/>
            <a:ext cx="1930074" cy="1983265"/>
          </a:xfrm>
          <a:prstGeom prst="rect">
            <a:avLst/>
          </a:prstGeom>
          <a:ln>
            <a:solidFill>
              <a:srgbClr val="FF0000"/>
            </a:solidFill>
          </a:ln>
        </p:spPr>
      </p:pic>
    </p:spTree>
    <p:extLst>
      <p:ext uri="{BB962C8B-B14F-4D97-AF65-F5344CB8AC3E}">
        <p14:creationId xmlns:p14="http://schemas.microsoft.com/office/powerpoint/2010/main" val="32180933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8605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1894</TotalTime>
  <Words>2884</Words>
  <Application>Microsoft Macintosh PowerPoint</Application>
  <PresentationFormat>Widescreen</PresentationFormat>
  <Paragraphs>254</Paragraphs>
  <Slides>15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120</cp:revision>
  <dcterms:created xsi:type="dcterms:W3CDTF">2022-05-02T00:38:22Z</dcterms:created>
  <dcterms:modified xsi:type="dcterms:W3CDTF">2026-06-18T02:50:43Z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